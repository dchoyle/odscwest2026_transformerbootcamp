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3"/>
  </p:notesMasterIdLst>
  <p:handoutMasterIdLst>
    <p:handoutMasterId r:id="rId64"/>
  </p:handoutMasterIdLst>
  <p:sldIdLst>
    <p:sldId id="256" r:id="rId2"/>
    <p:sldId id="258" r:id="rId3"/>
    <p:sldId id="336" r:id="rId4"/>
    <p:sldId id="339" r:id="rId5"/>
    <p:sldId id="358" r:id="rId6"/>
    <p:sldId id="359" r:id="rId7"/>
    <p:sldId id="360" r:id="rId8"/>
    <p:sldId id="260" r:id="rId9"/>
    <p:sldId id="269" r:id="rId10"/>
    <p:sldId id="270" r:id="rId11"/>
    <p:sldId id="262" r:id="rId12"/>
    <p:sldId id="263" r:id="rId13"/>
    <p:sldId id="330" r:id="rId14"/>
    <p:sldId id="348" r:id="rId15"/>
    <p:sldId id="350" r:id="rId16"/>
    <p:sldId id="275" r:id="rId17"/>
    <p:sldId id="331" r:id="rId18"/>
    <p:sldId id="351" r:id="rId19"/>
    <p:sldId id="352" r:id="rId20"/>
    <p:sldId id="353" r:id="rId21"/>
    <p:sldId id="341" r:id="rId22"/>
    <p:sldId id="343" r:id="rId23"/>
    <p:sldId id="332" r:id="rId24"/>
    <p:sldId id="295" r:id="rId25"/>
    <p:sldId id="297" r:id="rId26"/>
    <p:sldId id="298" r:id="rId27"/>
    <p:sldId id="299" r:id="rId28"/>
    <p:sldId id="354" r:id="rId29"/>
    <p:sldId id="296" r:id="rId30"/>
    <p:sldId id="310" r:id="rId31"/>
    <p:sldId id="301" r:id="rId32"/>
    <p:sldId id="303" r:id="rId33"/>
    <p:sldId id="302" r:id="rId34"/>
    <p:sldId id="304" r:id="rId35"/>
    <p:sldId id="355" r:id="rId36"/>
    <p:sldId id="305" r:id="rId37"/>
    <p:sldId id="307" r:id="rId38"/>
    <p:sldId id="309" r:id="rId39"/>
    <p:sldId id="333" r:id="rId40"/>
    <p:sldId id="311" r:id="rId41"/>
    <p:sldId id="313" r:id="rId42"/>
    <p:sldId id="314" r:id="rId43"/>
    <p:sldId id="321" r:id="rId44"/>
    <p:sldId id="319" r:id="rId45"/>
    <p:sldId id="320" r:id="rId46"/>
    <p:sldId id="322" r:id="rId47"/>
    <p:sldId id="323" r:id="rId48"/>
    <p:sldId id="334" r:id="rId49"/>
    <p:sldId id="324" r:id="rId50"/>
    <p:sldId id="325" r:id="rId51"/>
    <p:sldId id="327" r:id="rId52"/>
    <p:sldId id="326" r:id="rId53"/>
    <p:sldId id="328" r:id="rId54"/>
    <p:sldId id="329" r:id="rId55"/>
    <p:sldId id="335" r:id="rId56"/>
    <p:sldId id="344" r:id="rId57"/>
    <p:sldId id="346" r:id="rId58"/>
    <p:sldId id="345" r:id="rId59"/>
    <p:sldId id="317" r:id="rId60"/>
    <p:sldId id="357" r:id="rId61"/>
    <p:sldId id="347"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C3A482-FD99-4591-9116-BA9C4C38257B}">
          <p14:sldIdLst>
            <p14:sldId id="256"/>
            <p14:sldId id="258"/>
            <p14:sldId id="336"/>
            <p14:sldId id="339"/>
            <p14:sldId id="358"/>
            <p14:sldId id="359"/>
            <p14:sldId id="360"/>
            <p14:sldId id="260"/>
            <p14:sldId id="269"/>
            <p14:sldId id="270"/>
            <p14:sldId id="262"/>
            <p14:sldId id="263"/>
            <p14:sldId id="330"/>
            <p14:sldId id="348"/>
            <p14:sldId id="350"/>
            <p14:sldId id="275"/>
            <p14:sldId id="331"/>
            <p14:sldId id="351"/>
            <p14:sldId id="352"/>
            <p14:sldId id="353"/>
            <p14:sldId id="341"/>
            <p14:sldId id="343"/>
            <p14:sldId id="332"/>
            <p14:sldId id="295"/>
            <p14:sldId id="297"/>
            <p14:sldId id="298"/>
            <p14:sldId id="299"/>
            <p14:sldId id="354"/>
            <p14:sldId id="296"/>
            <p14:sldId id="310"/>
            <p14:sldId id="301"/>
            <p14:sldId id="303"/>
            <p14:sldId id="302"/>
            <p14:sldId id="304"/>
            <p14:sldId id="355"/>
            <p14:sldId id="305"/>
            <p14:sldId id="307"/>
            <p14:sldId id="309"/>
            <p14:sldId id="333"/>
            <p14:sldId id="311"/>
            <p14:sldId id="313"/>
            <p14:sldId id="314"/>
            <p14:sldId id="321"/>
            <p14:sldId id="319"/>
            <p14:sldId id="320"/>
            <p14:sldId id="322"/>
            <p14:sldId id="323"/>
            <p14:sldId id="334"/>
            <p14:sldId id="324"/>
            <p14:sldId id="325"/>
            <p14:sldId id="327"/>
            <p14:sldId id="326"/>
            <p14:sldId id="328"/>
            <p14:sldId id="329"/>
            <p14:sldId id="335"/>
            <p14:sldId id="344"/>
            <p14:sldId id="346"/>
            <p14:sldId id="345"/>
            <p14:sldId id="317"/>
            <p14:sldId id="357"/>
            <p14:sldId id="3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CC"/>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BA1DD1-AAD6-4E75-956C-22E0BF17169C}" v="87" dt="2026-10-26T12:14:03.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363" autoAdjust="0"/>
  </p:normalViewPr>
  <p:slideViewPr>
    <p:cSldViewPr snapToGrid="0">
      <p:cViewPr>
        <p:scale>
          <a:sx n="70" d="100"/>
          <a:sy n="70" d="100"/>
        </p:scale>
        <p:origin x="906" y="12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Hoyle" userId="235831776b2d7bf9" providerId="LiveId" clId="{424CF4DE-7678-4F3C-A76F-ABB3B27A05B2}"/>
    <pc:docChg chg="undo redo custSel addSld delSld modSld sldOrd modMainMaster addSection delSection modSection">
      <pc:chgData name="David Hoyle" userId="235831776b2d7bf9" providerId="LiveId" clId="{424CF4DE-7678-4F3C-A76F-ABB3B27A05B2}" dt="2026-10-26T13:49:44.287" v="113064" actId="20577"/>
      <pc:docMkLst>
        <pc:docMk/>
      </pc:docMkLst>
      <pc:sldChg chg="addSp delSp modSp mod">
        <pc:chgData name="David Hoyle" userId="235831776b2d7bf9" providerId="LiveId" clId="{424CF4DE-7678-4F3C-A76F-ABB3B27A05B2}" dt="2026-10-25T15:06:52.492" v="112626" actId="27614"/>
        <pc:sldMkLst>
          <pc:docMk/>
          <pc:sldMk cId="654091197" sldId="256"/>
        </pc:sldMkLst>
        <pc:picChg chg="del">
          <ac:chgData name="David Hoyle" userId="235831776b2d7bf9" providerId="LiveId" clId="{424CF4DE-7678-4F3C-A76F-ABB3B27A05B2}" dt="2026-10-25T15:05:14.152" v="112624" actId="478"/>
          <ac:picMkLst>
            <pc:docMk/>
            <pc:sldMk cId="654091197" sldId="256"/>
            <ac:picMk id="3" creationId="{B71E028D-DAB5-4A66-5FC2-A59968265748}"/>
          </ac:picMkLst>
        </pc:picChg>
        <pc:picChg chg="add mod">
          <ac:chgData name="David Hoyle" userId="235831776b2d7bf9" providerId="LiveId" clId="{424CF4DE-7678-4F3C-A76F-ABB3B27A05B2}" dt="2026-10-25T15:06:52.492" v="112626" actId="27614"/>
          <ac:picMkLst>
            <pc:docMk/>
            <pc:sldMk cId="654091197" sldId="256"/>
            <ac:picMk id="6" creationId="{56DCF00D-C16C-F347-DE6C-4E23BF7F39A6}"/>
          </ac:picMkLst>
        </pc:picChg>
      </pc:sldChg>
      <pc:sldChg chg="modSp mod">
        <pc:chgData name="David Hoyle" userId="235831776b2d7bf9" providerId="LiveId" clId="{424CF4DE-7678-4F3C-A76F-ABB3B27A05B2}" dt="2026-10-25T15:53:41.382" v="112670" actId="1038"/>
        <pc:sldMkLst>
          <pc:docMk/>
          <pc:sldMk cId="2424543670" sldId="258"/>
        </pc:sldMkLst>
        <pc:spChg chg="mod">
          <ac:chgData name="David Hoyle" userId="235831776b2d7bf9" providerId="LiveId" clId="{424CF4DE-7678-4F3C-A76F-ABB3B27A05B2}" dt="2026-10-25T15:53:41.382" v="112670" actId="1038"/>
          <ac:spMkLst>
            <pc:docMk/>
            <pc:sldMk cId="2424543670" sldId="258"/>
            <ac:spMk id="3" creationId="{44A0ED45-8AA6-50A8-DC60-D567D600ED77}"/>
          </ac:spMkLst>
        </pc:spChg>
        <pc:picChg chg="mod">
          <ac:chgData name="David Hoyle" userId="235831776b2d7bf9" providerId="LiveId" clId="{424CF4DE-7678-4F3C-A76F-ABB3B27A05B2}" dt="2026-10-25T15:44:28.843" v="112635" actId="14826"/>
          <ac:picMkLst>
            <pc:docMk/>
            <pc:sldMk cId="2424543670" sldId="258"/>
            <ac:picMk id="7" creationId="{C9038BD8-9554-296D-AF72-549FDB2ECBC7}"/>
          </ac:picMkLst>
        </pc:picChg>
      </pc:sldChg>
      <pc:sldChg chg="del">
        <pc:chgData name="David Hoyle" userId="235831776b2d7bf9" providerId="LiveId" clId="{424CF4DE-7678-4F3C-A76F-ABB3B27A05B2}" dt="2026-10-26T11:02:54.520" v="112818" actId="47"/>
        <pc:sldMkLst>
          <pc:docMk/>
          <pc:sldMk cId="1336982689" sldId="259"/>
        </pc:sldMkLst>
      </pc:sldChg>
      <pc:sldChg chg="addSp delSp modSp new del mod modNotesTx">
        <pc:chgData name="David Hoyle" userId="235831776b2d7bf9" providerId="LiveId" clId="{424CF4DE-7678-4F3C-A76F-ABB3B27A05B2}" dt="2026-10-25T14:56:48.179" v="112598" actId="47"/>
        <pc:sldMkLst>
          <pc:docMk/>
          <pc:sldMk cId="3722687022" sldId="261"/>
        </pc:sldMkLst>
      </pc:sldChg>
      <pc:sldChg chg="modSp new add del mod modAnim modNotesTx">
        <pc:chgData name="David Hoyle" userId="235831776b2d7bf9" providerId="LiveId" clId="{424CF4DE-7678-4F3C-A76F-ABB3B27A05B2}" dt="2026-10-25T14:57:13.812" v="112599"/>
        <pc:sldMkLst>
          <pc:docMk/>
          <pc:sldMk cId="3351155823" sldId="262"/>
        </pc:sldMkLst>
      </pc:sldChg>
      <pc:sldChg chg="modSp new add del mod modAnim modNotesTx">
        <pc:chgData name="David Hoyle" userId="235831776b2d7bf9" providerId="LiveId" clId="{424CF4DE-7678-4F3C-A76F-ABB3B27A05B2}" dt="2026-10-25T14:57:13.812" v="112599"/>
        <pc:sldMkLst>
          <pc:docMk/>
          <pc:sldMk cId="3406783245" sldId="263"/>
        </pc:sldMkLst>
      </pc:sldChg>
      <pc:sldChg chg="del">
        <pc:chgData name="David Hoyle" userId="235831776b2d7bf9" providerId="LiveId" clId="{424CF4DE-7678-4F3C-A76F-ABB3B27A05B2}" dt="2026-10-25T16:54:54.136" v="112718" actId="47"/>
        <pc:sldMkLst>
          <pc:docMk/>
          <pc:sldMk cId="2392080192" sldId="265"/>
        </pc:sldMkLst>
      </pc:sldChg>
      <pc:sldChg chg="modSp add del mod modNotesTx">
        <pc:chgData name="David Hoyle" userId="235831776b2d7bf9" providerId="LiveId" clId="{424CF4DE-7678-4F3C-A76F-ABB3B27A05B2}" dt="2026-10-25T14:56:48.179" v="112598" actId="47"/>
        <pc:sldMkLst>
          <pc:docMk/>
          <pc:sldMk cId="4264171084" sldId="268"/>
        </pc:sldMkLst>
      </pc:sldChg>
      <pc:sldChg chg="modSp add del mod modNotesTx">
        <pc:chgData name="David Hoyle" userId="235831776b2d7bf9" providerId="LiveId" clId="{424CF4DE-7678-4F3C-A76F-ABB3B27A05B2}" dt="2026-10-25T14:57:13.812" v="112599"/>
        <pc:sldMkLst>
          <pc:docMk/>
          <pc:sldMk cId="3704860361" sldId="269"/>
        </pc:sldMkLst>
      </pc:sldChg>
      <pc:sldChg chg="modSp add del mod modAnim modNotesTx">
        <pc:chgData name="David Hoyle" userId="235831776b2d7bf9" providerId="LiveId" clId="{424CF4DE-7678-4F3C-A76F-ABB3B27A05B2}" dt="2026-10-25T14:57:13.812" v="112599"/>
        <pc:sldMkLst>
          <pc:docMk/>
          <pc:sldMk cId="923548129" sldId="270"/>
        </pc:sldMkLst>
      </pc:sldChg>
      <pc:sldChg chg="modSp add del mod modNotesTx">
        <pc:chgData name="David Hoyle" userId="235831776b2d7bf9" providerId="LiveId" clId="{424CF4DE-7678-4F3C-A76F-ABB3B27A05B2}" dt="2026-10-25T14:56:48.179" v="112598" actId="47"/>
        <pc:sldMkLst>
          <pc:docMk/>
          <pc:sldMk cId="717398485" sldId="271"/>
        </pc:sldMkLst>
      </pc:sldChg>
      <pc:sldChg chg="modSp add del mod modAnim modNotesTx">
        <pc:chgData name="David Hoyle" userId="235831776b2d7bf9" providerId="LiveId" clId="{424CF4DE-7678-4F3C-A76F-ABB3B27A05B2}" dt="2026-10-25T14:56:48.179" v="112598" actId="47"/>
        <pc:sldMkLst>
          <pc:docMk/>
          <pc:sldMk cId="3782344522" sldId="272"/>
        </pc:sldMkLst>
      </pc:sldChg>
      <pc:sldChg chg="addSp modSp add del mod addAnim delAnim modAnim modNotesTx">
        <pc:chgData name="David Hoyle" userId="235831776b2d7bf9" providerId="LiveId" clId="{424CF4DE-7678-4F3C-A76F-ABB3B27A05B2}" dt="2026-10-25T14:56:48.179" v="112598" actId="47"/>
        <pc:sldMkLst>
          <pc:docMk/>
          <pc:sldMk cId="4201880302" sldId="273"/>
        </pc:sldMkLst>
      </pc:sldChg>
      <pc:sldChg chg="del">
        <pc:chgData name="David Hoyle" userId="235831776b2d7bf9" providerId="LiveId" clId="{424CF4DE-7678-4F3C-A76F-ABB3B27A05B2}" dt="2026-10-25T15:04:29.037" v="112622" actId="47"/>
        <pc:sldMkLst>
          <pc:docMk/>
          <pc:sldMk cId="4286409712" sldId="274"/>
        </pc:sldMkLst>
      </pc:sldChg>
      <pc:sldChg chg="add del">
        <pc:chgData name="David Hoyle" userId="235831776b2d7bf9" providerId="LiveId" clId="{424CF4DE-7678-4F3C-A76F-ABB3B27A05B2}" dt="2026-10-25T15:04:49.477" v="112623"/>
        <pc:sldMkLst>
          <pc:docMk/>
          <pc:sldMk cId="2412050724" sldId="275"/>
        </pc:sldMkLst>
      </pc:sldChg>
      <pc:sldChg chg="del">
        <pc:chgData name="David Hoyle" userId="235831776b2d7bf9" providerId="LiveId" clId="{424CF4DE-7678-4F3C-A76F-ABB3B27A05B2}" dt="2026-10-25T15:04:29.037" v="112622" actId="47"/>
        <pc:sldMkLst>
          <pc:docMk/>
          <pc:sldMk cId="4105296456" sldId="276"/>
        </pc:sldMkLst>
      </pc:sldChg>
      <pc:sldChg chg="del">
        <pc:chgData name="David Hoyle" userId="235831776b2d7bf9" providerId="LiveId" clId="{424CF4DE-7678-4F3C-A76F-ABB3B27A05B2}" dt="2026-10-25T15:04:29.037" v="112622" actId="47"/>
        <pc:sldMkLst>
          <pc:docMk/>
          <pc:sldMk cId="1173397968" sldId="277"/>
        </pc:sldMkLst>
      </pc:sldChg>
      <pc:sldChg chg="del">
        <pc:chgData name="David Hoyle" userId="235831776b2d7bf9" providerId="LiveId" clId="{424CF4DE-7678-4F3C-A76F-ABB3B27A05B2}" dt="2026-10-25T15:04:29.037" v="112622" actId="47"/>
        <pc:sldMkLst>
          <pc:docMk/>
          <pc:sldMk cId="28459301" sldId="278"/>
        </pc:sldMkLst>
      </pc:sldChg>
      <pc:sldChg chg="del">
        <pc:chgData name="David Hoyle" userId="235831776b2d7bf9" providerId="LiveId" clId="{424CF4DE-7678-4F3C-A76F-ABB3B27A05B2}" dt="2026-10-25T15:04:29.037" v="112622" actId="47"/>
        <pc:sldMkLst>
          <pc:docMk/>
          <pc:sldMk cId="3410207810" sldId="279"/>
        </pc:sldMkLst>
      </pc:sldChg>
      <pc:sldChg chg="del">
        <pc:chgData name="David Hoyle" userId="235831776b2d7bf9" providerId="LiveId" clId="{424CF4DE-7678-4F3C-A76F-ABB3B27A05B2}" dt="2026-10-25T15:04:29.037" v="112622" actId="47"/>
        <pc:sldMkLst>
          <pc:docMk/>
          <pc:sldMk cId="3417198101" sldId="281"/>
        </pc:sldMkLst>
      </pc:sldChg>
      <pc:sldChg chg="del">
        <pc:chgData name="David Hoyle" userId="235831776b2d7bf9" providerId="LiveId" clId="{424CF4DE-7678-4F3C-A76F-ABB3B27A05B2}" dt="2026-10-25T15:04:29.037" v="112622" actId="47"/>
        <pc:sldMkLst>
          <pc:docMk/>
          <pc:sldMk cId="1137877182" sldId="282"/>
        </pc:sldMkLst>
      </pc:sldChg>
      <pc:sldChg chg="del">
        <pc:chgData name="David Hoyle" userId="235831776b2d7bf9" providerId="LiveId" clId="{424CF4DE-7678-4F3C-A76F-ABB3B27A05B2}" dt="2026-10-25T15:04:29.037" v="112622" actId="47"/>
        <pc:sldMkLst>
          <pc:docMk/>
          <pc:sldMk cId="566326516" sldId="283"/>
        </pc:sldMkLst>
      </pc:sldChg>
      <pc:sldChg chg="del">
        <pc:chgData name="David Hoyle" userId="235831776b2d7bf9" providerId="LiveId" clId="{424CF4DE-7678-4F3C-A76F-ABB3B27A05B2}" dt="2026-10-25T15:04:29.037" v="112622" actId="47"/>
        <pc:sldMkLst>
          <pc:docMk/>
          <pc:sldMk cId="1971384355" sldId="284"/>
        </pc:sldMkLst>
      </pc:sldChg>
      <pc:sldChg chg="del">
        <pc:chgData name="David Hoyle" userId="235831776b2d7bf9" providerId="LiveId" clId="{424CF4DE-7678-4F3C-A76F-ABB3B27A05B2}" dt="2026-10-25T15:04:29.037" v="112622" actId="47"/>
        <pc:sldMkLst>
          <pc:docMk/>
          <pc:sldMk cId="1647079034" sldId="285"/>
        </pc:sldMkLst>
      </pc:sldChg>
      <pc:sldChg chg="del">
        <pc:chgData name="David Hoyle" userId="235831776b2d7bf9" providerId="LiveId" clId="{424CF4DE-7678-4F3C-A76F-ABB3B27A05B2}" dt="2026-10-25T15:04:29.037" v="112622" actId="47"/>
        <pc:sldMkLst>
          <pc:docMk/>
          <pc:sldMk cId="1117511983" sldId="286"/>
        </pc:sldMkLst>
      </pc:sldChg>
      <pc:sldChg chg="del">
        <pc:chgData name="David Hoyle" userId="235831776b2d7bf9" providerId="LiveId" clId="{424CF4DE-7678-4F3C-A76F-ABB3B27A05B2}" dt="2026-10-25T15:04:29.037" v="112622" actId="47"/>
        <pc:sldMkLst>
          <pc:docMk/>
          <pc:sldMk cId="4279508152" sldId="287"/>
        </pc:sldMkLst>
      </pc:sldChg>
      <pc:sldChg chg="del">
        <pc:chgData name="David Hoyle" userId="235831776b2d7bf9" providerId="LiveId" clId="{424CF4DE-7678-4F3C-A76F-ABB3B27A05B2}" dt="2026-10-25T16:54:54.136" v="112718" actId="47"/>
        <pc:sldMkLst>
          <pc:docMk/>
          <pc:sldMk cId="1592724164" sldId="288"/>
        </pc:sldMkLst>
      </pc:sldChg>
      <pc:sldChg chg="del">
        <pc:chgData name="David Hoyle" userId="235831776b2d7bf9" providerId="LiveId" clId="{424CF4DE-7678-4F3C-A76F-ABB3B27A05B2}" dt="2026-10-25T16:54:54.136" v="112718" actId="47"/>
        <pc:sldMkLst>
          <pc:docMk/>
          <pc:sldMk cId="1643814904" sldId="290"/>
        </pc:sldMkLst>
      </pc:sldChg>
      <pc:sldChg chg="add del">
        <pc:chgData name="David Hoyle" userId="235831776b2d7bf9" providerId="LiveId" clId="{424CF4DE-7678-4F3C-A76F-ABB3B27A05B2}" dt="2026-10-25T16:58:22.600" v="112736"/>
        <pc:sldMkLst>
          <pc:docMk/>
          <pc:sldMk cId="1911848034" sldId="295"/>
        </pc:sldMkLst>
      </pc:sldChg>
      <pc:sldChg chg="add del">
        <pc:chgData name="David Hoyle" userId="235831776b2d7bf9" providerId="LiveId" clId="{424CF4DE-7678-4F3C-A76F-ABB3B27A05B2}" dt="2026-10-25T16:58:22.600" v="112736"/>
        <pc:sldMkLst>
          <pc:docMk/>
          <pc:sldMk cId="2326989645" sldId="296"/>
        </pc:sldMkLst>
      </pc:sldChg>
      <pc:sldChg chg="add del">
        <pc:chgData name="David Hoyle" userId="235831776b2d7bf9" providerId="LiveId" clId="{424CF4DE-7678-4F3C-A76F-ABB3B27A05B2}" dt="2026-10-25T16:58:22.600" v="112736"/>
        <pc:sldMkLst>
          <pc:docMk/>
          <pc:sldMk cId="3862585059" sldId="297"/>
        </pc:sldMkLst>
      </pc:sldChg>
      <pc:sldChg chg="add del">
        <pc:chgData name="David Hoyle" userId="235831776b2d7bf9" providerId="LiveId" clId="{424CF4DE-7678-4F3C-A76F-ABB3B27A05B2}" dt="2026-10-25T16:58:22.600" v="112736"/>
        <pc:sldMkLst>
          <pc:docMk/>
          <pc:sldMk cId="3710500805" sldId="298"/>
        </pc:sldMkLst>
      </pc:sldChg>
      <pc:sldChg chg="modSp add del modAnim">
        <pc:chgData name="David Hoyle" userId="235831776b2d7bf9" providerId="LiveId" clId="{424CF4DE-7678-4F3C-A76F-ABB3B27A05B2}" dt="2026-10-26T12:14:03.804" v="113058"/>
        <pc:sldMkLst>
          <pc:docMk/>
          <pc:sldMk cId="4206879986" sldId="299"/>
        </pc:sldMkLst>
        <pc:spChg chg="mod">
          <ac:chgData name="David Hoyle" userId="235831776b2d7bf9" providerId="LiveId" clId="{424CF4DE-7678-4F3C-A76F-ABB3B27A05B2}" dt="2026-10-25T17:08:57.675" v="112800" actId="20577"/>
          <ac:spMkLst>
            <pc:docMk/>
            <pc:sldMk cId="4206879986" sldId="299"/>
            <ac:spMk id="8" creationId="{088F24AF-AC59-35B9-0C24-915BBF09B4C7}"/>
          </ac:spMkLst>
        </pc:spChg>
      </pc:sldChg>
      <pc:sldChg chg="del">
        <pc:chgData name="David Hoyle" userId="235831776b2d7bf9" providerId="LiveId" clId="{424CF4DE-7678-4F3C-A76F-ABB3B27A05B2}" dt="2026-10-25T16:57:55.003" v="112735" actId="47"/>
        <pc:sldMkLst>
          <pc:docMk/>
          <pc:sldMk cId="1472057361" sldId="300"/>
        </pc:sldMkLst>
      </pc:sldChg>
      <pc:sldChg chg="add del">
        <pc:chgData name="David Hoyle" userId="235831776b2d7bf9" providerId="LiveId" clId="{424CF4DE-7678-4F3C-A76F-ABB3B27A05B2}" dt="2026-10-25T16:58:22.600" v="112736"/>
        <pc:sldMkLst>
          <pc:docMk/>
          <pc:sldMk cId="1576435426" sldId="301"/>
        </pc:sldMkLst>
      </pc:sldChg>
      <pc:sldChg chg="add del">
        <pc:chgData name="David Hoyle" userId="235831776b2d7bf9" providerId="LiveId" clId="{424CF4DE-7678-4F3C-A76F-ABB3B27A05B2}" dt="2026-10-25T16:58:22.600" v="112736"/>
        <pc:sldMkLst>
          <pc:docMk/>
          <pc:sldMk cId="2082083271" sldId="302"/>
        </pc:sldMkLst>
      </pc:sldChg>
      <pc:sldChg chg="add del">
        <pc:chgData name="David Hoyle" userId="235831776b2d7bf9" providerId="LiveId" clId="{424CF4DE-7678-4F3C-A76F-ABB3B27A05B2}" dt="2026-10-25T16:58:22.600" v="112736"/>
        <pc:sldMkLst>
          <pc:docMk/>
          <pc:sldMk cId="2655921640" sldId="303"/>
        </pc:sldMkLst>
      </pc:sldChg>
      <pc:sldChg chg="add del">
        <pc:chgData name="David Hoyle" userId="235831776b2d7bf9" providerId="LiveId" clId="{424CF4DE-7678-4F3C-A76F-ABB3B27A05B2}" dt="2026-10-25T16:58:22.600" v="112736"/>
        <pc:sldMkLst>
          <pc:docMk/>
          <pc:sldMk cId="948167400" sldId="304"/>
        </pc:sldMkLst>
      </pc:sldChg>
      <pc:sldChg chg="add del">
        <pc:chgData name="David Hoyle" userId="235831776b2d7bf9" providerId="LiveId" clId="{424CF4DE-7678-4F3C-A76F-ABB3B27A05B2}" dt="2026-10-25T16:58:22.600" v="112736"/>
        <pc:sldMkLst>
          <pc:docMk/>
          <pc:sldMk cId="825433553" sldId="305"/>
        </pc:sldMkLst>
      </pc:sldChg>
      <pc:sldChg chg="del">
        <pc:chgData name="David Hoyle" userId="235831776b2d7bf9" providerId="LiveId" clId="{424CF4DE-7678-4F3C-A76F-ABB3B27A05B2}" dt="2026-10-25T16:57:55.003" v="112735" actId="47"/>
        <pc:sldMkLst>
          <pc:docMk/>
          <pc:sldMk cId="3274998642" sldId="306"/>
        </pc:sldMkLst>
      </pc:sldChg>
      <pc:sldChg chg="add del">
        <pc:chgData name="David Hoyle" userId="235831776b2d7bf9" providerId="LiveId" clId="{424CF4DE-7678-4F3C-A76F-ABB3B27A05B2}" dt="2026-10-25T16:58:22.600" v="112736"/>
        <pc:sldMkLst>
          <pc:docMk/>
          <pc:sldMk cId="580262558" sldId="307"/>
        </pc:sldMkLst>
      </pc:sldChg>
      <pc:sldChg chg="add del">
        <pc:chgData name="David Hoyle" userId="235831776b2d7bf9" providerId="LiveId" clId="{424CF4DE-7678-4F3C-A76F-ABB3B27A05B2}" dt="2026-10-25T16:58:22.600" v="112736"/>
        <pc:sldMkLst>
          <pc:docMk/>
          <pc:sldMk cId="2093233161" sldId="309"/>
        </pc:sldMkLst>
      </pc:sldChg>
      <pc:sldChg chg="add del">
        <pc:chgData name="David Hoyle" userId="235831776b2d7bf9" providerId="LiveId" clId="{424CF4DE-7678-4F3C-A76F-ABB3B27A05B2}" dt="2026-10-25T16:58:22.600" v="112736"/>
        <pc:sldMkLst>
          <pc:docMk/>
          <pc:sldMk cId="1337723694" sldId="310"/>
        </pc:sldMkLst>
      </pc:sldChg>
      <pc:sldChg chg="add del">
        <pc:chgData name="David Hoyle" userId="235831776b2d7bf9" providerId="LiveId" clId="{424CF4DE-7678-4F3C-A76F-ABB3B27A05B2}" dt="2026-10-25T16:59:50.364" v="112738"/>
        <pc:sldMkLst>
          <pc:docMk/>
          <pc:sldMk cId="1747421743" sldId="311"/>
        </pc:sldMkLst>
      </pc:sldChg>
      <pc:sldChg chg="del">
        <pc:chgData name="David Hoyle" userId="235831776b2d7bf9" providerId="LiveId" clId="{424CF4DE-7678-4F3C-A76F-ABB3B27A05B2}" dt="2026-10-25T16:59:25.933" v="112737" actId="47"/>
        <pc:sldMkLst>
          <pc:docMk/>
          <pc:sldMk cId="4175322915" sldId="312"/>
        </pc:sldMkLst>
      </pc:sldChg>
      <pc:sldChg chg="add del">
        <pc:chgData name="David Hoyle" userId="235831776b2d7bf9" providerId="LiveId" clId="{424CF4DE-7678-4F3C-A76F-ABB3B27A05B2}" dt="2026-10-25T16:59:50.364" v="112738"/>
        <pc:sldMkLst>
          <pc:docMk/>
          <pc:sldMk cId="4081845829" sldId="313"/>
        </pc:sldMkLst>
      </pc:sldChg>
      <pc:sldChg chg="add del">
        <pc:chgData name="David Hoyle" userId="235831776b2d7bf9" providerId="LiveId" clId="{424CF4DE-7678-4F3C-A76F-ABB3B27A05B2}" dt="2026-10-25T16:59:50.364" v="112738"/>
        <pc:sldMkLst>
          <pc:docMk/>
          <pc:sldMk cId="3047304841" sldId="314"/>
        </pc:sldMkLst>
      </pc:sldChg>
      <pc:sldChg chg="add del">
        <pc:chgData name="David Hoyle" userId="235831776b2d7bf9" providerId="LiveId" clId="{424CF4DE-7678-4F3C-A76F-ABB3B27A05B2}" dt="2026-10-25T16:59:50.364" v="112738"/>
        <pc:sldMkLst>
          <pc:docMk/>
          <pc:sldMk cId="1506570105" sldId="319"/>
        </pc:sldMkLst>
      </pc:sldChg>
      <pc:sldChg chg="add del">
        <pc:chgData name="David Hoyle" userId="235831776b2d7bf9" providerId="LiveId" clId="{424CF4DE-7678-4F3C-A76F-ABB3B27A05B2}" dt="2026-10-25T16:59:50.364" v="112738"/>
        <pc:sldMkLst>
          <pc:docMk/>
          <pc:sldMk cId="2601152502" sldId="320"/>
        </pc:sldMkLst>
      </pc:sldChg>
      <pc:sldChg chg="add del">
        <pc:chgData name="David Hoyle" userId="235831776b2d7bf9" providerId="LiveId" clId="{424CF4DE-7678-4F3C-A76F-ABB3B27A05B2}" dt="2026-10-25T16:59:50.364" v="112738"/>
        <pc:sldMkLst>
          <pc:docMk/>
          <pc:sldMk cId="2479058228" sldId="321"/>
        </pc:sldMkLst>
      </pc:sldChg>
      <pc:sldChg chg="add del">
        <pc:chgData name="David Hoyle" userId="235831776b2d7bf9" providerId="LiveId" clId="{424CF4DE-7678-4F3C-A76F-ABB3B27A05B2}" dt="2026-10-25T16:59:50.364" v="112738"/>
        <pc:sldMkLst>
          <pc:docMk/>
          <pc:sldMk cId="3373006591" sldId="322"/>
        </pc:sldMkLst>
      </pc:sldChg>
      <pc:sldChg chg="add del">
        <pc:chgData name="David Hoyle" userId="235831776b2d7bf9" providerId="LiveId" clId="{424CF4DE-7678-4F3C-A76F-ABB3B27A05B2}" dt="2026-10-25T16:59:50.364" v="112738"/>
        <pc:sldMkLst>
          <pc:docMk/>
          <pc:sldMk cId="252157722" sldId="323"/>
        </pc:sldMkLst>
      </pc:sldChg>
      <pc:sldChg chg="modNotesTx">
        <pc:chgData name="David Hoyle" userId="235831776b2d7bf9" providerId="LiveId" clId="{424CF4DE-7678-4F3C-A76F-ABB3B27A05B2}" dt="2026-10-26T13:46:30.617" v="113060" actId="20577"/>
        <pc:sldMkLst>
          <pc:docMk/>
          <pc:sldMk cId="4236295118" sldId="325"/>
        </pc:sldMkLst>
      </pc:sldChg>
      <pc:sldChg chg="modNotesTx">
        <pc:chgData name="David Hoyle" userId="235831776b2d7bf9" providerId="LiveId" clId="{424CF4DE-7678-4F3C-A76F-ABB3B27A05B2}" dt="2026-10-26T13:49:44.287" v="113064" actId="20577"/>
        <pc:sldMkLst>
          <pc:docMk/>
          <pc:sldMk cId="3126185428" sldId="329"/>
        </pc:sldMkLst>
      </pc:sldChg>
      <pc:sldChg chg="modSp mod modNotesTx">
        <pc:chgData name="David Hoyle" userId="235831776b2d7bf9" providerId="LiveId" clId="{424CF4DE-7678-4F3C-A76F-ABB3B27A05B2}" dt="2026-10-26T11:23:34.255" v="112851" actId="20577"/>
        <pc:sldMkLst>
          <pc:docMk/>
          <pc:sldMk cId="872086363" sldId="331"/>
        </pc:sldMkLst>
        <pc:spChg chg="mod">
          <ac:chgData name="David Hoyle" userId="235831776b2d7bf9" providerId="LiveId" clId="{424CF4DE-7678-4F3C-A76F-ABB3B27A05B2}" dt="2026-10-26T11:23:13.471" v="112845" actId="207"/>
          <ac:spMkLst>
            <pc:docMk/>
            <pc:sldMk cId="872086363" sldId="331"/>
            <ac:spMk id="3" creationId="{A08C644E-D91F-423D-0527-2BA61680AA71}"/>
          </ac:spMkLst>
        </pc:spChg>
      </pc:sldChg>
      <pc:sldChg chg="modNotesTx">
        <pc:chgData name="David Hoyle" userId="235831776b2d7bf9" providerId="LiveId" clId="{424CF4DE-7678-4F3C-A76F-ABB3B27A05B2}" dt="2026-10-26T12:01:17.666" v="113054" actId="20577"/>
        <pc:sldMkLst>
          <pc:docMk/>
          <pc:sldMk cId="377461677" sldId="332"/>
        </pc:sldMkLst>
      </pc:sldChg>
      <pc:sldChg chg="modSp mod">
        <pc:chgData name="David Hoyle" userId="235831776b2d7bf9" providerId="LiveId" clId="{424CF4DE-7678-4F3C-A76F-ABB3B27A05B2}" dt="2026-10-25T15:53:56.365" v="112677" actId="1035"/>
        <pc:sldMkLst>
          <pc:docMk/>
          <pc:sldMk cId="4024548378" sldId="336"/>
        </pc:sldMkLst>
        <pc:spChg chg="mod">
          <ac:chgData name="David Hoyle" userId="235831776b2d7bf9" providerId="LiveId" clId="{424CF4DE-7678-4F3C-A76F-ABB3B27A05B2}" dt="2026-10-25T15:53:56.365" v="112677" actId="1035"/>
          <ac:spMkLst>
            <pc:docMk/>
            <pc:sldMk cId="4024548378" sldId="336"/>
            <ac:spMk id="3" creationId="{F3392CAE-B07F-9558-28FB-783914B106D1}"/>
          </ac:spMkLst>
        </pc:spChg>
        <pc:picChg chg="mod">
          <ac:chgData name="David Hoyle" userId="235831776b2d7bf9" providerId="LiveId" clId="{424CF4DE-7678-4F3C-A76F-ABB3B27A05B2}" dt="2026-10-25T15:44:42.495" v="112636" actId="14826"/>
          <ac:picMkLst>
            <pc:docMk/>
            <pc:sldMk cId="4024548378" sldId="336"/>
            <ac:picMk id="7" creationId="{CDBD2E99-68C2-635B-FA14-1FE142AEAA8D}"/>
          </ac:picMkLst>
        </pc:picChg>
      </pc:sldChg>
      <pc:sldChg chg="del">
        <pc:chgData name="David Hoyle" userId="235831776b2d7bf9" providerId="LiveId" clId="{424CF4DE-7678-4F3C-A76F-ABB3B27A05B2}" dt="2026-10-26T11:02:54.520" v="112818" actId="47"/>
        <pc:sldMkLst>
          <pc:docMk/>
          <pc:sldMk cId="3029904651" sldId="338"/>
        </pc:sldMkLst>
      </pc:sldChg>
      <pc:sldChg chg="modSp mod">
        <pc:chgData name="David Hoyle" userId="235831776b2d7bf9" providerId="LiveId" clId="{424CF4DE-7678-4F3C-A76F-ABB3B27A05B2}" dt="2026-10-25T15:55:21.796" v="112707" actId="1038"/>
        <pc:sldMkLst>
          <pc:docMk/>
          <pc:sldMk cId="2447559354" sldId="339"/>
        </pc:sldMkLst>
        <pc:spChg chg="mod">
          <ac:chgData name="David Hoyle" userId="235831776b2d7bf9" providerId="LiveId" clId="{424CF4DE-7678-4F3C-A76F-ABB3B27A05B2}" dt="2026-10-25T15:55:21.796" v="112707" actId="1038"/>
          <ac:spMkLst>
            <pc:docMk/>
            <pc:sldMk cId="2447559354" sldId="339"/>
            <ac:spMk id="3" creationId="{0C3D9CC2-495E-CA81-1358-FB40D8525BF8}"/>
          </ac:spMkLst>
        </pc:spChg>
        <pc:picChg chg="mod">
          <ac:chgData name="David Hoyle" userId="235831776b2d7bf9" providerId="LiveId" clId="{424CF4DE-7678-4F3C-A76F-ABB3B27A05B2}" dt="2026-10-25T15:44:59.407" v="112637" actId="14826"/>
          <ac:picMkLst>
            <pc:docMk/>
            <pc:sldMk cId="2447559354" sldId="339"/>
            <ac:picMk id="8" creationId="{3C81C0A9-A639-DECD-079B-7D698B607D8E}"/>
          </ac:picMkLst>
        </pc:picChg>
      </pc:sldChg>
      <pc:sldChg chg="del">
        <pc:chgData name="David Hoyle" userId="235831776b2d7bf9" providerId="LiveId" clId="{424CF4DE-7678-4F3C-A76F-ABB3B27A05B2}" dt="2026-10-26T11:02:54.520" v="112818" actId="47"/>
        <pc:sldMkLst>
          <pc:docMk/>
          <pc:sldMk cId="3441322059" sldId="340"/>
        </pc:sldMkLst>
      </pc:sldChg>
      <pc:sldChg chg="modNotesTx">
        <pc:chgData name="David Hoyle" userId="235831776b2d7bf9" providerId="LiveId" clId="{424CF4DE-7678-4F3C-A76F-ABB3B27A05B2}" dt="2026-10-26T11:39:37.920" v="112949" actId="20577"/>
        <pc:sldMkLst>
          <pc:docMk/>
          <pc:sldMk cId="2854409399" sldId="341"/>
        </pc:sldMkLst>
      </pc:sldChg>
      <pc:sldChg chg="del">
        <pc:chgData name="David Hoyle" userId="235831776b2d7bf9" providerId="LiveId" clId="{424CF4DE-7678-4F3C-A76F-ABB3B27A05B2}" dt="2026-10-25T16:57:55.003" v="112735" actId="47"/>
        <pc:sldMkLst>
          <pc:docMk/>
          <pc:sldMk cId="2355007488" sldId="342"/>
        </pc:sldMkLst>
      </pc:sldChg>
      <pc:sldChg chg="modSp mod modNotesTx">
        <pc:chgData name="David Hoyle" userId="235831776b2d7bf9" providerId="LiveId" clId="{424CF4DE-7678-4F3C-A76F-ABB3B27A05B2}" dt="2026-10-26T11:40:22.319" v="113050" actId="20577"/>
        <pc:sldMkLst>
          <pc:docMk/>
          <pc:sldMk cId="2178526500" sldId="343"/>
        </pc:sldMkLst>
        <pc:spChg chg="mod">
          <ac:chgData name="David Hoyle" userId="235831776b2d7bf9" providerId="LiveId" clId="{424CF4DE-7678-4F3C-A76F-ABB3B27A05B2}" dt="2026-10-25T16:55:15.981" v="112734" actId="20577"/>
          <ac:spMkLst>
            <pc:docMk/>
            <pc:sldMk cId="2178526500" sldId="343"/>
            <ac:spMk id="3" creationId="{A84EFC11-566C-CC8F-F93B-9B96D6ED2ED9}"/>
          </ac:spMkLst>
        </pc:spChg>
      </pc:sldChg>
      <pc:sldChg chg="modSp mod">
        <pc:chgData name="David Hoyle" userId="235831776b2d7bf9" providerId="LiveId" clId="{424CF4DE-7678-4F3C-A76F-ABB3B27A05B2}" dt="2026-10-25T17:12:52.004" v="112816" actId="20577"/>
        <pc:sldMkLst>
          <pc:docMk/>
          <pc:sldMk cId="503700178" sldId="344"/>
        </pc:sldMkLst>
        <pc:spChg chg="mod">
          <ac:chgData name="David Hoyle" userId="235831776b2d7bf9" providerId="LiveId" clId="{424CF4DE-7678-4F3C-A76F-ABB3B27A05B2}" dt="2026-10-25T17:12:52.004" v="112816" actId="20577"/>
          <ac:spMkLst>
            <pc:docMk/>
            <pc:sldMk cId="503700178" sldId="344"/>
            <ac:spMk id="3" creationId="{1964098E-E270-0849-3541-57965BCD8161}"/>
          </ac:spMkLst>
        </pc:spChg>
      </pc:sldChg>
      <pc:sldChg chg="modSp mod">
        <pc:chgData name="David Hoyle" userId="235831776b2d7bf9" providerId="LiveId" clId="{424CF4DE-7678-4F3C-A76F-ABB3B27A05B2}" dt="2026-10-25T15:57:33.228" v="112716" actId="20577"/>
        <pc:sldMkLst>
          <pc:docMk/>
          <pc:sldMk cId="2829218341" sldId="347"/>
        </pc:sldMkLst>
        <pc:spChg chg="mod">
          <ac:chgData name="David Hoyle" userId="235831776b2d7bf9" providerId="LiveId" clId="{424CF4DE-7678-4F3C-A76F-ABB3B27A05B2}" dt="2026-10-25T15:57:33.228" v="112716" actId="20577"/>
          <ac:spMkLst>
            <pc:docMk/>
            <pc:sldMk cId="2829218341" sldId="347"/>
            <ac:spMk id="5" creationId="{13A7E50C-C730-1C83-10E9-360905AB574B}"/>
          </ac:spMkLst>
        </pc:spChg>
        <pc:picChg chg="mod">
          <ac:chgData name="David Hoyle" userId="235831776b2d7bf9" providerId="LiveId" clId="{424CF4DE-7678-4F3C-A76F-ABB3B27A05B2}" dt="2026-10-25T15:57:25.945" v="112708" actId="14826"/>
          <ac:picMkLst>
            <pc:docMk/>
            <pc:sldMk cId="2829218341" sldId="347"/>
            <ac:picMk id="7" creationId="{1FFA3C06-49F3-6994-CFD0-789E2C69D159}"/>
          </ac:picMkLst>
        </pc:picChg>
      </pc:sldChg>
      <pc:sldChg chg="add">
        <pc:chgData name="David Hoyle" userId="235831776b2d7bf9" providerId="LiveId" clId="{424CF4DE-7678-4F3C-A76F-ABB3B27A05B2}" dt="2026-10-25T15:04:49.477" v="112623"/>
        <pc:sldMkLst>
          <pc:docMk/>
          <pc:sldMk cId="1931246594" sldId="348"/>
        </pc:sldMkLst>
      </pc:sldChg>
      <pc:sldChg chg="add">
        <pc:chgData name="David Hoyle" userId="235831776b2d7bf9" providerId="LiveId" clId="{424CF4DE-7678-4F3C-A76F-ABB3B27A05B2}" dt="2026-10-25T15:04:49.477" v="112623"/>
        <pc:sldMkLst>
          <pc:docMk/>
          <pc:sldMk cId="667421999" sldId="350"/>
        </pc:sldMkLst>
      </pc:sldChg>
      <pc:sldChg chg="add">
        <pc:chgData name="David Hoyle" userId="235831776b2d7bf9" providerId="LiveId" clId="{424CF4DE-7678-4F3C-A76F-ABB3B27A05B2}" dt="2026-10-25T16:54:47.820" v="112717"/>
        <pc:sldMkLst>
          <pc:docMk/>
          <pc:sldMk cId="701570123" sldId="351"/>
        </pc:sldMkLst>
      </pc:sldChg>
      <pc:sldChg chg="add">
        <pc:chgData name="David Hoyle" userId="235831776b2d7bf9" providerId="LiveId" clId="{424CF4DE-7678-4F3C-A76F-ABB3B27A05B2}" dt="2026-10-25T16:54:47.820" v="112717"/>
        <pc:sldMkLst>
          <pc:docMk/>
          <pc:sldMk cId="3358374451" sldId="352"/>
        </pc:sldMkLst>
      </pc:sldChg>
      <pc:sldChg chg="add modNotesTx">
        <pc:chgData name="David Hoyle" userId="235831776b2d7bf9" providerId="LiveId" clId="{424CF4DE-7678-4F3C-A76F-ABB3B27A05B2}" dt="2026-10-26T11:27:29.939" v="112852" actId="20577"/>
        <pc:sldMkLst>
          <pc:docMk/>
          <pc:sldMk cId="2699916749" sldId="353"/>
        </pc:sldMkLst>
      </pc:sldChg>
      <pc:sldChg chg="modSp add">
        <pc:chgData name="David Hoyle" userId="235831776b2d7bf9" providerId="LiveId" clId="{424CF4DE-7678-4F3C-A76F-ABB3B27A05B2}" dt="2026-10-25T17:07:03.649" v="112768" actId="20577"/>
        <pc:sldMkLst>
          <pc:docMk/>
          <pc:sldMk cId="1995176237" sldId="354"/>
        </pc:sldMkLst>
        <pc:spChg chg="mod">
          <ac:chgData name="David Hoyle" userId="235831776b2d7bf9" providerId="LiveId" clId="{424CF4DE-7678-4F3C-A76F-ABB3B27A05B2}" dt="2026-10-25T17:07:03.649" v="112768" actId="20577"/>
          <ac:spMkLst>
            <pc:docMk/>
            <pc:sldMk cId="1995176237" sldId="354"/>
            <ac:spMk id="8" creationId="{0D940748-66E8-D950-45D0-CE75B20B18E2}"/>
          </ac:spMkLst>
        </pc:spChg>
      </pc:sldChg>
      <pc:sldChg chg="modSp add mod">
        <pc:chgData name="David Hoyle" userId="235831776b2d7bf9" providerId="LiveId" clId="{424CF4DE-7678-4F3C-A76F-ABB3B27A05B2}" dt="2026-10-26T12:27:05.272" v="113059" actId="1076"/>
        <pc:sldMkLst>
          <pc:docMk/>
          <pc:sldMk cId="4271610616" sldId="355"/>
        </pc:sldMkLst>
        <pc:spChg chg="mod">
          <ac:chgData name="David Hoyle" userId="235831776b2d7bf9" providerId="LiveId" clId="{424CF4DE-7678-4F3C-A76F-ABB3B27A05B2}" dt="2026-10-26T12:27:05.272" v="113059" actId="1076"/>
          <ac:spMkLst>
            <pc:docMk/>
            <pc:sldMk cId="4271610616" sldId="355"/>
            <ac:spMk id="2" creationId="{A3BC1E2C-BEBC-776E-F2E4-6DE6E9DAECD4}"/>
          </ac:spMkLst>
        </pc:spChg>
      </pc:sldChg>
      <pc:sldChg chg="add">
        <pc:chgData name="David Hoyle" userId="235831776b2d7bf9" providerId="LiveId" clId="{424CF4DE-7678-4F3C-A76F-ABB3B27A05B2}" dt="2026-10-25T17:02:07.914" v="112739"/>
        <pc:sldMkLst>
          <pc:docMk/>
          <pc:sldMk cId="3197686257" sldId="357"/>
        </pc:sldMkLst>
      </pc:sldChg>
      <pc:sldChg chg="add">
        <pc:chgData name="David Hoyle" userId="235831776b2d7bf9" providerId="LiveId" clId="{424CF4DE-7678-4F3C-A76F-ABB3B27A05B2}" dt="2026-10-26T11:02:47.903" v="112817"/>
        <pc:sldMkLst>
          <pc:docMk/>
          <pc:sldMk cId="3523424791" sldId="358"/>
        </pc:sldMkLst>
      </pc:sldChg>
      <pc:sldChg chg="add">
        <pc:chgData name="David Hoyle" userId="235831776b2d7bf9" providerId="LiveId" clId="{424CF4DE-7678-4F3C-A76F-ABB3B27A05B2}" dt="2026-10-26T11:02:47.903" v="112817"/>
        <pc:sldMkLst>
          <pc:docMk/>
          <pc:sldMk cId="190238363" sldId="359"/>
        </pc:sldMkLst>
      </pc:sldChg>
      <pc:sldChg chg="add">
        <pc:chgData name="David Hoyle" userId="235831776b2d7bf9" providerId="LiveId" clId="{424CF4DE-7678-4F3C-A76F-ABB3B27A05B2}" dt="2026-10-26T11:02:47.903" v="112817"/>
        <pc:sldMkLst>
          <pc:docMk/>
          <pc:sldMk cId="3756696978" sldId="360"/>
        </pc:sldMkLst>
      </pc:sldChg>
      <pc:sldMasterChg chg="addSp delSp modSp mod">
        <pc:chgData name="David Hoyle" userId="235831776b2d7bf9" providerId="LiveId" clId="{424CF4DE-7678-4F3C-A76F-ABB3B27A05B2}" dt="2026-10-25T15:03:23.998" v="112606" actId="14100"/>
        <pc:sldMasterMkLst>
          <pc:docMk/>
          <pc:sldMasterMk cId="3094831058" sldId="2147483648"/>
        </pc:sldMasterMkLst>
        <pc:picChg chg="del">
          <ac:chgData name="David Hoyle" userId="235831776b2d7bf9" providerId="LiveId" clId="{424CF4DE-7678-4F3C-A76F-ABB3B27A05B2}" dt="2026-10-25T15:03:11.051" v="112600" actId="478"/>
          <ac:picMkLst>
            <pc:docMk/>
            <pc:sldMasterMk cId="3094831058" sldId="2147483648"/>
            <ac:picMk id="8" creationId="{B80B63B1-CB2C-FB5D-3BE3-A6B110037EFF}"/>
          </ac:picMkLst>
        </pc:picChg>
        <pc:picChg chg="add mod">
          <ac:chgData name="David Hoyle" userId="235831776b2d7bf9" providerId="LiveId" clId="{424CF4DE-7678-4F3C-A76F-ABB3B27A05B2}" dt="2026-10-25T15:03:23.998" v="112606" actId="14100"/>
          <ac:picMkLst>
            <pc:docMk/>
            <pc:sldMasterMk cId="3094831058" sldId="2147483648"/>
            <ac:picMk id="9" creationId="{E5D1C201-7D74-43E9-F11B-78C6E5562A58}"/>
          </ac:picMkLst>
        </pc:pic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784785-00C8-CB2D-AF23-AB9BFF6899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FA2479E-5079-70F8-4A92-D4BF305635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88DEE5-6102-4C4E-ABDF-EB342EEADFEB}" type="datetimeFigureOut">
              <a:rPr lang="en-GB" smtClean="0"/>
              <a:t>25/10/2026</a:t>
            </a:fld>
            <a:endParaRPr lang="en-GB"/>
          </a:p>
        </p:txBody>
      </p:sp>
      <p:sp>
        <p:nvSpPr>
          <p:cNvPr id="4" name="Footer Placeholder 3">
            <a:extLst>
              <a:ext uri="{FF2B5EF4-FFF2-40B4-BE49-F238E27FC236}">
                <a16:creationId xmlns:a16="http://schemas.microsoft.com/office/drawing/2014/main" id="{CBA7502F-3FDA-EB92-C1A6-08A624DF0C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6C796F4-617C-91E3-0B68-9C9CF581D5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C6A7CD-27D2-4C3A-8DD4-4E25745AFE39}" type="slidenum">
              <a:rPr lang="en-GB" smtClean="0"/>
              <a:t>‹#›</a:t>
            </a:fld>
            <a:endParaRPr lang="en-GB"/>
          </a:p>
        </p:txBody>
      </p:sp>
    </p:spTree>
    <p:extLst>
      <p:ext uri="{BB962C8B-B14F-4D97-AF65-F5344CB8AC3E}">
        <p14:creationId xmlns:p14="http://schemas.microsoft.com/office/powerpoint/2010/main" val="39850588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9E60C-362D-4F9B-AB2A-7B7F07CA96BB}" type="datetimeFigureOut">
              <a:rPr lang="en-GB" smtClean="0"/>
              <a:t>25/10/2026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FE274-BBBE-4E79-A3A9-15D1671737F2}" type="slidenum">
              <a:rPr lang="en-GB" smtClean="0"/>
              <a:t>‹#›</a:t>
            </a:fld>
            <a:endParaRPr lang="en-GB"/>
          </a:p>
        </p:txBody>
      </p:sp>
    </p:spTree>
    <p:extLst>
      <p:ext uri="{BB962C8B-B14F-4D97-AF65-F5344CB8AC3E}">
        <p14:creationId xmlns:p14="http://schemas.microsoft.com/office/powerpoint/2010/main" val="391213659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Hello. My name is David Hoyle and I’m going to show you how not to be frightened of the mathematics inside Transformers and Large Language Models. Let’s begin.</a:t>
            </a:r>
          </a:p>
        </p:txBody>
      </p:sp>
      <p:sp>
        <p:nvSpPr>
          <p:cNvPr id="4" name="Slide Number Placeholder 3"/>
          <p:cNvSpPr>
            <a:spLocks noGrp="1"/>
          </p:cNvSpPr>
          <p:nvPr>
            <p:ph type="sldNum" sz="quarter" idx="5"/>
          </p:nvPr>
        </p:nvSpPr>
        <p:spPr/>
        <p:txBody>
          <a:bodyPr/>
          <a:lstStyle/>
          <a:p>
            <a:fld id="{C69FE274-BBBE-4E79-A3A9-15D1671737F2}" type="slidenum">
              <a:rPr lang="en-GB" smtClean="0"/>
              <a:t>1</a:t>
            </a:fld>
            <a:endParaRPr lang="en-GB"/>
          </a:p>
        </p:txBody>
      </p:sp>
    </p:spTree>
    <p:extLst>
      <p:ext uri="{BB962C8B-B14F-4D97-AF65-F5344CB8AC3E}">
        <p14:creationId xmlns:p14="http://schemas.microsoft.com/office/powerpoint/2010/main" val="3204066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first an outline of what we are going to cover. We are going to start gentle and ramp up. We’ll briefly outline what we aim to learn from this session. Then we’ll move onto outlining what our actual modelling goal is here – that of next word prediction and why that is useful to be able to do. Next, we’ll walk through a simple but naïve approach to solving that goal, as it will highlight some key issues that any solution to next word prediction has to address. This will bring us onto word embeddings and transformers, where we’ll start to dig into the mathematical details. Having explained what word embeddings are and how transformers work mathematically, we’ll return to our task of next word prediction. Finally, we’ll end with a quick explanation of the different types of transformers and wrap-up what we have learnt. All the material for this tutorial session can be found in the public git hub repository at the link above </a:t>
            </a:r>
          </a:p>
        </p:txBody>
      </p:sp>
      <p:sp>
        <p:nvSpPr>
          <p:cNvPr id="4" name="Slide Number Placeholder 3"/>
          <p:cNvSpPr>
            <a:spLocks noGrp="1"/>
          </p:cNvSpPr>
          <p:nvPr>
            <p:ph type="sldNum" sz="quarter" idx="5"/>
          </p:nvPr>
        </p:nvSpPr>
        <p:spPr/>
        <p:txBody>
          <a:bodyPr/>
          <a:lstStyle/>
          <a:p>
            <a:fld id="{C69FE274-BBBE-4E79-A3A9-15D1671737F2}" type="slidenum">
              <a:rPr lang="en-GB" smtClean="0"/>
              <a:t>2</a:t>
            </a:fld>
            <a:endParaRPr lang="en-GB"/>
          </a:p>
        </p:txBody>
      </p:sp>
    </p:spTree>
    <p:extLst>
      <p:ext uri="{BB962C8B-B14F-4D97-AF65-F5344CB8AC3E}">
        <p14:creationId xmlns:p14="http://schemas.microsoft.com/office/powerpoint/2010/main" val="1571488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Since this is a going to be a long session, we’ll take a short 5 minute comfort break in the middle.</a:t>
            </a:r>
          </a:p>
        </p:txBody>
      </p:sp>
      <p:sp>
        <p:nvSpPr>
          <p:cNvPr id="4" name="Slide Number Placeholder 3"/>
          <p:cNvSpPr>
            <a:spLocks noGrp="1"/>
          </p:cNvSpPr>
          <p:nvPr>
            <p:ph type="sldNum" sz="quarter" idx="5"/>
          </p:nvPr>
        </p:nvSpPr>
        <p:spPr/>
        <p:txBody>
          <a:bodyPr/>
          <a:lstStyle/>
          <a:p>
            <a:fld id="{C69FE274-BBBE-4E79-A3A9-15D1671737F2}" type="slidenum">
              <a:rPr lang="en-GB" smtClean="0"/>
              <a:t>3</a:t>
            </a:fld>
            <a:endParaRPr lang="en-GB"/>
          </a:p>
        </p:txBody>
      </p:sp>
    </p:spTree>
    <p:extLst>
      <p:ext uri="{BB962C8B-B14F-4D97-AF65-F5344CB8AC3E}">
        <p14:creationId xmlns:p14="http://schemas.microsoft.com/office/powerpoint/2010/main" val="846523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We’ll also have two short code examples to illustrate things and help break up the session a bit. So let’s get started.</a:t>
            </a:r>
          </a:p>
        </p:txBody>
      </p:sp>
      <p:sp>
        <p:nvSpPr>
          <p:cNvPr id="4" name="Slide Number Placeholder 3"/>
          <p:cNvSpPr>
            <a:spLocks noGrp="1"/>
          </p:cNvSpPr>
          <p:nvPr>
            <p:ph type="sldNum" sz="quarter" idx="5"/>
          </p:nvPr>
        </p:nvSpPr>
        <p:spPr/>
        <p:txBody>
          <a:bodyPr/>
          <a:lstStyle/>
          <a:p>
            <a:fld id="{C69FE274-BBBE-4E79-A3A9-15D1671737F2}" type="slidenum">
              <a:rPr lang="en-GB" smtClean="0"/>
              <a:t>4</a:t>
            </a:fld>
            <a:endParaRPr lang="en-GB"/>
          </a:p>
        </p:txBody>
      </p:sp>
    </p:spTree>
    <p:extLst>
      <p:ext uri="{BB962C8B-B14F-4D97-AF65-F5344CB8AC3E}">
        <p14:creationId xmlns:p14="http://schemas.microsoft.com/office/powerpoint/2010/main" val="1682008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will we learn? Well, we’re obviously going to learn about some of the mathematics of predicting the next word in a sequence of words and why this is useful, but we’re also going to learn the basic mathematics behind what is called a Transformer that helps us do that next word prediction. Ultimately, the goal is to get you comfortable at a very high-level with how large language models works mathematically. And I will have done my job if by the end you have lost some of your fear of the science inside large language models.</a:t>
            </a:r>
          </a:p>
        </p:txBody>
      </p:sp>
      <p:sp>
        <p:nvSpPr>
          <p:cNvPr id="4" name="Slide Number Placeholder 3"/>
          <p:cNvSpPr>
            <a:spLocks noGrp="1"/>
          </p:cNvSpPr>
          <p:nvPr>
            <p:ph type="sldNum" sz="quarter" idx="5"/>
          </p:nvPr>
        </p:nvSpPr>
        <p:spPr/>
        <p:txBody>
          <a:bodyPr/>
          <a:lstStyle/>
          <a:p>
            <a:fld id="{C69FE274-BBBE-4E79-A3A9-15D1671737F2}" type="slidenum">
              <a:rPr lang="en-GB" smtClean="0"/>
              <a:t>5</a:t>
            </a:fld>
            <a:endParaRPr lang="en-GB"/>
          </a:p>
        </p:txBody>
      </p:sp>
    </p:spTree>
    <p:extLst>
      <p:ext uri="{BB962C8B-B14F-4D97-AF65-F5344CB8AC3E}">
        <p14:creationId xmlns:p14="http://schemas.microsoft.com/office/powerpoint/2010/main" val="3480666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we will not learn is how to train large foundational language models. In fact, I’m hardly going to mention training at all. I’m just going to assume you understand the concept of training a machine learning model using training data.</a:t>
            </a:r>
          </a:p>
          <a:p>
            <a:endParaRPr lang="en-GB" dirty="0"/>
          </a:p>
          <a:p>
            <a:r>
              <a:rPr lang="en-GB" dirty="0"/>
              <a:t>We’re not going to be building any chatbots, nor are we going to become expert prompters or start building agentic AI systems.</a:t>
            </a:r>
          </a:p>
          <a:p>
            <a:endParaRPr lang="en-GB" dirty="0"/>
          </a:p>
          <a:p>
            <a:r>
              <a:rPr lang="en-GB" dirty="0"/>
              <a:t>And I’m afraid this talk isn’t going to make you rich either</a:t>
            </a:r>
          </a:p>
        </p:txBody>
      </p:sp>
      <p:sp>
        <p:nvSpPr>
          <p:cNvPr id="4" name="Slide Number Placeholder 3"/>
          <p:cNvSpPr>
            <a:spLocks noGrp="1"/>
          </p:cNvSpPr>
          <p:nvPr>
            <p:ph type="sldNum" sz="quarter" idx="5"/>
          </p:nvPr>
        </p:nvSpPr>
        <p:spPr/>
        <p:txBody>
          <a:bodyPr/>
          <a:lstStyle/>
          <a:p>
            <a:fld id="{C69FE274-BBBE-4E79-A3A9-15D1671737F2}" type="slidenum">
              <a:rPr lang="en-GB" smtClean="0"/>
              <a:t>6</a:t>
            </a:fld>
            <a:endParaRPr lang="en-GB"/>
          </a:p>
        </p:txBody>
      </p:sp>
    </p:spTree>
    <p:extLst>
      <p:ext uri="{BB962C8B-B14F-4D97-AF65-F5344CB8AC3E}">
        <p14:creationId xmlns:p14="http://schemas.microsoft.com/office/powerpoint/2010/main" val="3252895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you are going to have to know some stuff already. I’m going to assume you know some basic linear algebra, you’re comfortable with vectors and matrices and matrix multiplication and what a matrix represents. Finally, I’m going to assume you’ve done some supervised machine learning before and you are familiar with the idea of training model parameters by minimizing some loss function.</a:t>
            </a:r>
          </a:p>
        </p:txBody>
      </p:sp>
      <p:sp>
        <p:nvSpPr>
          <p:cNvPr id="4" name="Slide Number Placeholder 3"/>
          <p:cNvSpPr>
            <a:spLocks noGrp="1"/>
          </p:cNvSpPr>
          <p:nvPr>
            <p:ph type="sldNum" sz="quarter" idx="5"/>
          </p:nvPr>
        </p:nvSpPr>
        <p:spPr/>
        <p:txBody>
          <a:bodyPr/>
          <a:lstStyle/>
          <a:p>
            <a:fld id="{C69FE274-BBBE-4E79-A3A9-15D1671737F2}" type="slidenum">
              <a:rPr lang="en-GB" smtClean="0"/>
              <a:t>7</a:t>
            </a:fld>
            <a:endParaRPr lang="en-GB"/>
          </a:p>
        </p:txBody>
      </p:sp>
    </p:spTree>
    <p:extLst>
      <p:ext uri="{BB962C8B-B14F-4D97-AF65-F5344CB8AC3E}">
        <p14:creationId xmlns:p14="http://schemas.microsoft.com/office/powerpoint/2010/main" val="1716997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we’ve got the pre-requisites out of the way we’re going to start with outlining our main goal, which is building a model that can predict the next word in a sequence. This will be our guiding aim throughout the whole process of learning about attention, transformers, decoders and so on. </a:t>
            </a:r>
          </a:p>
          <a:p>
            <a:endParaRPr lang="en-GB" dirty="0"/>
          </a:p>
          <a:p>
            <a:r>
              <a:rPr lang="en-GB" dirty="0"/>
              <a:t>I’ll explain why being able to predict the next word is extremely useful and leads to powerful AI systems such as ChatGPT and Claude that you may have already used, but for now let’s start simple.</a:t>
            </a:r>
          </a:p>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8</a:t>
            </a:fld>
            <a:endParaRPr lang="en-GB"/>
          </a:p>
        </p:txBody>
      </p:sp>
    </p:spTree>
    <p:extLst>
      <p:ext uri="{BB962C8B-B14F-4D97-AF65-F5344CB8AC3E}">
        <p14:creationId xmlns:p14="http://schemas.microsoft.com/office/powerpoint/2010/main" val="3031497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Let’s look at a familiar phrase in the English language, “The cat sat on ….”</a:t>
            </a:r>
          </a:p>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9</a:t>
            </a:fld>
            <a:endParaRPr lang="en-GB"/>
          </a:p>
        </p:txBody>
      </p:sp>
    </p:spTree>
    <p:extLst>
      <p:ext uri="{BB962C8B-B14F-4D97-AF65-F5344CB8AC3E}">
        <p14:creationId xmlns:p14="http://schemas.microsoft.com/office/powerpoint/2010/main" val="1813869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You’ll probably have predicted that the next word should be “the” given the start of that sentence.</a:t>
            </a:r>
          </a:p>
          <a:p>
            <a:endParaRPr lang="en-GB" dirty="0"/>
          </a:p>
          <a:p>
            <a:r>
              <a:rPr lang="en-GB" dirty="0"/>
              <a:t>We can then take the word “the” and append it to end of the partial sentence. We now make a prediction of the new next word that should follow given our new extended partial sentence.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obviously, the most likely next word is “mat”. We’ve been able to extend the initial partial sentence by two extra words. We could continue and build up a whole new sentence if we so wished.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is this useful to me, unless I want to use AI to write a novel or some poetry? It’s to do with what words are in a sentence.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10</a:t>
            </a:fld>
            <a:endParaRPr lang="en-GB"/>
          </a:p>
        </p:txBody>
      </p:sp>
    </p:spTree>
    <p:extLst>
      <p:ext uri="{BB962C8B-B14F-4D97-AF65-F5344CB8AC3E}">
        <p14:creationId xmlns:p14="http://schemas.microsoft.com/office/powerpoint/2010/main" val="2369480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Sentences are made of words. So words are the natural units into which we can decompose a sentence. We call these units tokens. So a sentence is made up of a collection of tokens.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could choose to use smaller tokens, for example sub-words or split off the ending of a word such as ‘</a:t>
            </a:r>
            <a:r>
              <a:rPr lang="en-GB" dirty="0" err="1"/>
              <a:t>ing</a:t>
            </a:r>
            <a:r>
              <a:rPr lang="en-GB" dirty="0"/>
              <a:t>’ or ‘ed’ to produce two tokens. So in this example the word “jumped” has been split into two tokens, “jump” and “ed”. In fact, it is more efficient to do this and modern LLMs use what is called byte-pair tokenization to construct the tokens. Typically, for English-language based LLMs the tokenization will be such that we have around 4 tokens for every 3 words, or 0.75 words per token.</a:t>
            </a:r>
          </a:p>
        </p:txBody>
      </p:sp>
      <p:sp>
        <p:nvSpPr>
          <p:cNvPr id="4" name="Slide Number Placeholder 3"/>
          <p:cNvSpPr>
            <a:spLocks noGrp="1"/>
          </p:cNvSpPr>
          <p:nvPr>
            <p:ph type="sldNum" sz="quarter" idx="5"/>
          </p:nvPr>
        </p:nvSpPr>
        <p:spPr/>
        <p:txBody>
          <a:bodyPr/>
          <a:lstStyle/>
          <a:p>
            <a:fld id="{C69FE274-BBBE-4E79-A3A9-15D1671737F2}" type="slidenum">
              <a:rPr lang="en-GB" smtClean="0"/>
              <a:t>11</a:t>
            </a:fld>
            <a:endParaRPr lang="en-GB"/>
          </a:p>
        </p:txBody>
      </p:sp>
    </p:spTree>
    <p:extLst>
      <p:ext uri="{BB962C8B-B14F-4D97-AF65-F5344CB8AC3E}">
        <p14:creationId xmlns:p14="http://schemas.microsoft.com/office/powerpoint/2010/main" val="2894594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a token is a just a thing and a sequence is just a collections of things. So we realise that many things in life are just sequences of tokens. For example, a movie is just a sequence of images. An image is just a collection of pixels with colour and hue attributes, a protein is just a sequence of amino-acids.</a:t>
            </a:r>
          </a:p>
          <a:p>
            <a:endParaRPr lang="en-GB" dirty="0"/>
          </a:p>
          <a:p>
            <a:r>
              <a:rPr lang="en-GB" dirty="0"/>
              <a:t>That sequence of tokens could also be a sequence of structured code statements, including API calls to tools that take actions. We now have the beginnings of </a:t>
            </a:r>
            <a:r>
              <a:rPr lang="en-GB" dirty="0" err="1"/>
              <a:t>AgenticAI</a:t>
            </a:r>
            <a:r>
              <a:rPr lang="en-GB" dirty="0"/>
              <a:t>.</a:t>
            </a:r>
          </a:p>
          <a:p>
            <a:endParaRPr lang="en-GB" dirty="0"/>
          </a:p>
          <a:p>
            <a:r>
              <a:rPr lang="en-GB" dirty="0"/>
              <a:t>Going from a language model that predicts the next token to an Agent requires some additional sophisticated training steps.</a:t>
            </a:r>
          </a:p>
          <a:p>
            <a:endParaRPr lang="en-GB" dirty="0"/>
          </a:p>
          <a:p>
            <a:r>
              <a:rPr lang="en-GB" dirty="0"/>
              <a:t>But in all the extra steps we are using model to output a sequence of next tokens. What differs is how we do the training.</a:t>
            </a:r>
          </a:p>
          <a:p>
            <a:endParaRPr lang="en-GB" dirty="0"/>
          </a:p>
          <a:p>
            <a:r>
              <a:rPr lang="en-GB" dirty="0"/>
              <a:t>We now see that if we can learn how to predict the next token, we will have developed a very powerful technology that has many </a:t>
            </a:r>
            <a:r>
              <a:rPr lang="en-GB" dirty="0" err="1"/>
              <a:t>many</a:t>
            </a:r>
            <a:r>
              <a:rPr lang="en-GB" dirty="0"/>
              <a:t> applications in very different areas. And understanding how LLMs predict the next word is just a means to understanding how to solve the more general problem of next token prediction. So for the rest of this presentation I’m going to focus on explaining just next word prediction.</a:t>
            </a:r>
          </a:p>
        </p:txBody>
      </p:sp>
      <p:sp>
        <p:nvSpPr>
          <p:cNvPr id="4" name="Slide Number Placeholder 3"/>
          <p:cNvSpPr>
            <a:spLocks noGrp="1"/>
          </p:cNvSpPr>
          <p:nvPr>
            <p:ph type="sldNum" sz="quarter" idx="5"/>
          </p:nvPr>
        </p:nvSpPr>
        <p:spPr/>
        <p:txBody>
          <a:bodyPr/>
          <a:lstStyle/>
          <a:p>
            <a:fld id="{C69FE274-BBBE-4E79-A3A9-15D1671737F2}" type="slidenum">
              <a:rPr lang="en-GB" smtClean="0"/>
              <a:t>12</a:t>
            </a:fld>
            <a:endParaRPr lang="en-GB"/>
          </a:p>
        </p:txBody>
      </p:sp>
    </p:spTree>
    <p:extLst>
      <p:ext uri="{BB962C8B-B14F-4D97-AF65-F5344CB8AC3E}">
        <p14:creationId xmlns:p14="http://schemas.microsoft.com/office/powerpoint/2010/main" val="3583737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to begin our journey into building a mathematical model that is capable of predicting the next word in a sentence, we are going to start by trying a very naïve approach. Because by getting it wrong to start with we’ll uncover which bits of the problem are hard to solve and why.</a:t>
            </a:r>
          </a:p>
        </p:txBody>
      </p:sp>
      <p:sp>
        <p:nvSpPr>
          <p:cNvPr id="4" name="Slide Number Placeholder 3"/>
          <p:cNvSpPr>
            <a:spLocks noGrp="1"/>
          </p:cNvSpPr>
          <p:nvPr>
            <p:ph type="sldNum" sz="quarter" idx="5"/>
          </p:nvPr>
        </p:nvSpPr>
        <p:spPr/>
        <p:txBody>
          <a:bodyPr/>
          <a:lstStyle/>
          <a:p>
            <a:fld id="{C69FE274-BBBE-4E79-A3A9-15D1671737F2}" type="slidenum">
              <a:rPr lang="en-GB" smtClean="0"/>
              <a:t>13</a:t>
            </a:fld>
            <a:endParaRPr lang="en-GB"/>
          </a:p>
        </p:txBody>
      </p:sp>
    </p:spTree>
    <p:extLst>
      <p:ext uri="{BB962C8B-B14F-4D97-AF65-F5344CB8AC3E}">
        <p14:creationId xmlns:p14="http://schemas.microsoft.com/office/powerpoint/2010/main" val="504650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3FFFE-DC51-EC45-C1B4-A42BA8D40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BA3F2-228A-26D3-F867-A3C363D0B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2D8C22-E2F4-AEE9-B71D-74D0C210FFB6}"/>
              </a:ext>
            </a:extLst>
          </p:cNvPr>
          <p:cNvSpPr>
            <a:spLocks noGrp="1"/>
          </p:cNvSpPr>
          <p:nvPr>
            <p:ph type="body" idx="1"/>
          </p:nvPr>
        </p:nvSpPr>
        <p:spPr/>
        <p:txBody>
          <a:bodyPr/>
          <a:lstStyle/>
          <a:p>
            <a:r>
              <a:rPr lang="en-GB" dirty="0"/>
              <a:t>Let’s return to our simple example, “the cat sat on the mat”. There are five distinct words in that sentence. So, if that was the entirety of our training data we would have a vocabulary size of 5. And we could represent each word as a 5-dimensional vector.</a:t>
            </a:r>
          </a:p>
          <a:p>
            <a:endParaRPr lang="en-GB" dirty="0"/>
          </a:p>
          <a:p>
            <a:r>
              <a:rPr lang="en-GB" dirty="0"/>
              <a:t>For example, we can represent the word “cat” by the vector (0,1,0,0,0), and the 1 at position 2 in the vector tells us that the word cat is the second word in whole vocabulary.</a:t>
            </a:r>
          </a:p>
        </p:txBody>
      </p:sp>
      <p:sp>
        <p:nvSpPr>
          <p:cNvPr id="4" name="Slide Number Placeholder 3">
            <a:extLst>
              <a:ext uri="{FF2B5EF4-FFF2-40B4-BE49-F238E27FC236}">
                <a16:creationId xmlns:a16="http://schemas.microsoft.com/office/drawing/2014/main" id="{F54DF746-73ED-57D1-30B2-309879578CBB}"/>
              </a:ext>
            </a:extLst>
          </p:cNvPr>
          <p:cNvSpPr>
            <a:spLocks noGrp="1"/>
          </p:cNvSpPr>
          <p:nvPr>
            <p:ph type="sldNum" sz="quarter" idx="5"/>
          </p:nvPr>
        </p:nvSpPr>
        <p:spPr/>
        <p:txBody>
          <a:bodyPr/>
          <a:lstStyle/>
          <a:p>
            <a:fld id="{C69FE274-BBBE-4E79-A3A9-15D1671737F2}" type="slidenum">
              <a:rPr lang="en-GB" smtClean="0"/>
              <a:t>14</a:t>
            </a:fld>
            <a:endParaRPr lang="en-GB"/>
          </a:p>
        </p:txBody>
      </p:sp>
    </p:spTree>
    <p:extLst>
      <p:ext uri="{BB962C8B-B14F-4D97-AF65-F5344CB8AC3E}">
        <p14:creationId xmlns:p14="http://schemas.microsoft.com/office/powerpoint/2010/main" val="2985566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EBDD0-B4DA-A95B-C87F-2A1945D2F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E4999-5E64-A700-D254-2D343000E2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4DCB5-9242-BBD1-B21F-E951DB1ACCC8}"/>
              </a:ext>
            </a:extLst>
          </p:cNvPr>
          <p:cNvSpPr>
            <a:spLocks noGrp="1"/>
          </p:cNvSpPr>
          <p:nvPr>
            <p:ph type="body" idx="1"/>
          </p:nvPr>
        </p:nvSpPr>
        <p:spPr/>
        <p:txBody>
          <a:bodyPr/>
          <a:lstStyle/>
          <a:p>
            <a:r>
              <a:rPr lang="en-GB" dirty="0"/>
              <a:t>Ok, so we have a simple way of numerically representing each word in our vocabulary, but what happens if we use the same approach to represent our partial sentence, our prompt “The cat sat on the” ?</a:t>
            </a:r>
          </a:p>
          <a:p>
            <a:endParaRPr lang="en-GB" dirty="0"/>
          </a:p>
          <a:p>
            <a:r>
              <a:rPr lang="en-GB" dirty="0"/>
              <a:t>We could just represent the prompt by combining the vectors from the individual words of the prompt. Doing so gives the table here. You can see that although we started with a small vocabulary, the size of the input prompt space is very large.</a:t>
            </a:r>
          </a:p>
          <a:p>
            <a:endParaRPr lang="en-GB" dirty="0"/>
          </a:p>
          <a:p>
            <a:r>
              <a:rPr lang="en-GB" dirty="0"/>
              <a:t>You can probably see where this simple approach is going wrong.</a:t>
            </a:r>
          </a:p>
        </p:txBody>
      </p:sp>
      <p:sp>
        <p:nvSpPr>
          <p:cNvPr id="4" name="Slide Number Placeholder 3">
            <a:extLst>
              <a:ext uri="{FF2B5EF4-FFF2-40B4-BE49-F238E27FC236}">
                <a16:creationId xmlns:a16="http://schemas.microsoft.com/office/drawing/2014/main" id="{C9FB262A-D19D-FBAD-6C6D-C4796A60B5C8}"/>
              </a:ext>
            </a:extLst>
          </p:cNvPr>
          <p:cNvSpPr>
            <a:spLocks noGrp="1"/>
          </p:cNvSpPr>
          <p:nvPr>
            <p:ph type="sldNum" sz="quarter" idx="5"/>
          </p:nvPr>
        </p:nvSpPr>
        <p:spPr/>
        <p:txBody>
          <a:bodyPr/>
          <a:lstStyle/>
          <a:p>
            <a:fld id="{C69FE274-BBBE-4E79-A3A9-15D1671737F2}" type="slidenum">
              <a:rPr lang="en-GB" smtClean="0"/>
              <a:t>15</a:t>
            </a:fld>
            <a:endParaRPr lang="en-GB"/>
          </a:p>
        </p:txBody>
      </p:sp>
    </p:spTree>
    <p:extLst>
      <p:ext uri="{BB962C8B-B14F-4D97-AF65-F5344CB8AC3E}">
        <p14:creationId xmlns:p14="http://schemas.microsoft.com/office/powerpoint/2010/main" val="1974942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Firstly, real language has much bigger vocabularies than just 5 words. For example, the English language is estimated to consist of between 170,000 and 700,000 words, depending on which dictionary you use. That would lead to very large vectors and a very large input prompt space, one that would be too big to build a model of. For more practical next-word prediction models we need to be working with much smaller dimensional vectors.</a:t>
            </a:r>
          </a:p>
          <a:p>
            <a:endParaRPr lang="en-GB" dirty="0"/>
          </a:p>
          <a:p>
            <a:r>
              <a:rPr lang="en-GB" dirty="0"/>
              <a:t>Secondly, we will want to work with long input prompts or contexts, as even in simple sentences the words 10 or more places back can influence the meaning of the sentence. Again, this would lead to very large numerical representations of the prompt. In machine learning we much prefer to use smaller vectors of features with fixed dimensionality. It would be a lot better if we could use a vector to not just represent a word, but the whole prompt. We would like to be able to construct vectors that incorporated information about the context that had occurred before the word the vector was representing. In other words, we need “context aware vectors” to represent each word.</a:t>
            </a:r>
          </a:p>
          <a:p>
            <a:endParaRPr lang="en-GB" dirty="0"/>
          </a:p>
          <a:p>
            <a:r>
              <a:rPr lang="en-GB" dirty="0"/>
              <a:t>And that is how we will solve the problem. We will reduce the dimensionality, by mapping our sparse vectors of ones and zeros into much shorter, denser vectors. We will do that using word embeddings.</a:t>
            </a:r>
          </a:p>
          <a:p>
            <a:endParaRPr lang="en-GB" dirty="0"/>
          </a:p>
          <a:p>
            <a:r>
              <a:rPr lang="en-GB" dirty="0"/>
              <a:t>We will then modify or “transform” each vector in our prompt to take into account the preceding words, to give us context aware embedding vectors.</a:t>
            </a:r>
          </a:p>
        </p:txBody>
      </p:sp>
      <p:sp>
        <p:nvSpPr>
          <p:cNvPr id="4" name="Slide Number Placeholder 3"/>
          <p:cNvSpPr>
            <a:spLocks noGrp="1"/>
          </p:cNvSpPr>
          <p:nvPr>
            <p:ph type="sldNum" sz="quarter" idx="5"/>
          </p:nvPr>
        </p:nvSpPr>
        <p:spPr/>
        <p:txBody>
          <a:bodyPr/>
          <a:lstStyle/>
          <a:p>
            <a:fld id="{C69FE274-BBBE-4E79-A3A9-15D1671737F2}" type="slidenum">
              <a:rPr lang="en-GB" smtClean="0"/>
              <a:t>16</a:t>
            </a:fld>
            <a:endParaRPr lang="en-GB"/>
          </a:p>
        </p:txBody>
      </p:sp>
    </p:spTree>
    <p:extLst>
      <p:ext uri="{BB962C8B-B14F-4D97-AF65-F5344CB8AC3E}">
        <p14:creationId xmlns:p14="http://schemas.microsoft.com/office/powerpoint/2010/main" val="360677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Clearly the next stop in our journey needs to be learning about word embeddings. What they are and how we can create them. And that is what we are going to do now.</a:t>
            </a:r>
          </a:p>
        </p:txBody>
      </p:sp>
      <p:sp>
        <p:nvSpPr>
          <p:cNvPr id="4" name="Slide Number Placeholder 3"/>
          <p:cNvSpPr>
            <a:spLocks noGrp="1"/>
          </p:cNvSpPr>
          <p:nvPr>
            <p:ph type="sldNum" sz="quarter" idx="5"/>
          </p:nvPr>
        </p:nvSpPr>
        <p:spPr/>
        <p:txBody>
          <a:bodyPr/>
          <a:lstStyle/>
          <a:p>
            <a:fld id="{C69FE274-BBBE-4E79-A3A9-15D1671737F2}" type="slidenum">
              <a:rPr lang="en-GB" smtClean="0"/>
              <a:t>17</a:t>
            </a:fld>
            <a:endParaRPr lang="en-GB"/>
          </a:p>
        </p:txBody>
      </p:sp>
    </p:spTree>
    <p:extLst>
      <p:ext uri="{BB962C8B-B14F-4D97-AF65-F5344CB8AC3E}">
        <p14:creationId xmlns:p14="http://schemas.microsoft.com/office/powerpoint/2010/main" val="1889294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simple approach had each of the five words in our vocabulary represented by a five-dimensional vector. We have five words, so we have five data points. We can map those five data points, into a 3-dimensional space. We can learn the mapping perhaps using a neural network auto-encoder approach, where we use the vectors in the 3-dimensional space to reconstruct or predict the words in the original 5-dimensional space using our neural network and we train the neural network by minimizing the reconstruction error. Once we have trained the auto-encoder we have mapped all five of our 5-dimensional vectors into five 3-dimensional vectors. </a:t>
            </a:r>
          </a:p>
        </p:txBody>
      </p:sp>
      <p:sp>
        <p:nvSpPr>
          <p:cNvPr id="4" name="Slide Number Placeholder 3"/>
          <p:cNvSpPr>
            <a:spLocks noGrp="1"/>
          </p:cNvSpPr>
          <p:nvPr>
            <p:ph type="sldNum" sz="quarter" idx="5"/>
          </p:nvPr>
        </p:nvSpPr>
        <p:spPr/>
        <p:txBody>
          <a:bodyPr/>
          <a:lstStyle/>
          <a:p>
            <a:fld id="{C69FE274-BBBE-4E79-A3A9-15D1671737F2}" type="slidenum">
              <a:rPr lang="en-GB" smtClean="0"/>
              <a:t>18</a:t>
            </a:fld>
            <a:endParaRPr lang="en-GB"/>
          </a:p>
        </p:txBody>
      </p:sp>
    </p:spTree>
    <p:extLst>
      <p:ext uri="{BB962C8B-B14F-4D97-AF65-F5344CB8AC3E}">
        <p14:creationId xmlns:p14="http://schemas.microsoft.com/office/powerpoint/2010/main" val="3459075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real-world word embeddings we follow the same principle, it is just we have much bigger vocabulary, a much bigger training set, and we map into a space bigger than just 3 dimensions. Modern English-language LLMs don’t use the full English vocabulary but still use something in the order of 30,000 to 50,000 words. One of the pioneering pieces of work on word embeddings, Word2Vec, mapped those English-language words into a 300-dimensional space. That is a huge reduction in dimensionality, but it still means that each word is represented by a 300-dimensional vector.</a:t>
            </a:r>
          </a:p>
          <a:p>
            <a:endParaRPr lang="en-GB" dirty="0"/>
          </a:p>
          <a:p>
            <a:r>
              <a:rPr lang="en-GB" dirty="0"/>
              <a:t>Modern LLMs also represent tokens using embedding vectors, but those embedding vectors are typically more than 300-dimensional but still represent a large reduction in dimensionality compared to the size of the vocabularies we are using. For many LLMs that embedding mapping is learnt as part of the overall model.</a:t>
            </a:r>
          </a:p>
        </p:txBody>
      </p:sp>
      <p:sp>
        <p:nvSpPr>
          <p:cNvPr id="4" name="Slide Number Placeholder 3"/>
          <p:cNvSpPr>
            <a:spLocks noGrp="1"/>
          </p:cNvSpPr>
          <p:nvPr>
            <p:ph type="sldNum" sz="quarter" idx="5"/>
          </p:nvPr>
        </p:nvSpPr>
        <p:spPr/>
        <p:txBody>
          <a:bodyPr/>
          <a:lstStyle/>
          <a:p>
            <a:fld id="{C69FE274-BBBE-4E79-A3A9-15D1671737F2}" type="slidenum">
              <a:rPr lang="en-GB" smtClean="0"/>
              <a:t>19</a:t>
            </a:fld>
            <a:endParaRPr lang="en-GB"/>
          </a:p>
        </p:txBody>
      </p:sp>
    </p:spTree>
    <p:extLst>
      <p:ext uri="{BB962C8B-B14F-4D97-AF65-F5344CB8AC3E}">
        <p14:creationId xmlns:p14="http://schemas.microsoft.com/office/powerpoint/2010/main" val="147692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table here shows Word2Vec embedding vectors for the words in our earlier phrase “the cat sat on the mat”. Each column represents the 300-dimensional embedding vector corresponding to the word (or token) at the top of the column. The embeddings vectors were constructed by training on a large subset of Wikipedia news articles. We can get access to those Wikipedia-based word embeddings through the genism python package.</a:t>
            </a:r>
          </a:p>
        </p:txBody>
      </p:sp>
      <p:sp>
        <p:nvSpPr>
          <p:cNvPr id="4" name="Slide Number Placeholder 3"/>
          <p:cNvSpPr>
            <a:spLocks noGrp="1"/>
          </p:cNvSpPr>
          <p:nvPr>
            <p:ph type="sldNum" sz="quarter" idx="5"/>
          </p:nvPr>
        </p:nvSpPr>
        <p:spPr/>
        <p:txBody>
          <a:bodyPr/>
          <a:lstStyle/>
          <a:p>
            <a:fld id="{C69FE274-BBBE-4E79-A3A9-15D1671737F2}" type="slidenum">
              <a:rPr lang="en-GB" smtClean="0"/>
              <a:t>20</a:t>
            </a:fld>
            <a:endParaRPr lang="en-GB"/>
          </a:p>
        </p:txBody>
      </p:sp>
    </p:spTree>
    <p:extLst>
      <p:ext uri="{BB962C8B-B14F-4D97-AF65-F5344CB8AC3E}">
        <p14:creationId xmlns:p14="http://schemas.microsoft.com/office/powerpoint/2010/main" val="3166061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brings us neatly onto our first code example, where we will work with word embeddings.</a:t>
            </a:r>
          </a:p>
        </p:txBody>
      </p:sp>
      <p:sp>
        <p:nvSpPr>
          <p:cNvPr id="4" name="Slide Number Placeholder 3"/>
          <p:cNvSpPr>
            <a:spLocks noGrp="1"/>
          </p:cNvSpPr>
          <p:nvPr>
            <p:ph type="sldNum" sz="quarter" idx="5"/>
          </p:nvPr>
        </p:nvSpPr>
        <p:spPr/>
        <p:txBody>
          <a:bodyPr/>
          <a:lstStyle/>
          <a:p>
            <a:fld id="{C69FE274-BBBE-4E79-A3A9-15D1671737F2}" type="slidenum">
              <a:rPr lang="en-GB" smtClean="0"/>
              <a:t>21</a:t>
            </a:fld>
            <a:endParaRPr lang="en-GB"/>
          </a:p>
        </p:txBody>
      </p:sp>
    </p:spTree>
    <p:extLst>
      <p:ext uri="{BB962C8B-B14F-4D97-AF65-F5344CB8AC3E}">
        <p14:creationId xmlns:p14="http://schemas.microsoft.com/office/powerpoint/2010/main" val="682078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code example is in the Jupyter notebook, CodeExample1 in the </a:t>
            </a:r>
            <a:r>
              <a:rPr lang="en-GB" dirty="0" err="1"/>
              <a:t>github</a:t>
            </a:r>
            <a:r>
              <a:rPr lang="en-GB" dirty="0"/>
              <a:t> repository.</a:t>
            </a:r>
          </a:p>
        </p:txBody>
      </p:sp>
      <p:sp>
        <p:nvSpPr>
          <p:cNvPr id="4" name="Slide Number Placeholder 3"/>
          <p:cNvSpPr>
            <a:spLocks noGrp="1"/>
          </p:cNvSpPr>
          <p:nvPr>
            <p:ph type="sldNum" sz="quarter" idx="5"/>
          </p:nvPr>
        </p:nvSpPr>
        <p:spPr/>
        <p:txBody>
          <a:bodyPr/>
          <a:lstStyle/>
          <a:p>
            <a:fld id="{C69FE274-BBBE-4E79-A3A9-15D1671737F2}" type="slidenum">
              <a:rPr lang="en-GB" smtClean="0"/>
              <a:t>22</a:t>
            </a:fld>
            <a:endParaRPr lang="en-GB"/>
          </a:p>
        </p:txBody>
      </p:sp>
    </p:spTree>
    <p:extLst>
      <p:ext uri="{BB962C8B-B14F-4D97-AF65-F5344CB8AC3E}">
        <p14:creationId xmlns:p14="http://schemas.microsoft.com/office/powerpoint/2010/main" val="192308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we have solved our first issue, reducing the dimensionality of our vectors. But let’s see if our new word embeddings solve our second issue. Are embedding vectors aware of the preceding sentence? Let’s find out. </a:t>
            </a:r>
          </a:p>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23</a:t>
            </a:fld>
            <a:endParaRPr lang="en-GB"/>
          </a:p>
        </p:txBody>
      </p:sp>
    </p:spTree>
    <p:extLst>
      <p:ext uri="{BB962C8B-B14F-4D97-AF65-F5344CB8AC3E}">
        <p14:creationId xmlns:p14="http://schemas.microsoft.com/office/powerpoint/2010/main" val="3496684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we have the embedding vectors of the words in our phrase represented by columns in a table. I’ve highlighted the embedding vector for the last word “the” in a darker shade of blue because what I’d like to be able to do is to be able predict the next word just using that dark blue embedding vector. In principle that is just a MachineLearning101 task. We could potentially do that using a standard off-the-shelf multi-class classifier which takes the dark blue embedding vector as an input feature vector. Once we got hold of a training data set we could train the classifier and then we’d be good to go.</a:t>
            </a:r>
          </a:p>
          <a:p>
            <a:endParaRPr lang="en-GB" dirty="0"/>
          </a:p>
          <a:p>
            <a:r>
              <a:rPr lang="en-GB" dirty="0"/>
              <a:t>The problem is that that dark blue embedding vector knows nothing about the preceding sentence. We just looked it up in the Word2Vec dataset. It contains information only about the word “the”. It contains no information about the preceding sentence, so there is no way it can accurately predict the next word.</a:t>
            </a:r>
          </a:p>
          <a:p>
            <a:endParaRPr lang="en-GB" dirty="0"/>
          </a:p>
          <a:p>
            <a:r>
              <a:rPr lang="en-GB" dirty="0"/>
              <a:t>We need to create a new dark blue embedding vector that takes into account the preceding context. We will need to transform those starting input embedding vectors.</a:t>
            </a:r>
          </a:p>
          <a:p>
            <a:endParaRPr lang="en-GB" dirty="0"/>
          </a:p>
          <a:p>
            <a:r>
              <a:rPr lang="en-GB" dirty="0"/>
              <a:t>We will need to build a Transformer, and that is what we are going to learn how to do.</a:t>
            </a:r>
          </a:p>
          <a:p>
            <a:endParaRPr lang="en-GB" dirty="0"/>
          </a:p>
          <a:p>
            <a:r>
              <a:rPr lang="en-GB" dirty="0"/>
              <a:t>Whilst we ultimately want to learn how to predict the next word given just the preceding sentence or context, to start with we’re going to learn how to predict a word given all of the surrounding context, and then later we’ll come back to learning how to make predictions just using the preceding sentence.</a:t>
            </a:r>
          </a:p>
        </p:txBody>
      </p:sp>
      <p:sp>
        <p:nvSpPr>
          <p:cNvPr id="4" name="Slide Number Placeholder 3"/>
          <p:cNvSpPr>
            <a:spLocks noGrp="1"/>
          </p:cNvSpPr>
          <p:nvPr>
            <p:ph type="sldNum" sz="quarter" idx="5"/>
          </p:nvPr>
        </p:nvSpPr>
        <p:spPr/>
        <p:txBody>
          <a:bodyPr/>
          <a:lstStyle/>
          <a:p>
            <a:fld id="{C69FE274-BBBE-4E79-A3A9-15D1671737F2}" type="slidenum">
              <a:rPr lang="en-GB" smtClean="0"/>
              <a:t>24</a:t>
            </a:fld>
            <a:endParaRPr lang="en-GB"/>
          </a:p>
        </p:txBody>
      </p:sp>
    </p:spTree>
    <p:extLst>
      <p:ext uri="{BB962C8B-B14F-4D97-AF65-F5344CB8AC3E}">
        <p14:creationId xmlns:p14="http://schemas.microsoft.com/office/powerpoint/2010/main" val="2147271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said that we needed to transform the starting input embedding vectors into new embedding vectors that take into account the surrounding context, or in other words take into account the surrounding vectors, but how do we do that?</a:t>
            </a:r>
          </a:p>
          <a:p>
            <a:endParaRPr lang="en-GB" dirty="0"/>
          </a:p>
          <a:p>
            <a:r>
              <a:rPr lang="en-GB" dirty="0"/>
              <a:t>Easy. We just take a weighted average of the surrounding vectors. The weighs for that weighted average are stored in the matrix elements A n, n-dashed. The element A n, n-dashed tells us how much attention to the vector at n-dashed we should be paying when we construct the new embedding vector for token n. Hence, we call the matrix elements attention weights, and the whole method of constructing new embedding vectors is known as “Attention”.</a:t>
            </a:r>
          </a:p>
          <a:p>
            <a:endParaRPr lang="en-GB" dirty="0"/>
          </a:p>
          <a:p>
            <a:r>
              <a:rPr lang="en-GB" dirty="0"/>
              <a:t>Actually, we do something slightly different. We don’t take a weighted average of the existing input embedding vectors, we take a weighted average of a set of new vectors v, which we model as a linear transformation of the input embedding vectors. The transformation matrix U subscript v we consider to be a parameter of the transformer model and so we learn it through the training process. And so we’re good to go. Not quite. Where are we going to get the attention weights from. Where do the matrix elements A n, n-dashed come from?</a:t>
            </a:r>
          </a:p>
        </p:txBody>
      </p:sp>
      <p:sp>
        <p:nvSpPr>
          <p:cNvPr id="4" name="Slide Number Placeholder 3"/>
          <p:cNvSpPr>
            <a:spLocks noGrp="1"/>
          </p:cNvSpPr>
          <p:nvPr>
            <p:ph type="sldNum" sz="quarter" idx="5"/>
          </p:nvPr>
        </p:nvSpPr>
        <p:spPr/>
        <p:txBody>
          <a:bodyPr/>
          <a:lstStyle/>
          <a:p>
            <a:fld id="{C69FE274-BBBE-4E79-A3A9-15D1671737F2}" type="slidenum">
              <a:rPr lang="en-GB" smtClean="0"/>
              <a:t>25</a:t>
            </a:fld>
            <a:endParaRPr lang="en-GB"/>
          </a:p>
        </p:txBody>
      </p:sp>
    </p:spTree>
    <p:extLst>
      <p:ext uri="{BB962C8B-B14F-4D97-AF65-F5344CB8AC3E}">
        <p14:creationId xmlns:p14="http://schemas.microsoft.com/office/powerpoint/2010/main" val="16241868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do we need mathematically from the attention weights? We’ll we need A n, n-dashed to depend upon the tokens at n and n-dashed. Secondly, we still want the updated embedding vector to represent the its token, and so if the updated vector at n pays a lot of attention to the token at n-dashed we want that to be because tokens n and n-dashed are similar.</a:t>
            </a:r>
          </a:p>
          <a:p>
            <a:endParaRPr lang="en-GB" dirty="0"/>
          </a:p>
          <a:p>
            <a:r>
              <a:rPr lang="en-GB" dirty="0"/>
              <a:t>How do we capture similarity between vectors in mathematics? We could use the inner-product between the input embedding vectors as a means of calculating the self-attention weights.</a:t>
            </a:r>
          </a:p>
          <a:p>
            <a:endParaRPr lang="en-GB" dirty="0"/>
          </a:p>
          <a:p>
            <a:r>
              <a:rPr lang="en-GB" dirty="0"/>
              <a:t>The only problem with that is that the inner product isn’t a probability. It can even be negative, if the two vectors are dis-similar.</a:t>
            </a:r>
          </a:p>
          <a:p>
            <a:endParaRPr lang="en-GB" dirty="0"/>
          </a:p>
          <a:p>
            <a:r>
              <a:rPr lang="en-GB" dirty="0"/>
              <a:t>Not problem. We just use another common machine learning trick – </a:t>
            </a:r>
            <a:r>
              <a:rPr lang="en-GB" dirty="0" err="1"/>
              <a:t>softmax</a:t>
            </a:r>
            <a:r>
              <a:rPr lang="en-GB" dirty="0"/>
              <a:t>. We just exponentiate the values and normalize. So now we have a mechanism to calculate self-attention weights. We’re done right ?</a:t>
            </a:r>
          </a:p>
        </p:txBody>
      </p:sp>
      <p:sp>
        <p:nvSpPr>
          <p:cNvPr id="4" name="Slide Number Placeholder 3"/>
          <p:cNvSpPr>
            <a:spLocks noGrp="1"/>
          </p:cNvSpPr>
          <p:nvPr>
            <p:ph type="sldNum" sz="quarter" idx="5"/>
          </p:nvPr>
        </p:nvSpPr>
        <p:spPr/>
        <p:txBody>
          <a:bodyPr/>
          <a:lstStyle/>
          <a:p>
            <a:fld id="{C69FE274-BBBE-4E79-A3A9-15D1671737F2}" type="slidenum">
              <a:rPr lang="en-GB" smtClean="0"/>
              <a:t>26</a:t>
            </a:fld>
            <a:endParaRPr lang="en-GB"/>
          </a:p>
        </p:txBody>
      </p:sp>
    </p:spTree>
    <p:extLst>
      <p:ext uri="{BB962C8B-B14F-4D97-AF65-F5344CB8AC3E}">
        <p14:creationId xmlns:p14="http://schemas.microsoft.com/office/powerpoint/2010/main" val="14232113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quite. We want the self-attention weights to take into account similarity between the tokens, but are the input embedding vectors the best vectors to use in a similarity calculation?</a:t>
            </a:r>
          </a:p>
          <a:p>
            <a:endParaRPr lang="en-GB" dirty="0"/>
          </a:p>
          <a:p>
            <a:r>
              <a:rPr lang="en-GB" dirty="0"/>
              <a:t>If we transform the input vectors into new vectors z and make the transformation matrix U part of the model parameters which can be learnt through model training, then we allow the model to discover what is the best way to measure similarity between the input embedding vectors.</a:t>
            </a:r>
          </a:p>
          <a:p>
            <a:endParaRPr lang="en-GB" dirty="0"/>
          </a:p>
          <a:p>
            <a:r>
              <a:rPr lang="en-GB" dirty="0"/>
              <a:t>The similarity between tokens is now calculated as the inner product between these new z vectors.</a:t>
            </a:r>
          </a:p>
          <a:p>
            <a:endParaRPr lang="en-GB" dirty="0"/>
          </a:p>
          <a:p>
            <a:r>
              <a:rPr lang="en-GB" dirty="0"/>
              <a:t>We actually use two transformation matrices when calculating the similarity between these new z vectors, to give the transformer model more flexibility. For the sake of brevity, I’m not going to go into the reason for doing that here, other than to say that because we now have 2 transformation matrices </a:t>
            </a:r>
            <a:r>
              <a:rPr lang="en-GB" dirty="0" err="1"/>
              <a:t>Uq</a:t>
            </a:r>
            <a:r>
              <a:rPr lang="en-GB" dirty="0"/>
              <a:t> and Uk and we have two new transformed vectors </a:t>
            </a:r>
            <a:r>
              <a:rPr lang="en-GB" dirty="0" err="1"/>
              <a:t>zq</a:t>
            </a:r>
            <a:r>
              <a:rPr lang="en-GB" dirty="0"/>
              <a:t> and </a:t>
            </a:r>
            <a:r>
              <a:rPr lang="en-GB" dirty="0" err="1"/>
              <a:t>zk</a:t>
            </a:r>
            <a:r>
              <a:rPr lang="en-GB" dirty="0"/>
              <a:t>, which are called query and key vectors. Our similarity calculation is just the inner-product between the query vector for token n with the key vector for token n-dashed.</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mathematical form, that similarity is now given by the following equation, and it is this equation that we then stick into our </a:t>
            </a:r>
            <a:r>
              <a:rPr lang="en-GB" dirty="0" err="1"/>
              <a:t>softmax</a:t>
            </a:r>
            <a:r>
              <a:rPr lang="en-GB" dirty="0"/>
              <a:t> function to get actual self-attention probabilities or weights.</a:t>
            </a:r>
          </a:p>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27</a:t>
            </a:fld>
            <a:endParaRPr lang="en-GB"/>
          </a:p>
        </p:txBody>
      </p:sp>
    </p:spTree>
    <p:extLst>
      <p:ext uri="{BB962C8B-B14F-4D97-AF65-F5344CB8AC3E}">
        <p14:creationId xmlns:p14="http://schemas.microsoft.com/office/powerpoint/2010/main" val="1630486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45B2-BF7F-3C97-687F-04132BBC9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04B4E-49BF-B518-71B4-D65D69D2A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A779F-ECCB-5F0F-6D8D-94F3B8E3FF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a lot of the research literature you will see an additional factor of the square root of key vector dimension in the denominator of the query-key similarity calculation. This is done to help with the stability of the training process. It makes the variance of the query-key inner product an order 1 quantity. This is desirable from a training point of view. From a mathematical point of view we can just absorb that square root factor into the definition of the U matrices. Since I’m only teaching about the mathematics of Transformers, not the nitty-gritty details of how to get the model training to work I can and will absorb that square root factor into the U matrices. But don’t worry, the square root factor is there implicitly, I not teaching you something different to the research literature. It’s just that for writing and explaining about transformers it is easier and cleaner not to show the square root. Phew! That’s a lot of mathematical detail. So let’s put it altogether and summarize.</a:t>
            </a:r>
          </a:p>
          <a:p>
            <a:endParaRPr lang="en-GB" dirty="0"/>
          </a:p>
        </p:txBody>
      </p:sp>
      <p:sp>
        <p:nvSpPr>
          <p:cNvPr id="4" name="Slide Number Placeholder 3">
            <a:extLst>
              <a:ext uri="{FF2B5EF4-FFF2-40B4-BE49-F238E27FC236}">
                <a16:creationId xmlns:a16="http://schemas.microsoft.com/office/drawing/2014/main" id="{953E3CA0-C90B-FA89-9241-EC620915AAE7}"/>
              </a:ext>
            </a:extLst>
          </p:cNvPr>
          <p:cNvSpPr>
            <a:spLocks noGrp="1"/>
          </p:cNvSpPr>
          <p:nvPr>
            <p:ph type="sldNum" sz="quarter" idx="5"/>
          </p:nvPr>
        </p:nvSpPr>
        <p:spPr/>
        <p:txBody>
          <a:bodyPr/>
          <a:lstStyle/>
          <a:p>
            <a:fld id="{C69FE274-BBBE-4E79-A3A9-15D1671737F2}" type="slidenum">
              <a:rPr lang="en-GB" smtClean="0"/>
              <a:t>28</a:t>
            </a:fld>
            <a:endParaRPr lang="en-GB"/>
          </a:p>
        </p:txBody>
      </p:sp>
    </p:spTree>
    <p:extLst>
      <p:ext uri="{BB962C8B-B14F-4D97-AF65-F5344CB8AC3E}">
        <p14:creationId xmlns:p14="http://schemas.microsoft.com/office/powerpoint/2010/main" val="4022887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Given some input embedding vectors </a:t>
            </a:r>
            <a:r>
              <a:rPr lang="en-GB" dirty="0" err="1"/>
              <a:t>y_n</a:t>
            </a:r>
            <a:r>
              <a:rPr lang="en-GB" dirty="0"/>
              <a:t> that represent the tokens in a sentence, we construct new, context-aware, embedding vectors using the following formula.</a:t>
            </a:r>
          </a:p>
          <a:p>
            <a:endParaRPr lang="en-GB" dirty="0"/>
          </a:p>
          <a:p>
            <a:r>
              <a:rPr lang="en-GB" dirty="0"/>
              <a:t>In words, that formula is a lot simpler to understand. We calculate the new embedding vectors as a weighted average of vectors v. The weights are calculated from a </a:t>
            </a:r>
            <a:r>
              <a:rPr lang="en-GB" dirty="0" err="1"/>
              <a:t>softmax</a:t>
            </a:r>
            <a:r>
              <a:rPr lang="en-GB" dirty="0"/>
              <a:t> function applied to the similarity between the query and key vectors for the two tokens we are comparing. The query and key vectors are linear transformations applied to the input embedding vectors. The transformation matrices are just model parameters we learn through training the model. That’s it. It’s that simple. That famous self-attention mechanism that everyone talks about, that’s in a famous paper from Google, and is at the heart of LLM really is that simple. That verbal description is all I need you to remember and all you need to take away from this section of the slides. But I’m afraid we’re not finished yet. </a:t>
            </a:r>
          </a:p>
        </p:txBody>
      </p:sp>
      <p:sp>
        <p:nvSpPr>
          <p:cNvPr id="4" name="Slide Number Placeholder 3"/>
          <p:cNvSpPr>
            <a:spLocks noGrp="1"/>
          </p:cNvSpPr>
          <p:nvPr>
            <p:ph type="sldNum" sz="quarter" idx="5"/>
          </p:nvPr>
        </p:nvSpPr>
        <p:spPr/>
        <p:txBody>
          <a:bodyPr/>
          <a:lstStyle/>
          <a:p>
            <a:fld id="{C69FE274-BBBE-4E79-A3A9-15D1671737F2}" type="slidenum">
              <a:rPr lang="en-GB" smtClean="0"/>
              <a:t>29</a:t>
            </a:fld>
            <a:endParaRPr lang="en-GB"/>
          </a:p>
        </p:txBody>
      </p:sp>
    </p:spTree>
    <p:extLst>
      <p:ext uri="{BB962C8B-B14F-4D97-AF65-F5344CB8AC3E}">
        <p14:creationId xmlns:p14="http://schemas.microsoft.com/office/powerpoint/2010/main" val="17849415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need to return something I mentioned earlier. I’ve said that we ultimately want to predict the next word given the preceding sentence. However, when explaining attention and self-attention we actually focused on how we could construct updated embedding vectors using all of the surrounding tokens, not just the preceding tokens. We’re going to modify that.</a:t>
            </a:r>
          </a:p>
          <a:p>
            <a:endParaRPr lang="en-GB" dirty="0"/>
          </a:p>
          <a:p>
            <a:r>
              <a:rPr lang="en-GB" dirty="0"/>
              <a:t>If we want to use just the preceding tokens when performing a self-attention calculation, we can just set the appropriate attention weights to zero. So our attention weight matrix would look like this. This is called masking. There are other patterns of masking we might want to use, but we always use the same simple idea – if we don’t want a token to be used in the vector update calculation we just set the corresponding attention weight to zero. We mask it out.</a:t>
            </a:r>
          </a:p>
          <a:p>
            <a:endParaRPr lang="en-GB" dirty="0"/>
          </a:p>
          <a:p>
            <a:r>
              <a:rPr lang="en-GB" dirty="0"/>
              <a:t>We can easily make an attention weight equal to zero when we apply the </a:t>
            </a:r>
            <a:r>
              <a:rPr lang="en-GB" dirty="0" err="1"/>
              <a:t>softmax</a:t>
            </a:r>
            <a:r>
              <a:rPr lang="en-GB" dirty="0"/>
              <a:t> calculation by simply setting the query-key inner product result to minus infinity. When we take the exponential of minus infinity in the </a:t>
            </a:r>
            <a:r>
              <a:rPr lang="en-GB" dirty="0" err="1"/>
              <a:t>softmax</a:t>
            </a:r>
            <a:r>
              <a:rPr lang="en-GB" dirty="0"/>
              <a:t> calculation we will automatically get a zero for the attention weight. Excellent, but I’m afraid there is more to learn about transformers. So let’s continue.</a:t>
            </a:r>
          </a:p>
        </p:txBody>
      </p:sp>
      <p:sp>
        <p:nvSpPr>
          <p:cNvPr id="4" name="Slide Number Placeholder 3"/>
          <p:cNvSpPr>
            <a:spLocks noGrp="1"/>
          </p:cNvSpPr>
          <p:nvPr>
            <p:ph type="sldNum" sz="quarter" idx="5"/>
          </p:nvPr>
        </p:nvSpPr>
        <p:spPr/>
        <p:txBody>
          <a:bodyPr/>
          <a:lstStyle/>
          <a:p>
            <a:fld id="{C69FE274-BBBE-4E79-A3A9-15D1671737F2}" type="slidenum">
              <a:rPr lang="en-GB" smtClean="0"/>
              <a:t>30</a:t>
            </a:fld>
            <a:endParaRPr lang="en-GB"/>
          </a:p>
        </p:txBody>
      </p:sp>
    </p:spTree>
    <p:extLst>
      <p:ext uri="{BB962C8B-B14F-4D97-AF65-F5344CB8AC3E}">
        <p14:creationId xmlns:p14="http://schemas.microsoft.com/office/powerpoint/2010/main" val="3678875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wrap up all those mathematical details about self-attention into single schematic box, which I’ll call an attention head. The attention head takes an embedding vector as input and outputs a transformed embedding vector that has taken into account the surrounding tokens, possibly with masking. The purpose of the transformed vector is to make the job of predicting the next token easier, more accurate. We need each element of that transformed embedding vector to be optimal for the purposes of next token prediction.</a:t>
            </a:r>
          </a:p>
          <a:p>
            <a:endParaRPr lang="en-GB" dirty="0"/>
          </a:p>
          <a:p>
            <a:r>
              <a:rPr lang="en-GB" dirty="0"/>
              <a:t>The problem we have is that we use the same attention weights when calculating all of the elements of the transformed vector. It may be that we want to consider two tokens to be very similar when calculating elements 1 to 20 of the output vector, but for elements 21 to 40 we may want to consider the two tokens as very dis-similar. Our single set of attention weights don’t give us that flexibility. What can we do? </a:t>
            </a:r>
          </a:p>
        </p:txBody>
      </p:sp>
      <p:sp>
        <p:nvSpPr>
          <p:cNvPr id="4" name="Slide Number Placeholder 3"/>
          <p:cNvSpPr>
            <a:spLocks noGrp="1"/>
          </p:cNvSpPr>
          <p:nvPr>
            <p:ph type="sldNum" sz="quarter" idx="5"/>
          </p:nvPr>
        </p:nvSpPr>
        <p:spPr/>
        <p:txBody>
          <a:bodyPr/>
          <a:lstStyle/>
          <a:p>
            <a:fld id="{C69FE274-BBBE-4E79-A3A9-15D1671737F2}" type="slidenum">
              <a:rPr lang="en-GB" smtClean="0"/>
              <a:t>31</a:t>
            </a:fld>
            <a:endParaRPr lang="en-GB"/>
          </a:p>
        </p:txBody>
      </p:sp>
    </p:spTree>
    <p:extLst>
      <p:ext uri="{BB962C8B-B14F-4D97-AF65-F5344CB8AC3E}">
        <p14:creationId xmlns:p14="http://schemas.microsoft.com/office/powerpoint/2010/main" val="12618824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Easy. We just use multiple of these attention heads and allow different attention heads to focus on transforming different elements of the input embedding vector. Again, we allow the model training to work out which attention head should focus on which parts of the input vector. We call this “multi-headed self-attention”, for obvious reasons.</a:t>
            </a:r>
          </a:p>
          <a:p>
            <a:endParaRPr lang="en-GB" dirty="0"/>
          </a:p>
          <a:p>
            <a:r>
              <a:rPr lang="en-GB" dirty="0"/>
              <a:t>Each attention head outputs a transformed vector, so we need to combine those output vectors into a single final output vector. We could do that by simply taking the average of the output vectors if they are all of the correct final dimension. More commonly, each attention head is set to output a smaller vector and we simply stack those smaller vectors to get our final vector of the required dimension. The advantage of having the attention heads output smaller length vectors is that moving to multi-attention head setup needn’t lead to a massive increase in the number of model parameters. Great! We’ve covered multi-headed self-attention, surely we’re done. There can’t be anything more to learn about Transformers. I’m afraid not.</a:t>
            </a:r>
          </a:p>
        </p:txBody>
      </p:sp>
      <p:sp>
        <p:nvSpPr>
          <p:cNvPr id="4" name="Slide Number Placeholder 3"/>
          <p:cNvSpPr>
            <a:spLocks noGrp="1"/>
          </p:cNvSpPr>
          <p:nvPr>
            <p:ph type="sldNum" sz="quarter" idx="5"/>
          </p:nvPr>
        </p:nvSpPr>
        <p:spPr/>
        <p:txBody>
          <a:bodyPr/>
          <a:lstStyle/>
          <a:p>
            <a:fld id="{C69FE274-BBBE-4E79-A3A9-15D1671737F2}" type="slidenum">
              <a:rPr lang="en-GB" smtClean="0"/>
              <a:t>32</a:t>
            </a:fld>
            <a:endParaRPr lang="en-GB"/>
          </a:p>
        </p:txBody>
      </p:sp>
    </p:spTree>
    <p:extLst>
      <p:ext uri="{BB962C8B-B14F-4D97-AF65-F5344CB8AC3E}">
        <p14:creationId xmlns:p14="http://schemas.microsoft.com/office/powerpoint/2010/main" val="27754924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Everything we discussed so far when transforming input embedding vectors to context-aware embedding vector has focused on column wise operations. The self-attention weights help us combine vectors from different tokens to produce an output vector that we hopefully be optimal to next token prediction.</a:t>
            </a:r>
          </a:p>
          <a:p>
            <a:endParaRPr lang="en-GB" dirty="0"/>
          </a:p>
          <a:p>
            <a:r>
              <a:rPr lang="en-GB" dirty="0"/>
              <a:t>But it can’t really be optimal for what we want because so far we haven’t been allowed to combine values from different rows. By combining different elements within a vector we may be able to produce an even better output vector. </a:t>
            </a:r>
          </a:p>
        </p:txBody>
      </p:sp>
      <p:sp>
        <p:nvSpPr>
          <p:cNvPr id="4" name="Slide Number Placeholder 3"/>
          <p:cNvSpPr>
            <a:spLocks noGrp="1"/>
          </p:cNvSpPr>
          <p:nvPr>
            <p:ph type="sldNum" sz="quarter" idx="5"/>
          </p:nvPr>
        </p:nvSpPr>
        <p:spPr/>
        <p:txBody>
          <a:bodyPr/>
          <a:lstStyle/>
          <a:p>
            <a:fld id="{C69FE274-BBBE-4E79-A3A9-15D1671737F2}" type="slidenum">
              <a:rPr lang="en-GB" smtClean="0"/>
              <a:t>33</a:t>
            </a:fld>
            <a:endParaRPr lang="en-GB"/>
          </a:p>
        </p:txBody>
      </p:sp>
    </p:spTree>
    <p:extLst>
      <p:ext uri="{BB962C8B-B14F-4D97-AF65-F5344CB8AC3E}">
        <p14:creationId xmlns:p14="http://schemas.microsoft.com/office/powerpoint/2010/main" val="2852047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we want to do is take an embedding vector, combine the different elements using possibly non-linear transformations and output a new vector.</a:t>
            </a:r>
          </a:p>
          <a:p>
            <a:endParaRPr lang="en-GB" dirty="0"/>
          </a:p>
          <a:p>
            <a:r>
              <a:rPr lang="en-GB" dirty="0"/>
              <a:t>That is precisely what a feed-forward neural network does. So we also include a feed-forward neural network in our transformer and simply treat the neural network parameters as just more transformer parameters to be learnt through model training. </a:t>
            </a:r>
          </a:p>
        </p:txBody>
      </p:sp>
      <p:sp>
        <p:nvSpPr>
          <p:cNvPr id="4" name="Slide Number Placeholder 3"/>
          <p:cNvSpPr>
            <a:spLocks noGrp="1"/>
          </p:cNvSpPr>
          <p:nvPr>
            <p:ph type="sldNum" sz="quarter" idx="5"/>
          </p:nvPr>
        </p:nvSpPr>
        <p:spPr/>
        <p:txBody>
          <a:bodyPr/>
          <a:lstStyle/>
          <a:p>
            <a:fld id="{C69FE274-BBBE-4E79-A3A9-15D1671737F2}" type="slidenum">
              <a:rPr lang="en-GB" smtClean="0"/>
              <a:t>34</a:t>
            </a:fld>
            <a:endParaRPr lang="en-GB"/>
          </a:p>
        </p:txBody>
      </p:sp>
    </p:spTree>
    <p:extLst>
      <p:ext uri="{BB962C8B-B14F-4D97-AF65-F5344CB8AC3E}">
        <p14:creationId xmlns:p14="http://schemas.microsoft.com/office/powerpoint/2010/main" val="1973281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C0F4-9CE1-3FAE-B36E-89B01775B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A880F-E276-982A-A699-0BE5BE747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1567C-9BC5-0D01-5E5B-7DE3ED8F699F}"/>
              </a:ext>
            </a:extLst>
          </p:cNvPr>
          <p:cNvSpPr>
            <a:spLocks noGrp="1"/>
          </p:cNvSpPr>
          <p:nvPr>
            <p:ph type="body" idx="1"/>
          </p:nvPr>
        </p:nvSpPr>
        <p:spPr/>
        <p:txBody>
          <a:bodyPr/>
          <a:lstStyle/>
          <a:p>
            <a:r>
              <a:rPr lang="en-GB" dirty="0"/>
              <a:t>Just like we used multiple attention heads to allow for specialization when do the column-wise interaction, we actually use multiple neural networks and take a weighted average to produce our output embedding vector. Each separate neural network is an expert that can specialize on processing certain input vectors. The weighted average is called a mixture of experts.</a:t>
            </a:r>
          </a:p>
        </p:txBody>
      </p:sp>
      <p:sp>
        <p:nvSpPr>
          <p:cNvPr id="4" name="Slide Number Placeholder 3">
            <a:extLst>
              <a:ext uri="{FF2B5EF4-FFF2-40B4-BE49-F238E27FC236}">
                <a16:creationId xmlns:a16="http://schemas.microsoft.com/office/drawing/2014/main" id="{48303618-E5DB-83C1-01D3-808898875E7C}"/>
              </a:ext>
            </a:extLst>
          </p:cNvPr>
          <p:cNvSpPr>
            <a:spLocks noGrp="1"/>
          </p:cNvSpPr>
          <p:nvPr>
            <p:ph type="sldNum" sz="quarter" idx="5"/>
          </p:nvPr>
        </p:nvSpPr>
        <p:spPr/>
        <p:txBody>
          <a:bodyPr/>
          <a:lstStyle/>
          <a:p>
            <a:fld id="{C69FE274-BBBE-4E79-A3A9-15D1671737F2}" type="slidenum">
              <a:rPr lang="en-GB" smtClean="0"/>
              <a:t>35</a:t>
            </a:fld>
            <a:endParaRPr lang="en-GB"/>
          </a:p>
        </p:txBody>
      </p:sp>
    </p:spTree>
    <p:extLst>
      <p:ext uri="{BB962C8B-B14F-4D97-AF65-F5344CB8AC3E}">
        <p14:creationId xmlns:p14="http://schemas.microsoft.com/office/powerpoint/2010/main" val="3255372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combine the multi-headed self-attention layer with the feed-forward neural network layer schematically into what we call a Transformer block. We refer to the multi-headed attention part and the neural network part as sub-layers of the block. As before the transformer block takes embedding vectors as input and creates output embedding vectors that are more suited to the task of next token prediction.</a:t>
            </a:r>
          </a:p>
          <a:p>
            <a:endParaRPr lang="en-GB" dirty="0"/>
          </a:p>
          <a:p>
            <a:r>
              <a:rPr lang="en-GB" dirty="0"/>
              <a:t>But wait. You’re suspicious by now. I’ve tricked you a couple of times and you’ve probably noticed some deliberate gaps in the transformer block. You’re right. There’s more. We need to some extra layers. These are technical layers which make the training process more stable and efficient, so I’m not going to explain them here.</a:t>
            </a:r>
          </a:p>
        </p:txBody>
      </p:sp>
      <p:sp>
        <p:nvSpPr>
          <p:cNvPr id="4" name="Slide Number Placeholder 3"/>
          <p:cNvSpPr>
            <a:spLocks noGrp="1"/>
          </p:cNvSpPr>
          <p:nvPr>
            <p:ph type="sldNum" sz="quarter" idx="5"/>
          </p:nvPr>
        </p:nvSpPr>
        <p:spPr/>
        <p:txBody>
          <a:bodyPr/>
          <a:lstStyle/>
          <a:p>
            <a:fld id="{C69FE274-BBBE-4E79-A3A9-15D1671737F2}" type="slidenum">
              <a:rPr lang="en-GB" smtClean="0"/>
              <a:t>36</a:t>
            </a:fld>
            <a:endParaRPr lang="en-GB"/>
          </a:p>
        </p:txBody>
      </p:sp>
    </p:spTree>
    <p:extLst>
      <p:ext uri="{BB962C8B-B14F-4D97-AF65-F5344CB8AC3E}">
        <p14:creationId xmlns:p14="http://schemas.microsoft.com/office/powerpoint/2010/main" val="2043769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add those technical transformations to our transformer block schematic, we now have this. You can see the normalization sub-layers in green, one for the multi-headed self-attention sublayer and one for the neural network sublayer. You can also see the residual connection mechanism coming in through plus symbols in the schematic by combining the input into each sublayer with the output from that sublayer. As before, our finished transformer block provides a mechanism to transform input vectors into embedding vectors that also reflect the preceding context and so are suited to being used for next word or next token prediction. Since the transformer block is ideally suited to doing this transformation, there is only one way we can improve it any further.</a:t>
            </a:r>
          </a:p>
        </p:txBody>
      </p:sp>
      <p:sp>
        <p:nvSpPr>
          <p:cNvPr id="4" name="Slide Number Placeholder 3"/>
          <p:cNvSpPr>
            <a:spLocks noGrp="1"/>
          </p:cNvSpPr>
          <p:nvPr>
            <p:ph type="sldNum" sz="quarter" idx="5"/>
          </p:nvPr>
        </p:nvSpPr>
        <p:spPr/>
        <p:txBody>
          <a:bodyPr/>
          <a:lstStyle/>
          <a:p>
            <a:fld id="{C69FE274-BBBE-4E79-A3A9-15D1671737F2}" type="slidenum">
              <a:rPr lang="en-GB" smtClean="0"/>
              <a:t>37</a:t>
            </a:fld>
            <a:endParaRPr lang="en-GB"/>
          </a:p>
        </p:txBody>
      </p:sp>
    </p:spTree>
    <p:extLst>
      <p:ext uri="{BB962C8B-B14F-4D97-AF65-F5344CB8AC3E}">
        <p14:creationId xmlns:p14="http://schemas.microsoft.com/office/powerpoint/2010/main" val="2020557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that is to just stack multiple transformer blocks together. The more blocks we stack the bigger our model becomes and is part of the reason why LLMs have so many parameters. The downside to that is that we require bigger training datasets and longer, more compute intensive and expensive training runs. Surely, the output vectors are now suitable for predicting the next word at the end of the sentence!? Surely, there is nothing more to the transformer structure.</a:t>
            </a:r>
          </a:p>
        </p:txBody>
      </p:sp>
      <p:sp>
        <p:nvSpPr>
          <p:cNvPr id="4" name="Slide Number Placeholder 3"/>
          <p:cNvSpPr>
            <a:spLocks noGrp="1"/>
          </p:cNvSpPr>
          <p:nvPr>
            <p:ph type="sldNum" sz="quarter" idx="5"/>
          </p:nvPr>
        </p:nvSpPr>
        <p:spPr/>
        <p:txBody>
          <a:bodyPr/>
          <a:lstStyle/>
          <a:p>
            <a:fld id="{C69FE274-BBBE-4E79-A3A9-15D1671737F2}" type="slidenum">
              <a:rPr lang="en-GB" smtClean="0"/>
              <a:t>38</a:t>
            </a:fld>
            <a:endParaRPr lang="en-GB"/>
          </a:p>
        </p:txBody>
      </p:sp>
    </p:spTree>
    <p:extLst>
      <p:ext uri="{BB962C8B-B14F-4D97-AF65-F5344CB8AC3E}">
        <p14:creationId xmlns:p14="http://schemas.microsoft.com/office/powerpoint/2010/main" val="39616548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Yes, you are right. We are ready to return to our main goal. We have understood how transformers are constructed and we have context-aware embedding vectors fit for purpose. But that’s been a lot to take in, so this an ideal point to take a short break. We’ll take a short 5-minute comfort break. When we return we’ll return to the task of how we actually predict the next word given our context aware embedding vectors. So, I’ll see you back here in 5 minutes. </a:t>
            </a:r>
          </a:p>
        </p:txBody>
      </p:sp>
      <p:sp>
        <p:nvSpPr>
          <p:cNvPr id="4" name="Slide Number Placeholder 3"/>
          <p:cNvSpPr>
            <a:spLocks noGrp="1"/>
          </p:cNvSpPr>
          <p:nvPr>
            <p:ph type="sldNum" sz="quarter" idx="5"/>
          </p:nvPr>
        </p:nvSpPr>
        <p:spPr/>
        <p:txBody>
          <a:bodyPr/>
          <a:lstStyle/>
          <a:p>
            <a:fld id="{C69FE274-BBBE-4E79-A3A9-15D1671737F2}" type="slidenum">
              <a:rPr lang="en-GB" smtClean="0"/>
              <a:t>39</a:t>
            </a:fld>
            <a:endParaRPr lang="en-GB"/>
          </a:p>
        </p:txBody>
      </p:sp>
    </p:spTree>
    <p:extLst>
      <p:ext uri="{BB962C8B-B14F-4D97-AF65-F5344CB8AC3E}">
        <p14:creationId xmlns:p14="http://schemas.microsoft.com/office/powerpoint/2010/main" val="13485000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to transformers we now have a set of context-aware embedding vectors, where the last vector in the sequence is suitable for feeding into a multi-class classifier to predict the next word. But what classifier should we use?</a:t>
            </a:r>
          </a:p>
          <a:p>
            <a:endParaRPr lang="en-GB" dirty="0"/>
          </a:p>
          <a:p>
            <a:r>
              <a:rPr lang="en-GB" dirty="0"/>
              <a:t>We return to our old friend </a:t>
            </a:r>
            <a:r>
              <a:rPr lang="en-GB" dirty="0" err="1"/>
              <a:t>softmax</a:t>
            </a:r>
            <a:r>
              <a:rPr lang="en-GB" dirty="0"/>
              <a:t>. </a:t>
            </a:r>
          </a:p>
          <a:p>
            <a:endParaRPr lang="en-GB" dirty="0"/>
          </a:p>
          <a:p>
            <a:r>
              <a:rPr lang="en-GB" dirty="0"/>
              <a:t>Given an embedding vector f, we just feed f into the </a:t>
            </a:r>
            <a:r>
              <a:rPr lang="en-GB" dirty="0" err="1"/>
              <a:t>softmax</a:t>
            </a:r>
            <a:r>
              <a:rPr lang="en-GB" dirty="0"/>
              <a:t> function and it gives us the probability of each word in our full vocabulary given the vector f. So in our example, I would set f equal to the embedding vector for the last word “the” in the sentence and feed it into the </a:t>
            </a:r>
            <a:r>
              <a:rPr lang="en-GB" dirty="0" err="1"/>
              <a:t>softmax</a:t>
            </a:r>
            <a:r>
              <a:rPr lang="en-GB" dirty="0"/>
              <a:t> function to get the probabilities of each word in our vocabulary given that last word “the”. I can then, say select the most probable next word as my prediction, or even sample from the probability distribution if I wanted some novelty injected into my sentence.</a:t>
            </a:r>
          </a:p>
          <a:p>
            <a:endParaRPr lang="en-GB" dirty="0"/>
          </a:p>
          <a:p>
            <a:r>
              <a:rPr lang="en-GB" dirty="0"/>
              <a:t>The vectors g subscript k, are parameters in this </a:t>
            </a:r>
            <a:r>
              <a:rPr lang="en-GB" dirty="0" err="1"/>
              <a:t>softmax</a:t>
            </a:r>
            <a:r>
              <a:rPr lang="en-GB" dirty="0"/>
              <a:t> function, and so again we add them to the list of LLM parameters we need to learn when we train our LLM.</a:t>
            </a:r>
          </a:p>
        </p:txBody>
      </p:sp>
      <p:sp>
        <p:nvSpPr>
          <p:cNvPr id="4" name="Slide Number Placeholder 3"/>
          <p:cNvSpPr>
            <a:spLocks noGrp="1"/>
          </p:cNvSpPr>
          <p:nvPr>
            <p:ph type="sldNum" sz="quarter" idx="5"/>
          </p:nvPr>
        </p:nvSpPr>
        <p:spPr/>
        <p:txBody>
          <a:bodyPr/>
          <a:lstStyle/>
          <a:p>
            <a:fld id="{C69FE274-BBBE-4E79-A3A9-15D1671737F2}" type="slidenum">
              <a:rPr lang="en-GB" smtClean="0"/>
              <a:t>40</a:t>
            </a:fld>
            <a:endParaRPr lang="en-GB"/>
          </a:p>
        </p:txBody>
      </p:sp>
    </p:spTree>
    <p:extLst>
      <p:ext uri="{BB962C8B-B14F-4D97-AF65-F5344CB8AC3E}">
        <p14:creationId xmlns:p14="http://schemas.microsoft.com/office/powerpoint/2010/main" val="26445876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69FE274-BBBE-4E79-A3A9-15D1671737F2}" type="slidenum">
              <a:rPr lang="en-GB" smtClean="0"/>
              <a:t>41</a:t>
            </a:fld>
            <a:endParaRPr lang="en-GB"/>
          </a:p>
        </p:txBody>
      </p:sp>
    </p:spTree>
    <p:extLst>
      <p:ext uri="{BB962C8B-B14F-4D97-AF65-F5344CB8AC3E}">
        <p14:creationId xmlns:p14="http://schemas.microsoft.com/office/powerpoint/2010/main" val="1981484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got back and look at our </a:t>
            </a:r>
            <a:r>
              <a:rPr lang="en-GB" dirty="0" err="1"/>
              <a:t>softmax</a:t>
            </a:r>
            <a:r>
              <a:rPr lang="en-GB" dirty="0"/>
              <a:t> function for the self-attention weights we notice something strange. The numerator only depends on the two tokens n and n-dashed, and is an inner product so doesn’t depend upon the position order in which those two tokens occur in the sentence. Similarly, the denominator is just a sum over the tokens in the context window, so clearly the result of that sum can’t depend on position order of the tokens. </a:t>
            </a:r>
          </a:p>
          <a:p>
            <a:endParaRPr lang="en-GB" dirty="0"/>
          </a:p>
          <a:p>
            <a:endParaRPr lang="en-GB" dirty="0"/>
          </a:p>
          <a:p>
            <a:r>
              <a:rPr lang="en-GB" dirty="0"/>
              <a:t>Oops! That means if I jumble up the order of the first three tokens in this context window, the attention weight between the word “on” and the word “sat” is unchanged.</a:t>
            </a:r>
          </a:p>
          <a:p>
            <a:endParaRPr lang="en-GB" dirty="0"/>
          </a:p>
          <a:p>
            <a:r>
              <a:rPr lang="en-GB" dirty="0"/>
              <a:t>This means when we construct the context-aware embedding vectors we don’t take into account the position of the word. But position of a word in a sentence is critically important for understanding meaning of a sentence and hence for accurately predicting the next word. How can we solve this problem? Well, we can clearly see that the problem arises because the starting input embedding vectors don’t depend upon position. The two occurrences of the word “the” in the sentence here have the same starting vector, but clearly we should distinguish them from one another somehow. That is easily solved using what are called positional embedding vectors.  </a:t>
            </a:r>
          </a:p>
        </p:txBody>
      </p:sp>
      <p:sp>
        <p:nvSpPr>
          <p:cNvPr id="4" name="Slide Number Placeholder 3"/>
          <p:cNvSpPr>
            <a:spLocks noGrp="1"/>
          </p:cNvSpPr>
          <p:nvPr>
            <p:ph type="sldNum" sz="quarter" idx="5"/>
          </p:nvPr>
        </p:nvSpPr>
        <p:spPr/>
        <p:txBody>
          <a:bodyPr/>
          <a:lstStyle/>
          <a:p>
            <a:fld id="{C69FE274-BBBE-4E79-A3A9-15D1671737F2}" type="slidenum">
              <a:rPr lang="en-GB" smtClean="0"/>
              <a:t>42</a:t>
            </a:fld>
            <a:endParaRPr lang="en-GB"/>
          </a:p>
        </p:txBody>
      </p:sp>
    </p:spTree>
    <p:extLst>
      <p:ext uri="{BB962C8B-B14F-4D97-AF65-F5344CB8AC3E}">
        <p14:creationId xmlns:p14="http://schemas.microsoft.com/office/powerpoint/2010/main" val="39214042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Put very simply, we create a separate set of vectors, one for each token, that only depend upon the position of the token </a:t>
            </a:r>
            <a:r>
              <a:rPr lang="en-GB" dirty="0" err="1"/>
              <a:t>i</a:t>
            </a:r>
            <a:r>
              <a:rPr lang="en-GB" dirty="0"/>
              <a:t> in the context window. These are called positional embedding vectors and each positional embedding vector is of the same dimension as our blue input embedding vectors. The positional embedding vectors are often constructed by inputting the token position </a:t>
            </a:r>
            <a:r>
              <a:rPr lang="en-GB" dirty="0" err="1"/>
              <a:t>i</a:t>
            </a:r>
            <a:r>
              <a:rPr lang="en-GB" dirty="0"/>
              <a:t> into some simple pre-chosen function, which I’ve denoted by p here. We now simply add the blue starting embedding vector and the corresponding orange positional embedding vector, token by token, to get the green embedding vector, thus. Our green vectors are word dependent and position dependent. So if we step through the process</a:t>
            </a:r>
          </a:p>
        </p:txBody>
      </p:sp>
      <p:sp>
        <p:nvSpPr>
          <p:cNvPr id="4" name="Slide Number Placeholder 3"/>
          <p:cNvSpPr>
            <a:spLocks noGrp="1"/>
          </p:cNvSpPr>
          <p:nvPr>
            <p:ph type="sldNum" sz="quarter" idx="5"/>
          </p:nvPr>
        </p:nvSpPr>
        <p:spPr/>
        <p:txBody>
          <a:bodyPr/>
          <a:lstStyle/>
          <a:p>
            <a:fld id="{C69FE274-BBBE-4E79-A3A9-15D1671737F2}" type="slidenum">
              <a:rPr lang="en-GB" smtClean="0"/>
              <a:t>43</a:t>
            </a:fld>
            <a:endParaRPr lang="en-GB"/>
          </a:p>
        </p:txBody>
      </p:sp>
    </p:spTree>
    <p:extLst>
      <p:ext uri="{BB962C8B-B14F-4D97-AF65-F5344CB8AC3E}">
        <p14:creationId xmlns:p14="http://schemas.microsoft.com/office/powerpoint/2010/main" val="11528631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realize that our green embedding vector for the second occurrence of the word “the” at the end of the context window, will be different from the green vector for the first occurrence of the word “the” at the start of the context window.</a:t>
            </a:r>
          </a:p>
        </p:txBody>
      </p:sp>
      <p:sp>
        <p:nvSpPr>
          <p:cNvPr id="4" name="Slide Number Placeholder 3"/>
          <p:cNvSpPr>
            <a:spLocks noGrp="1"/>
          </p:cNvSpPr>
          <p:nvPr>
            <p:ph type="sldNum" sz="quarter" idx="5"/>
          </p:nvPr>
        </p:nvSpPr>
        <p:spPr/>
        <p:txBody>
          <a:bodyPr/>
          <a:lstStyle/>
          <a:p>
            <a:fld id="{C69FE274-BBBE-4E79-A3A9-15D1671737F2}" type="slidenum">
              <a:rPr lang="en-GB" smtClean="0"/>
              <a:t>45</a:t>
            </a:fld>
            <a:endParaRPr lang="en-GB"/>
          </a:p>
        </p:txBody>
      </p:sp>
    </p:spTree>
    <p:extLst>
      <p:ext uri="{BB962C8B-B14F-4D97-AF65-F5344CB8AC3E}">
        <p14:creationId xmlns:p14="http://schemas.microsoft.com/office/powerpoint/2010/main" val="330266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kind of positional embedding function do we use? As I said, earlier those functions are often simple. The function used in the original transformer paper from Google was this one. As LLM research has evolved, more sophisticated positional embeddings have been developed, but I’m not going to go into those here. The main lesson to take from this is that we differentiate the starting input embedding vectors that we input into our transformer model by adding in position dependent vectors.</a:t>
            </a:r>
          </a:p>
        </p:txBody>
      </p:sp>
      <p:sp>
        <p:nvSpPr>
          <p:cNvPr id="4" name="Slide Number Placeholder 3"/>
          <p:cNvSpPr>
            <a:spLocks noGrp="1"/>
          </p:cNvSpPr>
          <p:nvPr>
            <p:ph type="sldNum" sz="quarter" idx="5"/>
          </p:nvPr>
        </p:nvSpPr>
        <p:spPr/>
        <p:txBody>
          <a:bodyPr/>
          <a:lstStyle/>
          <a:p>
            <a:fld id="{C69FE274-BBBE-4E79-A3A9-15D1671737F2}" type="slidenum">
              <a:rPr lang="en-GB" smtClean="0"/>
              <a:t>46</a:t>
            </a:fld>
            <a:endParaRPr lang="en-GB"/>
          </a:p>
        </p:txBody>
      </p:sp>
    </p:spTree>
    <p:extLst>
      <p:ext uri="{BB962C8B-B14F-4D97-AF65-F5344CB8AC3E}">
        <p14:creationId xmlns:p14="http://schemas.microsoft.com/office/powerpoint/2010/main" val="6830340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transformer model now looks like this schematically. That’s it. We are now are finally done with our explanation of what is mathematically inside a transformer model. Honest.</a:t>
            </a:r>
          </a:p>
        </p:txBody>
      </p:sp>
      <p:sp>
        <p:nvSpPr>
          <p:cNvPr id="4" name="Slide Number Placeholder 3"/>
          <p:cNvSpPr>
            <a:spLocks noGrp="1"/>
          </p:cNvSpPr>
          <p:nvPr>
            <p:ph type="sldNum" sz="quarter" idx="5"/>
          </p:nvPr>
        </p:nvSpPr>
        <p:spPr/>
        <p:txBody>
          <a:bodyPr/>
          <a:lstStyle/>
          <a:p>
            <a:fld id="{C69FE274-BBBE-4E79-A3A9-15D1671737F2}" type="slidenum">
              <a:rPr lang="en-GB" smtClean="0"/>
              <a:t>47</a:t>
            </a:fld>
            <a:endParaRPr lang="en-GB"/>
          </a:p>
        </p:txBody>
      </p:sp>
    </p:spTree>
    <p:extLst>
      <p:ext uri="{BB962C8B-B14F-4D97-AF65-F5344CB8AC3E}">
        <p14:creationId xmlns:p14="http://schemas.microsoft.com/office/powerpoint/2010/main" val="1474685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Having explained mathematically how transformers work and how next word prediction works using transformers, we’re going to change tack slightly and widen our scope. That’s because the transformer structure we explained is a very specific type of transformer known as a decoder-only model. And unsurprisingly, there are other different types of transformer-based models around, so we’ll now highlight those different types of transformers.  </a:t>
            </a:r>
          </a:p>
        </p:txBody>
      </p:sp>
      <p:sp>
        <p:nvSpPr>
          <p:cNvPr id="4" name="Slide Number Placeholder 3"/>
          <p:cNvSpPr>
            <a:spLocks noGrp="1"/>
          </p:cNvSpPr>
          <p:nvPr>
            <p:ph type="sldNum" sz="quarter" idx="5"/>
          </p:nvPr>
        </p:nvSpPr>
        <p:spPr/>
        <p:txBody>
          <a:bodyPr/>
          <a:lstStyle/>
          <a:p>
            <a:fld id="{C69FE274-BBBE-4E79-A3A9-15D1671737F2}" type="slidenum">
              <a:rPr lang="en-GB" smtClean="0"/>
              <a:t>48</a:t>
            </a:fld>
            <a:endParaRPr lang="en-GB"/>
          </a:p>
        </p:txBody>
      </p:sp>
    </p:spTree>
    <p:extLst>
      <p:ext uri="{BB962C8B-B14F-4D97-AF65-F5344CB8AC3E}">
        <p14:creationId xmlns:p14="http://schemas.microsoft.com/office/powerpoint/2010/main" val="2032370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type of transformer we’ve be focusing on so far takes a word embedding vector and predicts the next word. We went from vector to word or token.</a:t>
            </a:r>
          </a:p>
          <a:p>
            <a:endParaRPr lang="en-GB" dirty="0"/>
          </a:p>
          <a:p>
            <a:r>
              <a:rPr lang="en-GB" dirty="0"/>
              <a:t>In other words we “decoded” the embedding vector. Consequently, LLMs that work in this way, such as ChatGPT and Claude, are known as “decoder-only” models.</a:t>
            </a:r>
          </a:p>
        </p:txBody>
      </p:sp>
      <p:sp>
        <p:nvSpPr>
          <p:cNvPr id="4" name="Slide Number Placeholder 3"/>
          <p:cNvSpPr>
            <a:spLocks noGrp="1"/>
          </p:cNvSpPr>
          <p:nvPr>
            <p:ph type="sldNum" sz="quarter" idx="5"/>
          </p:nvPr>
        </p:nvSpPr>
        <p:spPr/>
        <p:txBody>
          <a:bodyPr/>
          <a:lstStyle/>
          <a:p>
            <a:fld id="{C69FE274-BBBE-4E79-A3A9-15D1671737F2}" type="slidenum">
              <a:rPr lang="en-GB" smtClean="0"/>
              <a:t>49</a:t>
            </a:fld>
            <a:endParaRPr lang="en-GB"/>
          </a:p>
        </p:txBody>
      </p:sp>
    </p:spTree>
    <p:extLst>
      <p:ext uri="{BB962C8B-B14F-4D97-AF65-F5344CB8AC3E}">
        <p14:creationId xmlns:p14="http://schemas.microsoft.com/office/powerpoint/2010/main" val="6860222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we can obviously also have encoders as well. An encoder goes from a word or token to a context embedding vector.</a:t>
            </a:r>
          </a:p>
          <a:p>
            <a:endParaRPr lang="en-GB" dirty="0"/>
          </a:p>
          <a:p>
            <a:r>
              <a:rPr lang="en-GB" dirty="0"/>
              <a:t>Encoders are useful when we just want to encode a sequence of tokens. There is no prediction to be done. We have all the tokens in the context window, we just want to map them context aware vectors.</a:t>
            </a:r>
          </a:p>
          <a:p>
            <a:endParaRPr lang="en-GB" dirty="0"/>
          </a:p>
          <a:p>
            <a:r>
              <a:rPr lang="en-GB" dirty="0"/>
              <a:t>This is useful for tasks such as language translation. Take this simple example. I’m wanting to translate the English sentence “the cat is on the table” into French. Essentially, we want to predict the words in the corresponding sentence one at a time based on what is in the English sentence. For predicting the French words, yes, I will want to use a decoder model. But for the English sentence I already know all the words. I just want to map them to vectors. So for the English sentence I want to use an encoder model. So we use the simple approach shown here.</a:t>
            </a:r>
          </a:p>
        </p:txBody>
      </p:sp>
      <p:sp>
        <p:nvSpPr>
          <p:cNvPr id="4" name="Slide Number Placeholder 3"/>
          <p:cNvSpPr>
            <a:spLocks noGrp="1"/>
          </p:cNvSpPr>
          <p:nvPr>
            <p:ph type="sldNum" sz="quarter" idx="5"/>
          </p:nvPr>
        </p:nvSpPr>
        <p:spPr/>
        <p:txBody>
          <a:bodyPr/>
          <a:lstStyle/>
          <a:p>
            <a:fld id="{C69FE274-BBBE-4E79-A3A9-15D1671737F2}" type="slidenum">
              <a:rPr lang="en-GB" smtClean="0"/>
              <a:t>50</a:t>
            </a:fld>
            <a:endParaRPr lang="en-GB"/>
          </a:p>
        </p:txBody>
      </p:sp>
    </p:spTree>
    <p:extLst>
      <p:ext uri="{BB962C8B-B14F-4D97-AF65-F5344CB8AC3E}">
        <p14:creationId xmlns:p14="http://schemas.microsoft.com/office/powerpoint/2010/main" val="5206245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fact, language translation was the application demonstrated in the original famous “Attention is all you need” paper from Google and MIT, that started the whole transformer-based phase of generative AI. The model in this paper has an encoder model and a decoder model which are coupled together, as shown in the diagram on the right which is taken from the original paper. Every talk on explaining transformers and LLMs has to have a copy of this diagram in it, so I’m no different here. But I want to leave this diagram to the end of my talk, because I think it scares people and makes LLMs harder to understand than need be. The diagram on the right is just the same as the schematic on the left, which is simpler to understand. We can highlight the correspondence between the two diagrams.</a:t>
            </a:r>
          </a:p>
        </p:txBody>
      </p:sp>
      <p:sp>
        <p:nvSpPr>
          <p:cNvPr id="4" name="Slide Number Placeholder 3"/>
          <p:cNvSpPr>
            <a:spLocks noGrp="1"/>
          </p:cNvSpPr>
          <p:nvPr>
            <p:ph type="sldNum" sz="quarter" idx="5"/>
          </p:nvPr>
        </p:nvSpPr>
        <p:spPr/>
        <p:txBody>
          <a:bodyPr/>
          <a:lstStyle/>
          <a:p>
            <a:fld id="{C69FE274-BBBE-4E79-A3A9-15D1671737F2}" type="slidenum">
              <a:rPr lang="en-GB" smtClean="0"/>
              <a:t>51</a:t>
            </a:fld>
            <a:endParaRPr lang="en-GB"/>
          </a:p>
        </p:txBody>
      </p:sp>
    </p:spTree>
    <p:extLst>
      <p:ext uri="{BB962C8B-B14F-4D97-AF65-F5344CB8AC3E}">
        <p14:creationId xmlns:p14="http://schemas.microsoft.com/office/powerpoint/2010/main" val="22673432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Highlighted in red is the encoder model of the original paper. It converts the English sentence into context-aware embedding vectors</a:t>
            </a:r>
          </a:p>
        </p:txBody>
      </p:sp>
      <p:sp>
        <p:nvSpPr>
          <p:cNvPr id="4" name="Slide Number Placeholder 3"/>
          <p:cNvSpPr>
            <a:spLocks noGrp="1"/>
          </p:cNvSpPr>
          <p:nvPr>
            <p:ph type="sldNum" sz="quarter" idx="5"/>
          </p:nvPr>
        </p:nvSpPr>
        <p:spPr/>
        <p:txBody>
          <a:bodyPr/>
          <a:lstStyle/>
          <a:p>
            <a:fld id="{C69FE274-BBBE-4E79-A3A9-15D1671737F2}" type="slidenum">
              <a:rPr lang="en-GB" smtClean="0"/>
              <a:t>52</a:t>
            </a:fld>
            <a:endParaRPr lang="en-GB"/>
          </a:p>
        </p:txBody>
      </p:sp>
    </p:spTree>
    <p:extLst>
      <p:ext uri="{BB962C8B-B14F-4D97-AF65-F5344CB8AC3E}">
        <p14:creationId xmlns:p14="http://schemas.microsoft.com/office/powerpoint/2010/main" val="7946075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in red is the decoder model, which predicts the words of the French sentence one word at a time in exactly the way we explained when we were learning about the mathematics inside transformers.</a:t>
            </a:r>
          </a:p>
        </p:txBody>
      </p:sp>
      <p:sp>
        <p:nvSpPr>
          <p:cNvPr id="4" name="Slide Number Placeholder 3"/>
          <p:cNvSpPr>
            <a:spLocks noGrp="1"/>
          </p:cNvSpPr>
          <p:nvPr>
            <p:ph type="sldNum" sz="quarter" idx="5"/>
          </p:nvPr>
        </p:nvSpPr>
        <p:spPr/>
        <p:txBody>
          <a:bodyPr/>
          <a:lstStyle/>
          <a:p>
            <a:fld id="{C69FE274-BBBE-4E79-A3A9-15D1671737F2}" type="slidenum">
              <a:rPr lang="en-GB" smtClean="0"/>
              <a:t>53</a:t>
            </a:fld>
            <a:endParaRPr lang="en-GB"/>
          </a:p>
        </p:txBody>
      </p:sp>
    </p:spTree>
    <p:extLst>
      <p:ext uri="{BB962C8B-B14F-4D97-AF65-F5344CB8AC3E}">
        <p14:creationId xmlns:p14="http://schemas.microsoft.com/office/powerpoint/2010/main" val="24153630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here is where </a:t>
            </a:r>
            <a:r>
              <a:rPr lang="en-GB"/>
              <a:t>the two </a:t>
            </a:r>
            <a:r>
              <a:rPr lang="en-GB" dirty="0"/>
              <a:t>models are coupled together, where the output from the encoder model is fed into the input of the decoder model. You may notice the encoder output is fed into a multi-headed attention sub-layer in the decoder model. That means when the decoder model is creating its context-aware vectors to be used later to predict the next French word, it is paying attention to the English words. We call this “cross attention” for obvious reasons. And that’s it. That’s how simple the original “Attention is all you need” paper is. Yes, there is a huge amount of engineering challenges alongside that we haven’t gone into here, but transformers and LLMs are not as scary, mathematically, as they may seem. We’ll summarize what we have learnt about transformers and LLMs in moment, but next we’ll do a quick code example to further illustrate that transformers are not that scary once you unpack them at a high level.</a:t>
            </a:r>
          </a:p>
        </p:txBody>
      </p:sp>
      <p:sp>
        <p:nvSpPr>
          <p:cNvPr id="4" name="Slide Number Placeholder 3"/>
          <p:cNvSpPr>
            <a:spLocks noGrp="1"/>
          </p:cNvSpPr>
          <p:nvPr>
            <p:ph type="sldNum" sz="quarter" idx="5"/>
          </p:nvPr>
        </p:nvSpPr>
        <p:spPr/>
        <p:txBody>
          <a:bodyPr/>
          <a:lstStyle/>
          <a:p>
            <a:fld id="{C69FE274-BBBE-4E79-A3A9-15D1671737F2}" type="slidenum">
              <a:rPr lang="en-GB" smtClean="0"/>
              <a:t>54</a:t>
            </a:fld>
            <a:endParaRPr lang="en-GB"/>
          </a:p>
        </p:txBody>
      </p:sp>
    </p:spTree>
    <p:extLst>
      <p:ext uri="{BB962C8B-B14F-4D97-AF65-F5344CB8AC3E}">
        <p14:creationId xmlns:p14="http://schemas.microsoft.com/office/powerpoint/2010/main" val="1723484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83D4-7117-6822-9B3F-5F2847B633E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A38845D-4C7D-3076-4CFA-50C7E4C2B4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09C3DB5-713E-F9BA-CC83-FF903F5938D3}"/>
              </a:ext>
            </a:extLst>
          </p:cNvPr>
          <p:cNvSpPr>
            <a:spLocks noGrp="1"/>
          </p:cNvSpPr>
          <p:nvPr>
            <p:ph type="dt" sz="half" idx="10"/>
          </p:nvPr>
        </p:nvSpPr>
        <p:spPr/>
        <p:txBody>
          <a:bodyPr/>
          <a:lstStyle/>
          <a:p>
            <a:fld id="{13C4397D-92C5-45B4-BE7C-914BB859DDFA}" type="datetime1">
              <a:rPr lang="en-GB" smtClean="0"/>
              <a:t>25/10/2026</a:t>
            </a:fld>
            <a:endParaRPr lang="en-GB"/>
          </a:p>
        </p:txBody>
      </p:sp>
      <p:sp>
        <p:nvSpPr>
          <p:cNvPr id="5" name="Footer Placeholder 4">
            <a:extLst>
              <a:ext uri="{FF2B5EF4-FFF2-40B4-BE49-F238E27FC236}">
                <a16:creationId xmlns:a16="http://schemas.microsoft.com/office/drawing/2014/main" id="{DC327083-4C22-7BC3-F76E-711133971B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6FE1A4-1847-3F7F-675D-B022931C127B}"/>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1511863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96D1A-E9BE-E22F-15D8-FCD44B0F9DC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F3ED086-4100-D18E-42E5-5922824F962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42A55FA-E544-E3AF-7AAE-7F43FB76705B}"/>
              </a:ext>
            </a:extLst>
          </p:cNvPr>
          <p:cNvSpPr>
            <a:spLocks noGrp="1"/>
          </p:cNvSpPr>
          <p:nvPr>
            <p:ph type="dt" sz="half" idx="10"/>
          </p:nvPr>
        </p:nvSpPr>
        <p:spPr/>
        <p:txBody>
          <a:bodyPr/>
          <a:lstStyle/>
          <a:p>
            <a:fld id="{B7236E8C-EEE6-42D8-B4F2-C38A4BED2935}" type="datetime1">
              <a:rPr lang="en-GB" smtClean="0"/>
              <a:t>25/10/2026</a:t>
            </a:fld>
            <a:endParaRPr lang="en-GB"/>
          </a:p>
        </p:txBody>
      </p:sp>
      <p:sp>
        <p:nvSpPr>
          <p:cNvPr id="5" name="Footer Placeholder 4">
            <a:extLst>
              <a:ext uri="{FF2B5EF4-FFF2-40B4-BE49-F238E27FC236}">
                <a16:creationId xmlns:a16="http://schemas.microsoft.com/office/drawing/2014/main" id="{F95F79A0-0EF0-CE56-25A6-6EDCD4C2FB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F4D693-255F-D552-7637-0E5C604849D0}"/>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223866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4DFB-31A6-092F-C2A9-D26178A3BE3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5C5D3D90-2B08-4F72-AAD8-B37EC855F2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B1916A-78AC-8783-784E-F485FD406F72}"/>
              </a:ext>
            </a:extLst>
          </p:cNvPr>
          <p:cNvSpPr>
            <a:spLocks noGrp="1"/>
          </p:cNvSpPr>
          <p:nvPr>
            <p:ph type="dt" sz="half" idx="10"/>
          </p:nvPr>
        </p:nvSpPr>
        <p:spPr/>
        <p:txBody>
          <a:bodyPr/>
          <a:lstStyle/>
          <a:p>
            <a:fld id="{C19D5272-3C30-4D43-8A5C-C0B57218CEDF}" type="datetime1">
              <a:rPr lang="en-GB" smtClean="0"/>
              <a:t>25/10/2026</a:t>
            </a:fld>
            <a:endParaRPr lang="en-GB"/>
          </a:p>
        </p:txBody>
      </p:sp>
      <p:sp>
        <p:nvSpPr>
          <p:cNvPr id="5" name="Footer Placeholder 4">
            <a:extLst>
              <a:ext uri="{FF2B5EF4-FFF2-40B4-BE49-F238E27FC236}">
                <a16:creationId xmlns:a16="http://schemas.microsoft.com/office/drawing/2014/main" id="{566621DD-926C-16A0-3907-661BE85178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CAE474-F534-9DA8-E1EC-9BE83D361F45}"/>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566980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DAA4-D81A-B4B1-1F4C-061F45FF8EE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1A79563-0359-7027-A8B3-958A2E8F15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0F6F4F5-19BF-72D0-6415-EB0FDAA217B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B77B23C-36A3-67BE-B5BA-73CA67B92B2E}"/>
              </a:ext>
            </a:extLst>
          </p:cNvPr>
          <p:cNvSpPr>
            <a:spLocks noGrp="1"/>
          </p:cNvSpPr>
          <p:nvPr>
            <p:ph type="dt" sz="half" idx="10"/>
          </p:nvPr>
        </p:nvSpPr>
        <p:spPr/>
        <p:txBody>
          <a:bodyPr/>
          <a:lstStyle/>
          <a:p>
            <a:fld id="{1B164C5A-EB5E-4E43-9A86-F1BD69F9D845}" type="datetime1">
              <a:rPr lang="en-GB" smtClean="0"/>
              <a:t>25/10/2026</a:t>
            </a:fld>
            <a:endParaRPr lang="en-GB"/>
          </a:p>
        </p:txBody>
      </p:sp>
      <p:sp>
        <p:nvSpPr>
          <p:cNvPr id="6" name="Footer Placeholder 5">
            <a:extLst>
              <a:ext uri="{FF2B5EF4-FFF2-40B4-BE49-F238E27FC236}">
                <a16:creationId xmlns:a16="http://schemas.microsoft.com/office/drawing/2014/main" id="{EBD1BF87-B3D2-4854-5EE1-03F47E2E16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2F0631-10EE-C3C8-584A-53D25D7DF337}"/>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700135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32517-D6DA-8F92-02EE-695B2509C7E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3BAB016-DFB3-8802-9C31-93F7B44CBE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B4F7E55-704C-855A-3CDF-34F5A4212D6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1B4E2FA-8E94-4D37-F74E-B788F4B1E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56192A1-0D66-E6B8-3759-1A9F79E5BCD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834B516-5920-8458-DFE6-F62140D0FC79}"/>
              </a:ext>
            </a:extLst>
          </p:cNvPr>
          <p:cNvSpPr>
            <a:spLocks noGrp="1"/>
          </p:cNvSpPr>
          <p:nvPr>
            <p:ph type="dt" sz="half" idx="10"/>
          </p:nvPr>
        </p:nvSpPr>
        <p:spPr/>
        <p:txBody>
          <a:bodyPr/>
          <a:lstStyle/>
          <a:p>
            <a:fld id="{0065A048-25FF-402D-A593-C9920ABCF536}" type="datetime1">
              <a:rPr lang="en-GB" smtClean="0"/>
              <a:t>25/10/2026</a:t>
            </a:fld>
            <a:endParaRPr lang="en-GB"/>
          </a:p>
        </p:txBody>
      </p:sp>
      <p:sp>
        <p:nvSpPr>
          <p:cNvPr id="8" name="Footer Placeholder 7">
            <a:extLst>
              <a:ext uri="{FF2B5EF4-FFF2-40B4-BE49-F238E27FC236}">
                <a16:creationId xmlns:a16="http://schemas.microsoft.com/office/drawing/2014/main" id="{74076977-2EF9-A007-C24F-C640298CA87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AAAE862-8574-F19D-F05D-881C7BEDC1A5}"/>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81502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5FF9-76C6-620F-C1E6-FC8E17E092A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A1B55FA-19ED-0EBF-8B02-0BF250A1BA97}"/>
              </a:ext>
            </a:extLst>
          </p:cNvPr>
          <p:cNvSpPr>
            <a:spLocks noGrp="1"/>
          </p:cNvSpPr>
          <p:nvPr>
            <p:ph type="dt" sz="half" idx="10"/>
          </p:nvPr>
        </p:nvSpPr>
        <p:spPr/>
        <p:txBody>
          <a:bodyPr/>
          <a:lstStyle/>
          <a:p>
            <a:fld id="{4AF499EF-3C08-4E23-844D-D68B5D773507}" type="datetime1">
              <a:rPr lang="en-GB" smtClean="0"/>
              <a:t>25/10/2026</a:t>
            </a:fld>
            <a:endParaRPr lang="en-GB"/>
          </a:p>
        </p:txBody>
      </p:sp>
      <p:sp>
        <p:nvSpPr>
          <p:cNvPr id="4" name="Footer Placeholder 3">
            <a:extLst>
              <a:ext uri="{FF2B5EF4-FFF2-40B4-BE49-F238E27FC236}">
                <a16:creationId xmlns:a16="http://schemas.microsoft.com/office/drawing/2014/main" id="{83C1ACB5-B7C6-0F07-35C7-60F3B9802FA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DE4D8F-EC69-5866-7359-EC5957B9D8B6}"/>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984807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A4C715-8B93-AB97-6F33-48638F36811E}"/>
              </a:ext>
            </a:extLst>
          </p:cNvPr>
          <p:cNvSpPr>
            <a:spLocks noGrp="1"/>
          </p:cNvSpPr>
          <p:nvPr>
            <p:ph type="dt" sz="half" idx="10"/>
          </p:nvPr>
        </p:nvSpPr>
        <p:spPr/>
        <p:txBody>
          <a:bodyPr/>
          <a:lstStyle/>
          <a:p>
            <a:fld id="{AF3ED546-3D52-4237-826C-D0D46E248D57}" type="datetime1">
              <a:rPr lang="en-GB" smtClean="0"/>
              <a:t>25/10/2026</a:t>
            </a:fld>
            <a:endParaRPr lang="en-GB"/>
          </a:p>
        </p:txBody>
      </p:sp>
      <p:sp>
        <p:nvSpPr>
          <p:cNvPr id="3" name="Footer Placeholder 2">
            <a:extLst>
              <a:ext uri="{FF2B5EF4-FFF2-40B4-BE49-F238E27FC236}">
                <a16:creationId xmlns:a16="http://schemas.microsoft.com/office/drawing/2014/main" id="{6C5912E2-5817-9FB9-C030-9793338C7F1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8307B32-0C96-2A60-7151-5D27D4D0680E}"/>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70100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234A-C6D9-D8D9-D4AD-87607B7D1E2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53502FA-1315-C3BE-D978-CDD00E613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DF3E103-016D-D2AA-98AA-9D78313E58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749320E-34DB-0FA3-22C8-7E2C462E0393}"/>
              </a:ext>
            </a:extLst>
          </p:cNvPr>
          <p:cNvSpPr>
            <a:spLocks noGrp="1"/>
          </p:cNvSpPr>
          <p:nvPr>
            <p:ph type="dt" sz="half" idx="10"/>
          </p:nvPr>
        </p:nvSpPr>
        <p:spPr/>
        <p:txBody>
          <a:bodyPr/>
          <a:lstStyle/>
          <a:p>
            <a:fld id="{C3E258F7-6569-4D61-A772-FBA9BF52C20A}" type="datetime1">
              <a:rPr lang="en-GB" smtClean="0"/>
              <a:t>25/10/2026</a:t>
            </a:fld>
            <a:endParaRPr lang="en-GB"/>
          </a:p>
        </p:txBody>
      </p:sp>
      <p:sp>
        <p:nvSpPr>
          <p:cNvPr id="6" name="Footer Placeholder 5">
            <a:extLst>
              <a:ext uri="{FF2B5EF4-FFF2-40B4-BE49-F238E27FC236}">
                <a16:creationId xmlns:a16="http://schemas.microsoft.com/office/drawing/2014/main" id="{46C293B7-271A-E543-7155-4D5C3104CF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CBD7606-D6A9-F9FC-478A-D14DF27B281F}"/>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05946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7CFC5-1957-5C14-8ACB-BFDE2762DA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76B08A43-6AF0-C7BA-3E37-FB781BC98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8CEE637-3DE1-05D9-3356-5627C4B79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9E4B226-4F02-E13E-9F76-64FB56A2AAB7}"/>
              </a:ext>
            </a:extLst>
          </p:cNvPr>
          <p:cNvSpPr>
            <a:spLocks noGrp="1"/>
          </p:cNvSpPr>
          <p:nvPr>
            <p:ph type="dt" sz="half" idx="10"/>
          </p:nvPr>
        </p:nvSpPr>
        <p:spPr/>
        <p:txBody>
          <a:bodyPr/>
          <a:lstStyle/>
          <a:p>
            <a:fld id="{C11F1590-2B39-4AF6-9F26-4A2BA4239909}" type="datetime1">
              <a:rPr lang="en-GB" smtClean="0"/>
              <a:t>25/10/2026</a:t>
            </a:fld>
            <a:endParaRPr lang="en-GB"/>
          </a:p>
        </p:txBody>
      </p:sp>
      <p:sp>
        <p:nvSpPr>
          <p:cNvPr id="6" name="Footer Placeholder 5">
            <a:extLst>
              <a:ext uri="{FF2B5EF4-FFF2-40B4-BE49-F238E27FC236}">
                <a16:creationId xmlns:a16="http://schemas.microsoft.com/office/drawing/2014/main" id="{8EC5862D-6CD0-E003-B556-87208F1C82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209782-EFC7-F111-E9D6-931364B255FA}"/>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367478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F66E-B7D5-8FCB-F7CE-75C33A35CE87}"/>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22D1639-F615-89C9-02FB-207687FD135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5FEDE38-F2BF-9774-8791-1E809901CF2A}"/>
              </a:ext>
            </a:extLst>
          </p:cNvPr>
          <p:cNvSpPr>
            <a:spLocks noGrp="1"/>
          </p:cNvSpPr>
          <p:nvPr>
            <p:ph type="dt" sz="half" idx="10"/>
          </p:nvPr>
        </p:nvSpPr>
        <p:spPr/>
        <p:txBody>
          <a:bodyPr/>
          <a:lstStyle/>
          <a:p>
            <a:fld id="{30313226-DFB6-48D1-A41D-AD11C16BE1BA}" type="datetime1">
              <a:rPr lang="en-GB" smtClean="0"/>
              <a:t>25/10/2026</a:t>
            </a:fld>
            <a:endParaRPr lang="en-GB"/>
          </a:p>
        </p:txBody>
      </p:sp>
      <p:sp>
        <p:nvSpPr>
          <p:cNvPr id="5" name="Footer Placeholder 4">
            <a:extLst>
              <a:ext uri="{FF2B5EF4-FFF2-40B4-BE49-F238E27FC236}">
                <a16:creationId xmlns:a16="http://schemas.microsoft.com/office/drawing/2014/main" id="{6917154B-72B2-50BC-6FEF-B726E4E12F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5D32EB-FD96-0ADA-8D31-F8F2F09428A4}"/>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24571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D355F-85CA-B888-62EB-C16A42C648D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D551454-EF3B-BA19-E653-225CE5494BE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95B9C03-497C-759D-6BB6-D8F52F6211FE}"/>
              </a:ext>
            </a:extLst>
          </p:cNvPr>
          <p:cNvSpPr>
            <a:spLocks noGrp="1"/>
          </p:cNvSpPr>
          <p:nvPr>
            <p:ph type="dt" sz="half" idx="10"/>
          </p:nvPr>
        </p:nvSpPr>
        <p:spPr/>
        <p:txBody>
          <a:bodyPr/>
          <a:lstStyle/>
          <a:p>
            <a:fld id="{57C7B112-1F63-4A94-950F-B0D56119BDFB}" type="datetime1">
              <a:rPr lang="en-GB" smtClean="0"/>
              <a:t>25/10/2026</a:t>
            </a:fld>
            <a:endParaRPr lang="en-GB"/>
          </a:p>
        </p:txBody>
      </p:sp>
      <p:sp>
        <p:nvSpPr>
          <p:cNvPr id="5" name="Footer Placeholder 4">
            <a:extLst>
              <a:ext uri="{FF2B5EF4-FFF2-40B4-BE49-F238E27FC236}">
                <a16:creationId xmlns:a16="http://schemas.microsoft.com/office/drawing/2014/main" id="{826CB236-B3DC-2C04-2D9C-78A7875F04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26039-CC2C-0C0F-CE37-6CD6986F465B}"/>
              </a:ext>
            </a:extLst>
          </p:cNvPr>
          <p:cNvSpPr>
            <a:spLocks noGrp="1"/>
          </p:cNvSpPr>
          <p:nvPr>
            <p:ph type="sldNum" sz="quarter" idx="12"/>
          </p:nvPr>
        </p:nvSpPr>
        <p:spPr/>
        <p:txBody>
          <a:bodyPr/>
          <a:lstStyle/>
          <a:p>
            <a:fld id="{13DE89AE-BBCC-45F3-BDAA-E98C74995322}" type="slidenum">
              <a:rPr lang="en-GB" smtClean="0"/>
              <a:t>‹#›</a:t>
            </a:fld>
            <a:endParaRPr lang="en-GB"/>
          </a:p>
        </p:txBody>
      </p:sp>
    </p:spTree>
    <p:extLst>
      <p:ext uri="{BB962C8B-B14F-4D97-AF65-F5344CB8AC3E}">
        <p14:creationId xmlns:p14="http://schemas.microsoft.com/office/powerpoint/2010/main" val="3643179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B8FA3B-98E2-F183-6DF6-08A7DBCE36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8B553E0-0A0B-007E-ED76-232382858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0525E64-6F8C-C75F-D5E6-99D6E586B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340BFA-4894-4488-A4DF-0B514E2EB854}" type="datetime1">
              <a:rPr lang="en-GB" smtClean="0"/>
              <a:t>25/10/2026</a:t>
            </a:fld>
            <a:endParaRPr lang="en-GB"/>
          </a:p>
        </p:txBody>
      </p:sp>
      <p:sp>
        <p:nvSpPr>
          <p:cNvPr id="5" name="Footer Placeholder 4">
            <a:extLst>
              <a:ext uri="{FF2B5EF4-FFF2-40B4-BE49-F238E27FC236}">
                <a16:creationId xmlns:a16="http://schemas.microsoft.com/office/drawing/2014/main" id="{97372DE2-0C73-8DDB-FDE0-A68E4FF0E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71DA2B1-8881-0D83-5A95-1C912DEAB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DE89AE-BBCC-45F3-BDAA-E98C74995322}" type="slidenum">
              <a:rPr lang="en-GB" smtClean="0"/>
              <a:t>‹#›</a:t>
            </a:fld>
            <a:endParaRPr lang="en-GB"/>
          </a:p>
        </p:txBody>
      </p:sp>
      <p:pic>
        <p:nvPicPr>
          <p:cNvPr id="9" name="Picture 8" descr="ODSCO WEST 2026&#10;&#10;AI-generated content may be incorrect.">
            <a:extLst>
              <a:ext uri="{FF2B5EF4-FFF2-40B4-BE49-F238E27FC236}">
                <a16:creationId xmlns:a16="http://schemas.microsoft.com/office/drawing/2014/main" id="{E5D1C201-7D74-43E9-F11B-78C6E5562A58}"/>
              </a:ext>
            </a:extLst>
          </p:cNvPr>
          <p:cNvPicPr>
            <a:picLocks noChangeAspect="1"/>
          </p:cNvPicPr>
          <p:nvPr userDrawn="1"/>
        </p:nvPicPr>
        <p:blipFill>
          <a:blip r:embed="rId13"/>
          <a:stretch>
            <a:fillRect/>
          </a:stretch>
        </p:blipFill>
        <p:spPr>
          <a:xfrm>
            <a:off x="10044453" y="73501"/>
            <a:ext cx="1975898" cy="754837"/>
          </a:xfrm>
          <a:prstGeom prst="rect">
            <a:avLst/>
          </a:prstGeom>
        </p:spPr>
      </p:pic>
    </p:spTree>
    <p:extLst>
      <p:ext uri="{BB962C8B-B14F-4D97-AF65-F5344CB8AC3E}">
        <p14:creationId xmlns:p14="http://schemas.microsoft.com/office/powerpoint/2010/main" val="3094831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dchoyle/ODSCWest2026_TransformerBootcam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dchoyle/ODSCWest2026_TransformerBootcam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dchoyle/ODSCWest2026_TransformerBootcam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dchoyle/ODSCWest2026_TransformerBootcamp/"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4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00.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43.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0.png"/><Relationship Id="rId9" Type="http://schemas.openxmlformats.org/officeDocument/2006/relationships/image" Target="../media/image46.png"/><Relationship Id="rId14" Type="http://schemas.openxmlformats.org/officeDocument/2006/relationships/image" Target="../media/image51.png"/></Relationships>
</file>

<file path=ppt/slides/_rels/slide4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60.png"/><Relationship Id="rId3" Type="http://schemas.openxmlformats.org/officeDocument/2006/relationships/image" Target="../media/image410.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9.png"/><Relationship Id="rId2" Type="http://schemas.openxmlformats.org/officeDocument/2006/relationships/image" Target="../media/image400.png"/><Relationship Id="rId16" Type="http://schemas.openxmlformats.org/officeDocument/2006/relationships/image" Target="../media/image54.png"/><Relationship Id="rId20"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61.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4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63.png"/><Relationship Id="rId3" Type="http://schemas.openxmlformats.org/officeDocument/2006/relationships/image" Target="../media/image400.png"/><Relationship Id="rId21" Type="http://schemas.openxmlformats.org/officeDocument/2006/relationships/image" Target="../media/image65.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44.xml"/><Relationship Id="rId16" Type="http://schemas.openxmlformats.org/officeDocument/2006/relationships/image" Target="../media/image53.png"/><Relationship Id="rId20"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5" Type="http://schemas.openxmlformats.org/officeDocument/2006/relationships/image" Target="../media/image52.png"/><Relationship Id="rId10" Type="http://schemas.openxmlformats.org/officeDocument/2006/relationships/image" Target="../media/image47.png"/><Relationship Id="rId19" Type="http://schemas.openxmlformats.org/officeDocument/2006/relationships/image" Target="../media/image14.png"/><Relationship Id="rId4" Type="http://schemas.openxmlformats.org/officeDocument/2006/relationships/image" Target="../media/image410.png"/><Relationship Id="rId9" Type="http://schemas.openxmlformats.org/officeDocument/2006/relationships/image" Target="../media/image46.png"/><Relationship Id="rId1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https://arxiv.org/abs/1706.03762"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hyperlink" Target="https://github.com/dchoyle/ODSCWest2026_TransformerBootcamp/"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arxiv.org/pdf/2304.10557" TargetMode="External"/><Relationship Id="rId2" Type="http://schemas.openxmlformats.org/officeDocument/2006/relationships/hyperlink" Target="https://thelmbook.com/" TargetMode="External"/><Relationship Id="rId1" Type="http://schemas.openxmlformats.org/officeDocument/2006/relationships/slideLayout" Target="../slideLayouts/slideLayout2.xml"/><Relationship Id="rId6" Type="http://schemas.openxmlformats.org/officeDocument/2006/relationships/hyperlink" Target="https://towardsdatascience.com/paper-walkthrough-attention-is-all-you-need-80399cdc59e1/" TargetMode="External"/><Relationship Id="rId5" Type="http://schemas.openxmlformats.org/officeDocument/2006/relationships/hyperlink" Target="https://arxiv.org/pdf/1706.03762" TargetMode="External"/><Relationship Id="rId4" Type="http://schemas.openxmlformats.org/officeDocument/2006/relationships/hyperlink" Target="https://cameronrwolfe.substack.com/p/decoder-only-transformers-the-workhors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storage.googleapis.com/deepmind-media/Era-of-Experience%20/The%20Era%20of%20Experience%20Paper.pdf" TargetMode="External"/><Relationship Id="rId2" Type="http://schemas.openxmlformats.org/officeDocument/2006/relationships/hyperlink" Target="https://arxiv.org/pdf/2606.24937" TargetMode="External"/><Relationship Id="rId1" Type="http://schemas.openxmlformats.org/officeDocument/2006/relationships/slideLayout" Target="../slideLayouts/slideLayout2.xml"/><Relationship Id="rId4" Type="http://schemas.openxmlformats.org/officeDocument/2006/relationships/hyperlink" Target="https://www.amazon.co.uk/Infinity-Machine-Hassabis-DeepMind-Superintelligence/dp/0241703565/"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dchoyle/ODSCWest2026_TransformerBootcamp" TargetMode="External"/><Relationship Id="rId7" Type="http://schemas.openxmlformats.org/officeDocument/2006/relationships/image" Target="../media/image3.jpg"/><Relationship Id="rId2" Type="http://schemas.openxmlformats.org/officeDocument/2006/relationships/hyperlink" Target="https://www.linkedin.com/in/davidchoyle/" TargetMode="External"/><Relationship Id="rId1" Type="http://schemas.openxmlformats.org/officeDocument/2006/relationships/slideLayout" Target="../slideLayouts/slideLayout3.xml"/><Relationship Id="rId6" Type="http://schemas.openxmlformats.org/officeDocument/2006/relationships/hyperlink" Target="https://hoyleanalytics.org/" TargetMode="Externa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Slide Number Placeholder 3">
            <a:extLst>
              <a:ext uri="{FF2B5EF4-FFF2-40B4-BE49-F238E27FC236}">
                <a16:creationId xmlns:a16="http://schemas.microsoft.com/office/drawing/2014/main" id="{8159F649-7495-536D-C4F7-4C407114F44B}"/>
              </a:ext>
            </a:extLst>
          </p:cNvPr>
          <p:cNvSpPr>
            <a:spLocks noGrp="1"/>
          </p:cNvSpPr>
          <p:nvPr>
            <p:ph type="sldNum" sz="quarter" idx="12"/>
          </p:nvPr>
        </p:nvSpPr>
        <p:spPr/>
        <p:txBody>
          <a:bodyPr/>
          <a:lstStyle/>
          <a:p>
            <a:fld id="{13DE89AE-BBCC-45F3-BDAA-E98C74995322}" type="slidenum">
              <a:rPr lang="en-GB" smtClean="0"/>
              <a:t>1</a:t>
            </a:fld>
            <a:endParaRPr lang="en-GB"/>
          </a:p>
        </p:txBody>
      </p:sp>
      <p:pic>
        <p:nvPicPr>
          <p:cNvPr id="6" name="Picture 5" descr="The image is an excerpt from an advertisement or promotional material for the ODSC:AI Builders Conference, featuring David Hoyle, a Research Data Science Specialist, and highlighting a session on the mathematics behind transformers and language models.&#10;&#10;AI-generated content may be incorrect.">
            <a:extLst>
              <a:ext uri="{FF2B5EF4-FFF2-40B4-BE49-F238E27FC236}">
                <a16:creationId xmlns:a16="http://schemas.microsoft.com/office/drawing/2014/main" id="{56DCF00D-C16C-F347-DE6C-4E23BF7F3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4091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48998-0511-C581-AF97-CE73A174C9AA}"/>
              </a:ext>
            </a:extLst>
          </p:cNvPr>
          <p:cNvSpPr>
            <a:spLocks noGrp="1"/>
          </p:cNvSpPr>
          <p:nvPr>
            <p:ph type="title"/>
          </p:nvPr>
        </p:nvSpPr>
        <p:spPr>
          <a:xfrm>
            <a:off x="838200" y="365126"/>
            <a:ext cx="10515600" cy="908504"/>
          </a:xfrm>
        </p:spPr>
        <p:txBody>
          <a:bodyPr anchor="ctr">
            <a:normAutofit/>
          </a:bodyPr>
          <a:lstStyle/>
          <a:p>
            <a:r>
              <a:rPr lang="en-GB" dirty="0"/>
              <a:t>Outline</a:t>
            </a:r>
          </a:p>
        </p:txBody>
      </p:sp>
      <p:graphicFrame>
        <p:nvGraphicFramePr>
          <p:cNvPr id="5" name="Content Placeholder 4">
            <a:extLst>
              <a:ext uri="{FF2B5EF4-FFF2-40B4-BE49-F238E27FC236}">
                <a16:creationId xmlns:a16="http://schemas.microsoft.com/office/drawing/2014/main" id="{82BADA9D-A0F5-4489-A0DE-605BFB242D9D}"/>
              </a:ext>
            </a:extLst>
          </p:cNvPr>
          <p:cNvGraphicFramePr>
            <a:graphicFrameLocks noGrp="1"/>
          </p:cNvGraphicFramePr>
          <p:nvPr>
            <p:ph idx="1"/>
            <p:extLst>
              <p:ext uri="{D42A27DB-BD31-4B8C-83A1-F6EECF244321}">
                <p14:modId xmlns:p14="http://schemas.microsoft.com/office/powerpoint/2010/main" val="556220880"/>
              </p:ext>
              <p:ext uri="{E7BDC344-281C-4309-B0C6-D0EE65EED2A8}">
                <p202:designPr xmlns:p202="http://schemas.microsoft.com/office/powerpoint/2020/02/main">
                  <p202:designTagLst>
                    <p202:designTag name="ARCH:1:CLS" val="StackedSequentialRowTable"/>
                  </p202:designTagLst>
                </p202:designPr>
              </p:ext>
            </p:extLst>
          </p:nvPr>
        </p:nvGraphicFramePr>
        <p:xfrm>
          <a:off x="1191488" y="1165244"/>
          <a:ext cx="9809025" cy="5189216"/>
        </p:xfrm>
        <a:graphic>
          <a:graphicData uri="http://schemas.openxmlformats.org/drawingml/2006/table">
            <a:tbl>
              <a:tblPr firstRow="1" bandRow="1">
                <a:noFill/>
                <a:tableStyleId>{5C22544A-7EE6-4342-B048-85BDC9FD1C3A}</a:tableStyleId>
              </a:tblPr>
              <a:tblGrid>
                <a:gridCol w="2217961">
                  <a:extLst>
                    <a:ext uri="{9D8B030D-6E8A-4147-A177-3AD203B41FA5}">
                      <a16:colId xmlns:a16="http://schemas.microsoft.com/office/drawing/2014/main" val="2911823715"/>
                    </a:ext>
                  </a:extLst>
                </a:gridCol>
                <a:gridCol w="7591064">
                  <a:extLst>
                    <a:ext uri="{9D8B030D-6E8A-4147-A177-3AD203B41FA5}">
                      <a16:colId xmlns:a16="http://schemas.microsoft.com/office/drawing/2014/main" val="1886750614"/>
                    </a:ext>
                  </a:extLst>
                </a:gridCol>
              </a:tblGrid>
              <a:tr h="588692">
                <a:tc>
                  <a:txBody>
                    <a:bodyPr/>
                    <a:lstStyle/>
                    <a:p>
                      <a:pPr>
                        <a:buNone/>
                      </a:pPr>
                      <a:r>
                        <a:rPr lang="en-GB" sz="2400" b="1" cap="none" spc="0" dirty="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What we will learn</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209745291"/>
                  </a:ext>
                </a:extLst>
              </a:tr>
              <a:tr h="588692">
                <a:tc>
                  <a:txBody>
                    <a:bodyPr/>
                    <a:lstStyle/>
                    <a:p>
                      <a:pPr>
                        <a:buNone/>
                      </a:pPr>
                      <a:r>
                        <a:rPr lang="en-GB" sz="2400" b="1" cap="none" spc="0" dirty="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02723181"/>
                  </a:ext>
                </a:extLst>
              </a:tr>
              <a:tr h="588692">
                <a:tc>
                  <a:txBody>
                    <a:bodyPr/>
                    <a:lstStyle/>
                    <a:p>
                      <a:pPr>
                        <a:buNone/>
                      </a:pPr>
                      <a:r>
                        <a:rPr lang="en-GB" sz="2400" b="1" cap="none" spc="0" dirty="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Simple approaches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11736268"/>
                  </a:ext>
                </a:extLst>
              </a:tr>
              <a:tr h="588692">
                <a:tc>
                  <a:txBody>
                    <a:bodyPr/>
                    <a:lstStyle/>
                    <a:p>
                      <a:pPr>
                        <a:buNone/>
                      </a:pPr>
                      <a:r>
                        <a:rPr lang="en-GB" sz="2400" b="1" cap="none" spc="0" dirty="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Word embeddings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53316576"/>
                  </a:ext>
                </a:extLst>
              </a:tr>
              <a:tr h="588692">
                <a:tc>
                  <a:txBody>
                    <a:bodyPr/>
                    <a:lstStyle/>
                    <a:p>
                      <a:pPr>
                        <a:buNone/>
                      </a:pPr>
                      <a:r>
                        <a:rPr lang="en-GB" sz="2400" b="1" cap="none" spc="0" dirty="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2997747"/>
                  </a:ext>
                </a:extLst>
              </a:tr>
              <a:tr h="588692">
                <a:tc>
                  <a:txBody>
                    <a:bodyPr/>
                    <a:lstStyle/>
                    <a:p>
                      <a:pPr>
                        <a:buNone/>
                      </a:pPr>
                      <a:r>
                        <a:rPr lang="en-GB" sz="2400" b="1" cap="none" spc="0" dirty="0">
                          <a:solidFill>
                            <a:schemeClr val="accent1"/>
                          </a:solidFill>
                        </a:rPr>
                        <a:t>06</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Back to 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741644"/>
                  </a:ext>
                </a:extLst>
              </a:tr>
              <a:tr h="588692">
                <a:tc>
                  <a:txBody>
                    <a:bodyPr/>
                    <a:lstStyle/>
                    <a:p>
                      <a:pPr>
                        <a:buNone/>
                      </a:pPr>
                      <a:r>
                        <a:rPr lang="en-GB" sz="2400" b="1" cap="none" spc="0" dirty="0">
                          <a:solidFill>
                            <a:schemeClr val="accent1"/>
                          </a:solidFill>
                        </a:rPr>
                        <a:t>07</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Different types of 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4990502"/>
                  </a:ext>
                </a:extLst>
              </a:tr>
              <a:tr h="588692">
                <a:tc>
                  <a:txBody>
                    <a:bodyPr/>
                    <a:lstStyle/>
                    <a:p>
                      <a:pPr>
                        <a:buNone/>
                      </a:pPr>
                      <a:r>
                        <a:rPr lang="en-GB" sz="2400" b="1" cap="none" spc="0" dirty="0">
                          <a:solidFill>
                            <a:schemeClr val="accent1"/>
                          </a:solidFill>
                        </a:rPr>
                        <a:t>08</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Wrap-up</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8122826"/>
                  </a:ext>
                </a:extLst>
              </a:tr>
            </a:tbl>
          </a:graphicData>
        </a:graphic>
      </p:graphicFrame>
      <p:sp>
        <p:nvSpPr>
          <p:cNvPr id="4" name="Slide Number Placeholder 3">
            <a:extLst>
              <a:ext uri="{FF2B5EF4-FFF2-40B4-BE49-F238E27FC236}">
                <a16:creationId xmlns:a16="http://schemas.microsoft.com/office/drawing/2014/main" id="{9FE2FB09-C26A-363B-098F-A9F9415C6F51}"/>
              </a:ext>
            </a:extLst>
          </p:cNvPr>
          <p:cNvSpPr>
            <a:spLocks noGrp="1"/>
          </p:cNvSpPr>
          <p:nvPr>
            <p:ph type="sldNum" sz="quarter" idx="12"/>
          </p:nvPr>
        </p:nvSpPr>
        <p:spPr/>
        <p:txBody>
          <a:bodyPr/>
          <a:lstStyle/>
          <a:p>
            <a:fld id="{13DE89AE-BBCC-45F3-BDAA-E98C74995322}" type="slidenum">
              <a:rPr lang="en-GB" smtClean="0"/>
              <a:t>2</a:t>
            </a:fld>
            <a:endParaRPr lang="en-GB"/>
          </a:p>
        </p:txBody>
      </p:sp>
      <p:sp>
        <p:nvSpPr>
          <p:cNvPr id="3" name="TextBox 2">
            <a:extLst>
              <a:ext uri="{FF2B5EF4-FFF2-40B4-BE49-F238E27FC236}">
                <a16:creationId xmlns:a16="http://schemas.microsoft.com/office/drawing/2014/main" id="{44A0ED45-8AA6-50A8-DC60-D567D600ED77}"/>
              </a:ext>
            </a:extLst>
          </p:cNvPr>
          <p:cNvSpPr txBox="1"/>
          <p:nvPr/>
        </p:nvSpPr>
        <p:spPr>
          <a:xfrm>
            <a:off x="2556279" y="94829"/>
            <a:ext cx="7536287" cy="430887"/>
          </a:xfrm>
          <a:prstGeom prst="rect">
            <a:avLst/>
          </a:prstGeom>
          <a:noFill/>
        </p:spPr>
        <p:txBody>
          <a:bodyPr wrap="square" rtlCol="0">
            <a:spAutoFit/>
          </a:bodyPr>
          <a:lstStyle/>
          <a:p>
            <a:r>
              <a:rPr lang="en-GB" sz="2200" dirty="0">
                <a:hlinkClick r:id="rId3"/>
              </a:rPr>
              <a:t>github.com/</a:t>
            </a:r>
            <a:r>
              <a:rPr lang="en-GB" sz="2200" dirty="0" err="1">
                <a:hlinkClick r:id="rId3"/>
              </a:rPr>
              <a:t>dchoyle</a:t>
            </a:r>
            <a:r>
              <a:rPr lang="en-GB" sz="2200" dirty="0">
                <a:hlinkClick r:id="rId3"/>
              </a:rPr>
              <a:t>/ODSCWest2026_TransformerBootcamp</a:t>
            </a:r>
            <a:endParaRPr lang="en-GB" sz="2200" dirty="0"/>
          </a:p>
        </p:txBody>
      </p:sp>
      <p:pic>
        <p:nvPicPr>
          <p:cNvPr id="7" name="Picture 6">
            <a:extLst>
              <a:ext uri="{FF2B5EF4-FFF2-40B4-BE49-F238E27FC236}">
                <a16:creationId xmlns:a16="http://schemas.microsoft.com/office/drawing/2014/main" id="{C9038BD8-9554-296D-AF72-549FDB2ECBC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364014" y="1163354"/>
            <a:ext cx="2651304" cy="2651304"/>
          </a:xfrm>
          <a:prstGeom prst="rect">
            <a:avLst/>
          </a:prstGeom>
        </p:spPr>
      </p:pic>
    </p:spTree>
    <p:extLst>
      <p:ext uri="{BB962C8B-B14F-4D97-AF65-F5344CB8AC3E}">
        <p14:creationId xmlns:p14="http://schemas.microsoft.com/office/powerpoint/2010/main" val="2424543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2A52D-61E3-ECDB-7116-30C92BEE3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EF71E-2B0B-02D6-0F66-FBB35B3A2916}"/>
              </a:ext>
            </a:extLst>
          </p:cNvPr>
          <p:cNvSpPr>
            <a:spLocks noGrp="1"/>
          </p:cNvSpPr>
          <p:nvPr>
            <p:ph type="title"/>
          </p:nvPr>
        </p:nvSpPr>
        <p:spPr>
          <a:xfrm>
            <a:off x="838200" y="365126"/>
            <a:ext cx="10515600" cy="908504"/>
          </a:xfrm>
        </p:spPr>
        <p:txBody>
          <a:bodyPr anchor="ctr">
            <a:normAutofit/>
          </a:bodyPr>
          <a:lstStyle/>
          <a:p>
            <a:r>
              <a:rPr lang="en-GB" dirty="0"/>
              <a:t>Outline</a:t>
            </a:r>
          </a:p>
        </p:txBody>
      </p:sp>
      <p:graphicFrame>
        <p:nvGraphicFramePr>
          <p:cNvPr id="5" name="Content Placeholder 4">
            <a:extLst>
              <a:ext uri="{FF2B5EF4-FFF2-40B4-BE49-F238E27FC236}">
                <a16:creationId xmlns:a16="http://schemas.microsoft.com/office/drawing/2014/main" id="{08E0A041-4FB2-6E70-A4FD-D9E9F8783DED}"/>
              </a:ext>
            </a:extLst>
          </p:cNvPr>
          <p:cNvGraphicFramePr>
            <a:graphicFrameLocks noGrp="1"/>
          </p:cNvGraphicFramePr>
          <p:nvPr>
            <p:ph idx="1"/>
            <p:extLst>
              <p:ext uri="{D42A27DB-BD31-4B8C-83A1-F6EECF244321}">
                <p14:modId xmlns:p14="http://schemas.microsoft.com/office/powerpoint/2010/main" val="1124656568"/>
              </p:ext>
              <p:ext uri="{E7BDC344-281C-4309-B0C6-D0EE65EED2A8}">
                <p202:designPr xmlns:p202="http://schemas.microsoft.com/office/powerpoint/2020/02/main">
                  <p202:designTagLst>
                    <p202:designTag name="ARCH:1:CLS" val="StackedSequentialRowTable"/>
                  </p202:designTagLst>
                </p202:designPr>
              </p:ext>
            </p:extLst>
          </p:nvPr>
        </p:nvGraphicFramePr>
        <p:xfrm>
          <a:off x="1191488" y="1165244"/>
          <a:ext cx="9809025" cy="5189216"/>
        </p:xfrm>
        <a:graphic>
          <a:graphicData uri="http://schemas.openxmlformats.org/drawingml/2006/table">
            <a:tbl>
              <a:tblPr firstRow="1" bandRow="1">
                <a:noFill/>
                <a:tableStyleId>{5C22544A-7EE6-4342-B048-85BDC9FD1C3A}</a:tableStyleId>
              </a:tblPr>
              <a:tblGrid>
                <a:gridCol w="2217961">
                  <a:extLst>
                    <a:ext uri="{9D8B030D-6E8A-4147-A177-3AD203B41FA5}">
                      <a16:colId xmlns:a16="http://schemas.microsoft.com/office/drawing/2014/main" val="2911823715"/>
                    </a:ext>
                  </a:extLst>
                </a:gridCol>
                <a:gridCol w="7591064">
                  <a:extLst>
                    <a:ext uri="{9D8B030D-6E8A-4147-A177-3AD203B41FA5}">
                      <a16:colId xmlns:a16="http://schemas.microsoft.com/office/drawing/2014/main" val="1886750614"/>
                    </a:ext>
                  </a:extLst>
                </a:gridCol>
              </a:tblGrid>
              <a:tr h="588692">
                <a:tc>
                  <a:txBody>
                    <a:bodyPr/>
                    <a:lstStyle/>
                    <a:p>
                      <a:pPr>
                        <a:buNone/>
                      </a:pPr>
                      <a:r>
                        <a:rPr lang="en-GB" sz="2400" b="1" cap="none" spc="0" dirty="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What we will learn</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209745291"/>
                  </a:ext>
                </a:extLst>
              </a:tr>
              <a:tr h="588692">
                <a:tc>
                  <a:txBody>
                    <a:bodyPr/>
                    <a:lstStyle/>
                    <a:p>
                      <a:pPr>
                        <a:buNone/>
                      </a:pPr>
                      <a:r>
                        <a:rPr lang="en-GB" sz="2400" b="1" cap="none" spc="0" dirty="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02723181"/>
                  </a:ext>
                </a:extLst>
              </a:tr>
              <a:tr h="588692">
                <a:tc>
                  <a:txBody>
                    <a:bodyPr/>
                    <a:lstStyle/>
                    <a:p>
                      <a:pPr>
                        <a:buNone/>
                      </a:pPr>
                      <a:r>
                        <a:rPr lang="en-GB" sz="2400" b="1" cap="none" spc="0" dirty="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Simple approaches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11736268"/>
                  </a:ext>
                </a:extLst>
              </a:tr>
              <a:tr h="588692">
                <a:tc>
                  <a:txBody>
                    <a:bodyPr/>
                    <a:lstStyle/>
                    <a:p>
                      <a:pPr>
                        <a:buNone/>
                      </a:pPr>
                      <a:r>
                        <a:rPr lang="en-GB" sz="2400" b="1" cap="none" spc="0" dirty="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Word embeddings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53316576"/>
                  </a:ext>
                </a:extLst>
              </a:tr>
              <a:tr h="588692">
                <a:tc>
                  <a:txBody>
                    <a:bodyPr/>
                    <a:lstStyle/>
                    <a:p>
                      <a:pPr>
                        <a:buNone/>
                      </a:pPr>
                      <a:r>
                        <a:rPr lang="en-GB" sz="2400" b="1" cap="none" spc="0" dirty="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2997747"/>
                  </a:ext>
                </a:extLst>
              </a:tr>
              <a:tr h="588692">
                <a:tc>
                  <a:txBody>
                    <a:bodyPr/>
                    <a:lstStyle/>
                    <a:p>
                      <a:pPr>
                        <a:buNone/>
                      </a:pPr>
                      <a:r>
                        <a:rPr lang="en-GB" sz="2400" b="1" cap="none" spc="0" dirty="0">
                          <a:solidFill>
                            <a:schemeClr val="accent1"/>
                          </a:solidFill>
                        </a:rPr>
                        <a:t>06</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Back to 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741644"/>
                  </a:ext>
                </a:extLst>
              </a:tr>
              <a:tr h="588692">
                <a:tc>
                  <a:txBody>
                    <a:bodyPr/>
                    <a:lstStyle/>
                    <a:p>
                      <a:pPr>
                        <a:buNone/>
                      </a:pPr>
                      <a:r>
                        <a:rPr lang="en-GB" sz="2400" b="1" cap="none" spc="0" dirty="0">
                          <a:solidFill>
                            <a:schemeClr val="accent1"/>
                          </a:solidFill>
                        </a:rPr>
                        <a:t>07</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Different types of 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4990502"/>
                  </a:ext>
                </a:extLst>
              </a:tr>
              <a:tr h="588692">
                <a:tc>
                  <a:txBody>
                    <a:bodyPr/>
                    <a:lstStyle/>
                    <a:p>
                      <a:pPr>
                        <a:buNone/>
                      </a:pPr>
                      <a:r>
                        <a:rPr lang="en-GB" sz="2400" b="1" cap="none" spc="0" dirty="0">
                          <a:solidFill>
                            <a:schemeClr val="accent1"/>
                          </a:solidFill>
                        </a:rPr>
                        <a:t>08</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Wrap-up</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8122826"/>
                  </a:ext>
                </a:extLst>
              </a:tr>
            </a:tbl>
          </a:graphicData>
        </a:graphic>
      </p:graphicFrame>
      <p:sp>
        <p:nvSpPr>
          <p:cNvPr id="4" name="Slide Number Placeholder 3">
            <a:extLst>
              <a:ext uri="{FF2B5EF4-FFF2-40B4-BE49-F238E27FC236}">
                <a16:creationId xmlns:a16="http://schemas.microsoft.com/office/drawing/2014/main" id="{9BF644F2-9EB6-86EC-D9FC-4129BF96BE36}"/>
              </a:ext>
            </a:extLst>
          </p:cNvPr>
          <p:cNvSpPr>
            <a:spLocks noGrp="1"/>
          </p:cNvSpPr>
          <p:nvPr>
            <p:ph type="sldNum" sz="quarter" idx="12"/>
          </p:nvPr>
        </p:nvSpPr>
        <p:spPr/>
        <p:txBody>
          <a:bodyPr/>
          <a:lstStyle/>
          <a:p>
            <a:fld id="{13DE89AE-BBCC-45F3-BDAA-E98C74995322}" type="slidenum">
              <a:rPr lang="en-GB" smtClean="0"/>
              <a:t>3</a:t>
            </a:fld>
            <a:endParaRPr lang="en-GB"/>
          </a:p>
        </p:txBody>
      </p:sp>
      <p:grpSp>
        <p:nvGrpSpPr>
          <p:cNvPr id="11" name="Group 10">
            <a:extLst>
              <a:ext uri="{FF2B5EF4-FFF2-40B4-BE49-F238E27FC236}">
                <a16:creationId xmlns:a16="http://schemas.microsoft.com/office/drawing/2014/main" id="{E41D93EA-4C71-635B-988A-75A00D76B8F9}"/>
              </a:ext>
            </a:extLst>
          </p:cNvPr>
          <p:cNvGrpSpPr/>
          <p:nvPr/>
        </p:nvGrpSpPr>
        <p:grpSpPr>
          <a:xfrm>
            <a:off x="5440681" y="3759852"/>
            <a:ext cx="3272244" cy="707886"/>
            <a:chOff x="5440681" y="3759852"/>
            <a:chExt cx="3272244" cy="707886"/>
          </a:xfrm>
        </p:grpSpPr>
        <p:cxnSp>
          <p:nvCxnSpPr>
            <p:cNvPr id="6" name="Straight Arrow Connector 5">
              <a:extLst>
                <a:ext uri="{FF2B5EF4-FFF2-40B4-BE49-F238E27FC236}">
                  <a16:creationId xmlns:a16="http://schemas.microsoft.com/office/drawing/2014/main" id="{41F0101F-79C0-39E6-586A-D0D564271291}"/>
                </a:ext>
              </a:extLst>
            </p:cNvPr>
            <p:cNvCxnSpPr>
              <a:cxnSpLocks/>
            </p:cNvCxnSpPr>
            <p:nvPr/>
          </p:nvCxnSpPr>
          <p:spPr>
            <a:xfrm flipH="1">
              <a:off x="5440681" y="4225834"/>
              <a:ext cx="1756953" cy="169809"/>
            </a:xfrm>
            <a:prstGeom prst="straightConnector1">
              <a:avLst/>
            </a:prstGeom>
            <a:ln w="50800">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63AC6AD-49CA-9B97-1AD0-61A03002B8FB}"/>
                </a:ext>
              </a:extLst>
            </p:cNvPr>
            <p:cNvSpPr txBox="1"/>
            <p:nvPr/>
          </p:nvSpPr>
          <p:spPr>
            <a:xfrm>
              <a:off x="7197634" y="3759852"/>
              <a:ext cx="1515291" cy="707886"/>
            </a:xfrm>
            <a:prstGeom prst="rect">
              <a:avLst/>
            </a:prstGeom>
            <a:noFill/>
          </p:spPr>
          <p:txBody>
            <a:bodyPr wrap="square" rtlCol="0">
              <a:spAutoFit/>
            </a:bodyPr>
            <a:lstStyle/>
            <a:p>
              <a:r>
                <a:rPr lang="en-GB" sz="4000" dirty="0"/>
                <a:t>Break</a:t>
              </a:r>
            </a:p>
          </p:txBody>
        </p:sp>
      </p:grpSp>
      <p:sp>
        <p:nvSpPr>
          <p:cNvPr id="3" name="TextBox 2">
            <a:extLst>
              <a:ext uri="{FF2B5EF4-FFF2-40B4-BE49-F238E27FC236}">
                <a16:creationId xmlns:a16="http://schemas.microsoft.com/office/drawing/2014/main" id="{F3392CAE-B07F-9558-28FB-783914B106D1}"/>
              </a:ext>
            </a:extLst>
          </p:cNvPr>
          <p:cNvSpPr txBox="1"/>
          <p:nvPr/>
        </p:nvSpPr>
        <p:spPr>
          <a:xfrm>
            <a:off x="2557363" y="95412"/>
            <a:ext cx="7536287" cy="430887"/>
          </a:xfrm>
          <a:prstGeom prst="rect">
            <a:avLst/>
          </a:prstGeom>
          <a:noFill/>
        </p:spPr>
        <p:txBody>
          <a:bodyPr wrap="square" rtlCol="0">
            <a:spAutoFit/>
          </a:bodyPr>
          <a:lstStyle/>
          <a:p>
            <a:r>
              <a:rPr lang="en-GB" sz="2200" dirty="0">
                <a:hlinkClick r:id="rId3"/>
              </a:rPr>
              <a:t>github.com/</a:t>
            </a:r>
            <a:r>
              <a:rPr lang="en-GB" sz="2200" dirty="0" err="1">
                <a:hlinkClick r:id="rId3"/>
              </a:rPr>
              <a:t>dchoyle</a:t>
            </a:r>
            <a:r>
              <a:rPr lang="en-GB" sz="2200" dirty="0">
                <a:hlinkClick r:id="rId3"/>
              </a:rPr>
              <a:t>/ODSCWest2026_TransformerBootcamp</a:t>
            </a:r>
            <a:endParaRPr lang="en-GB" sz="2200" dirty="0"/>
          </a:p>
        </p:txBody>
      </p:sp>
      <p:pic>
        <p:nvPicPr>
          <p:cNvPr id="7" name="Picture 6">
            <a:extLst>
              <a:ext uri="{FF2B5EF4-FFF2-40B4-BE49-F238E27FC236}">
                <a16:creationId xmlns:a16="http://schemas.microsoft.com/office/drawing/2014/main" id="{CDBD2E99-68C2-635B-FA14-1FE142AEAA8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364014" y="1163354"/>
            <a:ext cx="2651304" cy="2651304"/>
          </a:xfrm>
          <a:prstGeom prst="rect">
            <a:avLst/>
          </a:prstGeom>
        </p:spPr>
      </p:pic>
    </p:spTree>
    <p:extLst>
      <p:ext uri="{BB962C8B-B14F-4D97-AF65-F5344CB8AC3E}">
        <p14:creationId xmlns:p14="http://schemas.microsoft.com/office/powerpoint/2010/main" val="402454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F2CE-5735-ADA5-9318-7B6B55E2E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6FF8-93B4-35A1-6024-8D2A9416FC23}"/>
              </a:ext>
            </a:extLst>
          </p:cNvPr>
          <p:cNvSpPr>
            <a:spLocks noGrp="1"/>
          </p:cNvSpPr>
          <p:nvPr>
            <p:ph type="title"/>
          </p:nvPr>
        </p:nvSpPr>
        <p:spPr>
          <a:xfrm>
            <a:off x="838200" y="365126"/>
            <a:ext cx="10515600" cy="908504"/>
          </a:xfrm>
        </p:spPr>
        <p:txBody>
          <a:bodyPr anchor="ctr">
            <a:normAutofit/>
          </a:bodyPr>
          <a:lstStyle/>
          <a:p>
            <a:r>
              <a:rPr lang="en-GB" dirty="0"/>
              <a:t>Outline</a:t>
            </a:r>
          </a:p>
        </p:txBody>
      </p:sp>
      <p:graphicFrame>
        <p:nvGraphicFramePr>
          <p:cNvPr id="5" name="Content Placeholder 4">
            <a:extLst>
              <a:ext uri="{FF2B5EF4-FFF2-40B4-BE49-F238E27FC236}">
                <a16:creationId xmlns:a16="http://schemas.microsoft.com/office/drawing/2014/main" id="{DBF39BBC-D851-6B7A-1A84-D0A470EFB94E}"/>
              </a:ext>
            </a:extLst>
          </p:cNvPr>
          <p:cNvGraphicFramePr>
            <a:graphicFrameLocks noGrp="1"/>
          </p:cNvGraphicFramePr>
          <p:nvPr>
            <p:ph idx="1"/>
            <p:extLst>
              <p:ext uri="{E7BDC344-281C-4309-B0C6-D0EE65EED2A8}">
                <p202:designPr xmlns:p202="http://schemas.microsoft.com/office/powerpoint/2020/02/main">
                  <p202:designTagLst>
                    <p202:designTag name="ARCH:1:CLS" val="StackedSequentialRowTable"/>
                  </p202:designTagLst>
                </p202:designPr>
              </p:ext>
            </p:extLst>
          </p:nvPr>
        </p:nvGraphicFramePr>
        <p:xfrm>
          <a:off x="1191488" y="1165244"/>
          <a:ext cx="9809025" cy="5189216"/>
        </p:xfrm>
        <a:graphic>
          <a:graphicData uri="http://schemas.openxmlformats.org/drawingml/2006/table">
            <a:tbl>
              <a:tblPr firstRow="1" bandRow="1">
                <a:noFill/>
                <a:tableStyleId>{5C22544A-7EE6-4342-B048-85BDC9FD1C3A}</a:tableStyleId>
              </a:tblPr>
              <a:tblGrid>
                <a:gridCol w="2217961">
                  <a:extLst>
                    <a:ext uri="{9D8B030D-6E8A-4147-A177-3AD203B41FA5}">
                      <a16:colId xmlns:a16="http://schemas.microsoft.com/office/drawing/2014/main" val="2911823715"/>
                    </a:ext>
                  </a:extLst>
                </a:gridCol>
                <a:gridCol w="7591064">
                  <a:extLst>
                    <a:ext uri="{9D8B030D-6E8A-4147-A177-3AD203B41FA5}">
                      <a16:colId xmlns:a16="http://schemas.microsoft.com/office/drawing/2014/main" val="1886750614"/>
                    </a:ext>
                  </a:extLst>
                </a:gridCol>
              </a:tblGrid>
              <a:tr h="588692">
                <a:tc>
                  <a:txBody>
                    <a:bodyPr/>
                    <a:lstStyle/>
                    <a:p>
                      <a:pPr>
                        <a:buNone/>
                      </a:pPr>
                      <a:r>
                        <a:rPr lang="en-GB" sz="2400" b="1" cap="none" spc="0" dirty="0">
                          <a:solidFill>
                            <a:schemeClr val="accent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What we will learn</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209745291"/>
                  </a:ext>
                </a:extLst>
              </a:tr>
              <a:tr h="588692">
                <a:tc>
                  <a:txBody>
                    <a:bodyPr/>
                    <a:lstStyle/>
                    <a:p>
                      <a:pPr>
                        <a:buNone/>
                      </a:pPr>
                      <a:r>
                        <a:rPr lang="en-GB" sz="2400" b="1" cap="none" spc="0" dirty="0">
                          <a:solidFill>
                            <a:schemeClr val="accent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02723181"/>
                  </a:ext>
                </a:extLst>
              </a:tr>
              <a:tr h="588692">
                <a:tc>
                  <a:txBody>
                    <a:bodyPr/>
                    <a:lstStyle/>
                    <a:p>
                      <a:pPr>
                        <a:buNone/>
                      </a:pPr>
                      <a:r>
                        <a:rPr lang="en-GB" sz="2400" b="1" cap="none" spc="0" dirty="0">
                          <a:solidFill>
                            <a:schemeClr val="accent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Simple approaches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11736268"/>
                  </a:ext>
                </a:extLst>
              </a:tr>
              <a:tr h="588692">
                <a:tc>
                  <a:txBody>
                    <a:bodyPr/>
                    <a:lstStyle/>
                    <a:p>
                      <a:pPr>
                        <a:buNone/>
                      </a:pPr>
                      <a:r>
                        <a:rPr lang="en-GB" sz="2400" b="1" cap="none" spc="0" dirty="0">
                          <a:solidFill>
                            <a:schemeClr val="accent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GB" sz="2100" b="0" cap="none" spc="0" dirty="0">
                          <a:solidFill>
                            <a:schemeClr val="tx1"/>
                          </a:solidFill>
                        </a:rPr>
                        <a:t>Word embeddings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53316576"/>
                  </a:ext>
                </a:extLst>
              </a:tr>
              <a:tr h="588692">
                <a:tc>
                  <a:txBody>
                    <a:bodyPr/>
                    <a:lstStyle/>
                    <a:p>
                      <a:pPr>
                        <a:buNone/>
                      </a:pPr>
                      <a:r>
                        <a:rPr lang="en-GB" sz="2400" b="1" cap="none" spc="0" dirty="0">
                          <a:solidFill>
                            <a:schemeClr val="accent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2997747"/>
                  </a:ext>
                </a:extLst>
              </a:tr>
              <a:tr h="588692">
                <a:tc>
                  <a:txBody>
                    <a:bodyPr/>
                    <a:lstStyle/>
                    <a:p>
                      <a:pPr>
                        <a:buNone/>
                      </a:pPr>
                      <a:r>
                        <a:rPr lang="en-GB" sz="2400" b="1" cap="none" spc="0" dirty="0">
                          <a:solidFill>
                            <a:schemeClr val="accent1"/>
                          </a:solidFill>
                        </a:rPr>
                        <a:t>06</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Back to predicting the next word</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741644"/>
                  </a:ext>
                </a:extLst>
              </a:tr>
              <a:tr h="588692">
                <a:tc>
                  <a:txBody>
                    <a:bodyPr/>
                    <a:lstStyle/>
                    <a:p>
                      <a:pPr>
                        <a:buNone/>
                      </a:pPr>
                      <a:r>
                        <a:rPr lang="en-GB" sz="2400" b="1" cap="none" spc="0" dirty="0">
                          <a:solidFill>
                            <a:schemeClr val="accent1"/>
                          </a:solidFill>
                        </a:rPr>
                        <a:t>07</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Different types of transformers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4990502"/>
                  </a:ext>
                </a:extLst>
              </a:tr>
              <a:tr h="588692">
                <a:tc>
                  <a:txBody>
                    <a:bodyPr/>
                    <a:lstStyle/>
                    <a:p>
                      <a:pPr>
                        <a:buNone/>
                      </a:pPr>
                      <a:r>
                        <a:rPr lang="en-GB" sz="2400" b="1" cap="none" spc="0" dirty="0">
                          <a:solidFill>
                            <a:schemeClr val="accent1"/>
                          </a:solidFill>
                        </a:rPr>
                        <a:t>08</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algn="l">
                        <a:buNone/>
                      </a:pPr>
                      <a:r>
                        <a:rPr lang="en-GB" sz="2100" b="0" cap="none" spc="0" dirty="0">
                          <a:solidFill>
                            <a:schemeClr val="tx1"/>
                          </a:solidFill>
                        </a:rPr>
                        <a:t>Wrap-up</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8122826"/>
                  </a:ext>
                </a:extLst>
              </a:tr>
            </a:tbl>
          </a:graphicData>
        </a:graphic>
      </p:graphicFrame>
      <p:sp>
        <p:nvSpPr>
          <p:cNvPr id="4" name="Slide Number Placeholder 3">
            <a:extLst>
              <a:ext uri="{FF2B5EF4-FFF2-40B4-BE49-F238E27FC236}">
                <a16:creationId xmlns:a16="http://schemas.microsoft.com/office/drawing/2014/main" id="{6663B194-C32B-499D-81F0-ED0258B8AF26}"/>
              </a:ext>
            </a:extLst>
          </p:cNvPr>
          <p:cNvSpPr>
            <a:spLocks noGrp="1"/>
          </p:cNvSpPr>
          <p:nvPr>
            <p:ph type="sldNum" sz="quarter" idx="12"/>
          </p:nvPr>
        </p:nvSpPr>
        <p:spPr/>
        <p:txBody>
          <a:bodyPr/>
          <a:lstStyle/>
          <a:p>
            <a:fld id="{13DE89AE-BBCC-45F3-BDAA-E98C74995322}" type="slidenum">
              <a:rPr lang="en-GB" smtClean="0"/>
              <a:t>4</a:t>
            </a:fld>
            <a:endParaRPr lang="en-GB"/>
          </a:p>
        </p:txBody>
      </p:sp>
      <p:grpSp>
        <p:nvGrpSpPr>
          <p:cNvPr id="16" name="Group 15">
            <a:extLst>
              <a:ext uri="{FF2B5EF4-FFF2-40B4-BE49-F238E27FC236}">
                <a16:creationId xmlns:a16="http://schemas.microsoft.com/office/drawing/2014/main" id="{EF50A33C-1DB4-0128-9DD4-F1AF54E7469B}"/>
              </a:ext>
            </a:extLst>
          </p:cNvPr>
          <p:cNvGrpSpPr/>
          <p:nvPr/>
        </p:nvGrpSpPr>
        <p:grpSpPr>
          <a:xfrm>
            <a:off x="5183746" y="3649501"/>
            <a:ext cx="5573423" cy="707886"/>
            <a:chOff x="5183746" y="3649501"/>
            <a:chExt cx="5573423" cy="707886"/>
          </a:xfrm>
        </p:grpSpPr>
        <p:cxnSp>
          <p:nvCxnSpPr>
            <p:cNvPr id="6" name="Straight Arrow Connector 5">
              <a:extLst>
                <a:ext uri="{FF2B5EF4-FFF2-40B4-BE49-F238E27FC236}">
                  <a16:creationId xmlns:a16="http://schemas.microsoft.com/office/drawing/2014/main" id="{7314EA52-3B7E-88F6-3CE8-E30923631020}"/>
                </a:ext>
              </a:extLst>
            </p:cNvPr>
            <p:cNvCxnSpPr>
              <a:cxnSpLocks/>
              <a:stCxn id="7" idx="1"/>
            </p:cNvCxnSpPr>
            <p:nvPr/>
          </p:nvCxnSpPr>
          <p:spPr>
            <a:xfrm flipH="1" flipV="1">
              <a:off x="5183746" y="3746580"/>
              <a:ext cx="2020326" cy="256864"/>
            </a:xfrm>
            <a:prstGeom prst="straightConnector1">
              <a:avLst/>
            </a:prstGeom>
            <a:ln w="5080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5955735-2297-C6B3-1205-FEE189E7FF05}"/>
                </a:ext>
              </a:extLst>
            </p:cNvPr>
            <p:cNvSpPr txBox="1"/>
            <p:nvPr/>
          </p:nvSpPr>
          <p:spPr>
            <a:xfrm>
              <a:off x="7204072" y="3649501"/>
              <a:ext cx="3553097" cy="707886"/>
            </a:xfrm>
            <a:prstGeom prst="rect">
              <a:avLst/>
            </a:prstGeom>
            <a:noFill/>
          </p:spPr>
          <p:txBody>
            <a:bodyPr wrap="square" rtlCol="0">
              <a:spAutoFit/>
            </a:bodyPr>
            <a:lstStyle/>
            <a:p>
              <a:r>
                <a:rPr lang="en-GB" sz="4000" dirty="0"/>
                <a:t>Code example</a:t>
              </a:r>
            </a:p>
          </p:txBody>
        </p:sp>
      </p:grpSp>
      <p:sp>
        <p:nvSpPr>
          <p:cNvPr id="3" name="TextBox 2">
            <a:extLst>
              <a:ext uri="{FF2B5EF4-FFF2-40B4-BE49-F238E27FC236}">
                <a16:creationId xmlns:a16="http://schemas.microsoft.com/office/drawing/2014/main" id="{0C3D9CC2-495E-CA81-1358-FB40D8525BF8}"/>
              </a:ext>
            </a:extLst>
          </p:cNvPr>
          <p:cNvSpPr txBox="1"/>
          <p:nvPr/>
        </p:nvSpPr>
        <p:spPr>
          <a:xfrm>
            <a:off x="2559834" y="92511"/>
            <a:ext cx="7536287" cy="430887"/>
          </a:xfrm>
          <a:prstGeom prst="rect">
            <a:avLst/>
          </a:prstGeom>
          <a:noFill/>
        </p:spPr>
        <p:txBody>
          <a:bodyPr wrap="square" rtlCol="0">
            <a:spAutoFit/>
          </a:bodyPr>
          <a:lstStyle/>
          <a:p>
            <a:r>
              <a:rPr lang="en-GB" sz="2200" dirty="0">
                <a:hlinkClick r:id="rId3"/>
              </a:rPr>
              <a:t>github.com/</a:t>
            </a:r>
            <a:r>
              <a:rPr lang="en-GB" sz="2200" dirty="0" err="1">
                <a:hlinkClick r:id="rId3"/>
              </a:rPr>
              <a:t>dchoyle</a:t>
            </a:r>
            <a:r>
              <a:rPr lang="en-GB" sz="2200" dirty="0">
                <a:hlinkClick r:id="rId3"/>
              </a:rPr>
              <a:t>/ODSCWest2026_TransformerBootcamp</a:t>
            </a:r>
            <a:endParaRPr lang="en-GB" sz="2200" dirty="0"/>
          </a:p>
        </p:txBody>
      </p:sp>
      <p:pic>
        <p:nvPicPr>
          <p:cNvPr id="8" name="Picture 7">
            <a:extLst>
              <a:ext uri="{FF2B5EF4-FFF2-40B4-BE49-F238E27FC236}">
                <a16:creationId xmlns:a16="http://schemas.microsoft.com/office/drawing/2014/main" id="{3C81C0A9-A639-DECD-079B-7D698B607D8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364014" y="1163354"/>
            <a:ext cx="2651304" cy="2651304"/>
          </a:xfrm>
          <a:prstGeom prst="rect">
            <a:avLst/>
          </a:prstGeom>
        </p:spPr>
      </p:pic>
      <p:grpSp>
        <p:nvGrpSpPr>
          <p:cNvPr id="17" name="Group 16">
            <a:extLst>
              <a:ext uri="{FF2B5EF4-FFF2-40B4-BE49-F238E27FC236}">
                <a16:creationId xmlns:a16="http://schemas.microsoft.com/office/drawing/2014/main" id="{181FD2E9-3326-391D-9773-89F7C9F7C5C8}"/>
              </a:ext>
            </a:extLst>
          </p:cNvPr>
          <p:cNvGrpSpPr/>
          <p:nvPr/>
        </p:nvGrpSpPr>
        <p:grpSpPr>
          <a:xfrm>
            <a:off x="5188046" y="5572741"/>
            <a:ext cx="5573423" cy="707886"/>
            <a:chOff x="5183746" y="3649501"/>
            <a:chExt cx="5573423" cy="707886"/>
          </a:xfrm>
        </p:grpSpPr>
        <p:cxnSp>
          <p:nvCxnSpPr>
            <p:cNvPr id="18" name="Straight Arrow Connector 17">
              <a:extLst>
                <a:ext uri="{FF2B5EF4-FFF2-40B4-BE49-F238E27FC236}">
                  <a16:creationId xmlns:a16="http://schemas.microsoft.com/office/drawing/2014/main" id="{6DB66AC9-7CB6-963E-0144-1C2C53860772}"/>
                </a:ext>
              </a:extLst>
            </p:cNvPr>
            <p:cNvCxnSpPr>
              <a:cxnSpLocks/>
              <a:stCxn id="19" idx="1"/>
            </p:cNvCxnSpPr>
            <p:nvPr/>
          </p:nvCxnSpPr>
          <p:spPr>
            <a:xfrm flipH="1" flipV="1">
              <a:off x="5183746" y="3746580"/>
              <a:ext cx="2020326" cy="256864"/>
            </a:xfrm>
            <a:prstGeom prst="straightConnector1">
              <a:avLst/>
            </a:prstGeom>
            <a:ln w="5080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09D2239B-90F9-51EE-53A1-B7B7B357341D}"/>
                </a:ext>
              </a:extLst>
            </p:cNvPr>
            <p:cNvSpPr txBox="1"/>
            <p:nvPr/>
          </p:nvSpPr>
          <p:spPr>
            <a:xfrm>
              <a:off x="7204072" y="3649501"/>
              <a:ext cx="3553097" cy="707886"/>
            </a:xfrm>
            <a:prstGeom prst="rect">
              <a:avLst/>
            </a:prstGeom>
            <a:noFill/>
          </p:spPr>
          <p:txBody>
            <a:bodyPr wrap="square" rtlCol="0">
              <a:spAutoFit/>
            </a:bodyPr>
            <a:lstStyle/>
            <a:p>
              <a:r>
                <a:rPr lang="en-GB" sz="4000" dirty="0"/>
                <a:t>Code example</a:t>
              </a:r>
            </a:p>
          </p:txBody>
        </p:sp>
      </p:grpSp>
    </p:spTree>
    <p:extLst>
      <p:ext uri="{BB962C8B-B14F-4D97-AF65-F5344CB8AC3E}">
        <p14:creationId xmlns:p14="http://schemas.microsoft.com/office/powerpoint/2010/main" val="2447559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B7BFA-B7D8-B0AD-BFAB-2822F80E5125}"/>
              </a:ext>
            </a:extLst>
          </p:cNvPr>
          <p:cNvSpPr>
            <a:spLocks noGrp="1"/>
          </p:cNvSpPr>
          <p:nvPr>
            <p:ph type="title"/>
          </p:nvPr>
        </p:nvSpPr>
        <p:spPr>
          <a:xfrm>
            <a:off x="775495" y="401185"/>
            <a:ext cx="3932237" cy="721519"/>
          </a:xfrm>
        </p:spPr>
        <p:txBody>
          <a:bodyPr anchor="b">
            <a:normAutofit/>
          </a:bodyPr>
          <a:lstStyle/>
          <a:p>
            <a:r>
              <a:rPr lang="en-GB" sz="3600" dirty="0"/>
              <a:t>What we will learn</a:t>
            </a:r>
          </a:p>
        </p:txBody>
      </p:sp>
      <p:pic>
        <p:nvPicPr>
          <p:cNvPr id="5" name="Picture Placeholder 4" descr="A person in blue shirt and glasses is sitting at a desk, writing in a book, surrounded by a lamp, pens, and books.&#10;&#10;AI-generated content may be incorrect.">
            <a:extLst>
              <a:ext uri="{FF2B5EF4-FFF2-40B4-BE49-F238E27FC236}">
                <a16:creationId xmlns:a16="http://schemas.microsoft.com/office/drawing/2014/main" id="{66B70241-9263-B1EB-3382-186EEB0D6B94}"/>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14678" r="14678"/>
          <a:stretch>
            <a:fillRect/>
          </a:stretch>
        </p:blipFill>
        <p:spPr>
          <a:xfrm>
            <a:off x="6982018" y="1885954"/>
            <a:ext cx="4973445" cy="3927077"/>
          </a:xfrm>
          <a:prstGeom prst="rect">
            <a:avLst/>
          </a:prstGeom>
        </p:spPr>
      </p:pic>
      <p:sp>
        <p:nvSpPr>
          <p:cNvPr id="13" name="Text Placeholder 3">
            <a:extLst>
              <a:ext uri="{FF2B5EF4-FFF2-40B4-BE49-F238E27FC236}">
                <a16:creationId xmlns:a16="http://schemas.microsoft.com/office/drawing/2014/main" id="{0AEDDE70-0281-A1E0-2167-65564DA92F37}"/>
              </a:ext>
            </a:extLst>
          </p:cNvPr>
          <p:cNvSpPr>
            <a:spLocks noGrp="1"/>
          </p:cNvSpPr>
          <p:nvPr>
            <p:ph type="body" sz="half" idx="2"/>
          </p:nvPr>
        </p:nvSpPr>
        <p:spPr>
          <a:xfrm>
            <a:off x="485775" y="1287494"/>
            <a:ext cx="6229350" cy="5309886"/>
          </a:xfrm>
        </p:spPr>
        <p:txBody>
          <a:bodyPr>
            <a:noAutofit/>
          </a:bodyPr>
          <a:lstStyle/>
          <a:p>
            <a:pPr marL="285750" indent="-285750">
              <a:buFont typeface="Arial" panose="020B0604020202020204" pitchFamily="34" charset="0"/>
              <a:buChar char="•"/>
            </a:pPr>
            <a:r>
              <a:rPr lang="en-US" sz="2400" dirty="0"/>
              <a:t>The mathematical challenges of next word prediction</a:t>
            </a:r>
          </a:p>
          <a:p>
            <a:endParaRPr lang="en-US" sz="2400" dirty="0"/>
          </a:p>
          <a:p>
            <a:pPr marL="285750" indent="-285750">
              <a:buFont typeface="Arial" panose="020B0604020202020204" pitchFamily="34" charset="0"/>
              <a:buChar char="•"/>
            </a:pPr>
            <a:r>
              <a:rPr lang="en-US" sz="2400" b="1" dirty="0"/>
              <a:t>The basic mathematical ideas behind Transformers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How Transformers predict words and sentences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 get comfortable at a high-level with how LLMs work at a mathematical level</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To lose your fear of the science of LLMs</a:t>
            </a:r>
          </a:p>
        </p:txBody>
      </p:sp>
      <p:sp>
        <p:nvSpPr>
          <p:cNvPr id="4" name="Slide Number Placeholder 3">
            <a:extLst>
              <a:ext uri="{FF2B5EF4-FFF2-40B4-BE49-F238E27FC236}">
                <a16:creationId xmlns:a16="http://schemas.microsoft.com/office/drawing/2014/main" id="{BFBF641A-DA20-2C5F-7698-9F50994021F5}"/>
              </a:ext>
            </a:extLst>
          </p:cNvPr>
          <p:cNvSpPr>
            <a:spLocks noGrp="1"/>
          </p:cNvSpPr>
          <p:nvPr>
            <p:ph type="sldNum" sz="quarter" idx="12"/>
          </p:nvPr>
        </p:nvSpPr>
        <p:spPr/>
        <p:txBody>
          <a:bodyPr/>
          <a:lstStyle/>
          <a:p>
            <a:fld id="{13DE89AE-BBCC-45F3-BDAA-E98C74995322}" type="slidenum">
              <a:rPr lang="en-GB" smtClean="0"/>
              <a:t>5</a:t>
            </a:fld>
            <a:endParaRPr lang="en-GB"/>
          </a:p>
        </p:txBody>
      </p:sp>
    </p:spTree>
    <p:extLst>
      <p:ext uri="{BB962C8B-B14F-4D97-AF65-F5344CB8AC3E}">
        <p14:creationId xmlns:p14="http://schemas.microsoft.com/office/powerpoint/2010/main" val="3523424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9859-AA23-BF9C-4EA8-B33E4FA98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A337C-CD3B-6AB7-DD7A-ACCBBF10D5E6}"/>
              </a:ext>
            </a:extLst>
          </p:cNvPr>
          <p:cNvSpPr>
            <a:spLocks noGrp="1"/>
          </p:cNvSpPr>
          <p:nvPr>
            <p:ph type="title"/>
          </p:nvPr>
        </p:nvSpPr>
        <p:spPr>
          <a:xfrm>
            <a:off x="775495" y="401185"/>
            <a:ext cx="3932237" cy="721519"/>
          </a:xfrm>
        </p:spPr>
        <p:txBody>
          <a:bodyPr anchor="b">
            <a:normAutofit fontScale="90000"/>
          </a:bodyPr>
          <a:lstStyle/>
          <a:p>
            <a:r>
              <a:rPr lang="en-GB" sz="3600" dirty="0"/>
              <a:t>What we will </a:t>
            </a:r>
            <a:r>
              <a:rPr lang="en-GB" sz="3600" b="1" dirty="0"/>
              <a:t>not</a:t>
            </a:r>
            <a:r>
              <a:rPr lang="en-GB" sz="3600" dirty="0"/>
              <a:t> learn</a:t>
            </a:r>
          </a:p>
        </p:txBody>
      </p:sp>
      <p:pic>
        <p:nvPicPr>
          <p:cNvPr id="5" name="Picture Placeholder 4" descr="A person in blue shirt and glasses is sitting at a desk, writing in a book, surrounded by a lamp, pens, and books.&#10;&#10;AI-generated content may be incorrect.">
            <a:extLst>
              <a:ext uri="{FF2B5EF4-FFF2-40B4-BE49-F238E27FC236}">
                <a16:creationId xmlns:a16="http://schemas.microsoft.com/office/drawing/2014/main" id="{3D77B82E-B245-6BFF-672D-A6CFBDA22EEE}"/>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14678" r="14678"/>
          <a:stretch>
            <a:fillRect/>
          </a:stretch>
        </p:blipFill>
        <p:spPr>
          <a:xfrm>
            <a:off x="6982018" y="1885954"/>
            <a:ext cx="4973445" cy="3927077"/>
          </a:xfrm>
          <a:prstGeom prst="rect">
            <a:avLst/>
          </a:prstGeom>
        </p:spPr>
      </p:pic>
      <p:sp>
        <p:nvSpPr>
          <p:cNvPr id="13" name="Text Placeholder 3">
            <a:extLst>
              <a:ext uri="{FF2B5EF4-FFF2-40B4-BE49-F238E27FC236}">
                <a16:creationId xmlns:a16="http://schemas.microsoft.com/office/drawing/2014/main" id="{2213EB07-7642-6EDC-3D0D-5B41E73D6D75}"/>
              </a:ext>
            </a:extLst>
          </p:cNvPr>
          <p:cNvSpPr>
            <a:spLocks noGrp="1"/>
          </p:cNvSpPr>
          <p:nvPr>
            <p:ph type="body" sz="half" idx="2"/>
          </p:nvPr>
        </p:nvSpPr>
        <p:spPr>
          <a:xfrm>
            <a:off x="681349" y="1667997"/>
            <a:ext cx="6229350" cy="4140123"/>
          </a:xfrm>
        </p:spPr>
        <p:txBody>
          <a:bodyPr>
            <a:noAutofit/>
          </a:bodyPr>
          <a:lstStyle/>
          <a:p>
            <a:pPr marL="285750" indent="-285750">
              <a:buFont typeface="Arial" panose="020B0604020202020204" pitchFamily="34" charset="0"/>
              <a:buChar char="•"/>
            </a:pPr>
            <a:r>
              <a:rPr lang="en-US" sz="2400" dirty="0"/>
              <a:t>How to train foundational models</a:t>
            </a:r>
          </a:p>
          <a:p>
            <a:endParaRPr lang="en-US" sz="2400" dirty="0"/>
          </a:p>
          <a:p>
            <a:pPr marL="285750" indent="-285750">
              <a:buFont typeface="Arial" panose="020B0604020202020204" pitchFamily="34" charset="0"/>
              <a:buChar char="•"/>
            </a:pPr>
            <a:r>
              <a:rPr lang="en-US" sz="2400" dirty="0"/>
              <a:t>How to build transformer-based chatbots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How to prompt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Agentic AI</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How to make $$$Millions from AI</a:t>
            </a:r>
          </a:p>
        </p:txBody>
      </p:sp>
      <p:sp>
        <p:nvSpPr>
          <p:cNvPr id="4" name="Slide Number Placeholder 3">
            <a:extLst>
              <a:ext uri="{FF2B5EF4-FFF2-40B4-BE49-F238E27FC236}">
                <a16:creationId xmlns:a16="http://schemas.microsoft.com/office/drawing/2014/main" id="{726A7E04-31F1-9F3F-3BBB-90CC954F45DC}"/>
              </a:ext>
            </a:extLst>
          </p:cNvPr>
          <p:cNvSpPr>
            <a:spLocks noGrp="1"/>
          </p:cNvSpPr>
          <p:nvPr>
            <p:ph type="sldNum" sz="quarter" idx="12"/>
          </p:nvPr>
        </p:nvSpPr>
        <p:spPr/>
        <p:txBody>
          <a:bodyPr/>
          <a:lstStyle/>
          <a:p>
            <a:fld id="{13DE89AE-BBCC-45F3-BDAA-E98C74995322}" type="slidenum">
              <a:rPr lang="en-GB" smtClean="0"/>
              <a:t>6</a:t>
            </a:fld>
            <a:endParaRPr lang="en-GB"/>
          </a:p>
        </p:txBody>
      </p:sp>
      <p:pic>
        <p:nvPicPr>
          <p:cNvPr id="6" name="Graphic 5" descr="No sign with solid fill">
            <a:extLst>
              <a:ext uri="{FF2B5EF4-FFF2-40B4-BE49-F238E27FC236}">
                <a16:creationId xmlns:a16="http://schemas.microsoft.com/office/drawing/2014/main" id="{B92F16EA-DA95-E3E4-D87F-248CA54748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83574" y="1881043"/>
            <a:ext cx="3927077" cy="3927077"/>
          </a:xfrm>
          <a:prstGeom prst="rect">
            <a:avLst/>
          </a:prstGeom>
        </p:spPr>
      </p:pic>
    </p:spTree>
    <p:extLst>
      <p:ext uri="{BB962C8B-B14F-4D97-AF65-F5344CB8AC3E}">
        <p14:creationId xmlns:p14="http://schemas.microsoft.com/office/powerpoint/2010/main" val="190238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FAA0-E0DA-005C-3FC1-57E1802D0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01EA5-8633-D2AB-C863-EC6FADB74DF0}"/>
              </a:ext>
            </a:extLst>
          </p:cNvPr>
          <p:cNvSpPr>
            <a:spLocks noGrp="1"/>
          </p:cNvSpPr>
          <p:nvPr>
            <p:ph type="title"/>
          </p:nvPr>
        </p:nvSpPr>
        <p:spPr>
          <a:xfrm>
            <a:off x="775495" y="401185"/>
            <a:ext cx="4555041" cy="721519"/>
          </a:xfrm>
        </p:spPr>
        <p:txBody>
          <a:bodyPr anchor="b">
            <a:normAutofit fontScale="90000"/>
          </a:bodyPr>
          <a:lstStyle/>
          <a:p>
            <a:r>
              <a:rPr lang="en-GB" sz="3600" dirty="0"/>
              <a:t>What I assume you know</a:t>
            </a:r>
          </a:p>
        </p:txBody>
      </p:sp>
      <p:sp>
        <p:nvSpPr>
          <p:cNvPr id="13" name="Text Placeholder 3">
            <a:extLst>
              <a:ext uri="{FF2B5EF4-FFF2-40B4-BE49-F238E27FC236}">
                <a16:creationId xmlns:a16="http://schemas.microsoft.com/office/drawing/2014/main" id="{F84556CF-8D72-8E2D-ECF9-9B34FF9D057C}"/>
              </a:ext>
            </a:extLst>
          </p:cNvPr>
          <p:cNvSpPr>
            <a:spLocks noGrp="1"/>
          </p:cNvSpPr>
          <p:nvPr>
            <p:ph type="body" sz="half" idx="2"/>
          </p:nvPr>
        </p:nvSpPr>
        <p:spPr>
          <a:xfrm>
            <a:off x="480579" y="1994073"/>
            <a:ext cx="6229350" cy="3461151"/>
          </a:xfrm>
        </p:spPr>
        <p:txBody>
          <a:bodyPr>
            <a:noAutofit/>
          </a:bodyPr>
          <a:lstStyle/>
          <a:p>
            <a:endParaRPr lang="en-US" sz="2400" dirty="0"/>
          </a:p>
          <a:p>
            <a:pPr marL="285750" indent="-285750">
              <a:buFont typeface="Arial" panose="020B0604020202020204" pitchFamily="34" charset="0"/>
              <a:buChar char="•"/>
            </a:pPr>
            <a:r>
              <a:rPr lang="en-US" sz="2400" dirty="0"/>
              <a:t>Basic linear algebra, e.g. matrix multiplication as a transformation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Basic machine learning, e.g. training a model by minimizing a loss function</a:t>
            </a:r>
          </a:p>
        </p:txBody>
      </p:sp>
      <p:sp>
        <p:nvSpPr>
          <p:cNvPr id="4" name="Slide Number Placeholder 3">
            <a:extLst>
              <a:ext uri="{FF2B5EF4-FFF2-40B4-BE49-F238E27FC236}">
                <a16:creationId xmlns:a16="http://schemas.microsoft.com/office/drawing/2014/main" id="{5EF4A8E9-C286-F811-A107-5A124710D6FA}"/>
              </a:ext>
            </a:extLst>
          </p:cNvPr>
          <p:cNvSpPr>
            <a:spLocks noGrp="1"/>
          </p:cNvSpPr>
          <p:nvPr>
            <p:ph type="sldNum" sz="quarter" idx="12"/>
          </p:nvPr>
        </p:nvSpPr>
        <p:spPr/>
        <p:txBody>
          <a:bodyPr/>
          <a:lstStyle/>
          <a:p>
            <a:fld id="{13DE89AE-BBCC-45F3-BDAA-E98C74995322}" type="slidenum">
              <a:rPr lang="en-GB" smtClean="0"/>
              <a:t>7</a:t>
            </a:fld>
            <a:endParaRPr lang="en-GB"/>
          </a:p>
        </p:txBody>
      </p:sp>
      <p:pic>
        <p:nvPicPr>
          <p:cNvPr id="8" name="Picture 7" descr="A scientist is examining a human brain model, symbolizing the study of human anatomy and neurology.&#10;&#10;AI-generated content may be incorrect.">
            <a:extLst>
              <a:ext uri="{FF2B5EF4-FFF2-40B4-BE49-F238E27FC236}">
                <a16:creationId xmlns:a16="http://schemas.microsoft.com/office/drawing/2014/main" id="{1B77BD70-CB56-1D23-AD62-C9A4C2EFE4E3}"/>
              </a:ext>
            </a:extLst>
          </p:cNvPr>
          <p:cNvPicPr>
            <a:picLocks noChangeAspect="1"/>
          </p:cNvPicPr>
          <p:nvPr/>
        </p:nvPicPr>
        <p:blipFill>
          <a:blip r:embed="rId3">
            <a:extLst>
              <a:ext uri="{28A0092B-C50C-407E-A947-70E740481C1C}">
                <a14:useLocalDpi xmlns:a14="http://schemas.microsoft.com/office/drawing/2010/main" val="0"/>
              </a:ext>
            </a:extLst>
          </a:blip>
          <a:srcRect l="9258" t="11742" r="10725"/>
          <a:stretch>
            <a:fillRect/>
          </a:stretch>
        </p:blipFill>
        <p:spPr>
          <a:xfrm>
            <a:off x="6640209" y="1527457"/>
            <a:ext cx="5040907" cy="3974523"/>
          </a:xfrm>
          <a:prstGeom prst="rect">
            <a:avLst/>
          </a:prstGeom>
        </p:spPr>
      </p:pic>
    </p:spTree>
    <p:extLst>
      <p:ext uri="{BB962C8B-B14F-4D97-AF65-F5344CB8AC3E}">
        <p14:creationId xmlns:p14="http://schemas.microsoft.com/office/powerpoint/2010/main" val="375669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DCB66-17A2-F829-5204-0DED220DB14E}"/>
              </a:ext>
            </a:extLst>
          </p:cNvPr>
          <p:cNvSpPr>
            <a:spLocks noGrp="1"/>
          </p:cNvSpPr>
          <p:nvPr>
            <p:ph type="title"/>
          </p:nvPr>
        </p:nvSpPr>
        <p:spPr/>
        <p:txBody>
          <a:bodyPr/>
          <a:lstStyle/>
          <a:p>
            <a:r>
              <a:rPr lang="en-GB" dirty="0">
                <a:solidFill>
                  <a:schemeClr val="bg1"/>
                </a:solidFill>
              </a:rPr>
              <a:t>Predicting the next word</a:t>
            </a:r>
          </a:p>
        </p:txBody>
      </p:sp>
      <p:sp>
        <p:nvSpPr>
          <p:cNvPr id="3" name="Text Placeholder 2">
            <a:extLst>
              <a:ext uri="{FF2B5EF4-FFF2-40B4-BE49-F238E27FC236}">
                <a16:creationId xmlns:a16="http://schemas.microsoft.com/office/drawing/2014/main" id="{4CB22EDC-8FE4-4D00-DB20-BA483B37BF4C}"/>
              </a:ext>
            </a:extLst>
          </p:cNvPr>
          <p:cNvSpPr>
            <a:spLocks noGrp="1"/>
          </p:cNvSpPr>
          <p:nvPr>
            <p:ph type="body" idx="1"/>
          </p:nvPr>
        </p:nvSpPr>
        <p:spPr/>
        <p:txBody>
          <a:bodyPr/>
          <a:lstStyle/>
          <a:p>
            <a:r>
              <a:rPr lang="en-GB" dirty="0">
                <a:solidFill>
                  <a:schemeClr val="bg1"/>
                </a:solidFill>
              </a:rPr>
              <a:t>What this enables, tokens and sequences</a:t>
            </a:r>
          </a:p>
        </p:txBody>
      </p:sp>
      <p:sp>
        <p:nvSpPr>
          <p:cNvPr id="4" name="Slide Number Placeholder 3">
            <a:extLst>
              <a:ext uri="{FF2B5EF4-FFF2-40B4-BE49-F238E27FC236}">
                <a16:creationId xmlns:a16="http://schemas.microsoft.com/office/drawing/2014/main" id="{1C0E734C-79B7-596C-4875-7B73AFC98242}"/>
              </a:ext>
            </a:extLst>
          </p:cNvPr>
          <p:cNvSpPr>
            <a:spLocks noGrp="1"/>
          </p:cNvSpPr>
          <p:nvPr>
            <p:ph type="sldNum" sz="quarter" idx="12"/>
          </p:nvPr>
        </p:nvSpPr>
        <p:spPr/>
        <p:txBody>
          <a:bodyPr/>
          <a:lstStyle/>
          <a:p>
            <a:fld id="{13DE89AE-BBCC-45F3-BDAA-E98C74995322}" type="slidenum">
              <a:rPr lang="en-GB" smtClean="0"/>
              <a:t>8</a:t>
            </a:fld>
            <a:endParaRPr lang="en-GB"/>
          </a:p>
        </p:txBody>
      </p:sp>
    </p:spTree>
    <p:extLst>
      <p:ext uri="{BB962C8B-B14F-4D97-AF65-F5344CB8AC3E}">
        <p14:creationId xmlns:p14="http://schemas.microsoft.com/office/powerpoint/2010/main" val="3670915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9B3A-F8A5-2601-CCEF-E2628AF0F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3F27F-BA2C-B3AF-8BAB-C8EBD581907F}"/>
              </a:ext>
            </a:extLst>
          </p:cNvPr>
          <p:cNvSpPr>
            <a:spLocks noGrp="1"/>
          </p:cNvSpPr>
          <p:nvPr>
            <p:ph type="title"/>
          </p:nvPr>
        </p:nvSpPr>
        <p:spPr/>
        <p:txBody>
          <a:bodyPr/>
          <a:lstStyle/>
          <a:p>
            <a:r>
              <a:rPr lang="en-GB" dirty="0"/>
              <a:t>Predicting the next word</a:t>
            </a:r>
          </a:p>
        </p:txBody>
      </p:sp>
      <p:sp>
        <p:nvSpPr>
          <p:cNvPr id="3" name="Content Placeholder 2">
            <a:extLst>
              <a:ext uri="{FF2B5EF4-FFF2-40B4-BE49-F238E27FC236}">
                <a16:creationId xmlns:a16="http://schemas.microsoft.com/office/drawing/2014/main" id="{8177C350-311A-B1DF-5CF3-63393494C3F9}"/>
              </a:ext>
            </a:extLst>
          </p:cNvPr>
          <p:cNvSpPr>
            <a:spLocks noGrp="1"/>
          </p:cNvSpPr>
          <p:nvPr>
            <p:ph idx="1"/>
          </p:nvPr>
        </p:nvSpPr>
        <p:spPr/>
        <p:txBody>
          <a:bodyPr/>
          <a:lstStyle/>
          <a:p>
            <a:r>
              <a:rPr lang="en-GB" dirty="0"/>
              <a:t>What are we trying to achieve?</a:t>
            </a:r>
          </a:p>
          <a:p>
            <a:pPr lvl="1"/>
            <a:endParaRPr lang="en-GB" dirty="0"/>
          </a:p>
          <a:p>
            <a:pPr lvl="1"/>
            <a:r>
              <a:rPr lang="en-GB" dirty="0"/>
              <a:t>The cat sat on …….</a:t>
            </a:r>
            <a:endParaRPr lang="en-GB" dirty="0">
              <a:solidFill>
                <a:srgbClr val="00B0F0"/>
              </a:solidFill>
            </a:endParaRPr>
          </a:p>
          <a:p>
            <a:pPr marL="457200" lvl="1" indent="0">
              <a:buNone/>
            </a:pPr>
            <a:endParaRPr lang="en-GB" dirty="0"/>
          </a:p>
        </p:txBody>
      </p:sp>
      <p:sp>
        <p:nvSpPr>
          <p:cNvPr id="4" name="Slide Number Placeholder 3">
            <a:extLst>
              <a:ext uri="{FF2B5EF4-FFF2-40B4-BE49-F238E27FC236}">
                <a16:creationId xmlns:a16="http://schemas.microsoft.com/office/drawing/2014/main" id="{6E0AC6C3-B35E-DC76-E130-7F73A305E4DB}"/>
              </a:ext>
            </a:extLst>
          </p:cNvPr>
          <p:cNvSpPr>
            <a:spLocks noGrp="1"/>
          </p:cNvSpPr>
          <p:nvPr>
            <p:ph type="sldNum" sz="quarter" idx="12"/>
          </p:nvPr>
        </p:nvSpPr>
        <p:spPr/>
        <p:txBody>
          <a:bodyPr/>
          <a:lstStyle/>
          <a:p>
            <a:fld id="{13DE89AE-BBCC-45F3-BDAA-E98C74995322}" type="slidenum">
              <a:rPr lang="en-GB" smtClean="0"/>
              <a:t>9</a:t>
            </a:fld>
            <a:endParaRPr lang="en-GB"/>
          </a:p>
        </p:txBody>
      </p:sp>
    </p:spTree>
    <p:extLst>
      <p:ext uri="{BB962C8B-B14F-4D97-AF65-F5344CB8AC3E}">
        <p14:creationId xmlns:p14="http://schemas.microsoft.com/office/powerpoint/2010/main" val="3704860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C6AED-DF2A-8CD3-2A76-2FED5A854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79E59-7440-3FC4-6667-ABA8508626BA}"/>
              </a:ext>
            </a:extLst>
          </p:cNvPr>
          <p:cNvSpPr>
            <a:spLocks noGrp="1"/>
          </p:cNvSpPr>
          <p:nvPr>
            <p:ph type="title"/>
          </p:nvPr>
        </p:nvSpPr>
        <p:spPr/>
        <p:txBody>
          <a:bodyPr/>
          <a:lstStyle/>
          <a:p>
            <a:r>
              <a:rPr lang="en-GB" dirty="0"/>
              <a:t>Predicting the next word</a:t>
            </a:r>
          </a:p>
        </p:txBody>
      </p:sp>
      <p:sp>
        <p:nvSpPr>
          <p:cNvPr id="3" name="Content Placeholder 2">
            <a:extLst>
              <a:ext uri="{FF2B5EF4-FFF2-40B4-BE49-F238E27FC236}">
                <a16:creationId xmlns:a16="http://schemas.microsoft.com/office/drawing/2014/main" id="{09D6D4D1-A89F-2E37-2AF8-04261A995C7D}"/>
              </a:ext>
            </a:extLst>
          </p:cNvPr>
          <p:cNvSpPr>
            <a:spLocks noGrp="1"/>
          </p:cNvSpPr>
          <p:nvPr>
            <p:ph idx="1"/>
          </p:nvPr>
        </p:nvSpPr>
        <p:spPr/>
        <p:txBody>
          <a:bodyPr/>
          <a:lstStyle/>
          <a:p>
            <a:r>
              <a:rPr lang="en-GB" dirty="0"/>
              <a:t>What are we trying to achieve?</a:t>
            </a:r>
          </a:p>
          <a:p>
            <a:pPr lvl="1"/>
            <a:endParaRPr lang="en-GB" dirty="0"/>
          </a:p>
          <a:p>
            <a:pPr lvl="1"/>
            <a:r>
              <a:rPr lang="en-GB" dirty="0"/>
              <a:t>The cat sat on </a:t>
            </a:r>
            <a:r>
              <a:rPr lang="en-GB" dirty="0">
                <a:solidFill>
                  <a:schemeClr val="accent1">
                    <a:lumMod val="60000"/>
                    <a:lumOff val="40000"/>
                  </a:schemeClr>
                </a:solidFill>
              </a:rPr>
              <a:t>the</a:t>
            </a:r>
          </a:p>
          <a:p>
            <a:pPr lvl="1"/>
            <a:endParaRPr lang="en-GB" dirty="0">
              <a:solidFill>
                <a:srgbClr val="00B0F0"/>
              </a:solidFill>
            </a:endParaRPr>
          </a:p>
          <a:p>
            <a:pPr lvl="1"/>
            <a:r>
              <a:rPr lang="en-GB" dirty="0"/>
              <a:t>The cat sat on the </a:t>
            </a:r>
            <a:r>
              <a:rPr lang="en-GB" dirty="0">
                <a:solidFill>
                  <a:schemeClr val="accent1">
                    <a:lumMod val="60000"/>
                    <a:lumOff val="40000"/>
                  </a:schemeClr>
                </a:solidFill>
              </a:rPr>
              <a:t>mat</a:t>
            </a:r>
          </a:p>
          <a:p>
            <a:pPr marL="457200" lvl="1" indent="0">
              <a:buNone/>
            </a:pPr>
            <a:endParaRPr lang="en-GB" dirty="0"/>
          </a:p>
          <a:p>
            <a:pPr marL="457200" lvl="1" indent="0">
              <a:buNone/>
            </a:pPr>
            <a:endParaRPr lang="en-GB" dirty="0"/>
          </a:p>
        </p:txBody>
      </p:sp>
      <p:sp>
        <p:nvSpPr>
          <p:cNvPr id="4" name="Slide Number Placeholder 3">
            <a:extLst>
              <a:ext uri="{FF2B5EF4-FFF2-40B4-BE49-F238E27FC236}">
                <a16:creationId xmlns:a16="http://schemas.microsoft.com/office/drawing/2014/main" id="{510A4387-8476-EA3D-D4CB-F10141E682FF}"/>
              </a:ext>
            </a:extLst>
          </p:cNvPr>
          <p:cNvSpPr>
            <a:spLocks noGrp="1"/>
          </p:cNvSpPr>
          <p:nvPr>
            <p:ph type="sldNum" sz="quarter" idx="12"/>
          </p:nvPr>
        </p:nvSpPr>
        <p:spPr/>
        <p:txBody>
          <a:bodyPr/>
          <a:lstStyle/>
          <a:p>
            <a:fld id="{13DE89AE-BBCC-45F3-BDAA-E98C74995322}" type="slidenum">
              <a:rPr lang="en-GB" smtClean="0"/>
              <a:t>10</a:t>
            </a:fld>
            <a:endParaRPr lang="en-GB"/>
          </a:p>
        </p:txBody>
      </p:sp>
    </p:spTree>
    <p:extLst>
      <p:ext uri="{BB962C8B-B14F-4D97-AF65-F5344CB8AC3E}">
        <p14:creationId xmlns:p14="http://schemas.microsoft.com/office/powerpoint/2010/main" val="923548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240D7-457B-CFEE-4ADA-45DD79FC7952}"/>
              </a:ext>
            </a:extLst>
          </p:cNvPr>
          <p:cNvSpPr>
            <a:spLocks noGrp="1"/>
          </p:cNvSpPr>
          <p:nvPr>
            <p:ph type="title"/>
          </p:nvPr>
        </p:nvSpPr>
        <p:spPr>
          <a:xfrm>
            <a:off x="838200" y="365126"/>
            <a:ext cx="10515600" cy="849984"/>
          </a:xfrm>
        </p:spPr>
        <p:txBody>
          <a:bodyPr/>
          <a:lstStyle/>
          <a:p>
            <a:r>
              <a:rPr lang="en-GB" dirty="0"/>
              <a:t>Words as tokens</a:t>
            </a:r>
          </a:p>
        </p:txBody>
      </p:sp>
      <p:sp>
        <p:nvSpPr>
          <p:cNvPr id="3" name="Content Placeholder 2">
            <a:extLst>
              <a:ext uri="{FF2B5EF4-FFF2-40B4-BE49-F238E27FC236}">
                <a16:creationId xmlns:a16="http://schemas.microsoft.com/office/drawing/2014/main" id="{4FF8B700-2D52-D975-F29C-983F709147A6}"/>
              </a:ext>
            </a:extLst>
          </p:cNvPr>
          <p:cNvSpPr>
            <a:spLocks noGrp="1"/>
          </p:cNvSpPr>
          <p:nvPr>
            <p:ph idx="1"/>
          </p:nvPr>
        </p:nvSpPr>
        <p:spPr>
          <a:xfrm>
            <a:off x="417310" y="1215110"/>
            <a:ext cx="11457616" cy="5277763"/>
          </a:xfrm>
        </p:spPr>
        <p:txBody>
          <a:bodyPr>
            <a:normAutofit/>
          </a:bodyPr>
          <a:lstStyle/>
          <a:p>
            <a:r>
              <a:rPr lang="en-GB" dirty="0"/>
              <a:t>Words are the natural units of a sentence.</a:t>
            </a:r>
          </a:p>
          <a:p>
            <a:pPr marL="0" indent="0">
              <a:buNone/>
            </a:pPr>
            <a:endParaRPr lang="en-GB" dirty="0">
              <a:sym typeface="Symbol" panose="05050102010706020507" pitchFamily="18" charset="2"/>
            </a:endParaRPr>
          </a:p>
          <a:p>
            <a:r>
              <a:rPr lang="en-GB" dirty="0"/>
              <a:t>We call these units “tokens”</a:t>
            </a:r>
          </a:p>
          <a:p>
            <a:endParaRPr lang="en-GB" dirty="0"/>
          </a:p>
          <a:p>
            <a:r>
              <a:rPr lang="en-GB" dirty="0"/>
              <a:t>Our modelling challenge is “predict the next token in given the preceding sequence of tokens”</a:t>
            </a:r>
          </a:p>
          <a:p>
            <a:endParaRPr lang="en-GB" dirty="0"/>
          </a:p>
          <a:p>
            <a:r>
              <a:rPr lang="en-GB" dirty="0"/>
              <a:t>Tokens don’t have to be complete words:</a:t>
            </a:r>
          </a:p>
          <a:p>
            <a:pPr marL="457200" lvl="1" indent="0">
              <a:buNone/>
            </a:pPr>
            <a:r>
              <a:rPr lang="en-GB" dirty="0"/>
              <a:t>quick brown fox jumped over </a:t>
            </a:r>
            <a:r>
              <a:rPr lang="en-GB" dirty="0">
                <a:sym typeface="Symbol" panose="05050102010706020507" pitchFamily="18" charset="2"/>
              </a:rPr>
              <a:t> [quick, brown, fox, jump, ed, over]</a:t>
            </a:r>
            <a:endParaRPr lang="en-GB" dirty="0"/>
          </a:p>
          <a:p>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909C9E75-1B60-ABF5-3C70-5C7F6CD74E74}"/>
              </a:ext>
            </a:extLst>
          </p:cNvPr>
          <p:cNvSpPr>
            <a:spLocks noGrp="1"/>
          </p:cNvSpPr>
          <p:nvPr>
            <p:ph type="sldNum" sz="quarter" idx="12"/>
          </p:nvPr>
        </p:nvSpPr>
        <p:spPr/>
        <p:txBody>
          <a:bodyPr/>
          <a:lstStyle/>
          <a:p>
            <a:fld id="{13DE89AE-BBCC-45F3-BDAA-E98C74995322}" type="slidenum">
              <a:rPr lang="en-GB" smtClean="0"/>
              <a:t>11</a:t>
            </a:fld>
            <a:endParaRPr lang="en-GB"/>
          </a:p>
        </p:txBody>
      </p:sp>
    </p:spTree>
    <p:extLst>
      <p:ext uri="{BB962C8B-B14F-4D97-AF65-F5344CB8AC3E}">
        <p14:creationId xmlns:p14="http://schemas.microsoft.com/office/powerpoint/2010/main" val="335115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B7580-031E-1A9C-6A6B-9C45FA835EE0}"/>
              </a:ext>
            </a:extLst>
          </p:cNvPr>
          <p:cNvSpPr>
            <a:spLocks noGrp="1"/>
          </p:cNvSpPr>
          <p:nvPr>
            <p:ph type="title"/>
          </p:nvPr>
        </p:nvSpPr>
        <p:spPr>
          <a:xfrm>
            <a:off x="838200" y="365125"/>
            <a:ext cx="10515600" cy="504887"/>
          </a:xfrm>
        </p:spPr>
        <p:txBody>
          <a:bodyPr>
            <a:normAutofit fontScale="90000"/>
          </a:bodyPr>
          <a:lstStyle/>
          <a:p>
            <a:r>
              <a:rPr lang="en-GB" dirty="0"/>
              <a:t>Sequences</a:t>
            </a:r>
          </a:p>
        </p:txBody>
      </p:sp>
      <p:sp>
        <p:nvSpPr>
          <p:cNvPr id="3" name="Content Placeholder 2">
            <a:extLst>
              <a:ext uri="{FF2B5EF4-FFF2-40B4-BE49-F238E27FC236}">
                <a16:creationId xmlns:a16="http://schemas.microsoft.com/office/drawing/2014/main" id="{6259E68D-884C-331A-8C08-E0AC55837A81}"/>
              </a:ext>
            </a:extLst>
          </p:cNvPr>
          <p:cNvSpPr>
            <a:spLocks noGrp="1"/>
          </p:cNvSpPr>
          <p:nvPr>
            <p:ph idx="1"/>
          </p:nvPr>
        </p:nvSpPr>
        <p:spPr>
          <a:xfrm>
            <a:off x="282299" y="1253331"/>
            <a:ext cx="11813556" cy="5411356"/>
          </a:xfrm>
        </p:spPr>
        <p:txBody>
          <a:bodyPr/>
          <a:lstStyle/>
          <a:p>
            <a:r>
              <a:rPr lang="en-GB" dirty="0"/>
              <a:t>We find sequences of tokens everywhere, not just in language</a:t>
            </a:r>
          </a:p>
          <a:p>
            <a:pPr marL="0" indent="0">
              <a:buNone/>
            </a:pPr>
            <a:endParaRPr lang="en-GB" dirty="0"/>
          </a:p>
          <a:p>
            <a:r>
              <a:rPr lang="en-GB" dirty="0"/>
              <a:t>Sequence can be structured code, including tool calls</a:t>
            </a:r>
          </a:p>
          <a:p>
            <a:pPr marL="0" indent="0">
              <a:buNone/>
            </a:pPr>
            <a:r>
              <a:rPr lang="en-GB" sz="2000" dirty="0">
                <a:latin typeface="Courier New" panose="02070309020205020404" pitchFamily="49" charset="0"/>
                <a:cs typeface="Courier New" panose="02070309020205020404" pitchFamily="49" charset="0"/>
              </a:rPr>
              <a:t>	</a:t>
            </a:r>
            <a:r>
              <a:rPr lang="en-GB" sz="2000" dirty="0">
                <a:latin typeface="Consolas" panose="020B0609020204030204" pitchFamily="49" charset="0"/>
                <a:cs typeface="Courier New" panose="02070309020205020404" pitchFamily="49" charset="0"/>
              </a:rPr>
              <a:t>{“</a:t>
            </a:r>
            <a:r>
              <a:rPr lang="en-GB" sz="2000" dirty="0" err="1">
                <a:latin typeface="Consolas" panose="020B0609020204030204" pitchFamily="49" charset="0"/>
                <a:cs typeface="Courier New" panose="02070309020205020404" pitchFamily="49" charset="0"/>
              </a:rPr>
              <a:t>tool_call</a:t>
            </a:r>
            <a:r>
              <a:rPr lang="en-GB" sz="2000" dirty="0">
                <a:latin typeface="Consolas" panose="020B0609020204030204" pitchFamily="49" charset="0"/>
                <a:cs typeface="Courier New" panose="02070309020205020404" pitchFamily="49" charset="0"/>
              </a:rPr>
              <a:t>”:{ “</a:t>
            </a:r>
            <a:r>
              <a:rPr lang="en-GB" sz="2000" dirty="0" err="1">
                <a:latin typeface="Consolas" panose="020B0609020204030204" pitchFamily="49" charset="0"/>
                <a:cs typeface="Courier New" panose="02070309020205020404" pitchFamily="49" charset="0"/>
              </a:rPr>
              <a:t>tool_name</a:t>
            </a:r>
            <a:r>
              <a:rPr lang="en-GB" sz="2000" dirty="0">
                <a:latin typeface="Consolas" panose="020B0609020204030204" pitchFamily="49" charset="0"/>
                <a:cs typeface="Courier New" panose="02070309020205020404" pitchFamily="49" charset="0"/>
              </a:rPr>
              <a:t>”: “</a:t>
            </a:r>
            <a:r>
              <a:rPr lang="en-GB" sz="2000" dirty="0" err="1">
                <a:latin typeface="Consolas" panose="020B0609020204030204" pitchFamily="49" charset="0"/>
                <a:cs typeface="Courier New" panose="02070309020205020404" pitchFamily="49" charset="0"/>
              </a:rPr>
              <a:t>flight_booking_api</a:t>
            </a:r>
            <a:r>
              <a:rPr lang="en-GB" sz="2000" dirty="0">
                <a:latin typeface="Consolas" panose="020B0609020204030204" pitchFamily="49" charset="0"/>
                <a:cs typeface="Courier New" panose="02070309020205020404" pitchFamily="49" charset="0"/>
              </a:rPr>
              <a:t>”, “arguments”: { 				“destination”: “LHR”, “</a:t>
            </a:r>
            <a:r>
              <a:rPr lang="en-GB" sz="2000" dirty="0" err="1">
                <a:latin typeface="Consolas" panose="020B0609020204030204" pitchFamily="49" charset="0"/>
                <a:cs typeface="Courier New" panose="02070309020205020404" pitchFamily="49" charset="0"/>
              </a:rPr>
              <a:t>max_price</a:t>
            </a:r>
            <a:r>
              <a:rPr lang="en-GB" sz="2000" dirty="0">
                <a:latin typeface="Consolas" panose="020B0609020204030204" pitchFamily="49" charset="0"/>
                <a:cs typeface="Courier New" panose="02070309020205020404" pitchFamily="49" charset="0"/>
              </a:rPr>
              <a:t>”: 400, “</a:t>
            </a:r>
            <a:r>
              <a:rPr lang="en-GB" sz="2000" dirty="0" err="1">
                <a:latin typeface="Consolas" panose="020B0609020204030204" pitchFamily="49" charset="0"/>
                <a:cs typeface="Courier New" panose="02070309020205020404" pitchFamily="49" charset="0"/>
              </a:rPr>
              <a:t>seat_preference</a:t>
            </a:r>
            <a:r>
              <a:rPr lang="en-GB" sz="2000" dirty="0">
                <a:latin typeface="Consolas" panose="020B0609020204030204" pitchFamily="49" charset="0"/>
                <a:cs typeface="Courier New" panose="02070309020205020404" pitchFamily="49" charset="0"/>
              </a:rPr>
              <a:t>”: “window”}</a:t>
            </a:r>
          </a:p>
          <a:p>
            <a:pPr marL="0" indent="0">
              <a:buNone/>
            </a:pPr>
            <a:r>
              <a:rPr lang="en-GB" sz="2000" dirty="0">
                <a:latin typeface="Consolas" panose="020B0609020204030204" pitchFamily="49" charset="0"/>
                <a:cs typeface="Courier New" panose="02070309020205020404" pitchFamily="49" charset="0"/>
              </a:rPr>
              <a:t>		...}</a:t>
            </a:r>
          </a:p>
          <a:p>
            <a:pPr marL="0" indent="0">
              <a:buNone/>
            </a:pPr>
            <a:endParaRPr lang="en-GB" sz="2000" dirty="0">
              <a:latin typeface="Consolas" panose="020B0609020204030204" pitchFamily="49" charset="0"/>
              <a:cs typeface="Courier New" panose="02070309020205020404" pitchFamily="49" charset="0"/>
            </a:endParaRPr>
          </a:p>
          <a:p>
            <a:r>
              <a:rPr lang="en-GB" dirty="0">
                <a:cs typeface="Courier New" panose="02070309020205020404" pitchFamily="49" charset="0"/>
              </a:rPr>
              <a:t>Agentic AI:</a:t>
            </a:r>
          </a:p>
          <a:p>
            <a:endParaRPr lang="en-GB" dirty="0">
              <a:cs typeface="Courier New" panose="02070309020205020404" pitchFamily="49" charset="0"/>
            </a:endParaRPr>
          </a:p>
          <a:p>
            <a:pPr marL="0" indent="0">
              <a:buNone/>
            </a:pPr>
            <a:r>
              <a:rPr lang="en-GB" dirty="0">
                <a:cs typeface="Courier New" panose="02070309020205020404" pitchFamily="49" charset="0"/>
              </a:rPr>
              <a:t>	Pre-trained model  </a:t>
            </a:r>
            <a:r>
              <a:rPr lang="en-GB" dirty="0">
                <a:cs typeface="Courier New" panose="02070309020205020404" pitchFamily="49" charset="0"/>
                <a:sym typeface="Symbol" panose="05050102010706020507" pitchFamily="18" charset="2"/>
              </a:rPr>
              <a:t>  Instruction following model    Agent</a:t>
            </a:r>
            <a:endParaRPr lang="en-GB" dirty="0">
              <a:cs typeface="Courier New" panose="02070309020205020404" pitchFamily="49" charset="0"/>
            </a:endParaRPr>
          </a:p>
          <a:p>
            <a:pPr marL="0" indent="0">
              <a:buNone/>
            </a:pPr>
            <a:endParaRPr lang="en-GB" sz="2000" dirty="0">
              <a:latin typeface="Consolas" panose="020B0609020204030204" pitchFamily="49" charset="0"/>
              <a:cs typeface="Courier New" panose="02070309020205020404" pitchFamily="49" charset="0"/>
            </a:endParaRPr>
          </a:p>
          <a:p>
            <a:pPr marL="0" indent="0">
              <a:buNone/>
            </a:pPr>
            <a:endParaRPr lang="en-GB" sz="2000" dirty="0">
              <a:latin typeface="Consolas" panose="020B0609020204030204" pitchFamily="49" charset="0"/>
              <a:cs typeface="Courier New" panose="02070309020205020404" pitchFamily="49" charset="0"/>
            </a:endParaRPr>
          </a:p>
          <a:p>
            <a:pPr marL="0" indent="0">
              <a:buNone/>
            </a:pPr>
            <a:endParaRPr lang="en-GB" sz="2000" dirty="0">
              <a:latin typeface="Courier New" panose="02070309020205020404" pitchFamily="49" charset="0"/>
              <a:cs typeface="Courier New" panose="02070309020205020404" pitchFamily="49" charset="0"/>
            </a:endParaRPr>
          </a:p>
          <a:p>
            <a:pPr marL="0" indent="0">
              <a:buNone/>
            </a:pPr>
            <a:endParaRPr lang="en-GB" sz="20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EC83B4D7-54F1-1C2A-839D-56527E30961C}"/>
              </a:ext>
            </a:extLst>
          </p:cNvPr>
          <p:cNvSpPr>
            <a:spLocks noGrp="1"/>
          </p:cNvSpPr>
          <p:nvPr>
            <p:ph type="sldNum" sz="quarter" idx="12"/>
          </p:nvPr>
        </p:nvSpPr>
        <p:spPr/>
        <p:txBody>
          <a:bodyPr/>
          <a:lstStyle/>
          <a:p>
            <a:fld id="{13DE89AE-BBCC-45F3-BDAA-E98C74995322}" type="slidenum">
              <a:rPr lang="en-GB" smtClean="0"/>
              <a:t>12</a:t>
            </a:fld>
            <a:endParaRPr lang="en-GB"/>
          </a:p>
        </p:txBody>
      </p:sp>
      <p:grpSp>
        <p:nvGrpSpPr>
          <p:cNvPr id="42" name="Group 41">
            <a:extLst>
              <a:ext uri="{FF2B5EF4-FFF2-40B4-BE49-F238E27FC236}">
                <a16:creationId xmlns:a16="http://schemas.microsoft.com/office/drawing/2014/main" id="{9AEAA0A4-2112-8AB5-64FE-A277C9569ED3}"/>
              </a:ext>
            </a:extLst>
          </p:cNvPr>
          <p:cNvGrpSpPr/>
          <p:nvPr/>
        </p:nvGrpSpPr>
        <p:grpSpPr>
          <a:xfrm>
            <a:off x="403413" y="5752263"/>
            <a:ext cx="11711010" cy="1262182"/>
            <a:chOff x="403413" y="5752263"/>
            <a:chExt cx="11711010" cy="1262182"/>
          </a:xfrm>
        </p:grpSpPr>
        <p:grpSp>
          <p:nvGrpSpPr>
            <p:cNvPr id="25" name="Group 24">
              <a:extLst>
                <a:ext uri="{FF2B5EF4-FFF2-40B4-BE49-F238E27FC236}">
                  <a16:creationId xmlns:a16="http://schemas.microsoft.com/office/drawing/2014/main" id="{B81F323B-26C0-C335-82AE-0DBF022C229C}"/>
                </a:ext>
              </a:extLst>
            </p:cNvPr>
            <p:cNvGrpSpPr/>
            <p:nvPr/>
          </p:nvGrpSpPr>
          <p:grpSpPr>
            <a:xfrm>
              <a:off x="403413" y="5756751"/>
              <a:ext cx="3946024" cy="1257694"/>
              <a:chOff x="1165725" y="5837438"/>
              <a:chExt cx="3304744" cy="1257694"/>
            </a:xfrm>
          </p:grpSpPr>
          <p:sp>
            <p:nvSpPr>
              <p:cNvPr id="21" name="TextBox 20">
                <a:extLst>
                  <a:ext uri="{FF2B5EF4-FFF2-40B4-BE49-F238E27FC236}">
                    <a16:creationId xmlns:a16="http://schemas.microsoft.com/office/drawing/2014/main" id="{F8490C1C-DA6F-3083-B7C9-F204DCC0FCB5}"/>
                  </a:ext>
                </a:extLst>
              </p:cNvPr>
              <p:cNvSpPr txBox="1"/>
              <p:nvPr/>
            </p:nvSpPr>
            <p:spPr>
              <a:xfrm>
                <a:off x="1165725" y="6079469"/>
                <a:ext cx="3304744" cy="1015663"/>
              </a:xfrm>
              <a:prstGeom prst="rect">
                <a:avLst/>
              </a:prstGeom>
              <a:noFill/>
            </p:spPr>
            <p:txBody>
              <a:bodyPr wrap="square" rtlCol="0">
                <a:spAutoFit/>
              </a:bodyPr>
              <a:lstStyle/>
              <a:p>
                <a:pPr algn="ctr"/>
                <a:r>
                  <a:rPr lang="en-GB" sz="2000" dirty="0">
                    <a:solidFill>
                      <a:srgbClr val="0070C0"/>
                    </a:solidFill>
                  </a:rPr>
                  <a:t>Output sequence of next tokens, train on token prediction accuracy</a:t>
                </a:r>
              </a:p>
            </p:txBody>
          </p:sp>
          <p:cxnSp>
            <p:nvCxnSpPr>
              <p:cNvPr id="22" name="Straight Arrow Connector 21">
                <a:extLst>
                  <a:ext uri="{FF2B5EF4-FFF2-40B4-BE49-F238E27FC236}">
                    <a16:creationId xmlns:a16="http://schemas.microsoft.com/office/drawing/2014/main" id="{59EE6CF6-1A0B-30D9-90FC-2E2F93FFFECE}"/>
                  </a:ext>
                </a:extLst>
              </p:cNvPr>
              <p:cNvCxnSpPr>
                <a:cxnSpLocks/>
              </p:cNvCxnSpPr>
              <p:nvPr/>
            </p:nvCxnSpPr>
            <p:spPr>
              <a:xfrm flipV="1">
                <a:off x="2733547" y="5837438"/>
                <a:ext cx="0" cy="287706"/>
              </a:xfrm>
              <a:prstGeom prst="straightConnector1">
                <a:avLst/>
              </a:prstGeom>
              <a:ln w="28575">
                <a:solidFill>
                  <a:srgbClr val="0070C0"/>
                </a:solidFill>
                <a:tailEnd type="arrow" w="lg" len="lg"/>
              </a:ln>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B955204B-57F9-8640-96DC-C4B3E7301735}"/>
                </a:ext>
              </a:extLst>
            </p:cNvPr>
            <p:cNvGrpSpPr/>
            <p:nvPr/>
          </p:nvGrpSpPr>
          <p:grpSpPr>
            <a:xfrm>
              <a:off x="4410035" y="5771558"/>
              <a:ext cx="4044612" cy="949917"/>
              <a:chOff x="1165725" y="5837438"/>
              <a:chExt cx="3304744" cy="949917"/>
            </a:xfrm>
          </p:grpSpPr>
          <p:sp>
            <p:nvSpPr>
              <p:cNvPr id="31" name="TextBox 30">
                <a:extLst>
                  <a:ext uri="{FF2B5EF4-FFF2-40B4-BE49-F238E27FC236}">
                    <a16:creationId xmlns:a16="http://schemas.microsoft.com/office/drawing/2014/main" id="{8FCA60F5-A3CE-0A9B-475E-4BA36DCD3A37}"/>
                  </a:ext>
                </a:extLst>
              </p:cNvPr>
              <p:cNvSpPr txBox="1"/>
              <p:nvPr/>
            </p:nvSpPr>
            <p:spPr>
              <a:xfrm>
                <a:off x="1165725" y="6079469"/>
                <a:ext cx="3304744" cy="707886"/>
              </a:xfrm>
              <a:prstGeom prst="rect">
                <a:avLst/>
              </a:prstGeom>
              <a:noFill/>
            </p:spPr>
            <p:txBody>
              <a:bodyPr wrap="square" rtlCol="0">
                <a:spAutoFit/>
              </a:bodyPr>
              <a:lstStyle/>
              <a:p>
                <a:pPr algn="ctr"/>
                <a:r>
                  <a:rPr lang="en-GB" sz="2000" dirty="0">
                    <a:solidFill>
                      <a:srgbClr val="0070C0"/>
                    </a:solidFill>
                  </a:rPr>
                  <a:t>Output sequence of next tokens, train on token prediction accuracy</a:t>
                </a:r>
              </a:p>
            </p:txBody>
          </p:sp>
          <p:cxnSp>
            <p:nvCxnSpPr>
              <p:cNvPr id="32" name="Straight Arrow Connector 31">
                <a:extLst>
                  <a:ext uri="{FF2B5EF4-FFF2-40B4-BE49-F238E27FC236}">
                    <a16:creationId xmlns:a16="http://schemas.microsoft.com/office/drawing/2014/main" id="{E1ABBE2D-2A1F-1631-2B9F-28D183AC4F94}"/>
                  </a:ext>
                </a:extLst>
              </p:cNvPr>
              <p:cNvCxnSpPr>
                <a:cxnSpLocks/>
              </p:cNvCxnSpPr>
              <p:nvPr/>
            </p:nvCxnSpPr>
            <p:spPr>
              <a:xfrm flipV="1">
                <a:off x="2733547" y="5837438"/>
                <a:ext cx="0" cy="287706"/>
              </a:xfrm>
              <a:prstGeom prst="straightConnector1">
                <a:avLst/>
              </a:prstGeom>
              <a:ln w="28575">
                <a:solidFill>
                  <a:srgbClr val="0070C0"/>
                </a:solidFill>
                <a:tailEnd type="arrow" w="lg" len="lg"/>
              </a:ln>
            </p:spPr>
            <p:style>
              <a:lnRef idx="2">
                <a:schemeClr val="accent1"/>
              </a:lnRef>
              <a:fillRef idx="0">
                <a:schemeClr val="accent1"/>
              </a:fillRef>
              <a:effectRef idx="1">
                <a:schemeClr val="accent1"/>
              </a:effectRef>
              <a:fontRef idx="minor">
                <a:schemeClr val="tx1"/>
              </a:fontRef>
            </p:style>
          </p:cxnSp>
        </p:grpSp>
        <p:grpSp>
          <p:nvGrpSpPr>
            <p:cNvPr id="33" name="Group 32">
              <a:extLst>
                <a:ext uri="{FF2B5EF4-FFF2-40B4-BE49-F238E27FC236}">
                  <a16:creationId xmlns:a16="http://schemas.microsoft.com/office/drawing/2014/main" id="{479CC275-1E3C-1195-0B0C-7974D6BB7EB2}"/>
                </a:ext>
              </a:extLst>
            </p:cNvPr>
            <p:cNvGrpSpPr/>
            <p:nvPr/>
          </p:nvGrpSpPr>
          <p:grpSpPr>
            <a:xfrm>
              <a:off x="8274704" y="5752263"/>
              <a:ext cx="3839719" cy="1257694"/>
              <a:chOff x="1165725" y="5837438"/>
              <a:chExt cx="3304744" cy="1257694"/>
            </a:xfrm>
          </p:grpSpPr>
          <p:sp>
            <p:nvSpPr>
              <p:cNvPr id="34" name="TextBox 33">
                <a:extLst>
                  <a:ext uri="{FF2B5EF4-FFF2-40B4-BE49-F238E27FC236}">
                    <a16:creationId xmlns:a16="http://schemas.microsoft.com/office/drawing/2014/main" id="{9CC0BD79-E501-0B4E-AE82-B252F046A9B6}"/>
                  </a:ext>
                </a:extLst>
              </p:cNvPr>
              <p:cNvSpPr txBox="1"/>
              <p:nvPr/>
            </p:nvSpPr>
            <p:spPr>
              <a:xfrm>
                <a:off x="1165725" y="6079469"/>
                <a:ext cx="3304744" cy="1015663"/>
              </a:xfrm>
              <a:prstGeom prst="rect">
                <a:avLst/>
              </a:prstGeom>
              <a:noFill/>
            </p:spPr>
            <p:txBody>
              <a:bodyPr wrap="square" rtlCol="0">
                <a:spAutoFit/>
              </a:bodyPr>
              <a:lstStyle/>
              <a:p>
                <a:pPr algn="ctr"/>
                <a:r>
                  <a:rPr lang="en-GB" sz="2000" dirty="0">
                    <a:solidFill>
                      <a:srgbClr val="0070C0"/>
                    </a:solidFill>
                  </a:rPr>
                  <a:t>Output sequence of next tokens, train on action reward</a:t>
                </a:r>
              </a:p>
            </p:txBody>
          </p:sp>
          <p:cxnSp>
            <p:nvCxnSpPr>
              <p:cNvPr id="35" name="Straight Arrow Connector 34">
                <a:extLst>
                  <a:ext uri="{FF2B5EF4-FFF2-40B4-BE49-F238E27FC236}">
                    <a16:creationId xmlns:a16="http://schemas.microsoft.com/office/drawing/2014/main" id="{250A4931-6A9A-AA8E-D953-18E2E504CA5E}"/>
                  </a:ext>
                </a:extLst>
              </p:cNvPr>
              <p:cNvCxnSpPr>
                <a:cxnSpLocks/>
              </p:cNvCxnSpPr>
              <p:nvPr/>
            </p:nvCxnSpPr>
            <p:spPr>
              <a:xfrm flipV="1">
                <a:off x="2733547" y="5837438"/>
                <a:ext cx="0" cy="287706"/>
              </a:xfrm>
              <a:prstGeom prst="straightConnector1">
                <a:avLst/>
              </a:prstGeom>
              <a:ln w="28575">
                <a:solidFill>
                  <a:srgbClr val="0070C0"/>
                </a:solidFill>
                <a:tailEnd type="arrow" w="lg" len="lg"/>
              </a:ln>
            </p:spPr>
            <p:style>
              <a:lnRef idx="2">
                <a:schemeClr val="accent1"/>
              </a:lnRef>
              <a:fillRef idx="0">
                <a:schemeClr val="accent1"/>
              </a:fillRef>
              <a:effectRef idx="1">
                <a:schemeClr val="accent1"/>
              </a:effectRef>
              <a:fontRef idx="minor">
                <a:schemeClr val="tx1"/>
              </a:fontRef>
            </p:style>
          </p:cxnSp>
        </p:grpSp>
      </p:grpSp>
      <p:grpSp>
        <p:nvGrpSpPr>
          <p:cNvPr id="41" name="Group 40">
            <a:extLst>
              <a:ext uri="{FF2B5EF4-FFF2-40B4-BE49-F238E27FC236}">
                <a16:creationId xmlns:a16="http://schemas.microsoft.com/office/drawing/2014/main" id="{5C2BB2E0-B444-AF38-7B3B-D6AAF3572548}"/>
              </a:ext>
            </a:extLst>
          </p:cNvPr>
          <p:cNvGrpSpPr/>
          <p:nvPr/>
        </p:nvGrpSpPr>
        <p:grpSpPr>
          <a:xfrm>
            <a:off x="4767911" y="4502370"/>
            <a:ext cx="6019608" cy="866574"/>
            <a:chOff x="4767911" y="4502370"/>
            <a:chExt cx="6019608" cy="866574"/>
          </a:xfrm>
        </p:grpSpPr>
        <p:grpSp>
          <p:nvGrpSpPr>
            <p:cNvPr id="13" name="Group 12">
              <a:extLst>
                <a:ext uri="{FF2B5EF4-FFF2-40B4-BE49-F238E27FC236}">
                  <a16:creationId xmlns:a16="http://schemas.microsoft.com/office/drawing/2014/main" id="{781F717C-D282-3C94-0510-F1327ADA4200}"/>
                </a:ext>
              </a:extLst>
            </p:cNvPr>
            <p:cNvGrpSpPr/>
            <p:nvPr/>
          </p:nvGrpSpPr>
          <p:grpSpPr>
            <a:xfrm>
              <a:off x="4767911" y="4502370"/>
              <a:ext cx="3304744" cy="822673"/>
              <a:chOff x="7459206" y="4580872"/>
              <a:chExt cx="3304744" cy="822673"/>
            </a:xfrm>
          </p:grpSpPr>
          <p:sp>
            <p:nvSpPr>
              <p:cNvPr id="14" name="TextBox 13">
                <a:extLst>
                  <a:ext uri="{FF2B5EF4-FFF2-40B4-BE49-F238E27FC236}">
                    <a16:creationId xmlns:a16="http://schemas.microsoft.com/office/drawing/2014/main" id="{29B7760A-08A7-EFAC-6124-B5085AB17F32}"/>
                  </a:ext>
                </a:extLst>
              </p:cNvPr>
              <p:cNvSpPr txBox="1"/>
              <p:nvPr/>
            </p:nvSpPr>
            <p:spPr>
              <a:xfrm>
                <a:off x="7459206" y="4580872"/>
                <a:ext cx="3304744" cy="461665"/>
              </a:xfrm>
              <a:prstGeom prst="rect">
                <a:avLst/>
              </a:prstGeom>
              <a:noFill/>
            </p:spPr>
            <p:txBody>
              <a:bodyPr wrap="square" rtlCol="0">
                <a:spAutoFit/>
              </a:bodyPr>
              <a:lstStyle/>
              <a:p>
                <a:pPr algn="ctr"/>
                <a:r>
                  <a:rPr lang="en-GB" sz="2400" dirty="0">
                    <a:solidFill>
                      <a:srgbClr val="FF0000"/>
                    </a:solidFill>
                  </a:rPr>
                  <a:t>Supervised Fine Tuning</a:t>
                </a:r>
              </a:p>
            </p:txBody>
          </p:sp>
          <p:cxnSp>
            <p:nvCxnSpPr>
              <p:cNvPr id="15" name="Straight Arrow Connector 14">
                <a:extLst>
                  <a:ext uri="{FF2B5EF4-FFF2-40B4-BE49-F238E27FC236}">
                    <a16:creationId xmlns:a16="http://schemas.microsoft.com/office/drawing/2014/main" id="{2C459139-4699-44CB-BD4E-17E01ECD2F66}"/>
                  </a:ext>
                </a:extLst>
              </p:cNvPr>
              <p:cNvCxnSpPr>
                <a:cxnSpLocks/>
              </p:cNvCxnSpPr>
              <p:nvPr/>
            </p:nvCxnSpPr>
            <p:spPr>
              <a:xfrm>
                <a:off x="9010718" y="5000127"/>
                <a:ext cx="0" cy="403418"/>
              </a:xfrm>
              <a:prstGeom prst="straightConnector1">
                <a:avLst/>
              </a:prstGeom>
              <a:ln w="28575">
                <a:solidFill>
                  <a:srgbClr val="FF0000"/>
                </a:solidFill>
                <a:tailEnd type="arrow" w="lg" len="lg"/>
              </a:ln>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48B87FBD-8FC5-16F7-D375-4D3BAEAD988D}"/>
                </a:ext>
              </a:extLst>
            </p:cNvPr>
            <p:cNvGrpSpPr/>
            <p:nvPr/>
          </p:nvGrpSpPr>
          <p:grpSpPr>
            <a:xfrm>
              <a:off x="9434782" y="4546271"/>
              <a:ext cx="1352737" cy="822673"/>
              <a:chOff x="8346718" y="4580872"/>
              <a:chExt cx="1352737" cy="822673"/>
            </a:xfrm>
          </p:grpSpPr>
          <p:sp>
            <p:nvSpPr>
              <p:cNvPr id="38" name="TextBox 37">
                <a:extLst>
                  <a:ext uri="{FF2B5EF4-FFF2-40B4-BE49-F238E27FC236}">
                    <a16:creationId xmlns:a16="http://schemas.microsoft.com/office/drawing/2014/main" id="{784208BC-CC1E-DC05-B413-189BAF7F107B}"/>
                  </a:ext>
                </a:extLst>
              </p:cNvPr>
              <p:cNvSpPr txBox="1"/>
              <p:nvPr/>
            </p:nvSpPr>
            <p:spPr>
              <a:xfrm>
                <a:off x="8346718" y="4580872"/>
                <a:ext cx="1352737" cy="461665"/>
              </a:xfrm>
              <a:prstGeom prst="rect">
                <a:avLst/>
              </a:prstGeom>
              <a:noFill/>
            </p:spPr>
            <p:txBody>
              <a:bodyPr wrap="square" rtlCol="0">
                <a:spAutoFit/>
              </a:bodyPr>
              <a:lstStyle/>
              <a:p>
                <a:pPr algn="ctr"/>
                <a:r>
                  <a:rPr lang="en-GB" sz="2400" dirty="0">
                    <a:solidFill>
                      <a:srgbClr val="FF0000"/>
                    </a:solidFill>
                  </a:rPr>
                  <a:t>RLHF</a:t>
                </a:r>
              </a:p>
            </p:txBody>
          </p:sp>
          <p:cxnSp>
            <p:nvCxnSpPr>
              <p:cNvPr id="39" name="Straight Arrow Connector 38">
                <a:extLst>
                  <a:ext uri="{FF2B5EF4-FFF2-40B4-BE49-F238E27FC236}">
                    <a16:creationId xmlns:a16="http://schemas.microsoft.com/office/drawing/2014/main" id="{CE61B1B4-91D8-53E8-D5E1-5FE5AB231CA0}"/>
                  </a:ext>
                </a:extLst>
              </p:cNvPr>
              <p:cNvCxnSpPr>
                <a:cxnSpLocks/>
              </p:cNvCxnSpPr>
              <p:nvPr/>
            </p:nvCxnSpPr>
            <p:spPr>
              <a:xfrm>
                <a:off x="9010718" y="5000127"/>
                <a:ext cx="0" cy="403418"/>
              </a:xfrm>
              <a:prstGeom prst="straightConnector1">
                <a:avLst/>
              </a:prstGeom>
              <a:ln w="28575">
                <a:solidFill>
                  <a:srgbClr val="FF0000"/>
                </a:solidFill>
                <a:tailEnd type="arrow" w="lg" len="lg"/>
              </a:ln>
            </p:spPr>
            <p:style>
              <a:lnRef idx="2">
                <a:schemeClr val="accent1"/>
              </a:lnRef>
              <a:fillRef idx="0">
                <a:schemeClr val="accent1"/>
              </a:fillRef>
              <a:effectRef idx="1">
                <a:schemeClr val="accent1"/>
              </a:effectRef>
              <a:fontRef idx="minor">
                <a:schemeClr val="tx1"/>
              </a:fontRef>
            </p:style>
          </p:cxnSp>
        </p:grpSp>
      </p:grpSp>
      <p:grpSp>
        <p:nvGrpSpPr>
          <p:cNvPr id="47" name="Group 46">
            <a:extLst>
              <a:ext uri="{FF2B5EF4-FFF2-40B4-BE49-F238E27FC236}">
                <a16:creationId xmlns:a16="http://schemas.microsoft.com/office/drawing/2014/main" id="{63F940F0-E92B-EA38-28D5-54542521A030}"/>
              </a:ext>
            </a:extLst>
          </p:cNvPr>
          <p:cNvGrpSpPr/>
          <p:nvPr/>
        </p:nvGrpSpPr>
        <p:grpSpPr>
          <a:xfrm>
            <a:off x="2533650" y="4209982"/>
            <a:ext cx="1310640" cy="1158962"/>
            <a:chOff x="2533650" y="4209982"/>
            <a:chExt cx="1310640" cy="1158962"/>
          </a:xfrm>
        </p:grpSpPr>
        <p:sp>
          <p:nvSpPr>
            <p:cNvPr id="43" name="TextBox 42">
              <a:extLst>
                <a:ext uri="{FF2B5EF4-FFF2-40B4-BE49-F238E27FC236}">
                  <a16:creationId xmlns:a16="http://schemas.microsoft.com/office/drawing/2014/main" id="{EDC5B622-C848-08F2-74BE-C747F4F1392F}"/>
                </a:ext>
              </a:extLst>
            </p:cNvPr>
            <p:cNvSpPr txBox="1"/>
            <p:nvPr/>
          </p:nvSpPr>
          <p:spPr>
            <a:xfrm>
              <a:off x="2533650" y="4209982"/>
              <a:ext cx="1310640" cy="584775"/>
            </a:xfrm>
            <a:prstGeom prst="rect">
              <a:avLst/>
            </a:prstGeom>
            <a:noFill/>
          </p:spPr>
          <p:txBody>
            <a:bodyPr wrap="square" rtlCol="0">
              <a:spAutoFit/>
            </a:bodyPr>
            <a:lstStyle/>
            <a:p>
              <a:pPr algn="ctr"/>
              <a:r>
                <a:rPr lang="en-GB" sz="3200" dirty="0">
                  <a:solidFill>
                    <a:schemeClr val="accent5"/>
                  </a:solidFill>
                </a:rPr>
                <a:t>Today</a:t>
              </a:r>
            </a:p>
          </p:txBody>
        </p:sp>
        <p:cxnSp>
          <p:nvCxnSpPr>
            <p:cNvPr id="45" name="Straight Arrow Connector 44">
              <a:extLst>
                <a:ext uri="{FF2B5EF4-FFF2-40B4-BE49-F238E27FC236}">
                  <a16:creationId xmlns:a16="http://schemas.microsoft.com/office/drawing/2014/main" id="{8D15486B-7AA3-AB4D-2797-0FBFD3E6D7FA}"/>
                </a:ext>
              </a:extLst>
            </p:cNvPr>
            <p:cNvCxnSpPr>
              <a:cxnSpLocks/>
              <a:stCxn id="43" idx="2"/>
            </p:cNvCxnSpPr>
            <p:nvPr/>
          </p:nvCxnSpPr>
          <p:spPr>
            <a:xfrm flipH="1">
              <a:off x="2956560" y="4794757"/>
              <a:ext cx="232410" cy="574187"/>
            </a:xfrm>
            <a:prstGeom prst="straightConnector1">
              <a:avLst/>
            </a:prstGeom>
            <a:ln w="38100">
              <a:solidFill>
                <a:srgbClr val="7030A0"/>
              </a:solidFill>
              <a:tailEnd type="arrow"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0678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4CDBF5E9-FC19-3106-0274-325DEB809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8CFA1-4105-BEFF-34DF-26B8D736F912}"/>
              </a:ext>
            </a:extLst>
          </p:cNvPr>
          <p:cNvSpPr>
            <a:spLocks noGrp="1"/>
          </p:cNvSpPr>
          <p:nvPr>
            <p:ph type="title"/>
          </p:nvPr>
        </p:nvSpPr>
        <p:spPr/>
        <p:txBody>
          <a:bodyPr/>
          <a:lstStyle/>
          <a:p>
            <a:r>
              <a:rPr lang="en-GB" dirty="0">
                <a:solidFill>
                  <a:schemeClr val="bg1"/>
                </a:solidFill>
              </a:rPr>
              <a:t>Simple approaches</a:t>
            </a:r>
          </a:p>
        </p:txBody>
      </p:sp>
      <p:sp>
        <p:nvSpPr>
          <p:cNvPr id="3" name="Text Placeholder 2">
            <a:extLst>
              <a:ext uri="{FF2B5EF4-FFF2-40B4-BE49-F238E27FC236}">
                <a16:creationId xmlns:a16="http://schemas.microsoft.com/office/drawing/2014/main" id="{51796A36-EE5A-A06A-5FA1-86925AFB5428}"/>
              </a:ext>
            </a:extLst>
          </p:cNvPr>
          <p:cNvSpPr>
            <a:spLocks noGrp="1"/>
          </p:cNvSpPr>
          <p:nvPr>
            <p:ph type="body" idx="1"/>
          </p:nvPr>
        </p:nvSpPr>
        <p:spPr/>
        <p:txBody>
          <a:bodyPr/>
          <a:lstStyle/>
          <a:p>
            <a:r>
              <a:rPr lang="en-GB" dirty="0">
                <a:solidFill>
                  <a:schemeClr val="bg1"/>
                </a:solidFill>
              </a:rPr>
              <a:t>Naïve models that are wrong and what we can learn from that</a:t>
            </a:r>
          </a:p>
        </p:txBody>
      </p:sp>
      <p:sp>
        <p:nvSpPr>
          <p:cNvPr id="4" name="Slide Number Placeholder 3">
            <a:extLst>
              <a:ext uri="{FF2B5EF4-FFF2-40B4-BE49-F238E27FC236}">
                <a16:creationId xmlns:a16="http://schemas.microsoft.com/office/drawing/2014/main" id="{AE50F193-0F62-39A6-5901-7898962BC974}"/>
              </a:ext>
            </a:extLst>
          </p:cNvPr>
          <p:cNvSpPr>
            <a:spLocks noGrp="1"/>
          </p:cNvSpPr>
          <p:nvPr>
            <p:ph type="sldNum" sz="quarter" idx="12"/>
          </p:nvPr>
        </p:nvSpPr>
        <p:spPr/>
        <p:txBody>
          <a:bodyPr/>
          <a:lstStyle/>
          <a:p>
            <a:fld id="{13DE89AE-BBCC-45F3-BDAA-E98C74995322}" type="slidenum">
              <a:rPr lang="en-GB" smtClean="0"/>
              <a:t>13</a:t>
            </a:fld>
            <a:endParaRPr lang="en-GB"/>
          </a:p>
        </p:txBody>
      </p:sp>
    </p:spTree>
    <p:extLst>
      <p:ext uri="{BB962C8B-B14F-4D97-AF65-F5344CB8AC3E}">
        <p14:creationId xmlns:p14="http://schemas.microsoft.com/office/powerpoint/2010/main" val="354457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D2B98-9F96-54A6-4958-7A72E7C6C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97026-3555-38F0-4783-3AF9F931AFC9}"/>
              </a:ext>
            </a:extLst>
          </p:cNvPr>
          <p:cNvSpPr>
            <a:spLocks noGrp="1"/>
          </p:cNvSpPr>
          <p:nvPr>
            <p:ph type="title"/>
          </p:nvPr>
        </p:nvSpPr>
        <p:spPr>
          <a:xfrm>
            <a:off x="838200" y="365125"/>
            <a:ext cx="10515600" cy="722593"/>
          </a:xfrm>
        </p:spPr>
        <p:txBody>
          <a:bodyPr/>
          <a:lstStyle/>
          <a:p>
            <a:r>
              <a:rPr lang="en-GB" dirty="0"/>
              <a:t>Simple approach:</a:t>
            </a:r>
          </a:p>
        </p:txBody>
      </p:sp>
      <p:sp>
        <p:nvSpPr>
          <p:cNvPr id="4" name="Slide Number Placeholder 3">
            <a:extLst>
              <a:ext uri="{FF2B5EF4-FFF2-40B4-BE49-F238E27FC236}">
                <a16:creationId xmlns:a16="http://schemas.microsoft.com/office/drawing/2014/main" id="{131EDA8C-6F26-70A2-A089-7BE12D87D9C5}"/>
              </a:ext>
            </a:extLst>
          </p:cNvPr>
          <p:cNvSpPr>
            <a:spLocks noGrp="1"/>
          </p:cNvSpPr>
          <p:nvPr>
            <p:ph type="sldNum" sz="quarter" idx="12"/>
          </p:nvPr>
        </p:nvSpPr>
        <p:spPr/>
        <p:txBody>
          <a:bodyPr/>
          <a:lstStyle/>
          <a:p>
            <a:fld id="{13DE89AE-BBCC-45F3-BDAA-E98C74995322}" type="slidenum">
              <a:rPr lang="en-GB" smtClean="0"/>
              <a:t>14</a:t>
            </a:fld>
            <a:endParaRPr lang="en-GB"/>
          </a:p>
        </p:txBody>
      </p:sp>
      <p:cxnSp>
        <p:nvCxnSpPr>
          <p:cNvPr id="20" name="Straight Connector 19">
            <a:extLst>
              <a:ext uri="{FF2B5EF4-FFF2-40B4-BE49-F238E27FC236}">
                <a16:creationId xmlns:a16="http://schemas.microsoft.com/office/drawing/2014/main" id="{8224DB5C-BBFF-29A9-DB36-8773572DE216}"/>
              </a:ext>
            </a:extLst>
          </p:cNvPr>
          <p:cNvCxnSpPr/>
          <p:nvPr/>
        </p:nvCxnSpPr>
        <p:spPr>
          <a:xfrm>
            <a:off x="7842528" y="6722208"/>
            <a:ext cx="8476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C2FC0CB7-A59C-7B2F-A769-029A1A51711B}"/>
              </a:ext>
            </a:extLst>
          </p:cNvPr>
          <p:cNvSpPr txBox="1">
            <a:spLocks/>
          </p:cNvSpPr>
          <p:nvPr/>
        </p:nvSpPr>
        <p:spPr>
          <a:xfrm>
            <a:off x="729413" y="1533589"/>
            <a:ext cx="6540712" cy="5914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Example:  “The cat sat on the mat”</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grpSp>
        <p:nvGrpSpPr>
          <p:cNvPr id="9" name="Group 8">
            <a:extLst>
              <a:ext uri="{FF2B5EF4-FFF2-40B4-BE49-F238E27FC236}">
                <a16:creationId xmlns:a16="http://schemas.microsoft.com/office/drawing/2014/main" id="{1FEE6897-ABEC-970A-7D03-624BC04CC8E0}"/>
              </a:ext>
            </a:extLst>
          </p:cNvPr>
          <p:cNvGrpSpPr/>
          <p:nvPr/>
        </p:nvGrpSpPr>
        <p:grpSpPr>
          <a:xfrm>
            <a:off x="729413" y="3097599"/>
            <a:ext cx="11086953" cy="2638218"/>
            <a:chOff x="961622" y="3104039"/>
            <a:chExt cx="11086953" cy="2638218"/>
          </a:xfrm>
        </p:grpSpPr>
        <p:sp>
          <p:nvSpPr>
            <p:cNvPr id="30" name="TextBox 29">
              <a:extLst>
                <a:ext uri="{FF2B5EF4-FFF2-40B4-BE49-F238E27FC236}">
                  <a16:creationId xmlns:a16="http://schemas.microsoft.com/office/drawing/2014/main" id="{54A9F2FC-08F8-B023-69AD-0355B737DF52}"/>
                </a:ext>
              </a:extLst>
            </p:cNvPr>
            <p:cNvSpPr txBox="1"/>
            <p:nvPr/>
          </p:nvSpPr>
          <p:spPr>
            <a:xfrm>
              <a:off x="4110118" y="3803265"/>
              <a:ext cx="3621741" cy="1938992"/>
            </a:xfrm>
            <a:prstGeom prst="rect">
              <a:avLst/>
            </a:prstGeom>
            <a:noFill/>
          </p:spPr>
          <p:txBody>
            <a:bodyPr wrap="square" rtlCol="0">
              <a:spAutoFit/>
            </a:bodyPr>
            <a:lstStyle/>
            <a:p>
              <a:r>
                <a:rPr lang="en-GB" sz="2400" dirty="0"/>
                <a:t> “the”   = (1,0,0,0,0)</a:t>
              </a:r>
            </a:p>
            <a:p>
              <a:r>
                <a:rPr lang="en-GB" sz="2400" dirty="0"/>
                <a:t>“cat”    = (0,1,0,0,0)</a:t>
              </a:r>
            </a:p>
            <a:p>
              <a:r>
                <a:rPr lang="en-GB" sz="2400" dirty="0"/>
                <a:t>“sat”    = (0,0,1,0,0)</a:t>
              </a:r>
            </a:p>
            <a:p>
              <a:r>
                <a:rPr lang="en-GB" sz="2400" dirty="0"/>
                <a:t>“on”     = (0,0,0,1,0)</a:t>
              </a:r>
            </a:p>
            <a:p>
              <a:r>
                <a:rPr lang="en-GB" sz="2400" dirty="0"/>
                <a:t>“mat”  = (0,0,0,0,1)</a:t>
              </a:r>
            </a:p>
          </p:txBody>
        </p:sp>
        <p:sp>
          <p:nvSpPr>
            <p:cNvPr id="8" name="Content Placeholder 2">
              <a:extLst>
                <a:ext uri="{FF2B5EF4-FFF2-40B4-BE49-F238E27FC236}">
                  <a16:creationId xmlns:a16="http://schemas.microsoft.com/office/drawing/2014/main" id="{C6F19128-C7D4-8D30-3617-2B6E4BE9F93F}"/>
                </a:ext>
              </a:extLst>
            </p:cNvPr>
            <p:cNvSpPr txBox="1">
              <a:spLocks/>
            </p:cNvSpPr>
            <p:nvPr/>
          </p:nvSpPr>
          <p:spPr>
            <a:xfrm>
              <a:off x="961622" y="3104039"/>
              <a:ext cx="11086953" cy="69922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5 words in the vocabulary </a:t>
              </a:r>
              <a:r>
                <a:rPr lang="en-GB" dirty="0">
                  <a:sym typeface="Symbol" panose="05050102010706020507" pitchFamily="18" charset="2"/>
                </a:rPr>
                <a:t> represent each word as 5-dimensional vector</a:t>
              </a:r>
              <a:endParaRPr lang="en-GB" dirty="0"/>
            </a:p>
          </p:txBody>
        </p:sp>
      </p:grpSp>
    </p:spTree>
    <p:extLst>
      <p:ext uri="{BB962C8B-B14F-4D97-AF65-F5344CB8AC3E}">
        <p14:creationId xmlns:p14="http://schemas.microsoft.com/office/powerpoint/2010/main" val="193124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9E11-892F-22F3-3927-A4EFCBCE9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C0886-AC2B-3E6E-32FB-8C99E64D139E}"/>
              </a:ext>
            </a:extLst>
          </p:cNvPr>
          <p:cNvSpPr>
            <a:spLocks noGrp="1"/>
          </p:cNvSpPr>
          <p:nvPr>
            <p:ph type="title"/>
          </p:nvPr>
        </p:nvSpPr>
        <p:spPr>
          <a:xfrm>
            <a:off x="838200" y="365125"/>
            <a:ext cx="10515600" cy="722593"/>
          </a:xfrm>
        </p:spPr>
        <p:txBody>
          <a:bodyPr/>
          <a:lstStyle/>
          <a:p>
            <a:r>
              <a:rPr lang="en-GB" dirty="0"/>
              <a:t>Simple approach:</a:t>
            </a:r>
          </a:p>
        </p:txBody>
      </p:sp>
      <p:sp>
        <p:nvSpPr>
          <p:cNvPr id="4" name="Slide Number Placeholder 3">
            <a:extLst>
              <a:ext uri="{FF2B5EF4-FFF2-40B4-BE49-F238E27FC236}">
                <a16:creationId xmlns:a16="http://schemas.microsoft.com/office/drawing/2014/main" id="{3584D538-42E4-9150-C45C-0F47B193261D}"/>
              </a:ext>
            </a:extLst>
          </p:cNvPr>
          <p:cNvSpPr>
            <a:spLocks noGrp="1"/>
          </p:cNvSpPr>
          <p:nvPr>
            <p:ph type="sldNum" sz="quarter" idx="12"/>
          </p:nvPr>
        </p:nvSpPr>
        <p:spPr/>
        <p:txBody>
          <a:bodyPr/>
          <a:lstStyle/>
          <a:p>
            <a:fld id="{13DE89AE-BBCC-45F3-BDAA-E98C74995322}" type="slidenum">
              <a:rPr lang="en-GB" smtClean="0"/>
              <a:t>15</a:t>
            </a:fld>
            <a:endParaRPr lang="en-GB"/>
          </a:p>
        </p:txBody>
      </p:sp>
      <p:cxnSp>
        <p:nvCxnSpPr>
          <p:cNvPr id="20" name="Straight Connector 19">
            <a:extLst>
              <a:ext uri="{FF2B5EF4-FFF2-40B4-BE49-F238E27FC236}">
                <a16:creationId xmlns:a16="http://schemas.microsoft.com/office/drawing/2014/main" id="{0357FFC1-BE7A-854D-E821-27EF2FB10B81}"/>
              </a:ext>
            </a:extLst>
          </p:cNvPr>
          <p:cNvCxnSpPr/>
          <p:nvPr/>
        </p:nvCxnSpPr>
        <p:spPr>
          <a:xfrm>
            <a:off x="7842528" y="6722208"/>
            <a:ext cx="8476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3" name="Content Placeholder 2">
            <a:extLst>
              <a:ext uri="{FF2B5EF4-FFF2-40B4-BE49-F238E27FC236}">
                <a16:creationId xmlns:a16="http://schemas.microsoft.com/office/drawing/2014/main" id="{D989E4CE-FC09-257C-FE2C-FBE1E3A6A9F7}"/>
              </a:ext>
            </a:extLst>
          </p:cNvPr>
          <p:cNvSpPr txBox="1">
            <a:spLocks/>
          </p:cNvSpPr>
          <p:nvPr/>
        </p:nvSpPr>
        <p:spPr>
          <a:xfrm>
            <a:off x="729412" y="1481572"/>
            <a:ext cx="11086953" cy="6107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Prompt:  “The cat sat on the”</a:t>
            </a:r>
            <a:r>
              <a:rPr lang="en-GB" sz="2200" dirty="0"/>
              <a:t>  </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sp>
        <p:nvSpPr>
          <p:cNvPr id="8" name="Content Placeholder 2">
            <a:extLst>
              <a:ext uri="{FF2B5EF4-FFF2-40B4-BE49-F238E27FC236}">
                <a16:creationId xmlns:a16="http://schemas.microsoft.com/office/drawing/2014/main" id="{88BAC2C6-7344-DD26-8E11-A7CE917DF539}"/>
              </a:ext>
            </a:extLst>
          </p:cNvPr>
          <p:cNvSpPr txBox="1">
            <a:spLocks/>
          </p:cNvSpPr>
          <p:nvPr/>
        </p:nvSpPr>
        <p:spPr>
          <a:xfrm>
            <a:off x="433588" y="2535891"/>
            <a:ext cx="11086953" cy="8931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We could represent the 5-word initial prompt as combination of the individual word vectors</a:t>
            </a:r>
          </a:p>
        </p:txBody>
      </p:sp>
      <p:sp>
        <p:nvSpPr>
          <p:cNvPr id="6" name="Content Placeholder 2">
            <a:extLst>
              <a:ext uri="{FF2B5EF4-FFF2-40B4-BE49-F238E27FC236}">
                <a16:creationId xmlns:a16="http://schemas.microsoft.com/office/drawing/2014/main" id="{EA8472C3-985A-4270-1EB2-EAE1FF44BB61}"/>
              </a:ext>
            </a:extLst>
          </p:cNvPr>
          <p:cNvSpPr txBox="1">
            <a:spLocks/>
          </p:cNvSpPr>
          <p:nvPr/>
        </p:nvSpPr>
        <p:spPr>
          <a:xfrm>
            <a:off x="311241" y="4587301"/>
            <a:ext cx="1884610" cy="6107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Prompt = </a:t>
            </a:r>
            <a:r>
              <a:rPr lang="en-GB" sz="2200" dirty="0"/>
              <a:t>  </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graphicFrame>
        <p:nvGraphicFramePr>
          <p:cNvPr id="7" name="Content Placeholder 4">
            <a:extLst>
              <a:ext uri="{FF2B5EF4-FFF2-40B4-BE49-F238E27FC236}">
                <a16:creationId xmlns:a16="http://schemas.microsoft.com/office/drawing/2014/main" id="{43656AC7-BFA9-84D2-CAC9-4FFC44D4128F}"/>
              </a:ext>
            </a:extLst>
          </p:cNvPr>
          <p:cNvGraphicFramePr>
            <a:graphicFrameLocks noGrp="1"/>
          </p:cNvGraphicFramePr>
          <p:nvPr>
            <p:ph idx="1"/>
          </p:nvPr>
        </p:nvGraphicFramePr>
        <p:xfrm>
          <a:off x="2068177" y="3872571"/>
          <a:ext cx="4231820" cy="222504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r>
                        <a:rPr lang="en-GB" dirty="0"/>
                        <a:t>1</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1</a:t>
                      </a:r>
                    </a:p>
                  </a:txBody>
                  <a:tcPr>
                    <a:solidFill>
                      <a:schemeClr val="tx2">
                        <a:lumMod val="25000"/>
                        <a:lumOff val="75000"/>
                      </a:schemeClr>
                    </a:solidFill>
                  </a:tcPr>
                </a:tc>
                <a:extLst>
                  <a:ext uri="{0D108BD9-81ED-4DB2-BD59-A6C34878D82A}">
                    <a16:rowId xmlns:a16="http://schemas.microsoft.com/office/drawing/2014/main" val="1533931161"/>
                  </a:ext>
                </a:extLst>
              </a:tr>
              <a:tr h="370840">
                <a:tc>
                  <a:txBody>
                    <a:bodyPr/>
                    <a:lstStyle/>
                    <a:p>
                      <a:r>
                        <a:rPr lang="en-GB" dirty="0"/>
                        <a:t>0</a:t>
                      </a:r>
                    </a:p>
                  </a:txBody>
                  <a:tcPr>
                    <a:solidFill>
                      <a:schemeClr val="tx2">
                        <a:lumMod val="25000"/>
                        <a:lumOff val="75000"/>
                      </a:schemeClr>
                    </a:solidFill>
                  </a:tcPr>
                </a:tc>
                <a:tc>
                  <a:txBody>
                    <a:bodyPr/>
                    <a:lstStyle/>
                    <a:p>
                      <a:r>
                        <a:rPr lang="en-GB" dirty="0"/>
                        <a:t>1</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extLst>
                  <a:ext uri="{0D108BD9-81ED-4DB2-BD59-A6C34878D82A}">
                    <a16:rowId xmlns:a16="http://schemas.microsoft.com/office/drawing/2014/main" val="1732967676"/>
                  </a:ext>
                </a:extLst>
              </a:tr>
              <a:tr h="370840">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1</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extLst>
                  <a:ext uri="{0D108BD9-81ED-4DB2-BD59-A6C34878D82A}">
                    <a16:rowId xmlns:a16="http://schemas.microsoft.com/office/drawing/2014/main" val="3626587743"/>
                  </a:ext>
                </a:extLst>
              </a:tr>
              <a:tr h="370840">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1</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extLst>
                  <a:ext uri="{0D108BD9-81ED-4DB2-BD59-A6C34878D82A}">
                    <a16:rowId xmlns:a16="http://schemas.microsoft.com/office/drawing/2014/main" val="2234228111"/>
                  </a:ext>
                </a:extLst>
              </a:tr>
              <a:tr h="370840">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tc>
                  <a:txBody>
                    <a:bodyPr/>
                    <a:lstStyle/>
                    <a:p>
                      <a:r>
                        <a:rPr lang="en-GB" dirty="0"/>
                        <a:t>0</a:t>
                      </a:r>
                    </a:p>
                  </a:txBody>
                  <a:tcPr>
                    <a:solidFill>
                      <a:schemeClr val="tx2">
                        <a:lumMod val="25000"/>
                        <a:lumOff val="75000"/>
                      </a:schemeClr>
                    </a:solidFill>
                  </a:tcPr>
                </a:tc>
                <a:extLst>
                  <a:ext uri="{0D108BD9-81ED-4DB2-BD59-A6C34878D82A}">
                    <a16:rowId xmlns:a16="http://schemas.microsoft.com/office/drawing/2014/main" val="3569088460"/>
                  </a:ext>
                </a:extLst>
              </a:tr>
            </a:tbl>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8BDEC0E-C464-CFFD-BAA6-5D3E0EB8C1FD}"/>
                  </a:ext>
                </a:extLst>
              </p:cNvPr>
              <p:cNvSpPr txBox="1"/>
              <p:nvPr/>
            </p:nvSpPr>
            <p:spPr>
              <a:xfrm>
                <a:off x="7160653" y="4240436"/>
                <a:ext cx="4430333" cy="958980"/>
              </a:xfrm>
              <a:prstGeom prst="rect">
                <a:avLst/>
              </a:prstGeom>
              <a:noFill/>
            </p:spPr>
            <p:txBody>
              <a:bodyPr wrap="square" rtlCol="0">
                <a:spAutoFit/>
              </a:bodyPr>
              <a:lstStyle/>
              <a:p>
                <a:r>
                  <a:rPr lang="en-GB" sz="2800" dirty="0"/>
                  <a:t>Input prompt space is now </a:t>
                </a:r>
                <a14:m>
                  <m:oMath xmlns:m="http://schemas.openxmlformats.org/officeDocument/2006/math">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5</m:t>
                        </m:r>
                      </m:e>
                      <m:sup>
                        <m:r>
                          <a:rPr lang="en-GB" sz="2800" b="0" i="1" smtClean="0">
                            <a:latin typeface="Cambria Math" panose="02040503050406030204" pitchFamily="18" charset="0"/>
                          </a:rPr>
                          <m:t>5</m:t>
                        </m:r>
                      </m:sup>
                    </m:sSup>
                    <m:r>
                      <a:rPr lang="en-GB" sz="2800" b="0" i="1" smtClean="0">
                        <a:latin typeface="Cambria Math" panose="02040503050406030204" pitchFamily="18" charset="0"/>
                      </a:rPr>
                      <m:t>=3125</m:t>
                    </m:r>
                  </m:oMath>
                </a14:m>
                <a:r>
                  <a:rPr lang="en-GB" sz="2800" dirty="0"/>
                  <a:t> dimensional</a:t>
                </a:r>
              </a:p>
            </p:txBody>
          </p:sp>
        </mc:Choice>
        <mc:Fallback xmlns="">
          <p:sp>
            <p:nvSpPr>
              <p:cNvPr id="10" name="TextBox 9">
                <a:extLst>
                  <a:ext uri="{FF2B5EF4-FFF2-40B4-BE49-F238E27FC236}">
                    <a16:creationId xmlns:a16="http://schemas.microsoft.com/office/drawing/2014/main" id="{48BDEC0E-C464-CFFD-BAA6-5D3E0EB8C1FD}"/>
                  </a:ext>
                </a:extLst>
              </p:cNvPr>
              <p:cNvSpPr txBox="1">
                <a:spLocks noRot="1" noChangeAspect="1" noMove="1" noResize="1" noEditPoints="1" noAdjustHandles="1" noChangeArrowheads="1" noChangeShapeType="1" noTextEdit="1"/>
              </p:cNvSpPr>
              <p:nvPr/>
            </p:nvSpPr>
            <p:spPr>
              <a:xfrm>
                <a:off x="7160653" y="4240436"/>
                <a:ext cx="4430333" cy="958980"/>
              </a:xfrm>
              <a:prstGeom prst="rect">
                <a:avLst/>
              </a:prstGeom>
              <a:blipFill>
                <a:blip r:embed="rId3"/>
                <a:stretch>
                  <a:fillRect l="-2893" t="-7006" r="-275" b="-17197"/>
                </a:stretch>
              </a:blipFill>
            </p:spPr>
            <p:txBody>
              <a:bodyPr/>
              <a:lstStyle/>
              <a:p>
                <a:r>
                  <a:rPr lang="en-GB">
                    <a:noFill/>
                  </a:rPr>
                  <a:t> </a:t>
                </a:r>
              </a:p>
            </p:txBody>
          </p:sp>
        </mc:Fallback>
      </mc:AlternateContent>
    </p:spTree>
    <p:extLst>
      <p:ext uri="{BB962C8B-B14F-4D97-AF65-F5344CB8AC3E}">
        <p14:creationId xmlns:p14="http://schemas.microsoft.com/office/powerpoint/2010/main" val="66742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926EA-2AD5-C6BE-A197-96DE0EF91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4D924-0A9E-C3A6-1CBF-629DA53EBB0F}"/>
              </a:ext>
            </a:extLst>
          </p:cNvPr>
          <p:cNvSpPr>
            <a:spLocks noGrp="1"/>
          </p:cNvSpPr>
          <p:nvPr>
            <p:ph type="title"/>
          </p:nvPr>
        </p:nvSpPr>
        <p:spPr>
          <a:xfrm>
            <a:off x="838200" y="365125"/>
            <a:ext cx="10515600" cy="710261"/>
          </a:xfrm>
        </p:spPr>
        <p:txBody>
          <a:bodyPr/>
          <a:lstStyle/>
          <a:p>
            <a:r>
              <a:rPr lang="en-GB" dirty="0"/>
              <a:t>Simple approach: Issues</a:t>
            </a:r>
          </a:p>
        </p:txBody>
      </p:sp>
      <p:sp>
        <p:nvSpPr>
          <p:cNvPr id="3" name="Content Placeholder 2">
            <a:extLst>
              <a:ext uri="{FF2B5EF4-FFF2-40B4-BE49-F238E27FC236}">
                <a16:creationId xmlns:a16="http://schemas.microsoft.com/office/drawing/2014/main" id="{5631A7DE-B3C5-096A-F6B5-A94B9591E3CF}"/>
              </a:ext>
            </a:extLst>
          </p:cNvPr>
          <p:cNvSpPr>
            <a:spLocks noGrp="1"/>
          </p:cNvSpPr>
          <p:nvPr>
            <p:ph idx="1"/>
          </p:nvPr>
        </p:nvSpPr>
        <p:spPr>
          <a:xfrm>
            <a:off x="492163" y="1145711"/>
            <a:ext cx="11537396" cy="5210639"/>
          </a:xfrm>
        </p:spPr>
        <p:txBody>
          <a:bodyPr>
            <a:normAutofit/>
          </a:bodyPr>
          <a:lstStyle/>
          <a:p>
            <a:pPr marL="0" indent="0">
              <a:buNone/>
            </a:pPr>
            <a:r>
              <a:rPr lang="en-GB" dirty="0"/>
              <a:t>Problems:</a:t>
            </a:r>
          </a:p>
          <a:p>
            <a:pPr marL="514350" indent="-514350">
              <a:buAutoNum type="arabicPeriod"/>
            </a:pPr>
            <a:r>
              <a:rPr lang="en-GB" dirty="0"/>
              <a:t>Starting dimensionality is high</a:t>
            </a:r>
          </a:p>
          <a:p>
            <a:pPr marL="457200" lvl="1" indent="0">
              <a:buNone/>
            </a:pPr>
            <a:r>
              <a:rPr lang="en-GB" dirty="0"/>
              <a:t>Our vocabulary is large, e.g. 170000 – 700000 words</a:t>
            </a:r>
            <a:endParaRPr lang="en-GB" dirty="0">
              <a:sym typeface="Symbol" panose="05050102010706020507" pitchFamily="18" charset="2"/>
            </a:endParaRPr>
          </a:p>
          <a:p>
            <a:pPr marL="514350" indent="-514350">
              <a:buAutoNum type="arabicPeriod"/>
            </a:pPr>
            <a:endParaRPr lang="en-GB" dirty="0">
              <a:sym typeface="Symbol" panose="05050102010706020507" pitchFamily="18" charset="2"/>
            </a:endParaRPr>
          </a:p>
          <a:p>
            <a:pPr marL="514350" indent="-514350">
              <a:buAutoNum type="arabicPeriod"/>
            </a:pPr>
            <a:r>
              <a:rPr lang="en-GB" dirty="0">
                <a:sym typeface="Symbol" panose="05050102010706020507" pitchFamily="18" charset="2"/>
              </a:rPr>
              <a:t>We need to work with long contexts  large prompt representation</a:t>
            </a:r>
          </a:p>
          <a:p>
            <a:pPr marL="0" indent="0">
              <a:buNone/>
            </a:pPr>
            <a:endParaRPr lang="en-GB" dirty="0">
              <a:sym typeface="Symbol" panose="05050102010706020507" pitchFamily="18" charset="2"/>
            </a:endParaRPr>
          </a:p>
          <a:p>
            <a:pPr marL="0" indent="0">
              <a:buNone/>
            </a:pPr>
            <a:r>
              <a:rPr lang="en-GB" dirty="0">
                <a:sym typeface="Symbol" panose="05050102010706020507" pitchFamily="18" charset="2"/>
              </a:rPr>
              <a:t>Solution:</a:t>
            </a:r>
          </a:p>
          <a:p>
            <a:pPr marL="971550" lvl="1" indent="-514350">
              <a:buFont typeface="+mj-lt"/>
              <a:buAutoNum type="alphaLcParenR"/>
            </a:pPr>
            <a:r>
              <a:rPr lang="en-GB" dirty="0">
                <a:sym typeface="Symbol" panose="05050102010706020507" pitchFamily="18" charset="2"/>
              </a:rPr>
              <a:t>Reduce the dimensionality</a:t>
            </a:r>
          </a:p>
          <a:p>
            <a:pPr marL="971550" lvl="1" indent="-514350">
              <a:buFont typeface="+mj-lt"/>
              <a:buAutoNum type="alphaLcParenR"/>
            </a:pPr>
            <a:r>
              <a:rPr lang="en-GB" dirty="0">
                <a:sym typeface="Symbol" panose="05050102010706020507" pitchFamily="18" charset="2"/>
              </a:rPr>
              <a:t>Represent words using vectors that incorporate the preceding context</a:t>
            </a:r>
          </a:p>
        </p:txBody>
      </p:sp>
      <p:sp>
        <p:nvSpPr>
          <p:cNvPr id="4" name="Slide Number Placeholder 3">
            <a:extLst>
              <a:ext uri="{FF2B5EF4-FFF2-40B4-BE49-F238E27FC236}">
                <a16:creationId xmlns:a16="http://schemas.microsoft.com/office/drawing/2014/main" id="{ACE94160-2F67-C261-738B-431B03B543F9}"/>
              </a:ext>
            </a:extLst>
          </p:cNvPr>
          <p:cNvSpPr>
            <a:spLocks noGrp="1"/>
          </p:cNvSpPr>
          <p:nvPr>
            <p:ph type="sldNum" sz="quarter" idx="12"/>
          </p:nvPr>
        </p:nvSpPr>
        <p:spPr/>
        <p:txBody>
          <a:bodyPr/>
          <a:lstStyle/>
          <a:p>
            <a:fld id="{13DE89AE-BBCC-45F3-BDAA-E98C74995322}" type="slidenum">
              <a:rPr lang="en-GB" smtClean="0"/>
              <a:t>16</a:t>
            </a:fld>
            <a:endParaRPr lang="en-GB"/>
          </a:p>
        </p:txBody>
      </p:sp>
      <p:grpSp>
        <p:nvGrpSpPr>
          <p:cNvPr id="9" name="Group 8">
            <a:extLst>
              <a:ext uri="{FF2B5EF4-FFF2-40B4-BE49-F238E27FC236}">
                <a16:creationId xmlns:a16="http://schemas.microsoft.com/office/drawing/2014/main" id="{7CF4E337-5E99-EC63-FFB6-8BBB5531D393}"/>
              </a:ext>
            </a:extLst>
          </p:cNvPr>
          <p:cNvGrpSpPr/>
          <p:nvPr/>
        </p:nvGrpSpPr>
        <p:grpSpPr>
          <a:xfrm>
            <a:off x="5173018" y="3946036"/>
            <a:ext cx="6089342" cy="803147"/>
            <a:chOff x="5264458" y="4212736"/>
            <a:chExt cx="6089342" cy="803147"/>
          </a:xfrm>
        </p:grpSpPr>
        <p:cxnSp>
          <p:nvCxnSpPr>
            <p:cNvPr id="6" name="Straight Arrow Connector 5">
              <a:extLst>
                <a:ext uri="{FF2B5EF4-FFF2-40B4-BE49-F238E27FC236}">
                  <a16:creationId xmlns:a16="http://schemas.microsoft.com/office/drawing/2014/main" id="{72815C91-F6E7-4148-CEDB-8B0B213EB7B3}"/>
                </a:ext>
              </a:extLst>
            </p:cNvPr>
            <p:cNvCxnSpPr>
              <a:cxnSpLocks/>
            </p:cNvCxnSpPr>
            <p:nvPr/>
          </p:nvCxnSpPr>
          <p:spPr>
            <a:xfrm flipV="1">
              <a:off x="5264458" y="4474346"/>
              <a:ext cx="1393794" cy="541537"/>
            </a:xfrm>
            <a:prstGeom prst="straightConnector1">
              <a:avLst/>
            </a:prstGeom>
            <a:ln w="47625">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8649BAF-F64C-05D9-9CE2-460C611A738B}"/>
                </a:ext>
              </a:extLst>
            </p:cNvPr>
            <p:cNvSpPr txBox="1"/>
            <p:nvPr/>
          </p:nvSpPr>
          <p:spPr>
            <a:xfrm>
              <a:off x="6622934" y="4212736"/>
              <a:ext cx="4730866" cy="523220"/>
            </a:xfrm>
            <a:prstGeom prst="rect">
              <a:avLst/>
            </a:prstGeom>
            <a:noFill/>
          </p:spPr>
          <p:txBody>
            <a:bodyPr wrap="square" rtlCol="0">
              <a:spAutoFit/>
            </a:bodyPr>
            <a:lstStyle/>
            <a:p>
              <a:r>
                <a:rPr lang="en-GB" sz="2800" dirty="0"/>
                <a:t>Use word embedding vectors</a:t>
              </a:r>
            </a:p>
          </p:txBody>
        </p:sp>
      </p:grpSp>
      <p:grpSp>
        <p:nvGrpSpPr>
          <p:cNvPr id="14" name="Group 13">
            <a:extLst>
              <a:ext uri="{FF2B5EF4-FFF2-40B4-BE49-F238E27FC236}">
                <a16:creationId xmlns:a16="http://schemas.microsoft.com/office/drawing/2014/main" id="{56F127F0-5A86-2DF8-FD74-615D99F6D02F}"/>
              </a:ext>
            </a:extLst>
          </p:cNvPr>
          <p:cNvGrpSpPr/>
          <p:nvPr/>
        </p:nvGrpSpPr>
        <p:grpSpPr>
          <a:xfrm>
            <a:off x="3675355" y="5407489"/>
            <a:ext cx="7495986" cy="1088233"/>
            <a:chOff x="3675355" y="5712289"/>
            <a:chExt cx="7495986" cy="1088233"/>
          </a:xfrm>
        </p:grpSpPr>
        <p:cxnSp>
          <p:nvCxnSpPr>
            <p:cNvPr id="11" name="Straight Arrow Connector 10">
              <a:extLst>
                <a:ext uri="{FF2B5EF4-FFF2-40B4-BE49-F238E27FC236}">
                  <a16:creationId xmlns:a16="http://schemas.microsoft.com/office/drawing/2014/main" id="{060D7CA2-B21B-839F-EFDB-416A47B3AF6D}"/>
                </a:ext>
              </a:extLst>
            </p:cNvPr>
            <p:cNvCxnSpPr>
              <a:cxnSpLocks/>
            </p:cNvCxnSpPr>
            <p:nvPr/>
          </p:nvCxnSpPr>
          <p:spPr>
            <a:xfrm>
              <a:off x="5415379" y="5712289"/>
              <a:ext cx="756081" cy="604174"/>
            </a:xfrm>
            <a:prstGeom prst="straightConnector1">
              <a:avLst/>
            </a:prstGeom>
            <a:ln w="47625">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53E870C-9035-A6FE-FDC1-5D32D829EEC3}"/>
                </a:ext>
              </a:extLst>
            </p:cNvPr>
            <p:cNvSpPr txBox="1"/>
            <p:nvPr/>
          </p:nvSpPr>
          <p:spPr>
            <a:xfrm>
              <a:off x="3675355" y="6277302"/>
              <a:ext cx="7495986" cy="523220"/>
            </a:xfrm>
            <a:prstGeom prst="rect">
              <a:avLst/>
            </a:prstGeom>
            <a:noFill/>
          </p:spPr>
          <p:txBody>
            <a:bodyPr wrap="square" rtlCol="0">
              <a:spAutoFit/>
            </a:bodyPr>
            <a:lstStyle/>
            <a:p>
              <a:r>
                <a:rPr lang="en-GB" sz="2800" dirty="0"/>
                <a:t>Create context-aware word embedding vectors</a:t>
              </a:r>
            </a:p>
          </p:txBody>
        </p:sp>
      </p:grpSp>
    </p:spTree>
    <p:extLst>
      <p:ext uri="{BB962C8B-B14F-4D97-AF65-F5344CB8AC3E}">
        <p14:creationId xmlns:p14="http://schemas.microsoft.com/office/powerpoint/2010/main" val="241205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C26E5A0D-8DE5-FD0D-FF0B-A99847354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61D3-86AE-235E-CAB4-371DD434DC15}"/>
              </a:ext>
            </a:extLst>
          </p:cNvPr>
          <p:cNvSpPr>
            <a:spLocks noGrp="1"/>
          </p:cNvSpPr>
          <p:nvPr>
            <p:ph type="title"/>
          </p:nvPr>
        </p:nvSpPr>
        <p:spPr/>
        <p:txBody>
          <a:bodyPr/>
          <a:lstStyle/>
          <a:p>
            <a:r>
              <a:rPr lang="en-GB" dirty="0">
                <a:solidFill>
                  <a:schemeClr val="bg1"/>
                </a:solidFill>
              </a:rPr>
              <a:t>Word embeddings</a:t>
            </a:r>
          </a:p>
        </p:txBody>
      </p:sp>
      <p:sp>
        <p:nvSpPr>
          <p:cNvPr id="3" name="Text Placeholder 2">
            <a:extLst>
              <a:ext uri="{FF2B5EF4-FFF2-40B4-BE49-F238E27FC236}">
                <a16:creationId xmlns:a16="http://schemas.microsoft.com/office/drawing/2014/main" id="{A08C644E-D91F-423D-0527-2BA61680AA71}"/>
              </a:ext>
            </a:extLst>
          </p:cNvPr>
          <p:cNvSpPr>
            <a:spLocks noGrp="1"/>
          </p:cNvSpPr>
          <p:nvPr>
            <p:ph type="body" idx="1"/>
          </p:nvPr>
        </p:nvSpPr>
        <p:spPr/>
        <p:txBody>
          <a:bodyPr/>
          <a:lstStyle/>
          <a:p>
            <a:r>
              <a:rPr lang="en-US" dirty="0">
                <a:solidFill>
                  <a:schemeClr val="bg1"/>
                </a:solidFill>
              </a:rPr>
              <a:t>Reducing the dimensionality</a:t>
            </a:r>
          </a:p>
          <a:p>
            <a:endParaRPr lang="en-GB" dirty="0">
              <a:solidFill>
                <a:schemeClr val="bg1"/>
              </a:solidFill>
            </a:endParaRPr>
          </a:p>
        </p:txBody>
      </p:sp>
      <p:sp>
        <p:nvSpPr>
          <p:cNvPr id="4" name="Slide Number Placeholder 3">
            <a:extLst>
              <a:ext uri="{FF2B5EF4-FFF2-40B4-BE49-F238E27FC236}">
                <a16:creationId xmlns:a16="http://schemas.microsoft.com/office/drawing/2014/main" id="{64898160-B871-CA27-6F0C-9C2585512378}"/>
              </a:ext>
            </a:extLst>
          </p:cNvPr>
          <p:cNvSpPr>
            <a:spLocks noGrp="1"/>
          </p:cNvSpPr>
          <p:nvPr>
            <p:ph type="sldNum" sz="quarter" idx="12"/>
          </p:nvPr>
        </p:nvSpPr>
        <p:spPr/>
        <p:txBody>
          <a:bodyPr/>
          <a:lstStyle/>
          <a:p>
            <a:fld id="{13DE89AE-BBCC-45F3-BDAA-E98C74995322}" type="slidenum">
              <a:rPr lang="en-GB" smtClean="0"/>
              <a:t>17</a:t>
            </a:fld>
            <a:endParaRPr lang="en-GB"/>
          </a:p>
        </p:txBody>
      </p:sp>
    </p:spTree>
    <p:extLst>
      <p:ext uri="{BB962C8B-B14F-4D97-AF65-F5344CB8AC3E}">
        <p14:creationId xmlns:p14="http://schemas.microsoft.com/office/powerpoint/2010/main" val="872086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855D-2A18-850A-BC91-568308723E71}"/>
              </a:ext>
            </a:extLst>
          </p:cNvPr>
          <p:cNvSpPr>
            <a:spLocks noGrp="1"/>
          </p:cNvSpPr>
          <p:nvPr>
            <p:ph type="title"/>
          </p:nvPr>
        </p:nvSpPr>
        <p:spPr>
          <a:xfrm>
            <a:off x="838200" y="365125"/>
            <a:ext cx="10515600" cy="722593"/>
          </a:xfrm>
        </p:spPr>
        <p:txBody>
          <a:bodyPr/>
          <a:lstStyle/>
          <a:p>
            <a:r>
              <a:rPr lang="en-GB" dirty="0"/>
              <a:t>Word embeddings</a:t>
            </a:r>
          </a:p>
        </p:txBody>
      </p:sp>
      <p:sp>
        <p:nvSpPr>
          <p:cNvPr id="4" name="Slide Number Placeholder 3">
            <a:extLst>
              <a:ext uri="{FF2B5EF4-FFF2-40B4-BE49-F238E27FC236}">
                <a16:creationId xmlns:a16="http://schemas.microsoft.com/office/drawing/2014/main" id="{9570BBBD-4E46-117A-FBDF-F63B8820632A}"/>
              </a:ext>
            </a:extLst>
          </p:cNvPr>
          <p:cNvSpPr>
            <a:spLocks noGrp="1"/>
          </p:cNvSpPr>
          <p:nvPr>
            <p:ph type="sldNum" sz="quarter" idx="12"/>
          </p:nvPr>
        </p:nvSpPr>
        <p:spPr/>
        <p:txBody>
          <a:bodyPr/>
          <a:lstStyle/>
          <a:p>
            <a:fld id="{13DE89AE-BBCC-45F3-BDAA-E98C74995322}" type="slidenum">
              <a:rPr lang="en-GB" smtClean="0"/>
              <a:t>18</a:t>
            </a:fld>
            <a:endParaRPr lang="en-GB"/>
          </a:p>
        </p:txBody>
      </p:sp>
      <p:sp>
        <p:nvSpPr>
          <p:cNvPr id="10" name="Content Placeholder 9">
            <a:extLst>
              <a:ext uri="{FF2B5EF4-FFF2-40B4-BE49-F238E27FC236}">
                <a16:creationId xmlns:a16="http://schemas.microsoft.com/office/drawing/2014/main" id="{CB2F3C0D-F521-185B-0E4B-33EE7EC43377}"/>
              </a:ext>
            </a:extLst>
          </p:cNvPr>
          <p:cNvSpPr>
            <a:spLocks noGrp="1"/>
          </p:cNvSpPr>
          <p:nvPr>
            <p:ph idx="1"/>
          </p:nvPr>
        </p:nvSpPr>
        <p:spPr>
          <a:xfrm>
            <a:off x="838200" y="1333333"/>
            <a:ext cx="10515600" cy="471008"/>
          </a:xfrm>
        </p:spPr>
        <p:txBody>
          <a:bodyPr>
            <a:normAutofit lnSpcReduction="10000"/>
          </a:bodyPr>
          <a:lstStyle/>
          <a:p>
            <a:r>
              <a:rPr lang="en-GB" dirty="0"/>
              <a:t>Reduce to a fixed lower dimensionality</a:t>
            </a:r>
          </a:p>
        </p:txBody>
      </p:sp>
      <p:grpSp>
        <p:nvGrpSpPr>
          <p:cNvPr id="58" name="Group 57">
            <a:extLst>
              <a:ext uri="{FF2B5EF4-FFF2-40B4-BE49-F238E27FC236}">
                <a16:creationId xmlns:a16="http://schemas.microsoft.com/office/drawing/2014/main" id="{1FE09C2D-2037-25C2-C2CE-82D5ABCE87CA}"/>
              </a:ext>
            </a:extLst>
          </p:cNvPr>
          <p:cNvGrpSpPr/>
          <p:nvPr/>
        </p:nvGrpSpPr>
        <p:grpSpPr>
          <a:xfrm>
            <a:off x="871081" y="1849901"/>
            <a:ext cx="9364919" cy="4872307"/>
            <a:chOff x="871081" y="1849901"/>
            <a:chExt cx="9364919" cy="4872307"/>
          </a:xfrm>
        </p:grpSpPr>
        <p:grpSp>
          <p:nvGrpSpPr>
            <p:cNvPr id="56" name="Group 55">
              <a:extLst>
                <a:ext uri="{FF2B5EF4-FFF2-40B4-BE49-F238E27FC236}">
                  <a16:creationId xmlns:a16="http://schemas.microsoft.com/office/drawing/2014/main" id="{DA8053FE-960B-8CF3-09D4-8F17A14B2D29}"/>
                </a:ext>
              </a:extLst>
            </p:cNvPr>
            <p:cNvGrpSpPr/>
            <p:nvPr/>
          </p:nvGrpSpPr>
          <p:grpSpPr>
            <a:xfrm>
              <a:off x="871081" y="1849901"/>
              <a:ext cx="9364919" cy="4872307"/>
              <a:chOff x="871081" y="1849901"/>
              <a:chExt cx="9364919" cy="4872307"/>
            </a:xfrm>
          </p:grpSpPr>
          <p:cxnSp>
            <p:nvCxnSpPr>
              <p:cNvPr id="20" name="Straight Connector 19">
                <a:extLst>
                  <a:ext uri="{FF2B5EF4-FFF2-40B4-BE49-F238E27FC236}">
                    <a16:creationId xmlns:a16="http://schemas.microsoft.com/office/drawing/2014/main" id="{DA66A75C-B610-1185-FCBF-AF3D497D4B5F}"/>
                  </a:ext>
                </a:extLst>
              </p:cNvPr>
              <p:cNvCxnSpPr/>
              <p:nvPr/>
            </p:nvCxnSpPr>
            <p:spPr>
              <a:xfrm>
                <a:off x="7842528" y="6722208"/>
                <a:ext cx="8476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E765E9F8-4EAC-0DE5-9560-98ED3C3AF958}"/>
                  </a:ext>
                </a:extLst>
              </p:cNvPr>
              <p:cNvGrpSpPr/>
              <p:nvPr/>
            </p:nvGrpSpPr>
            <p:grpSpPr>
              <a:xfrm>
                <a:off x="871081" y="2462306"/>
                <a:ext cx="3782801" cy="2860062"/>
                <a:chOff x="1558364" y="2462306"/>
                <a:chExt cx="3782801" cy="2860062"/>
              </a:xfrm>
            </p:grpSpPr>
            <p:sp>
              <p:nvSpPr>
                <p:cNvPr id="30" name="TextBox 29">
                  <a:extLst>
                    <a:ext uri="{FF2B5EF4-FFF2-40B4-BE49-F238E27FC236}">
                      <a16:creationId xmlns:a16="http://schemas.microsoft.com/office/drawing/2014/main" id="{AB173ECD-6598-A014-9AB9-742745167D3D}"/>
                    </a:ext>
                  </a:extLst>
                </p:cNvPr>
                <p:cNvSpPr txBox="1"/>
                <p:nvPr/>
              </p:nvSpPr>
              <p:spPr>
                <a:xfrm>
                  <a:off x="1558364" y="2996566"/>
                  <a:ext cx="3621741" cy="2308324"/>
                </a:xfrm>
                <a:prstGeom prst="rect">
                  <a:avLst/>
                </a:prstGeom>
                <a:noFill/>
              </p:spPr>
              <p:txBody>
                <a:bodyPr wrap="square" rtlCol="0">
                  <a:spAutoFit/>
                </a:bodyPr>
                <a:lstStyle/>
                <a:p>
                  <a:r>
                    <a:rPr lang="en-GB" sz="2400" dirty="0"/>
                    <a:t> “the”   = (1,0,0,0,0)</a:t>
                  </a:r>
                </a:p>
                <a:p>
                  <a:r>
                    <a:rPr lang="en-GB" sz="2400" dirty="0"/>
                    <a:t>“cat”    = (0,1,0,0,0)</a:t>
                  </a:r>
                </a:p>
                <a:p>
                  <a:r>
                    <a:rPr lang="en-GB" sz="2400" dirty="0"/>
                    <a:t>“sat”    = (0,0,1,0,0)</a:t>
                  </a:r>
                </a:p>
                <a:p>
                  <a:r>
                    <a:rPr lang="en-GB" sz="2400" dirty="0"/>
                    <a:t>“on”     = (0,0,0,1,0)</a:t>
                  </a:r>
                </a:p>
                <a:p>
                  <a:r>
                    <a:rPr lang="en-GB" sz="2400" dirty="0"/>
                    <a:t>“mat”  = (0,0,0,0,1)</a:t>
                  </a:r>
                </a:p>
                <a:p>
                  <a:endParaRPr lang="en-GB" sz="2400" dirty="0"/>
                </a:p>
              </p:txBody>
            </p:sp>
            <p:sp>
              <p:nvSpPr>
                <p:cNvPr id="31" name="TextBox 30">
                  <a:extLst>
                    <a:ext uri="{FF2B5EF4-FFF2-40B4-BE49-F238E27FC236}">
                      <a16:creationId xmlns:a16="http://schemas.microsoft.com/office/drawing/2014/main" id="{E2D3FBB8-2813-E020-25A3-223BD9FFE972}"/>
                    </a:ext>
                  </a:extLst>
                </p:cNvPr>
                <p:cNvSpPr txBox="1"/>
                <p:nvPr/>
              </p:nvSpPr>
              <p:spPr>
                <a:xfrm>
                  <a:off x="2223246" y="2462306"/>
                  <a:ext cx="1942353" cy="400110"/>
                </a:xfrm>
                <a:prstGeom prst="rect">
                  <a:avLst/>
                </a:prstGeom>
                <a:noFill/>
              </p:spPr>
              <p:txBody>
                <a:bodyPr wrap="square" rtlCol="0">
                  <a:spAutoFit/>
                </a:bodyPr>
                <a:lstStyle/>
                <a:p>
                  <a:r>
                    <a:rPr lang="en-GB" sz="2000" dirty="0"/>
                    <a:t>5-dimensional</a:t>
                  </a:r>
                </a:p>
              </p:txBody>
            </p:sp>
            <p:sp>
              <p:nvSpPr>
                <p:cNvPr id="32" name="Right Brace 31">
                  <a:extLst>
                    <a:ext uri="{FF2B5EF4-FFF2-40B4-BE49-F238E27FC236}">
                      <a16:creationId xmlns:a16="http://schemas.microsoft.com/office/drawing/2014/main" id="{7E4A4D94-3C40-AC33-D690-4EA39C8430B7}"/>
                    </a:ext>
                  </a:extLst>
                </p:cNvPr>
                <p:cNvSpPr/>
                <p:nvPr/>
              </p:nvSpPr>
              <p:spPr>
                <a:xfrm>
                  <a:off x="4934765" y="2862416"/>
                  <a:ext cx="406400" cy="2459952"/>
                </a:xfrm>
                <a:prstGeom prst="rightBrace">
                  <a:avLst/>
                </a:prstGeom>
                <a:ln w="3492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35" name="Arrow: Right 34">
                <a:extLst>
                  <a:ext uri="{FF2B5EF4-FFF2-40B4-BE49-F238E27FC236}">
                    <a16:creationId xmlns:a16="http://schemas.microsoft.com/office/drawing/2014/main" id="{6D7ECFBA-C396-6888-A1A0-DDF28720E974}"/>
                  </a:ext>
                </a:extLst>
              </p:cNvPr>
              <p:cNvSpPr/>
              <p:nvPr/>
            </p:nvSpPr>
            <p:spPr>
              <a:xfrm>
                <a:off x="4912960" y="3938491"/>
                <a:ext cx="908424" cy="358589"/>
              </a:xfrm>
              <a:prstGeom prst="rightArrow">
                <a:avLst/>
              </a:prstGeom>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5" name="Group 54">
                <a:extLst>
                  <a:ext uri="{FF2B5EF4-FFF2-40B4-BE49-F238E27FC236}">
                    <a16:creationId xmlns:a16="http://schemas.microsoft.com/office/drawing/2014/main" id="{7F8758ED-A75D-5777-94FC-3DD5DF3D464F}"/>
                  </a:ext>
                </a:extLst>
              </p:cNvPr>
              <p:cNvGrpSpPr/>
              <p:nvPr/>
            </p:nvGrpSpPr>
            <p:grpSpPr>
              <a:xfrm>
                <a:off x="6096000" y="1849901"/>
                <a:ext cx="4140000" cy="4222491"/>
                <a:chOff x="6096000" y="1849901"/>
                <a:chExt cx="4140000" cy="4222491"/>
              </a:xfrm>
            </p:grpSpPr>
            <p:pic>
              <p:nvPicPr>
                <p:cNvPr id="29" name="Graphic 28" descr="Cube outline">
                  <a:extLst>
                    <a:ext uri="{FF2B5EF4-FFF2-40B4-BE49-F238E27FC236}">
                      <a16:creationId xmlns:a16="http://schemas.microsoft.com/office/drawing/2014/main" id="{B05FB7AC-2349-4AE0-8458-114399797BE5}"/>
                    </a:ext>
                  </a:extLst>
                </p:cNvPr>
                <p:cNvPicPr>
                  <a:picLocks noChangeAspect="1"/>
                </p:cNvPicPr>
                <p:nvPr/>
              </p:nvPicPr>
              <p:blipFill>
                <a:blip>
                  <a:extLst>
                    <a:ext uri="{96DAC541-7B7A-43D3-8B79-37D633B846F1}">
                      <asvg:svgBlip xmlns:asvg="http://schemas.microsoft.com/office/drawing/2016/SVG/main" r:embed="rId3"/>
                    </a:ext>
                  </a:extLst>
                </a:blip>
                <a:srcRect l="8235" t="9646" r="8730" b="10929"/>
                <a:stretch>
                  <a:fillRect/>
                </a:stretch>
              </p:blipFill>
              <p:spPr>
                <a:xfrm>
                  <a:off x="6096000" y="2112392"/>
                  <a:ext cx="4140000" cy="3960000"/>
                </a:xfrm>
                <a:prstGeom prst="rect">
                  <a:avLst/>
                </a:prstGeom>
              </p:spPr>
            </p:pic>
            <p:sp>
              <p:nvSpPr>
                <p:cNvPr id="34" name="TextBox 33">
                  <a:extLst>
                    <a:ext uri="{FF2B5EF4-FFF2-40B4-BE49-F238E27FC236}">
                      <a16:creationId xmlns:a16="http://schemas.microsoft.com/office/drawing/2014/main" id="{80F46094-5F1C-00F2-EF92-1F73ECE0A9D8}"/>
                    </a:ext>
                  </a:extLst>
                </p:cNvPr>
                <p:cNvSpPr txBox="1"/>
                <p:nvPr/>
              </p:nvSpPr>
              <p:spPr>
                <a:xfrm>
                  <a:off x="7271138" y="1849901"/>
                  <a:ext cx="1942353" cy="400110"/>
                </a:xfrm>
                <a:prstGeom prst="rect">
                  <a:avLst/>
                </a:prstGeom>
                <a:noFill/>
              </p:spPr>
              <p:txBody>
                <a:bodyPr wrap="square" rtlCol="0">
                  <a:spAutoFit/>
                </a:bodyPr>
                <a:lstStyle/>
                <a:p>
                  <a:r>
                    <a:rPr lang="en-GB" sz="2000" dirty="0"/>
                    <a:t>3-dimensional</a:t>
                  </a:r>
                </a:p>
              </p:txBody>
            </p:sp>
            <p:grpSp>
              <p:nvGrpSpPr>
                <p:cNvPr id="54" name="Group 53">
                  <a:extLst>
                    <a:ext uri="{FF2B5EF4-FFF2-40B4-BE49-F238E27FC236}">
                      <a16:creationId xmlns:a16="http://schemas.microsoft.com/office/drawing/2014/main" id="{AADACB95-7AC4-0484-8F77-599744BBCD70}"/>
                    </a:ext>
                  </a:extLst>
                </p:cNvPr>
                <p:cNvGrpSpPr/>
                <p:nvPr/>
              </p:nvGrpSpPr>
              <p:grpSpPr>
                <a:xfrm>
                  <a:off x="6417671" y="2629941"/>
                  <a:ext cx="2947458" cy="2720495"/>
                  <a:chOff x="6417671" y="2629941"/>
                  <a:chExt cx="2947458" cy="2720495"/>
                </a:xfrm>
              </p:grpSpPr>
              <p:grpSp>
                <p:nvGrpSpPr>
                  <p:cNvPr id="48" name="Group 47">
                    <a:extLst>
                      <a:ext uri="{FF2B5EF4-FFF2-40B4-BE49-F238E27FC236}">
                        <a16:creationId xmlns:a16="http://schemas.microsoft.com/office/drawing/2014/main" id="{E80105CE-872A-717F-50AA-628627878D35}"/>
                      </a:ext>
                    </a:extLst>
                  </p:cNvPr>
                  <p:cNvGrpSpPr/>
                  <p:nvPr/>
                </p:nvGrpSpPr>
                <p:grpSpPr>
                  <a:xfrm>
                    <a:off x="6417671" y="3008949"/>
                    <a:ext cx="478117" cy="420051"/>
                    <a:chOff x="6417671" y="3008949"/>
                    <a:chExt cx="478117" cy="420051"/>
                  </a:xfrm>
                </p:grpSpPr>
                <p:sp>
                  <p:nvSpPr>
                    <p:cNvPr id="36" name="Oval 35">
                      <a:extLst>
                        <a:ext uri="{FF2B5EF4-FFF2-40B4-BE49-F238E27FC236}">
                          <a16:creationId xmlns:a16="http://schemas.microsoft.com/office/drawing/2014/main" id="{6D348B51-AB1F-3C32-6DB8-E9D1287C5528}"/>
                        </a:ext>
                      </a:extLst>
                    </p:cNvPr>
                    <p:cNvSpPr/>
                    <p:nvPr/>
                  </p:nvSpPr>
                  <p:spPr>
                    <a:xfrm>
                      <a:off x="6765365" y="3309471"/>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B4AAD4CF-0E98-9AA9-37CF-F9F521EFCCFC}"/>
                        </a:ext>
                      </a:extLst>
                    </p:cNvPr>
                    <p:cNvSpPr txBox="1"/>
                    <p:nvPr/>
                  </p:nvSpPr>
                  <p:spPr>
                    <a:xfrm>
                      <a:off x="6417671" y="3008949"/>
                      <a:ext cx="478117" cy="338554"/>
                    </a:xfrm>
                    <a:prstGeom prst="rect">
                      <a:avLst/>
                    </a:prstGeom>
                    <a:noFill/>
                  </p:spPr>
                  <p:txBody>
                    <a:bodyPr wrap="square" rtlCol="0">
                      <a:spAutoFit/>
                    </a:bodyPr>
                    <a:lstStyle/>
                    <a:p>
                      <a:pPr algn="ctr"/>
                      <a:r>
                        <a:rPr lang="en-GB" sz="1600" dirty="0"/>
                        <a:t>the</a:t>
                      </a:r>
                    </a:p>
                  </p:txBody>
                </p:sp>
              </p:grpSp>
              <p:grpSp>
                <p:nvGrpSpPr>
                  <p:cNvPr id="50" name="Group 49">
                    <a:extLst>
                      <a:ext uri="{FF2B5EF4-FFF2-40B4-BE49-F238E27FC236}">
                        <a16:creationId xmlns:a16="http://schemas.microsoft.com/office/drawing/2014/main" id="{40869E89-C2D4-08F7-4FAC-A02A2FA93BC1}"/>
                      </a:ext>
                    </a:extLst>
                  </p:cNvPr>
                  <p:cNvGrpSpPr/>
                  <p:nvPr/>
                </p:nvGrpSpPr>
                <p:grpSpPr>
                  <a:xfrm>
                    <a:off x="8697697" y="3597627"/>
                    <a:ext cx="667432" cy="422954"/>
                    <a:chOff x="8697697" y="3597627"/>
                    <a:chExt cx="667432" cy="422954"/>
                  </a:xfrm>
                </p:grpSpPr>
                <p:sp>
                  <p:nvSpPr>
                    <p:cNvPr id="38" name="Oval 37">
                      <a:extLst>
                        <a:ext uri="{FF2B5EF4-FFF2-40B4-BE49-F238E27FC236}">
                          <a16:creationId xmlns:a16="http://schemas.microsoft.com/office/drawing/2014/main" id="{4D6B99A2-60A3-DFBB-C437-CB50C814A220}"/>
                        </a:ext>
                      </a:extLst>
                    </p:cNvPr>
                    <p:cNvSpPr/>
                    <p:nvPr/>
                  </p:nvSpPr>
                  <p:spPr>
                    <a:xfrm>
                      <a:off x="8792882" y="3901052"/>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DFDAC0C8-01FE-3D89-BF14-DAD70B6DCA1A}"/>
                        </a:ext>
                      </a:extLst>
                    </p:cNvPr>
                    <p:cNvSpPr txBox="1"/>
                    <p:nvPr/>
                  </p:nvSpPr>
                  <p:spPr>
                    <a:xfrm>
                      <a:off x="8697697" y="3597627"/>
                      <a:ext cx="667432" cy="338554"/>
                    </a:xfrm>
                    <a:prstGeom prst="rect">
                      <a:avLst/>
                    </a:prstGeom>
                    <a:noFill/>
                  </p:spPr>
                  <p:txBody>
                    <a:bodyPr wrap="square" rtlCol="0">
                      <a:spAutoFit/>
                    </a:bodyPr>
                    <a:lstStyle/>
                    <a:p>
                      <a:pPr algn="ctr"/>
                      <a:r>
                        <a:rPr lang="en-GB" sz="1600" dirty="0"/>
                        <a:t>on</a:t>
                      </a:r>
                    </a:p>
                  </p:txBody>
                </p:sp>
              </p:grpSp>
              <p:grpSp>
                <p:nvGrpSpPr>
                  <p:cNvPr id="51" name="Group 50">
                    <a:extLst>
                      <a:ext uri="{FF2B5EF4-FFF2-40B4-BE49-F238E27FC236}">
                        <a16:creationId xmlns:a16="http://schemas.microsoft.com/office/drawing/2014/main" id="{19CCD313-F36C-CA81-E949-FD05974573D1}"/>
                      </a:ext>
                    </a:extLst>
                  </p:cNvPr>
                  <p:cNvGrpSpPr/>
                  <p:nvPr/>
                </p:nvGrpSpPr>
                <p:grpSpPr>
                  <a:xfrm>
                    <a:off x="6968565" y="4238807"/>
                    <a:ext cx="587617" cy="396617"/>
                    <a:chOff x="6968565" y="4238807"/>
                    <a:chExt cx="587617" cy="396617"/>
                  </a:xfrm>
                </p:grpSpPr>
                <p:sp>
                  <p:nvSpPr>
                    <p:cNvPr id="39" name="Oval 38">
                      <a:extLst>
                        <a:ext uri="{FF2B5EF4-FFF2-40B4-BE49-F238E27FC236}">
                          <a16:creationId xmlns:a16="http://schemas.microsoft.com/office/drawing/2014/main" id="{A5D2D219-9902-0C74-CFD7-D880B5B72869}"/>
                        </a:ext>
                      </a:extLst>
                    </p:cNvPr>
                    <p:cNvSpPr/>
                    <p:nvPr/>
                  </p:nvSpPr>
                  <p:spPr>
                    <a:xfrm>
                      <a:off x="7342091" y="423880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72CC6CA9-948A-2CBD-C6E6-2DFD977C5D1A}"/>
                        </a:ext>
                      </a:extLst>
                    </p:cNvPr>
                    <p:cNvSpPr txBox="1"/>
                    <p:nvPr/>
                  </p:nvSpPr>
                  <p:spPr>
                    <a:xfrm>
                      <a:off x="6968565" y="4296870"/>
                      <a:ext cx="587617" cy="338554"/>
                    </a:xfrm>
                    <a:prstGeom prst="rect">
                      <a:avLst/>
                    </a:prstGeom>
                    <a:noFill/>
                  </p:spPr>
                  <p:txBody>
                    <a:bodyPr wrap="square" rtlCol="0">
                      <a:spAutoFit/>
                    </a:bodyPr>
                    <a:lstStyle/>
                    <a:p>
                      <a:pPr algn="ctr"/>
                      <a:r>
                        <a:rPr lang="en-GB" sz="1600" dirty="0"/>
                        <a:t>sat</a:t>
                      </a:r>
                    </a:p>
                  </p:txBody>
                </p:sp>
              </p:grpSp>
              <p:grpSp>
                <p:nvGrpSpPr>
                  <p:cNvPr id="49" name="Group 48">
                    <a:extLst>
                      <a:ext uri="{FF2B5EF4-FFF2-40B4-BE49-F238E27FC236}">
                        <a16:creationId xmlns:a16="http://schemas.microsoft.com/office/drawing/2014/main" id="{B5756BBD-37CD-2A97-0786-413F6586C8F4}"/>
                      </a:ext>
                    </a:extLst>
                  </p:cNvPr>
                  <p:cNvGrpSpPr/>
                  <p:nvPr/>
                </p:nvGrpSpPr>
                <p:grpSpPr>
                  <a:xfrm>
                    <a:off x="7495597" y="2629941"/>
                    <a:ext cx="911840" cy="441857"/>
                    <a:chOff x="7495597" y="2629941"/>
                    <a:chExt cx="911840" cy="441857"/>
                  </a:xfrm>
                </p:grpSpPr>
                <p:sp>
                  <p:nvSpPr>
                    <p:cNvPr id="37" name="Oval 36">
                      <a:extLst>
                        <a:ext uri="{FF2B5EF4-FFF2-40B4-BE49-F238E27FC236}">
                          <a16:creationId xmlns:a16="http://schemas.microsoft.com/office/drawing/2014/main" id="{7580C232-F859-F848-6B88-5654B85088A0}"/>
                        </a:ext>
                      </a:extLst>
                    </p:cNvPr>
                    <p:cNvSpPr/>
                    <p:nvPr/>
                  </p:nvSpPr>
                  <p:spPr>
                    <a:xfrm>
                      <a:off x="7837965" y="2952269"/>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5F71AAAD-6414-F05C-A3AC-AC05554B6FC3}"/>
                        </a:ext>
                      </a:extLst>
                    </p:cNvPr>
                    <p:cNvSpPr txBox="1"/>
                    <p:nvPr/>
                  </p:nvSpPr>
                  <p:spPr>
                    <a:xfrm>
                      <a:off x="7495597" y="2629941"/>
                      <a:ext cx="911840" cy="338554"/>
                    </a:xfrm>
                    <a:prstGeom prst="rect">
                      <a:avLst/>
                    </a:prstGeom>
                    <a:noFill/>
                  </p:spPr>
                  <p:txBody>
                    <a:bodyPr wrap="square" rtlCol="0">
                      <a:spAutoFit/>
                    </a:bodyPr>
                    <a:lstStyle/>
                    <a:p>
                      <a:pPr algn="ctr"/>
                      <a:r>
                        <a:rPr lang="en-GB" sz="1600" dirty="0"/>
                        <a:t>cat</a:t>
                      </a:r>
                    </a:p>
                  </p:txBody>
                </p:sp>
              </p:grpSp>
              <p:grpSp>
                <p:nvGrpSpPr>
                  <p:cNvPr id="53" name="Group 52">
                    <a:extLst>
                      <a:ext uri="{FF2B5EF4-FFF2-40B4-BE49-F238E27FC236}">
                        <a16:creationId xmlns:a16="http://schemas.microsoft.com/office/drawing/2014/main" id="{C9A93AF2-FE77-0FE7-9565-553DCE4B4A87}"/>
                      </a:ext>
                    </a:extLst>
                  </p:cNvPr>
                  <p:cNvGrpSpPr/>
                  <p:nvPr/>
                </p:nvGrpSpPr>
                <p:grpSpPr>
                  <a:xfrm>
                    <a:off x="8573721" y="4969732"/>
                    <a:ext cx="667433" cy="380704"/>
                    <a:chOff x="8573721" y="4969732"/>
                    <a:chExt cx="667433" cy="380704"/>
                  </a:xfrm>
                </p:grpSpPr>
                <p:sp>
                  <p:nvSpPr>
                    <p:cNvPr id="40" name="Oval 39">
                      <a:extLst>
                        <a:ext uri="{FF2B5EF4-FFF2-40B4-BE49-F238E27FC236}">
                          <a16:creationId xmlns:a16="http://schemas.microsoft.com/office/drawing/2014/main" id="{E84D0978-43F5-33A3-BDD9-D539D1F32722}"/>
                        </a:ext>
                      </a:extLst>
                    </p:cNvPr>
                    <p:cNvSpPr/>
                    <p:nvPr/>
                  </p:nvSpPr>
                  <p:spPr>
                    <a:xfrm>
                      <a:off x="9021482" y="523090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7F1350ED-C8DE-6605-9DE9-C713C8700C03}"/>
                        </a:ext>
                      </a:extLst>
                    </p:cNvPr>
                    <p:cNvSpPr txBox="1"/>
                    <p:nvPr/>
                  </p:nvSpPr>
                  <p:spPr>
                    <a:xfrm>
                      <a:off x="8573721" y="4969732"/>
                      <a:ext cx="667433" cy="338554"/>
                    </a:xfrm>
                    <a:prstGeom prst="rect">
                      <a:avLst/>
                    </a:prstGeom>
                    <a:noFill/>
                  </p:spPr>
                  <p:txBody>
                    <a:bodyPr wrap="square" rtlCol="0">
                      <a:spAutoFit/>
                    </a:bodyPr>
                    <a:lstStyle/>
                    <a:p>
                      <a:pPr algn="ctr"/>
                      <a:r>
                        <a:rPr lang="en-GB" sz="1600" dirty="0"/>
                        <a:t>mat</a:t>
                      </a:r>
                    </a:p>
                  </p:txBody>
                </p:sp>
              </p:grpSp>
            </p:grpSp>
          </p:grpSp>
        </p:grpSp>
        <p:sp>
          <p:nvSpPr>
            <p:cNvPr id="57" name="TextBox 56">
              <a:extLst>
                <a:ext uri="{FF2B5EF4-FFF2-40B4-BE49-F238E27FC236}">
                  <a16:creationId xmlns:a16="http://schemas.microsoft.com/office/drawing/2014/main" id="{3AAA706F-B7FE-57B7-92A7-6217A1C58678}"/>
                </a:ext>
              </a:extLst>
            </p:cNvPr>
            <p:cNvSpPr txBox="1"/>
            <p:nvPr/>
          </p:nvSpPr>
          <p:spPr>
            <a:xfrm>
              <a:off x="4736059" y="3505294"/>
              <a:ext cx="1051857" cy="523220"/>
            </a:xfrm>
            <a:prstGeom prst="rect">
              <a:avLst/>
            </a:prstGeom>
            <a:noFill/>
          </p:spPr>
          <p:txBody>
            <a:bodyPr wrap="square" rtlCol="0">
              <a:spAutoFit/>
            </a:bodyPr>
            <a:lstStyle/>
            <a:p>
              <a:pPr algn="ctr"/>
              <a:r>
                <a:rPr lang="en-GB" sz="2800" dirty="0"/>
                <a:t>Map</a:t>
              </a:r>
            </a:p>
          </p:txBody>
        </p:sp>
      </p:grpSp>
    </p:spTree>
    <p:extLst>
      <p:ext uri="{BB962C8B-B14F-4D97-AF65-F5344CB8AC3E}">
        <p14:creationId xmlns:p14="http://schemas.microsoft.com/office/powerpoint/2010/main" val="701570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67891-4BCD-5400-4D13-03495FEE6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0A013-3F48-6F16-CC6F-00A1218B5356}"/>
              </a:ext>
            </a:extLst>
          </p:cNvPr>
          <p:cNvSpPr>
            <a:spLocks noGrp="1"/>
          </p:cNvSpPr>
          <p:nvPr>
            <p:ph type="title"/>
          </p:nvPr>
        </p:nvSpPr>
        <p:spPr>
          <a:xfrm>
            <a:off x="838200" y="365125"/>
            <a:ext cx="10515600" cy="722593"/>
          </a:xfrm>
        </p:spPr>
        <p:txBody>
          <a:bodyPr/>
          <a:lstStyle/>
          <a:p>
            <a:r>
              <a:rPr lang="en-GB" dirty="0"/>
              <a:t>Word embeddings</a:t>
            </a:r>
          </a:p>
        </p:txBody>
      </p:sp>
      <p:sp>
        <p:nvSpPr>
          <p:cNvPr id="4" name="Slide Number Placeholder 3">
            <a:extLst>
              <a:ext uri="{FF2B5EF4-FFF2-40B4-BE49-F238E27FC236}">
                <a16:creationId xmlns:a16="http://schemas.microsoft.com/office/drawing/2014/main" id="{978E44DD-DD79-EA7C-6C07-F88588AFB3AE}"/>
              </a:ext>
            </a:extLst>
          </p:cNvPr>
          <p:cNvSpPr>
            <a:spLocks noGrp="1"/>
          </p:cNvSpPr>
          <p:nvPr>
            <p:ph type="sldNum" sz="quarter" idx="12"/>
          </p:nvPr>
        </p:nvSpPr>
        <p:spPr/>
        <p:txBody>
          <a:bodyPr/>
          <a:lstStyle/>
          <a:p>
            <a:fld id="{13DE89AE-BBCC-45F3-BDAA-E98C74995322}" type="slidenum">
              <a:rPr lang="en-GB" smtClean="0"/>
              <a:t>19</a:t>
            </a:fld>
            <a:endParaRPr lang="en-GB"/>
          </a:p>
        </p:txBody>
      </p:sp>
      <p:sp>
        <p:nvSpPr>
          <p:cNvPr id="10" name="Content Placeholder 9">
            <a:extLst>
              <a:ext uri="{FF2B5EF4-FFF2-40B4-BE49-F238E27FC236}">
                <a16:creationId xmlns:a16="http://schemas.microsoft.com/office/drawing/2014/main" id="{BEFA7F6A-71AE-4530-9AF4-702D7C385525}"/>
              </a:ext>
            </a:extLst>
          </p:cNvPr>
          <p:cNvSpPr>
            <a:spLocks noGrp="1"/>
          </p:cNvSpPr>
          <p:nvPr>
            <p:ph idx="1"/>
          </p:nvPr>
        </p:nvSpPr>
        <p:spPr>
          <a:xfrm>
            <a:off x="838200" y="1333333"/>
            <a:ext cx="10515600" cy="471008"/>
          </a:xfrm>
        </p:spPr>
        <p:txBody>
          <a:bodyPr>
            <a:normAutofit lnSpcReduction="10000"/>
          </a:bodyPr>
          <a:lstStyle/>
          <a:p>
            <a:r>
              <a:rPr lang="en-GB" dirty="0"/>
              <a:t>Reduce to a fixed lower dimensionality</a:t>
            </a:r>
          </a:p>
        </p:txBody>
      </p:sp>
      <p:sp>
        <p:nvSpPr>
          <p:cNvPr id="34" name="TextBox 33">
            <a:extLst>
              <a:ext uri="{FF2B5EF4-FFF2-40B4-BE49-F238E27FC236}">
                <a16:creationId xmlns:a16="http://schemas.microsoft.com/office/drawing/2014/main" id="{215DFEF6-8AC2-D321-7B5D-D5AC395F2F5E}"/>
              </a:ext>
            </a:extLst>
          </p:cNvPr>
          <p:cNvSpPr txBox="1"/>
          <p:nvPr/>
        </p:nvSpPr>
        <p:spPr>
          <a:xfrm>
            <a:off x="6674636" y="1857096"/>
            <a:ext cx="4500787" cy="1323439"/>
          </a:xfrm>
          <a:prstGeom prst="rect">
            <a:avLst/>
          </a:prstGeom>
          <a:noFill/>
        </p:spPr>
        <p:txBody>
          <a:bodyPr wrap="square" rtlCol="0">
            <a:spAutoFit/>
          </a:bodyPr>
          <a:lstStyle/>
          <a:p>
            <a:r>
              <a:rPr lang="en-GB" sz="2000" dirty="0"/>
              <a:t>Word2Vec: 300-dimensional</a:t>
            </a:r>
          </a:p>
          <a:p>
            <a:r>
              <a:rPr lang="en-GB" sz="2000" dirty="0"/>
              <a:t>GPT-3 (Davinci): 12288-dimensional</a:t>
            </a:r>
          </a:p>
          <a:p>
            <a:r>
              <a:rPr lang="en-GB" sz="2000" dirty="0" err="1"/>
              <a:t>LlaMA</a:t>
            </a:r>
            <a:r>
              <a:rPr lang="en-GB" sz="2000" dirty="0"/>
              <a:t> 3.1-70B: 8192-dimensional</a:t>
            </a:r>
          </a:p>
          <a:p>
            <a:r>
              <a:rPr lang="en-GB" sz="2000" dirty="0"/>
              <a:t>GPT-4.5: 3072-dimensional</a:t>
            </a:r>
          </a:p>
        </p:txBody>
      </p:sp>
      <p:grpSp>
        <p:nvGrpSpPr>
          <p:cNvPr id="54" name="Group 53">
            <a:extLst>
              <a:ext uri="{FF2B5EF4-FFF2-40B4-BE49-F238E27FC236}">
                <a16:creationId xmlns:a16="http://schemas.microsoft.com/office/drawing/2014/main" id="{B821E376-2F21-66F8-1BF2-BCD86B10EDD2}"/>
              </a:ext>
            </a:extLst>
          </p:cNvPr>
          <p:cNvGrpSpPr/>
          <p:nvPr/>
        </p:nvGrpSpPr>
        <p:grpSpPr>
          <a:xfrm>
            <a:off x="1169904" y="3152998"/>
            <a:ext cx="8916384" cy="3268288"/>
            <a:chOff x="1169904" y="3152998"/>
            <a:chExt cx="8916384" cy="3268288"/>
          </a:xfrm>
        </p:grpSpPr>
        <p:grpSp>
          <p:nvGrpSpPr>
            <p:cNvPr id="52" name="Group 51">
              <a:extLst>
                <a:ext uri="{FF2B5EF4-FFF2-40B4-BE49-F238E27FC236}">
                  <a16:creationId xmlns:a16="http://schemas.microsoft.com/office/drawing/2014/main" id="{5D3D4341-92FE-A176-9743-26EA8F9B7C49}"/>
                </a:ext>
              </a:extLst>
            </p:cNvPr>
            <p:cNvGrpSpPr/>
            <p:nvPr/>
          </p:nvGrpSpPr>
          <p:grpSpPr>
            <a:xfrm>
              <a:off x="1169904" y="3352478"/>
              <a:ext cx="4950303" cy="2459952"/>
              <a:chOff x="1169904" y="3352478"/>
              <a:chExt cx="4950303" cy="2459952"/>
            </a:xfrm>
          </p:grpSpPr>
          <p:grpSp>
            <p:nvGrpSpPr>
              <p:cNvPr id="33" name="Group 32">
                <a:extLst>
                  <a:ext uri="{FF2B5EF4-FFF2-40B4-BE49-F238E27FC236}">
                    <a16:creationId xmlns:a16="http://schemas.microsoft.com/office/drawing/2014/main" id="{AE0BD242-EF4D-BBF8-43F4-F7DD6E817181}"/>
                  </a:ext>
                </a:extLst>
              </p:cNvPr>
              <p:cNvGrpSpPr/>
              <p:nvPr/>
            </p:nvGrpSpPr>
            <p:grpSpPr>
              <a:xfrm>
                <a:off x="1169904" y="3352478"/>
                <a:ext cx="3782801" cy="2459952"/>
                <a:chOff x="1558364" y="2862416"/>
                <a:chExt cx="3782801" cy="2459952"/>
              </a:xfrm>
            </p:grpSpPr>
            <p:sp>
              <p:nvSpPr>
                <p:cNvPr id="30" name="TextBox 29">
                  <a:extLst>
                    <a:ext uri="{FF2B5EF4-FFF2-40B4-BE49-F238E27FC236}">
                      <a16:creationId xmlns:a16="http://schemas.microsoft.com/office/drawing/2014/main" id="{C7476FB8-361C-CE77-03BB-733AA7FF5B5D}"/>
                    </a:ext>
                  </a:extLst>
                </p:cNvPr>
                <p:cNvSpPr txBox="1"/>
                <p:nvPr/>
              </p:nvSpPr>
              <p:spPr>
                <a:xfrm>
                  <a:off x="1558364" y="3797681"/>
                  <a:ext cx="3621741" cy="461665"/>
                </a:xfrm>
                <a:prstGeom prst="rect">
                  <a:avLst/>
                </a:prstGeom>
                <a:noFill/>
              </p:spPr>
              <p:txBody>
                <a:bodyPr wrap="square" rtlCol="0" anchor="ctr">
                  <a:spAutoFit/>
                </a:bodyPr>
                <a:lstStyle/>
                <a:p>
                  <a:pPr algn="ctr"/>
                  <a:r>
                    <a:rPr lang="en-GB" sz="2400" dirty="0"/>
                    <a:t> All of English language</a:t>
                  </a:r>
                </a:p>
              </p:txBody>
            </p:sp>
            <p:sp>
              <p:nvSpPr>
                <p:cNvPr id="31" name="TextBox 30">
                  <a:extLst>
                    <a:ext uri="{FF2B5EF4-FFF2-40B4-BE49-F238E27FC236}">
                      <a16:creationId xmlns:a16="http://schemas.microsoft.com/office/drawing/2014/main" id="{C454EBA1-7D5A-A207-D9A0-2F82B7511361}"/>
                    </a:ext>
                  </a:extLst>
                </p:cNvPr>
                <p:cNvSpPr txBox="1"/>
                <p:nvPr/>
              </p:nvSpPr>
              <p:spPr>
                <a:xfrm>
                  <a:off x="1677903" y="3192419"/>
                  <a:ext cx="3502202" cy="400110"/>
                </a:xfrm>
                <a:prstGeom prst="rect">
                  <a:avLst/>
                </a:prstGeom>
                <a:noFill/>
              </p:spPr>
              <p:txBody>
                <a:bodyPr wrap="square" rtlCol="0">
                  <a:spAutoFit/>
                </a:bodyPr>
                <a:lstStyle/>
                <a:p>
                  <a:r>
                    <a:rPr lang="en-GB" sz="2000" dirty="0"/>
                    <a:t>170000 – 700000 dimensional</a:t>
                  </a:r>
                </a:p>
              </p:txBody>
            </p:sp>
            <p:sp>
              <p:nvSpPr>
                <p:cNvPr id="32" name="Right Brace 31">
                  <a:extLst>
                    <a:ext uri="{FF2B5EF4-FFF2-40B4-BE49-F238E27FC236}">
                      <a16:creationId xmlns:a16="http://schemas.microsoft.com/office/drawing/2014/main" id="{B264AFDF-9498-97AF-13D8-440EF84D96E6}"/>
                    </a:ext>
                  </a:extLst>
                </p:cNvPr>
                <p:cNvSpPr/>
                <p:nvPr/>
              </p:nvSpPr>
              <p:spPr>
                <a:xfrm>
                  <a:off x="4934765" y="2862416"/>
                  <a:ext cx="406400" cy="2459952"/>
                </a:xfrm>
                <a:prstGeom prst="rightBrace">
                  <a:avLst/>
                </a:prstGeom>
                <a:ln w="3492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35" name="Arrow: Right 34">
                <a:extLst>
                  <a:ext uri="{FF2B5EF4-FFF2-40B4-BE49-F238E27FC236}">
                    <a16:creationId xmlns:a16="http://schemas.microsoft.com/office/drawing/2014/main" id="{65D0B7DE-99B8-B091-C03D-068E898F57E0}"/>
                  </a:ext>
                </a:extLst>
              </p:cNvPr>
              <p:cNvSpPr/>
              <p:nvPr/>
            </p:nvSpPr>
            <p:spPr>
              <a:xfrm>
                <a:off x="5211783" y="4428553"/>
                <a:ext cx="908424" cy="358589"/>
              </a:xfrm>
              <a:prstGeom prst="rightArrow">
                <a:avLst/>
              </a:prstGeom>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9ED489AD-3CAE-224D-9816-8BBA8D030662}"/>
                  </a:ext>
                </a:extLst>
              </p:cNvPr>
              <p:cNvSpPr txBox="1"/>
              <p:nvPr/>
            </p:nvSpPr>
            <p:spPr>
              <a:xfrm>
                <a:off x="5034882" y="3995356"/>
                <a:ext cx="1051857" cy="523220"/>
              </a:xfrm>
              <a:prstGeom prst="rect">
                <a:avLst/>
              </a:prstGeom>
              <a:noFill/>
            </p:spPr>
            <p:txBody>
              <a:bodyPr wrap="square" rtlCol="0">
                <a:spAutoFit/>
              </a:bodyPr>
              <a:lstStyle/>
              <a:p>
                <a:pPr algn="ctr"/>
                <a:r>
                  <a:rPr lang="en-GB" sz="2800" dirty="0"/>
                  <a:t>Map</a:t>
                </a:r>
              </a:p>
            </p:txBody>
          </p:sp>
        </p:grpSp>
        <p:grpSp>
          <p:nvGrpSpPr>
            <p:cNvPr id="53" name="Group 52">
              <a:extLst>
                <a:ext uri="{FF2B5EF4-FFF2-40B4-BE49-F238E27FC236}">
                  <a16:creationId xmlns:a16="http://schemas.microsoft.com/office/drawing/2014/main" id="{3EB71D29-93E3-DE90-3660-88F15827F2DA}"/>
                </a:ext>
              </a:extLst>
            </p:cNvPr>
            <p:cNvGrpSpPr/>
            <p:nvPr/>
          </p:nvGrpSpPr>
          <p:grpSpPr>
            <a:xfrm>
              <a:off x="6669441" y="3152998"/>
              <a:ext cx="3416847" cy="3268288"/>
              <a:chOff x="6669441" y="3152998"/>
              <a:chExt cx="3416847" cy="3268288"/>
            </a:xfrm>
          </p:grpSpPr>
          <p:pic>
            <p:nvPicPr>
              <p:cNvPr id="29" name="Graphic 28" descr="Cube outline">
                <a:extLst>
                  <a:ext uri="{FF2B5EF4-FFF2-40B4-BE49-F238E27FC236}">
                    <a16:creationId xmlns:a16="http://schemas.microsoft.com/office/drawing/2014/main" id="{F5480B8D-9143-1A1A-EA95-EECAC61BA08B}"/>
                  </a:ext>
                </a:extLst>
              </p:cNvPr>
              <p:cNvPicPr>
                <a:picLocks noChangeAspect="1"/>
              </p:cNvPicPr>
              <p:nvPr/>
            </p:nvPicPr>
            <p:blipFill>
              <a:blip>
                <a:extLst>
                  <a:ext uri="{96DAC541-7B7A-43D3-8B79-37D633B846F1}">
                    <asvg:svgBlip xmlns:asvg="http://schemas.microsoft.com/office/drawing/2016/SVG/main" r:embed="rId3"/>
                  </a:ext>
                </a:extLst>
              </a:blip>
              <a:srcRect l="8235" t="9646" r="8730" b="10929"/>
              <a:stretch>
                <a:fillRect/>
              </a:stretch>
            </p:blipFill>
            <p:spPr>
              <a:xfrm>
                <a:off x="6669441" y="3152998"/>
                <a:ext cx="3416847" cy="3268288"/>
              </a:xfrm>
              <a:prstGeom prst="rect">
                <a:avLst/>
              </a:prstGeom>
            </p:spPr>
          </p:pic>
          <p:sp>
            <p:nvSpPr>
              <p:cNvPr id="3" name="Oval 2">
                <a:extLst>
                  <a:ext uri="{FF2B5EF4-FFF2-40B4-BE49-F238E27FC236}">
                    <a16:creationId xmlns:a16="http://schemas.microsoft.com/office/drawing/2014/main" id="{E949066B-E508-9A09-F530-B1B456AA24BA}"/>
                  </a:ext>
                </a:extLst>
              </p:cNvPr>
              <p:cNvSpPr/>
              <p:nvPr/>
            </p:nvSpPr>
            <p:spPr>
              <a:xfrm>
                <a:off x="7025133" y="39952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D7F1FB17-DD9D-3933-4A7F-44B7356661B2}"/>
                  </a:ext>
                </a:extLst>
              </p:cNvPr>
              <p:cNvSpPr/>
              <p:nvPr/>
            </p:nvSpPr>
            <p:spPr>
              <a:xfrm>
                <a:off x="7177533" y="41476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EB80EEBB-FAD2-7685-B65E-75A60A60BF80}"/>
                  </a:ext>
                </a:extLst>
              </p:cNvPr>
              <p:cNvSpPr/>
              <p:nvPr/>
            </p:nvSpPr>
            <p:spPr>
              <a:xfrm>
                <a:off x="7085750" y="4492296"/>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E92B4D7B-2E69-F894-522E-783645D31293}"/>
                  </a:ext>
                </a:extLst>
              </p:cNvPr>
              <p:cNvSpPr/>
              <p:nvPr/>
            </p:nvSpPr>
            <p:spPr>
              <a:xfrm>
                <a:off x="7329933" y="4632574"/>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E91CDDD-6259-8B55-2D13-94CDCB1A6D75}"/>
                  </a:ext>
                </a:extLst>
              </p:cNvPr>
              <p:cNvSpPr/>
              <p:nvPr/>
            </p:nvSpPr>
            <p:spPr>
              <a:xfrm>
                <a:off x="7355908" y="43000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F17D947C-367B-F299-F46C-9FC9872D9177}"/>
                  </a:ext>
                </a:extLst>
              </p:cNvPr>
              <p:cNvSpPr/>
              <p:nvPr/>
            </p:nvSpPr>
            <p:spPr>
              <a:xfrm>
                <a:off x="7735176" y="4840391"/>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3B02D48D-27EB-DCA1-989C-B75FC83E7F12}"/>
                  </a:ext>
                </a:extLst>
              </p:cNvPr>
              <p:cNvSpPr/>
              <p:nvPr/>
            </p:nvSpPr>
            <p:spPr>
              <a:xfrm>
                <a:off x="7168876" y="52144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10546C1B-75A6-5BB4-EF1B-4291CBD5C7A8}"/>
                  </a:ext>
                </a:extLst>
              </p:cNvPr>
              <p:cNvSpPr/>
              <p:nvPr/>
            </p:nvSpPr>
            <p:spPr>
              <a:xfrm>
                <a:off x="7797526" y="43000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6AC7C343-F43B-1D90-79A0-F634644CA5B2}"/>
                  </a:ext>
                </a:extLst>
              </p:cNvPr>
              <p:cNvSpPr/>
              <p:nvPr/>
            </p:nvSpPr>
            <p:spPr>
              <a:xfrm>
                <a:off x="7600094" y="511055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D292BFC-BA1C-A160-ED05-53D0EFFDB5CB}"/>
                  </a:ext>
                </a:extLst>
              </p:cNvPr>
              <p:cNvSpPr/>
              <p:nvPr/>
            </p:nvSpPr>
            <p:spPr>
              <a:xfrm>
                <a:off x="7329933" y="552619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5DE87A8-40E7-8D44-DBA1-1D7AACA0BE58}"/>
                  </a:ext>
                </a:extLst>
              </p:cNvPr>
              <p:cNvSpPr/>
              <p:nvPr/>
            </p:nvSpPr>
            <p:spPr>
              <a:xfrm>
                <a:off x="7641655" y="5863905"/>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CBDAF635-B47F-AFC1-F48E-C46748CBE6B7}"/>
                  </a:ext>
                </a:extLst>
              </p:cNvPr>
              <p:cNvSpPr/>
              <p:nvPr/>
            </p:nvSpPr>
            <p:spPr>
              <a:xfrm>
                <a:off x="7880647" y="5479425"/>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9118914A-662C-ADEC-9170-A032E53EF2F7}"/>
                  </a:ext>
                </a:extLst>
              </p:cNvPr>
              <p:cNvSpPr/>
              <p:nvPr/>
            </p:nvSpPr>
            <p:spPr>
              <a:xfrm>
                <a:off x="7329933" y="3712984"/>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4F7755BF-5B49-0380-F56C-A140D7ABEB5E}"/>
                  </a:ext>
                </a:extLst>
              </p:cNvPr>
              <p:cNvSpPr/>
              <p:nvPr/>
            </p:nvSpPr>
            <p:spPr>
              <a:xfrm>
                <a:off x="7735176" y="3858456"/>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2CB5C338-8707-2575-537D-E14FBC8FB794}"/>
                  </a:ext>
                </a:extLst>
              </p:cNvPr>
              <p:cNvSpPr/>
              <p:nvPr/>
            </p:nvSpPr>
            <p:spPr>
              <a:xfrm>
                <a:off x="8135233" y="3453205"/>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293CC86E-44C6-219D-D244-BCE3282D5A5B}"/>
                  </a:ext>
                </a:extLst>
              </p:cNvPr>
              <p:cNvSpPr/>
              <p:nvPr/>
            </p:nvSpPr>
            <p:spPr>
              <a:xfrm>
                <a:off x="8161210" y="3697395"/>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4D7C6036-198A-4F0A-CABB-991A407E9EBA}"/>
                  </a:ext>
                </a:extLst>
              </p:cNvPr>
              <p:cNvSpPr/>
              <p:nvPr/>
            </p:nvSpPr>
            <p:spPr>
              <a:xfrm>
                <a:off x="8400198" y="4019523"/>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35E6C10B-5EC4-7CB6-F0FE-FF4B84DC6A16}"/>
                  </a:ext>
                </a:extLst>
              </p:cNvPr>
              <p:cNvSpPr/>
              <p:nvPr/>
            </p:nvSpPr>
            <p:spPr>
              <a:xfrm>
                <a:off x="8919748" y="386884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C48F462D-6C3E-C060-E7D8-9428B8EEF91D}"/>
                  </a:ext>
                </a:extLst>
              </p:cNvPr>
              <p:cNvSpPr/>
              <p:nvPr/>
            </p:nvSpPr>
            <p:spPr>
              <a:xfrm>
                <a:off x="8758684" y="3832484"/>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999E53B2-E49A-129C-9BBF-8BDDC566F1EE}"/>
                  </a:ext>
                </a:extLst>
              </p:cNvPr>
              <p:cNvSpPr/>
              <p:nvPr/>
            </p:nvSpPr>
            <p:spPr>
              <a:xfrm>
                <a:off x="8779472" y="354672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9267214D-035D-A2FA-AA23-7F6A07AD7B10}"/>
                  </a:ext>
                </a:extLst>
              </p:cNvPr>
              <p:cNvSpPr/>
              <p:nvPr/>
            </p:nvSpPr>
            <p:spPr>
              <a:xfrm>
                <a:off x="9387343" y="3827289"/>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37E40B06-BBCB-EF5C-C783-91B730FF9E06}"/>
                  </a:ext>
                </a:extLst>
              </p:cNvPr>
              <p:cNvSpPr/>
              <p:nvPr/>
            </p:nvSpPr>
            <p:spPr>
              <a:xfrm>
                <a:off x="8192378" y="4539055"/>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0CFD07C6-4C21-CFB8-C027-687F0A50A6FB}"/>
                  </a:ext>
                </a:extLst>
              </p:cNvPr>
              <p:cNvSpPr/>
              <p:nvPr/>
            </p:nvSpPr>
            <p:spPr>
              <a:xfrm>
                <a:off x="8550868" y="4326042"/>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485CE4E0-E41C-30A5-3339-7BAA495F9ECB}"/>
                  </a:ext>
                </a:extLst>
              </p:cNvPr>
              <p:cNvSpPr/>
              <p:nvPr/>
            </p:nvSpPr>
            <p:spPr>
              <a:xfrm>
                <a:off x="8363833" y="483519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E69D21F6-37C6-E58B-2356-A1FA27FFE764}"/>
                  </a:ext>
                </a:extLst>
              </p:cNvPr>
              <p:cNvSpPr/>
              <p:nvPr/>
            </p:nvSpPr>
            <p:spPr>
              <a:xfrm>
                <a:off x="8919748" y="430006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14787FBE-DAFA-AF61-BB1A-F1598E3DA1B5}"/>
                  </a:ext>
                </a:extLst>
              </p:cNvPr>
              <p:cNvSpPr/>
              <p:nvPr/>
            </p:nvSpPr>
            <p:spPr>
              <a:xfrm>
                <a:off x="8867793" y="4824806"/>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1350CDA4-DF8A-A02E-141D-34B88C50E7E0}"/>
                  </a:ext>
                </a:extLst>
              </p:cNvPr>
              <p:cNvSpPr/>
              <p:nvPr/>
            </p:nvSpPr>
            <p:spPr>
              <a:xfrm>
                <a:off x="8504108" y="5396304"/>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37FCDB68-6BAA-944E-CF17-B2D98DB7513E}"/>
                  </a:ext>
                </a:extLst>
              </p:cNvPr>
              <p:cNvSpPr/>
              <p:nvPr/>
            </p:nvSpPr>
            <p:spPr>
              <a:xfrm>
                <a:off x="9501649" y="4232529"/>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E0A331E1-D2E1-762E-1C34-7A1DEDB37ECF}"/>
                  </a:ext>
                </a:extLst>
              </p:cNvPr>
              <p:cNvSpPr/>
              <p:nvPr/>
            </p:nvSpPr>
            <p:spPr>
              <a:xfrm>
                <a:off x="8213158" y="5843123"/>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Oval 40">
                <a:extLst>
                  <a:ext uri="{FF2B5EF4-FFF2-40B4-BE49-F238E27FC236}">
                    <a16:creationId xmlns:a16="http://schemas.microsoft.com/office/drawing/2014/main" id="{1B436BB1-40BF-7253-253C-29A556874D7F}"/>
                  </a:ext>
                </a:extLst>
              </p:cNvPr>
              <p:cNvSpPr/>
              <p:nvPr/>
            </p:nvSpPr>
            <p:spPr>
              <a:xfrm>
                <a:off x="9127568" y="4632574"/>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5220CF6B-8935-C765-6B30-9684AC6FC41C}"/>
                  </a:ext>
                </a:extLst>
              </p:cNvPr>
              <p:cNvSpPr/>
              <p:nvPr/>
            </p:nvSpPr>
            <p:spPr>
              <a:xfrm>
                <a:off x="9553601" y="4616988"/>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Oval 42">
                <a:extLst>
                  <a:ext uri="{FF2B5EF4-FFF2-40B4-BE49-F238E27FC236}">
                    <a16:creationId xmlns:a16="http://schemas.microsoft.com/office/drawing/2014/main" id="{AF27BDA3-1BE6-70BD-7421-9CC2080E5D68}"/>
                  </a:ext>
                </a:extLst>
              </p:cNvPr>
              <p:cNvSpPr/>
              <p:nvPr/>
            </p:nvSpPr>
            <p:spPr>
              <a:xfrm>
                <a:off x="9506838" y="542228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D59BA365-1DD3-21C0-1EEA-F3695959A57A}"/>
                  </a:ext>
                </a:extLst>
              </p:cNvPr>
              <p:cNvSpPr/>
              <p:nvPr/>
            </p:nvSpPr>
            <p:spPr>
              <a:xfrm>
                <a:off x="9132763" y="5578152"/>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C735881B-F404-6140-F78E-19C01F92E6F2}"/>
                  </a:ext>
                </a:extLst>
              </p:cNvPr>
              <p:cNvSpPr/>
              <p:nvPr/>
            </p:nvSpPr>
            <p:spPr>
              <a:xfrm>
                <a:off x="9039241" y="5718422"/>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45">
                <a:extLst>
                  <a:ext uri="{FF2B5EF4-FFF2-40B4-BE49-F238E27FC236}">
                    <a16:creationId xmlns:a16="http://schemas.microsoft.com/office/drawing/2014/main" id="{F24E3A2B-E8CB-D766-D3F2-70394831EACD}"/>
                  </a:ext>
                </a:extLst>
              </p:cNvPr>
              <p:cNvSpPr/>
              <p:nvPr/>
            </p:nvSpPr>
            <p:spPr>
              <a:xfrm>
                <a:off x="8763883" y="5785966"/>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a:extLst>
                  <a:ext uri="{FF2B5EF4-FFF2-40B4-BE49-F238E27FC236}">
                    <a16:creationId xmlns:a16="http://schemas.microsoft.com/office/drawing/2014/main" id="{FEEE01BD-7024-E179-4CD6-FA4ABDB3B3A6}"/>
                  </a:ext>
                </a:extLst>
              </p:cNvPr>
              <p:cNvSpPr/>
              <p:nvPr/>
            </p:nvSpPr>
            <p:spPr>
              <a:xfrm>
                <a:off x="9054838" y="5183298"/>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Oval 47">
                <a:extLst>
                  <a:ext uri="{FF2B5EF4-FFF2-40B4-BE49-F238E27FC236}">
                    <a16:creationId xmlns:a16="http://schemas.microsoft.com/office/drawing/2014/main" id="{6A9A77B4-41D9-44CC-9CA8-F909722621D0}"/>
                  </a:ext>
                </a:extLst>
              </p:cNvPr>
              <p:cNvSpPr/>
              <p:nvPr/>
            </p:nvSpPr>
            <p:spPr>
              <a:xfrm>
                <a:off x="9231478" y="5152130"/>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Oval 48">
                <a:extLst>
                  <a:ext uri="{FF2B5EF4-FFF2-40B4-BE49-F238E27FC236}">
                    <a16:creationId xmlns:a16="http://schemas.microsoft.com/office/drawing/2014/main" id="{B655B4A9-9F85-D0D8-3AE5-BF80540F040B}"/>
                  </a:ext>
                </a:extLst>
              </p:cNvPr>
              <p:cNvSpPr/>
              <p:nvPr/>
            </p:nvSpPr>
            <p:spPr>
              <a:xfrm>
                <a:off x="9382141" y="5240441"/>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Oval 49">
                <a:extLst>
                  <a:ext uri="{FF2B5EF4-FFF2-40B4-BE49-F238E27FC236}">
                    <a16:creationId xmlns:a16="http://schemas.microsoft.com/office/drawing/2014/main" id="{4F274B60-EA82-BEAE-8873-8A9D4B98CA65}"/>
                  </a:ext>
                </a:extLst>
              </p:cNvPr>
              <p:cNvSpPr/>
              <p:nvPr/>
            </p:nvSpPr>
            <p:spPr>
              <a:xfrm>
                <a:off x="8452153" y="5630107"/>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46E60BC1-92B4-E7DA-2E8F-3C7C03E42956}"/>
                  </a:ext>
                </a:extLst>
              </p:cNvPr>
              <p:cNvSpPr/>
              <p:nvPr/>
            </p:nvSpPr>
            <p:spPr>
              <a:xfrm>
                <a:off x="8249532" y="5017042"/>
                <a:ext cx="113552" cy="11952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35837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0AED1-E510-822F-7480-9FB2BA267A76}"/>
              </a:ext>
            </a:extLst>
          </p:cNvPr>
          <p:cNvSpPr>
            <a:spLocks noGrp="1"/>
          </p:cNvSpPr>
          <p:nvPr>
            <p:ph type="title"/>
          </p:nvPr>
        </p:nvSpPr>
        <p:spPr>
          <a:xfrm>
            <a:off x="306295" y="373314"/>
            <a:ext cx="8485094" cy="662256"/>
          </a:xfrm>
        </p:spPr>
        <p:txBody>
          <a:bodyPr>
            <a:normAutofit fontScale="90000"/>
          </a:bodyPr>
          <a:lstStyle/>
          <a:p>
            <a:r>
              <a:rPr lang="en-GB" dirty="0"/>
              <a:t>Word embeddings</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0535F417-A0F0-0014-D97D-57D02737F54C}"/>
                  </a:ext>
                </a:extLst>
              </p:cNvPr>
              <p:cNvGraphicFramePr>
                <a:graphicFrameLocks noGrp="1"/>
              </p:cNvGraphicFramePr>
              <p:nvPr>
                <p:ph idx="1"/>
              </p:nvPr>
            </p:nvGraphicFramePr>
            <p:xfrm>
              <a:off x="306295" y="1728841"/>
              <a:ext cx="8909425" cy="4720404"/>
            </p:xfrm>
            <a:graphic>
              <a:graphicData uri="http://schemas.openxmlformats.org/drawingml/2006/table">
                <a:tbl>
                  <a:tblPr bandRow="1">
                    <a:tableStyleId>{5C22544A-7EE6-4342-B048-85BDC9FD1C3A}</a:tableStyleId>
                  </a:tblPr>
                  <a:tblGrid>
                    <a:gridCol w="1272775">
                      <a:extLst>
                        <a:ext uri="{9D8B030D-6E8A-4147-A177-3AD203B41FA5}">
                          <a16:colId xmlns:a16="http://schemas.microsoft.com/office/drawing/2014/main" val="1921037292"/>
                        </a:ext>
                      </a:extLst>
                    </a:gridCol>
                    <a:gridCol w="1272775">
                      <a:extLst>
                        <a:ext uri="{9D8B030D-6E8A-4147-A177-3AD203B41FA5}">
                          <a16:colId xmlns:a16="http://schemas.microsoft.com/office/drawing/2014/main" val="2490178104"/>
                        </a:ext>
                      </a:extLst>
                    </a:gridCol>
                    <a:gridCol w="1272775">
                      <a:extLst>
                        <a:ext uri="{9D8B030D-6E8A-4147-A177-3AD203B41FA5}">
                          <a16:colId xmlns:a16="http://schemas.microsoft.com/office/drawing/2014/main" val="587330003"/>
                        </a:ext>
                      </a:extLst>
                    </a:gridCol>
                    <a:gridCol w="1272775">
                      <a:extLst>
                        <a:ext uri="{9D8B030D-6E8A-4147-A177-3AD203B41FA5}">
                          <a16:colId xmlns:a16="http://schemas.microsoft.com/office/drawing/2014/main" val="4275522847"/>
                        </a:ext>
                      </a:extLst>
                    </a:gridCol>
                    <a:gridCol w="1272775">
                      <a:extLst>
                        <a:ext uri="{9D8B030D-6E8A-4147-A177-3AD203B41FA5}">
                          <a16:colId xmlns:a16="http://schemas.microsoft.com/office/drawing/2014/main" val="1584829184"/>
                        </a:ext>
                      </a:extLst>
                    </a:gridCol>
                    <a:gridCol w="1272775">
                      <a:extLst>
                        <a:ext uri="{9D8B030D-6E8A-4147-A177-3AD203B41FA5}">
                          <a16:colId xmlns:a16="http://schemas.microsoft.com/office/drawing/2014/main" val="3572158234"/>
                        </a:ext>
                      </a:extLst>
                    </a:gridCol>
                    <a:gridCol w="1272775">
                      <a:extLst>
                        <a:ext uri="{9D8B030D-6E8A-4147-A177-3AD203B41FA5}">
                          <a16:colId xmlns:a16="http://schemas.microsoft.com/office/drawing/2014/main" val="1050365378"/>
                        </a:ext>
                      </a:extLst>
                    </a:gridCol>
                  </a:tblGrid>
                  <a:tr h="517494">
                    <a:tc>
                      <a:txBody>
                        <a:bodyPr/>
                        <a:lstStyle/>
                        <a:p>
                          <a:r>
                            <a:rPr lang="en-GB"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GB" b="1" dirty="0"/>
                            <a:t>the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sat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the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579782730"/>
                      </a:ext>
                    </a:extLst>
                  </a:tr>
                  <a:tr h="517494">
                    <a:tc>
                      <a:txBody>
                        <a:bodyPr/>
                        <a:lstStyle/>
                        <a:p>
                          <a:r>
                            <a:rPr lang="en-GB"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2.4249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4.7426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-8.1093 × 10</a:t>
                          </a:r>
                          <a:r>
                            <a:rPr lang="en-GB" sz="1400" b="0" i="0" kern="1200" baseline="30000" dirty="0">
                              <a:solidFill>
                                <a:schemeClr val="dk1"/>
                              </a:solidFill>
                              <a:effectLst/>
                              <a:latin typeface="+mn-lt"/>
                              <a:ea typeface="+mn-ea"/>
                              <a:cs typeface="+mn-cs"/>
                            </a:rPr>
                            <a:t>-2</a:t>
                          </a:r>
                        </a:p>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-2.0204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2.4249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-7.3271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10938"/>
                      </a:ext>
                    </a:extLst>
                  </a:tr>
                  <a:tr h="517494">
                    <a:tc>
                      <a:txBody>
                        <a:bodyPr/>
                        <a:lstStyle/>
                        <a:p>
                          <a:r>
                            <a:rPr lang="en-GB"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4.8235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-4.2203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-6.3660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-6.6599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4.8235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a:t>
                          </a:r>
                          <a:r>
                            <a:rPr lang="en-GB" sz="1400" b="0" i="0" kern="1200" dirty="0">
                              <a:solidFill>
                                <a:schemeClr val="dk1"/>
                              </a:solidFill>
                              <a:effectLst/>
                              <a:latin typeface="+mn-lt"/>
                              <a:ea typeface="+mn-ea"/>
                              <a:cs typeface="+mn-cs"/>
                            </a:rPr>
                            <a:t>8.9358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2460578"/>
                      </a:ext>
                    </a:extLst>
                  </a:tr>
                  <a:tr h="517494">
                    <a:tc>
                      <a:txBody>
                        <a:bodyPr/>
                        <a:lstStyle/>
                        <a:p>
                          <a:r>
                            <a:rPr lang="en-GB"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1.8411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2.8491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3.6398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2.5621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1.8411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1.0698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6126846"/>
                      </a:ext>
                    </a:extLst>
                  </a:tr>
                  <a:tr h="517494">
                    <a:tc>
                      <a:txBody>
                        <a:bodyPr/>
                        <a:lstStyle/>
                        <a:p>
                          <a:r>
                            <a:rPr lang="en-GB"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-4.4481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3.3358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1.7926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1.1881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5851422"/>
                      </a:ext>
                    </a:extLst>
                  </a:tr>
                  <a:tr h="517494">
                    <a:tc>
                      <a:txBody>
                        <a:bodyPr/>
                        <a:lstStyle/>
                        <a:p>
                          <a:r>
                            <a:rPr lang="en-GB"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1.9167 × 10</a:t>
                          </a:r>
                          <a:r>
                            <a:rPr lang="en-GB" sz="1400" b="0" i="0" kern="1200" baseline="30000" dirty="0">
                              <a:solidFill>
                                <a:schemeClr val="dk1"/>
                              </a:solidFill>
                              <a:effectLst/>
                              <a:latin typeface="+mn-lt"/>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b="0" i="0" kern="1200" baseline="300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-2.6467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1.1537 × 10</a:t>
                          </a:r>
                          <a:r>
                            <a:rPr lang="en-GB" sz="1400" b="0" i="0" kern="1200" baseline="30000" dirty="0">
                              <a:solidFill>
                                <a:schemeClr val="dk1"/>
                              </a:solidFill>
                              <a:effectLst/>
                              <a:latin typeface="+mn-lt"/>
                              <a:ea typeface="+mn-ea"/>
                              <a:cs typeface="+mn-cs"/>
                            </a:rPr>
                            <a:t>-1</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8.4262 × 10</a:t>
                          </a:r>
                          <a:r>
                            <a:rPr lang="en-GB" sz="1400" b="0" i="0" kern="1200" baseline="30000" dirty="0">
                              <a:solidFill>
                                <a:schemeClr val="dk1"/>
                              </a:solidFill>
                              <a:effectLst/>
                              <a:latin typeface="+mn-lt"/>
                              <a:ea typeface="+mn-ea"/>
                              <a:cs typeface="+mn-cs"/>
                            </a:rPr>
                            <a:t>-23</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1.9167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5.6133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508806"/>
                      </a:ext>
                    </a:extLst>
                  </a:tr>
                  <a:tr h="517494">
                    <a:tc>
                      <a:txBody>
                        <a:bodyPr/>
                        <a:lstStyle/>
                        <a:p>
                          <a:pPr/>
                          <a14:m>
                            <m:oMathPara xmlns:m="http://schemas.openxmlformats.org/officeDocument/2006/math">
                              <m:oMathParaPr>
                                <m:jc m:val="left"/>
                              </m:oMathParaPr>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3591171"/>
                      </a:ext>
                    </a:extLst>
                  </a:tr>
                  <a:tr h="5174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GB" sz="2800" i="1" smtClean="0">
                                    <a:latin typeface="Cambria Math" panose="02040503050406030204" pitchFamily="18" charset="0"/>
                                  </a:rPr>
                                  <m:t>⋮</m:t>
                                </m:r>
                              </m:oMath>
                            </m:oMathPara>
                          </a14:m>
                          <a:endParaRPr lang="en-GB"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1537807"/>
                      </a:ext>
                    </a:extLst>
                  </a:tr>
                  <a:tr h="517494">
                    <a:tc>
                      <a:txBody>
                        <a:bodyPr/>
                        <a:lstStyle/>
                        <a:p>
                          <a:r>
                            <a:rPr lang="en-GB" dirty="0"/>
                            <a:t>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3.4856×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1.3847×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9.3088×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5.2301 × 10</a:t>
                          </a:r>
                          <a:r>
                            <a:rPr lang="en-GB" sz="1400" b="0" i="0" kern="1200" baseline="30000" dirty="0">
                              <a:solidFill>
                                <a:schemeClr val="dk1"/>
                              </a:solidFill>
                              <a:effectLst/>
                              <a:latin typeface="+mn-lt"/>
                              <a:ea typeface="+mn-ea"/>
                              <a:cs typeface="+mn-cs"/>
                            </a:rPr>
                            <a:t>-3</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1.8160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8744109"/>
                      </a:ext>
                    </a:extLst>
                  </a:tr>
                </a:tbl>
              </a:graphicData>
            </a:graphic>
          </p:graphicFrame>
        </mc:Choice>
        <mc:Fallback xmlns="">
          <p:graphicFrame>
            <p:nvGraphicFramePr>
              <p:cNvPr id="5" name="Content Placeholder 4">
                <a:extLst>
                  <a:ext uri="{FF2B5EF4-FFF2-40B4-BE49-F238E27FC236}">
                    <a16:creationId xmlns:a16="http://schemas.microsoft.com/office/drawing/2014/main" id="{0535F417-A0F0-0014-D97D-57D02737F54C}"/>
                  </a:ext>
                </a:extLst>
              </p:cNvPr>
              <p:cNvGraphicFramePr>
                <a:graphicFrameLocks noGrp="1"/>
              </p:cNvGraphicFramePr>
              <p:nvPr>
                <p:ph idx="1"/>
                <p:extLst>
                  <p:ext uri="{D42A27DB-BD31-4B8C-83A1-F6EECF244321}">
                    <p14:modId xmlns:p14="http://schemas.microsoft.com/office/powerpoint/2010/main" val="795054285"/>
                  </p:ext>
                </p:extLst>
              </p:nvPr>
            </p:nvGraphicFramePr>
            <p:xfrm>
              <a:off x="306295" y="1728841"/>
              <a:ext cx="8909425" cy="4720404"/>
            </p:xfrm>
            <a:graphic>
              <a:graphicData uri="http://schemas.openxmlformats.org/drawingml/2006/table">
                <a:tbl>
                  <a:tblPr bandRow="1">
                    <a:tableStyleId>{5C22544A-7EE6-4342-B048-85BDC9FD1C3A}</a:tableStyleId>
                  </a:tblPr>
                  <a:tblGrid>
                    <a:gridCol w="1272775">
                      <a:extLst>
                        <a:ext uri="{9D8B030D-6E8A-4147-A177-3AD203B41FA5}">
                          <a16:colId xmlns:a16="http://schemas.microsoft.com/office/drawing/2014/main" val="1921037292"/>
                        </a:ext>
                      </a:extLst>
                    </a:gridCol>
                    <a:gridCol w="1272775">
                      <a:extLst>
                        <a:ext uri="{9D8B030D-6E8A-4147-A177-3AD203B41FA5}">
                          <a16:colId xmlns:a16="http://schemas.microsoft.com/office/drawing/2014/main" val="2490178104"/>
                        </a:ext>
                      </a:extLst>
                    </a:gridCol>
                    <a:gridCol w="1272775">
                      <a:extLst>
                        <a:ext uri="{9D8B030D-6E8A-4147-A177-3AD203B41FA5}">
                          <a16:colId xmlns:a16="http://schemas.microsoft.com/office/drawing/2014/main" val="587330003"/>
                        </a:ext>
                      </a:extLst>
                    </a:gridCol>
                    <a:gridCol w="1272775">
                      <a:extLst>
                        <a:ext uri="{9D8B030D-6E8A-4147-A177-3AD203B41FA5}">
                          <a16:colId xmlns:a16="http://schemas.microsoft.com/office/drawing/2014/main" val="4275522847"/>
                        </a:ext>
                      </a:extLst>
                    </a:gridCol>
                    <a:gridCol w="1272775">
                      <a:extLst>
                        <a:ext uri="{9D8B030D-6E8A-4147-A177-3AD203B41FA5}">
                          <a16:colId xmlns:a16="http://schemas.microsoft.com/office/drawing/2014/main" val="1584829184"/>
                        </a:ext>
                      </a:extLst>
                    </a:gridCol>
                    <a:gridCol w="1272775">
                      <a:extLst>
                        <a:ext uri="{9D8B030D-6E8A-4147-A177-3AD203B41FA5}">
                          <a16:colId xmlns:a16="http://schemas.microsoft.com/office/drawing/2014/main" val="3572158234"/>
                        </a:ext>
                      </a:extLst>
                    </a:gridCol>
                    <a:gridCol w="1272775">
                      <a:extLst>
                        <a:ext uri="{9D8B030D-6E8A-4147-A177-3AD203B41FA5}">
                          <a16:colId xmlns:a16="http://schemas.microsoft.com/office/drawing/2014/main" val="1050365378"/>
                        </a:ext>
                      </a:extLst>
                    </a:gridCol>
                  </a:tblGrid>
                  <a:tr h="517494">
                    <a:tc>
                      <a:txBody>
                        <a:bodyPr/>
                        <a:lstStyle/>
                        <a:p>
                          <a:r>
                            <a:rPr lang="en-GB"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GB" b="1" dirty="0"/>
                            <a:t>the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sat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the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n-GB" b="1" dirty="0"/>
                            <a:t>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579782730"/>
                      </a:ext>
                    </a:extLst>
                  </a:tr>
                  <a:tr h="579120">
                    <a:tc>
                      <a:txBody>
                        <a:bodyPr/>
                        <a:lstStyle/>
                        <a:p>
                          <a:r>
                            <a:rPr lang="en-GB"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2.4249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4.7426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-8.1093 × 10</a:t>
                          </a:r>
                          <a:r>
                            <a:rPr lang="en-GB" sz="1400" b="0" i="0" kern="1200" baseline="30000" dirty="0">
                              <a:solidFill>
                                <a:schemeClr val="dk1"/>
                              </a:solidFill>
                              <a:effectLst/>
                              <a:latin typeface="+mn-lt"/>
                              <a:ea typeface="+mn-ea"/>
                              <a:cs typeface="+mn-cs"/>
                            </a:rPr>
                            <a:t>-2</a:t>
                          </a:r>
                        </a:p>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-2.0204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2.4249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-7.3271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10938"/>
                      </a:ext>
                    </a:extLst>
                  </a:tr>
                  <a:tr h="517494">
                    <a:tc>
                      <a:txBody>
                        <a:bodyPr/>
                        <a:lstStyle/>
                        <a:p>
                          <a:r>
                            <a:rPr lang="en-GB"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4.8235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-4.2203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-6.3660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-6.6599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4.8235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0" i="0" kern="1200" dirty="0">
                              <a:solidFill>
                                <a:schemeClr val="dk1"/>
                              </a:solidFill>
                              <a:effectLst/>
                              <a:latin typeface="+mn-lt"/>
                              <a:ea typeface="+mn-ea"/>
                              <a:cs typeface="+mn-cs"/>
                            </a:rPr>
                            <a:t>-</a:t>
                          </a:r>
                          <a:r>
                            <a:rPr lang="en-GB" sz="1400" b="0" i="0" kern="1200" dirty="0">
                              <a:solidFill>
                                <a:schemeClr val="dk1"/>
                              </a:solidFill>
                              <a:effectLst/>
                              <a:latin typeface="+mn-lt"/>
                              <a:ea typeface="+mn-ea"/>
                              <a:cs typeface="+mn-cs"/>
                            </a:rPr>
                            <a:t>8.9358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2460578"/>
                      </a:ext>
                    </a:extLst>
                  </a:tr>
                  <a:tr h="517494">
                    <a:tc>
                      <a:txBody>
                        <a:bodyPr/>
                        <a:lstStyle/>
                        <a:p>
                          <a:r>
                            <a:rPr lang="en-GB"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1.8411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2.8491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3.6398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2.5621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1.8411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1.0698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6126846"/>
                      </a:ext>
                    </a:extLst>
                  </a:tr>
                  <a:tr h="517494">
                    <a:tc>
                      <a:txBody>
                        <a:bodyPr/>
                        <a:lstStyle/>
                        <a:p>
                          <a:r>
                            <a:rPr lang="en-GB"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-4.4481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3.3358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1.7926 × 10</a:t>
                          </a:r>
                          <a:r>
                            <a:rPr lang="en-GB" sz="1400" b="0" i="0" kern="1200" baseline="30000" dirty="0">
                              <a:solidFill>
                                <a:schemeClr val="dk1"/>
                              </a:solidFill>
                              <a:effectLst/>
                              <a:latin typeface="+mn-lt"/>
                              <a:ea typeface="+mn-ea"/>
                              <a:cs typeface="+mn-cs"/>
                            </a:rPr>
                            <a:t>-2</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1.1881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5851422"/>
                      </a:ext>
                    </a:extLst>
                  </a:tr>
                  <a:tr h="517494">
                    <a:tc>
                      <a:txBody>
                        <a:bodyPr/>
                        <a:lstStyle/>
                        <a:p>
                          <a:r>
                            <a:rPr lang="en-GB"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1.9167 × 10</a:t>
                          </a:r>
                          <a:r>
                            <a:rPr lang="en-GB" sz="1400" b="0" i="0" kern="1200" baseline="30000" dirty="0">
                              <a:solidFill>
                                <a:schemeClr val="dk1"/>
                              </a:solidFill>
                              <a:effectLst/>
                              <a:latin typeface="+mn-lt"/>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400" b="0" i="0" kern="1200" baseline="30000" dirty="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-2.6467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1.1537 × 10</a:t>
                          </a:r>
                          <a:r>
                            <a:rPr lang="en-GB" sz="1400" b="0" i="0" kern="1200" baseline="30000" dirty="0">
                              <a:solidFill>
                                <a:schemeClr val="dk1"/>
                              </a:solidFill>
                              <a:effectLst/>
                              <a:latin typeface="+mn-lt"/>
                              <a:ea typeface="+mn-ea"/>
                              <a:cs typeface="+mn-cs"/>
                            </a:rPr>
                            <a:t>-1</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8.4262 × 10</a:t>
                          </a:r>
                          <a:r>
                            <a:rPr lang="en-GB" sz="1400" b="0" i="0" kern="1200" baseline="30000" dirty="0">
                              <a:solidFill>
                                <a:schemeClr val="dk1"/>
                              </a:solidFill>
                              <a:effectLst/>
                              <a:latin typeface="+mn-lt"/>
                              <a:ea typeface="+mn-ea"/>
                              <a:cs typeface="+mn-cs"/>
                            </a:rPr>
                            <a:t>-23</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1.9167 ×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5.6133 ×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508806"/>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8" t="-616471" r="-600478"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78" t="-616471" r="-500478"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478" t="-616471" r="-400478"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923" t="-616471" r="-302404"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000" t="-616471" r="-200957"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0000" t="-616471" r="-100957" b="-2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0000" t="-616471" r="-957" b="-203529"/>
                          </a:stretch>
                        </a:blipFill>
                      </a:tcPr>
                    </a:tc>
                    <a:extLst>
                      <a:ext uri="{0D108BD9-81ED-4DB2-BD59-A6C34878D82A}">
                        <a16:rowId xmlns:a16="http://schemas.microsoft.com/office/drawing/2014/main" val="1433591171"/>
                      </a:ext>
                    </a:extLst>
                  </a:tr>
                  <a:tr h="5181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78" t="-716471" r="-600478"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78" t="-716471" r="-500478"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478" t="-716471" r="-400478"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923" t="-716471" r="-302404"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000" t="-716471" r="-200957"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0000" t="-716471" r="-100957" b="-103529"/>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0000" t="-716471" r="-957" b="-103529"/>
                          </a:stretch>
                        </a:blipFill>
                      </a:tcPr>
                    </a:tc>
                    <a:extLst>
                      <a:ext uri="{0D108BD9-81ED-4DB2-BD59-A6C34878D82A}">
                        <a16:rowId xmlns:a16="http://schemas.microsoft.com/office/drawing/2014/main" val="1451537807"/>
                      </a:ext>
                    </a:extLst>
                  </a:tr>
                  <a:tr h="517494">
                    <a:tc>
                      <a:txBody>
                        <a:bodyPr/>
                        <a:lstStyle/>
                        <a:p>
                          <a:r>
                            <a:rPr lang="en-GB" dirty="0"/>
                            <a:t>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3.4856× 10</a:t>
                          </a:r>
                          <a:r>
                            <a:rPr lang="en-GB" sz="1400" b="0" i="0" kern="1200" baseline="30000" dirty="0">
                              <a:solidFill>
                                <a:schemeClr val="dk1"/>
                              </a:solidFill>
                              <a:effectLst/>
                              <a:latin typeface="+mn-lt"/>
                              <a:ea typeface="+mn-ea"/>
                              <a:cs typeface="+mn-cs"/>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1.3847×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9.3088× 10</a:t>
                          </a:r>
                          <a:r>
                            <a:rPr lang="en-GB" sz="1400" b="0" i="0" kern="1200" baseline="30000" dirty="0">
                              <a:solidFill>
                                <a:schemeClr val="dk1"/>
                              </a:solidFill>
                              <a:effectLst/>
                              <a:latin typeface="+mn-lt"/>
                              <a:ea typeface="+mn-ea"/>
                              <a:cs typeface="+mn-cs"/>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1400" b="0" i="0" kern="1200" dirty="0">
                              <a:solidFill>
                                <a:schemeClr val="dk1"/>
                              </a:solidFill>
                              <a:effectLst/>
                              <a:latin typeface="+mn-lt"/>
                              <a:ea typeface="+mn-ea"/>
                              <a:cs typeface="+mn-cs"/>
                            </a:rPr>
                            <a:t>5.2301 × 10</a:t>
                          </a:r>
                          <a:r>
                            <a:rPr lang="en-GB" sz="1400" b="0" i="0" kern="1200" baseline="30000" dirty="0">
                              <a:solidFill>
                                <a:schemeClr val="dk1"/>
                              </a:solidFill>
                              <a:effectLst/>
                              <a:latin typeface="+mn-lt"/>
                              <a:ea typeface="+mn-ea"/>
                              <a:cs typeface="+mn-cs"/>
                            </a:rPr>
                            <a:t>-3</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kern="1200" dirty="0">
                              <a:solidFill>
                                <a:schemeClr val="dk1"/>
                              </a:solidFill>
                              <a:effectLst/>
                              <a:latin typeface="+mn-lt"/>
                              <a:ea typeface="+mn-ea"/>
                              <a:cs typeface="+mn-cs"/>
                            </a:rPr>
                            <a:t>1.8160 × 10</a:t>
                          </a:r>
                          <a:r>
                            <a:rPr lang="en-GB" sz="1400" b="0" i="0" kern="1200" baseline="30000" dirty="0">
                              <a:solidFill>
                                <a:schemeClr val="dk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8744109"/>
                      </a:ext>
                    </a:extLst>
                  </a:tr>
                </a:tbl>
              </a:graphicData>
            </a:graphic>
          </p:graphicFrame>
        </mc:Fallback>
      </mc:AlternateContent>
      <p:sp>
        <p:nvSpPr>
          <p:cNvPr id="4" name="Slide Number Placeholder 3">
            <a:extLst>
              <a:ext uri="{FF2B5EF4-FFF2-40B4-BE49-F238E27FC236}">
                <a16:creationId xmlns:a16="http://schemas.microsoft.com/office/drawing/2014/main" id="{74F5AB98-69E3-EC6E-82B9-EDF69272DFD7}"/>
              </a:ext>
            </a:extLst>
          </p:cNvPr>
          <p:cNvSpPr>
            <a:spLocks noGrp="1"/>
          </p:cNvSpPr>
          <p:nvPr>
            <p:ph type="sldNum" sz="quarter" idx="12"/>
          </p:nvPr>
        </p:nvSpPr>
        <p:spPr/>
        <p:txBody>
          <a:bodyPr/>
          <a:lstStyle/>
          <a:p>
            <a:fld id="{13DE89AE-BBCC-45F3-BDAA-E98C74995322}" type="slidenum">
              <a:rPr lang="en-GB" smtClean="0"/>
              <a:t>20</a:t>
            </a:fld>
            <a:endParaRPr lang="en-GB"/>
          </a:p>
        </p:txBody>
      </p:sp>
      <p:grpSp>
        <p:nvGrpSpPr>
          <p:cNvPr id="15" name="Group 14">
            <a:extLst>
              <a:ext uri="{FF2B5EF4-FFF2-40B4-BE49-F238E27FC236}">
                <a16:creationId xmlns:a16="http://schemas.microsoft.com/office/drawing/2014/main" id="{C8863451-42C3-1ED3-4D1D-8D38B3559903}"/>
              </a:ext>
            </a:extLst>
          </p:cNvPr>
          <p:cNvGrpSpPr/>
          <p:nvPr/>
        </p:nvGrpSpPr>
        <p:grpSpPr>
          <a:xfrm>
            <a:off x="1583768" y="1023058"/>
            <a:ext cx="9950559" cy="5426187"/>
            <a:chOff x="2008094" y="1112725"/>
            <a:chExt cx="9950559" cy="5426187"/>
          </a:xfrm>
        </p:grpSpPr>
        <p:grpSp>
          <p:nvGrpSpPr>
            <p:cNvPr id="14" name="Group 13">
              <a:extLst>
                <a:ext uri="{FF2B5EF4-FFF2-40B4-BE49-F238E27FC236}">
                  <a16:creationId xmlns:a16="http://schemas.microsoft.com/office/drawing/2014/main" id="{AAABA6CB-FE1E-719A-E874-81631BC6A61C}"/>
                </a:ext>
              </a:extLst>
            </p:cNvPr>
            <p:cNvGrpSpPr/>
            <p:nvPr/>
          </p:nvGrpSpPr>
          <p:grpSpPr>
            <a:xfrm>
              <a:off x="9920943" y="2307570"/>
              <a:ext cx="2037710" cy="4231342"/>
              <a:chOff x="10088283" y="2307570"/>
              <a:chExt cx="2037710" cy="4231342"/>
            </a:xfrm>
          </p:grpSpPr>
          <p:cxnSp>
            <p:nvCxnSpPr>
              <p:cNvPr id="7" name="Straight Arrow Connector 6">
                <a:extLst>
                  <a:ext uri="{FF2B5EF4-FFF2-40B4-BE49-F238E27FC236}">
                    <a16:creationId xmlns:a16="http://schemas.microsoft.com/office/drawing/2014/main" id="{4D7BA1E5-836B-C268-3D97-657582D074CD}"/>
                  </a:ext>
                </a:extLst>
              </p:cNvPr>
              <p:cNvCxnSpPr/>
              <p:nvPr/>
            </p:nvCxnSpPr>
            <p:spPr>
              <a:xfrm>
                <a:off x="10088283" y="2307570"/>
                <a:ext cx="0" cy="4231342"/>
              </a:xfrm>
              <a:prstGeom prst="straightConnector1">
                <a:avLst/>
              </a:prstGeom>
              <a:ln w="41275">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069919-3D62-6D11-7FE5-EE3565ECFFF7}"/>
                      </a:ext>
                    </a:extLst>
                  </p:cNvPr>
                  <p:cNvSpPr txBox="1"/>
                  <p:nvPr/>
                </p:nvSpPr>
                <p:spPr>
                  <a:xfrm>
                    <a:off x="10141807" y="3202893"/>
                    <a:ext cx="1984186" cy="1754326"/>
                  </a:xfrm>
                  <a:prstGeom prst="rect">
                    <a:avLst/>
                  </a:prstGeom>
                  <a:noFill/>
                </p:spPr>
                <p:txBody>
                  <a:bodyPr wrap="square" rtlCol="0">
                    <a:spAutoFit/>
                  </a:bodyPr>
                  <a:lstStyle/>
                  <a:p>
                    <a:pPr algn="ctr"/>
                    <a:r>
                      <a:rPr lang="en-GB" sz="2800" dirty="0"/>
                      <a:t>Embedding vector</a:t>
                    </a:r>
                  </a:p>
                  <a:p>
                    <a:pPr algn="ctr"/>
                    <a:endParaRPr lang="en-GB" sz="2800" dirty="0"/>
                  </a:p>
                  <a:p>
                    <a:pPr algn="ctr"/>
                    <a:r>
                      <a:rPr lang="en-GB" sz="2400" dirty="0"/>
                      <a:t>dimension </a:t>
                    </a:r>
                    <a14:m>
                      <m:oMath xmlns:m="http://schemas.openxmlformats.org/officeDocument/2006/math">
                        <m:r>
                          <a:rPr lang="en-GB" sz="2400" b="0" i="1" smtClean="0">
                            <a:latin typeface="Cambria Math" panose="02040503050406030204" pitchFamily="18" charset="0"/>
                          </a:rPr>
                          <m:t>𝑑</m:t>
                        </m:r>
                      </m:oMath>
                    </a14:m>
                    <a:endParaRPr lang="en-GB" sz="2400" dirty="0"/>
                  </a:p>
                </p:txBody>
              </p:sp>
            </mc:Choice>
            <mc:Fallback xmlns="">
              <p:sp>
                <p:nvSpPr>
                  <p:cNvPr id="8" name="TextBox 7">
                    <a:extLst>
                      <a:ext uri="{FF2B5EF4-FFF2-40B4-BE49-F238E27FC236}">
                        <a16:creationId xmlns:a16="http://schemas.microsoft.com/office/drawing/2014/main" id="{A2069919-3D62-6D11-7FE5-EE3565ECFFF7}"/>
                      </a:ext>
                    </a:extLst>
                  </p:cNvPr>
                  <p:cNvSpPr txBox="1">
                    <a:spLocks noRot="1" noChangeAspect="1" noMove="1" noResize="1" noEditPoints="1" noAdjustHandles="1" noChangeArrowheads="1" noChangeShapeType="1" noTextEdit="1"/>
                  </p:cNvSpPr>
                  <p:nvPr/>
                </p:nvSpPr>
                <p:spPr>
                  <a:xfrm>
                    <a:off x="10141807" y="3202893"/>
                    <a:ext cx="1984186" cy="1754326"/>
                  </a:xfrm>
                  <a:prstGeom prst="rect">
                    <a:avLst/>
                  </a:prstGeom>
                  <a:blipFill>
                    <a:blip r:embed="rId4"/>
                    <a:stretch>
                      <a:fillRect l="-4923" t="-3833" r="-8615" b="-7317"/>
                    </a:stretch>
                  </a:blipFill>
                </p:spPr>
                <p:txBody>
                  <a:bodyPr/>
                  <a:lstStyle/>
                  <a:p>
                    <a:r>
                      <a:rPr lang="en-GB">
                        <a:noFill/>
                      </a:rPr>
                      <a:t> </a:t>
                    </a:r>
                  </a:p>
                </p:txBody>
              </p:sp>
            </mc:Fallback>
          </mc:AlternateContent>
        </p:grpSp>
        <p:grpSp>
          <p:nvGrpSpPr>
            <p:cNvPr id="13" name="Group 12">
              <a:extLst>
                <a:ext uri="{FF2B5EF4-FFF2-40B4-BE49-F238E27FC236}">
                  <a16:creationId xmlns:a16="http://schemas.microsoft.com/office/drawing/2014/main" id="{509531B8-6417-F6CA-FCCD-44A24DB6F599}"/>
                </a:ext>
              </a:extLst>
            </p:cNvPr>
            <p:cNvGrpSpPr/>
            <p:nvPr/>
          </p:nvGrpSpPr>
          <p:grpSpPr>
            <a:xfrm>
              <a:off x="2008094" y="1112725"/>
              <a:ext cx="7631952" cy="523220"/>
              <a:chOff x="2008094" y="1112725"/>
              <a:chExt cx="7631952" cy="523220"/>
            </a:xfrm>
          </p:grpSpPr>
          <p:cxnSp>
            <p:nvCxnSpPr>
              <p:cNvPr id="9" name="Straight Arrow Connector 8">
                <a:extLst>
                  <a:ext uri="{FF2B5EF4-FFF2-40B4-BE49-F238E27FC236}">
                    <a16:creationId xmlns:a16="http://schemas.microsoft.com/office/drawing/2014/main" id="{755CFE0B-DB49-AE58-2239-EF1E5FB32EA7}"/>
                  </a:ext>
                </a:extLst>
              </p:cNvPr>
              <p:cNvCxnSpPr>
                <a:cxnSpLocks/>
              </p:cNvCxnSpPr>
              <p:nvPr/>
            </p:nvCxnSpPr>
            <p:spPr>
              <a:xfrm>
                <a:off x="2008094" y="1577788"/>
                <a:ext cx="7631952" cy="0"/>
              </a:xfrm>
              <a:prstGeom prst="straightConnector1">
                <a:avLst/>
              </a:prstGeom>
              <a:ln w="41275">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1385B4E-9147-8395-F141-7CECB399C200}"/>
                  </a:ext>
                </a:extLst>
              </p:cNvPr>
              <p:cNvSpPr txBox="1"/>
              <p:nvPr/>
            </p:nvSpPr>
            <p:spPr>
              <a:xfrm>
                <a:off x="3176472" y="1112725"/>
                <a:ext cx="4371809" cy="523220"/>
              </a:xfrm>
              <a:prstGeom prst="rect">
                <a:avLst/>
              </a:prstGeom>
              <a:noFill/>
            </p:spPr>
            <p:txBody>
              <a:bodyPr wrap="square" rtlCol="0">
                <a:spAutoFit/>
              </a:bodyPr>
              <a:lstStyle/>
              <a:p>
                <a:pPr algn="ctr"/>
                <a:r>
                  <a:rPr lang="en-GB" sz="2800" dirty="0"/>
                  <a:t>Tokens</a:t>
                </a:r>
              </a:p>
            </p:txBody>
          </p:sp>
        </p:grpSp>
      </p:grpSp>
      <p:sp>
        <p:nvSpPr>
          <p:cNvPr id="17" name="TextBox 16">
            <a:extLst>
              <a:ext uri="{FF2B5EF4-FFF2-40B4-BE49-F238E27FC236}">
                <a16:creationId xmlns:a16="http://schemas.microsoft.com/office/drawing/2014/main" id="{CAD29C94-0F4E-3BC3-1BBF-554653CE3D43}"/>
              </a:ext>
            </a:extLst>
          </p:cNvPr>
          <p:cNvSpPr txBox="1"/>
          <p:nvPr/>
        </p:nvSpPr>
        <p:spPr>
          <a:xfrm>
            <a:off x="282391" y="6492749"/>
            <a:ext cx="5658222" cy="338554"/>
          </a:xfrm>
          <a:prstGeom prst="rect">
            <a:avLst/>
          </a:prstGeom>
          <a:noFill/>
        </p:spPr>
        <p:txBody>
          <a:bodyPr wrap="square" rtlCol="0">
            <a:spAutoFit/>
          </a:bodyPr>
          <a:lstStyle/>
          <a:p>
            <a:r>
              <a:rPr lang="en-GB" sz="1600" dirty="0"/>
              <a:t>Word2Vec model = “fasttext-wiki-news-subwords-300”</a:t>
            </a:r>
          </a:p>
        </p:txBody>
      </p:sp>
    </p:spTree>
    <p:extLst>
      <p:ext uri="{BB962C8B-B14F-4D97-AF65-F5344CB8AC3E}">
        <p14:creationId xmlns:p14="http://schemas.microsoft.com/office/powerpoint/2010/main" val="2699916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45D1223E-2958-3119-CA73-EE5212A8B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8A426-E33D-FAED-A31F-EFC7DB4105BE}"/>
              </a:ext>
            </a:extLst>
          </p:cNvPr>
          <p:cNvSpPr>
            <a:spLocks noGrp="1"/>
          </p:cNvSpPr>
          <p:nvPr>
            <p:ph type="title"/>
          </p:nvPr>
        </p:nvSpPr>
        <p:spPr/>
        <p:txBody>
          <a:bodyPr/>
          <a:lstStyle/>
          <a:p>
            <a:r>
              <a:rPr lang="en-GB" dirty="0">
                <a:solidFill>
                  <a:schemeClr val="bg1"/>
                </a:solidFill>
              </a:rPr>
              <a:t>Code example 1</a:t>
            </a:r>
          </a:p>
        </p:txBody>
      </p:sp>
      <p:sp>
        <p:nvSpPr>
          <p:cNvPr id="3" name="Text Placeholder 2">
            <a:extLst>
              <a:ext uri="{FF2B5EF4-FFF2-40B4-BE49-F238E27FC236}">
                <a16:creationId xmlns:a16="http://schemas.microsoft.com/office/drawing/2014/main" id="{DD73A834-A53C-0079-D2D6-7761427D5DCA}"/>
              </a:ext>
            </a:extLst>
          </p:cNvPr>
          <p:cNvSpPr>
            <a:spLocks noGrp="1"/>
          </p:cNvSpPr>
          <p:nvPr>
            <p:ph type="body" idx="1"/>
          </p:nvPr>
        </p:nvSpPr>
        <p:spPr/>
        <p:txBody>
          <a:bodyPr/>
          <a:lstStyle/>
          <a:p>
            <a:r>
              <a:rPr lang="en-GB" dirty="0">
                <a:solidFill>
                  <a:schemeClr val="bg1"/>
                </a:solidFill>
              </a:rPr>
              <a:t>Working with word embeddings</a:t>
            </a:r>
          </a:p>
        </p:txBody>
      </p:sp>
      <p:sp>
        <p:nvSpPr>
          <p:cNvPr id="4" name="Slide Number Placeholder 3">
            <a:extLst>
              <a:ext uri="{FF2B5EF4-FFF2-40B4-BE49-F238E27FC236}">
                <a16:creationId xmlns:a16="http://schemas.microsoft.com/office/drawing/2014/main" id="{4D9B6A81-5BE5-0AC6-AA57-CED15BD424D9}"/>
              </a:ext>
            </a:extLst>
          </p:cNvPr>
          <p:cNvSpPr>
            <a:spLocks noGrp="1"/>
          </p:cNvSpPr>
          <p:nvPr>
            <p:ph type="sldNum" sz="quarter" idx="12"/>
          </p:nvPr>
        </p:nvSpPr>
        <p:spPr/>
        <p:txBody>
          <a:bodyPr/>
          <a:lstStyle/>
          <a:p>
            <a:fld id="{13DE89AE-BBCC-45F3-BDAA-E98C74995322}" type="slidenum">
              <a:rPr lang="en-GB" smtClean="0"/>
              <a:t>21</a:t>
            </a:fld>
            <a:endParaRPr lang="en-GB"/>
          </a:p>
        </p:txBody>
      </p:sp>
    </p:spTree>
    <p:extLst>
      <p:ext uri="{BB962C8B-B14F-4D97-AF65-F5344CB8AC3E}">
        <p14:creationId xmlns:p14="http://schemas.microsoft.com/office/powerpoint/2010/main" val="2854409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706B-F0DC-2356-9ACB-2583505EE935}"/>
              </a:ext>
            </a:extLst>
          </p:cNvPr>
          <p:cNvSpPr>
            <a:spLocks noGrp="1"/>
          </p:cNvSpPr>
          <p:nvPr>
            <p:ph type="title"/>
          </p:nvPr>
        </p:nvSpPr>
        <p:spPr>
          <a:xfrm>
            <a:off x="838200" y="365126"/>
            <a:ext cx="10515600" cy="877888"/>
          </a:xfrm>
        </p:spPr>
        <p:txBody>
          <a:bodyPr/>
          <a:lstStyle/>
          <a:p>
            <a:r>
              <a:rPr lang="en-GB" dirty="0"/>
              <a:t>Code Example 1</a:t>
            </a:r>
          </a:p>
        </p:txBody>
      </p:sp>
      <p:sp>
        <p:nvSpPr>
          <p:cNvPr id="3" name="Content Placeholder 2">
            <a:extLst>
              <a:ext uri="{FF2B5EF4-FFF2-40B4-BE49-F238E27FC236}">
                <a16:creationId xmlns:a16="http://schemas.microsoft.com/office/drawing/2014/main" id="{A84EFC11-566C-CC8F-F93B-9B96D6ED2ED9}"/>
              </a:ext>
            </a:extLst>
          </p:cNvPr>
          <p:cNvSpPr>
            <a:spLocks noGrp="1"/>
          </p:cNvSpPr>
          <p:nvPr>
            <p:ph idx="1"/>
          </p:nvPr>
        </p:nvSpPr>
        <p:spPr>
          <a:xfrm>
            <a:off x="231819" y="1397358"/>
            <a:ext cx="11571667" cy="4779605"/>
          </a:xfrm>
        </p:spPr>
        <p:txBody>
          <a:bodyPr/>
          <a:lstStyle/>
          <a:p>
            <a:r>
              <a:rPr lang="en-US" dirty="0"/>
              <a:t>Open up the Jupyter notebook ODSCWest2026_CodeExample1.ipynb in the </a:t>
            </a:r>
            <a:r>
              <a:rPr lang="en-US" dirty="0" err="1"/>
              <a:t>github</a:t>
            </a:r>
            <a:r>
              <a:rPr lang="en-US" dirty="0"/>
              <a:t> repository</a:t>
            </a:r>
          </a:p>
          <a:p>
            <a:pPr marL="0" indent="0">
              <a:buNone/>
            </a:pPr>
            <a:r>
              <a:rPr lang="en-US" dirty="0"/>
              <a:t>  </a:t>
            </a:r>
            <a:r>
              <a:rPr lang="en-US" dirty="0">
                <a:hlinkClick r:id="rId3"/>
              </a:rPr>
              <a:t>https://github.com/dchoyle/ODSCWest2026_TransformerBootcamp/</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39E63CCE-7331-E8B8-0D18-082D567647EB}"/>
              </a:ext>
            </a:extLst>
          </p:cNvPr>
          <p:cNvSpPr>
            <a:spLocks noGrp="1"/>
          </p:cNvSpPr>
          <p:nvPr>
            <p:ph type="sldNum" sz="quarter" idx="12"/>
          </p:nvPr>
        </p:nvSpPr>
        <p:spPr/>
        <p:txBody>
          <a:bodyPr/>
          <a:lstStyle/>
          <a:p>
            <a:fld id="{13DE89AE-BBCC-45F3-BDAA-E98C74995322}" type="slidenum">
              <a:rPr lang="en-GB" smtClean="0"/>
              <a:t>22</a:t>
            </a:fld>
            <a:endParaRPr lang="en-GB"/>
          </a:p>
        </p:txBody>
      </p:sp>
    </p:spTree>
    <p:extLst>
      <p:ext uri="{BB962C8B-B14F-4D97-AF65-F5344CB8AC3E}">
        <p14:creationId xmlns:p14="http://schemas.microsoft.com/office/powerpoint/2010/main" val="2178526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CBA94041-BE87-71C3-9FAE-E717ADF4B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69B0D-BEDD-D742-01D0-5901D58F55DE}"/>
              </a:ext>
            </a:extLst>
          </p:cNvPr>
          <p:cNvSpPr>
            <a:spLocks noGrp="1"/>
          </p:cNvSpPr>
          <p:nvPr>
            <p:ph type="title"/>
          </p:nvPr>
        </p:nvSpPr>
        <p:spPr/>
        <p:txBody>
          <a:bodyPr/>
          <a:lstStyle/>
          <a:p>
            <a:r>
              <a:rPr lang="en-GB" dirty="0">
                <a:solidFill>
                  <a:schemeClr val="bg1"/>
                </a:solidFill>
              </a:rPr>
              <a:t>Transformers</a:t>
            </a:r>
          </a:p>
        </p:txBody>
      </p:sp>
      <p:sp>
        <p:nvSpPr>
          <p:cNvPr id="3" name="Text Placeholder 2">
            <a:extLst>
              <a:ext uri="{FF2B5EF4-FFF2-40B4-BE49-F238E27FC236}">
                <a16:creationId xmlns:a16="http://schemas.microsoft.com/office/drawing/2014/main" id="{B343B4C5-5DAC-528A-CF17-F3A05FAE9122}"/>
              </a:ext>
            </a:extLst>
          </p:cNvPr>
          <p:cNvSpPr>
            <a:spLocks noGrp="1"/>
          </p:cNvSpPr>
          <p:nvPr>
            <p:ph type="body" idx="1"/>
          </p:nvPr>
        </p:nvSpPr>
        <p:spPr/>
        <p:txBody>
          <a:bodyPr/>
          <a:lstStyle/>
          <a:p>
            <a:r>
              <a:rPr lang="en-GB" dirty="0">
                <a:solidFill>
                  <a:schemeClr val="bg1"/>
                </a:solidFill>
              </a:rPr>
              <a:t>Creating context aware embeddings</a:t>
            </a:r>
          </a:p>
        </p:txBody>
      </p:sp>
      <p:sp>
        <p:nvSpPr>
          <p:cNvPr id="4" name="Slide Number Placeholder 3">
            <a:extLst>
              <a:ext uri="{FF2B5EF4-FFF2-40B4-BE49-F238E27FC236}">
                <a16:creationId xmlns:a16="http://schemas.microsoft.com/office/drawing/2014/main" id="{E981D6D6-7EC0-E0A2-7578-2BC59B2E6BB8}"/>
              </a:ext>
            </a:extLst>
          </p:cNvPr>
          <p:cNvSpPr>
            <a:spLocks noGrp="1"/>
          </p:cNvSpPr>
          <p:nvPr>
            <p:ph type="sldNum" sz="quarter" idx="12"/>
          </p:nvPr>
        </p:nvSpPr>
        <p:spPr/>
        <p:txBody>
          <a:bodyPr/>
          <a:lstStyle/>
          <a:p>
            <a:fld id="{13DE89AE-BBCC-45F3-BDAA-E98C74995322}" type="slidenum">
              <a:rPr lang="en-GB" smtClean="0"/>
              <a:t>23</a:t>
            </a:fld>
            <a:endParaRPr lang="en-GB"/>
          </a:p>
        </p:txBody>
      </p:sp>
    </p:spTree>
    <p:extLst>
      <p:ext uri="{BB962C8B-B14F-4D97-AF65-F5344CB8AC3E}">
        <p14:creationId xmlns:p14="http://schemas.microsoft.com/office/powerpoint/2010/main" val="377461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944F-1B67-A758-1C1B-CA4451359CFB}"/>
              </a:ext>
            </a:extLst>
          </p:cNvPr>
          <p:cNvSpPr>
            <a:spLocks noGrp="1"/>
          </p:cNvSpPr>
          <p:nvPr>
            <p:ph type="title"/>
          </p:nvPr>
        </p:nvSpPr>
        <p:spPr>
          <a:xfrm>
            <a:off x="838200" y="365125"/>
            <a:ext cx="10515600" cy="930275"/>
          </a:xfrm>
        </p:spPr>
        <p:txBody>
          <a:bodyPr/>
          <a:lstStyle/>
          <a:p>
            <a:r>
              <a:rPr lang="en-GB" dirty="0"/>
              <a:t>Transforming embeddings</a:t>
            </a:r>
          </a:p>
        </p:txBody>
      </p:sp>
      <p:graphicFrame>
        <p:nvGraphicFramePr>
          <p:cNvPr id="5" name="Content Placeholder 4">
            <a:extLst>
              <a:ext uri="{FF2B5EF4-FFF2-40B4-BE49-F238E27FC236}">
                <a16:creationId xmlns:a16="http://schemas.microsoft.com/office/drawing/2014/main" id="{21EEB937-A53C-A90E-56F1-5AB9C7375D77}"/>
              </a:ext>
            </a:extLst>
          </p:cNvPr>
          <p:cNvGraphicFramePr>
            <a:graphicFrameLocks noGrp="1"/>
          </p:cNvGraphicFramePr>
          <p:nvPr>
            <p:ph idx="1"/>
          </p:nvPr>
        </p:nvGraphicFramePr>
        <p:xfrm>
          <a:off x="1230085" y="1427055"/>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75000"/>
                        <a:lumOff val="25000"/>
                      </a:schemeClr>
                    </a:solidFill>
                  </a:tcPr>
                </a:tc>
                <a:extLst>
                  <a:ext uri="{0D108BD9-81ED-4DB2-BD59-A6C34878D82A}">
                    <a16:rowId xmlns:a16="http://schemas.microsoft.com/office/drawing/2014/main" val="1533931161"/>
                  </a:ext>
                </a:extLst>
              </a:tr>
              <a:tr h="370840">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75000"/>
                        <a:lumOff val="25000"/>
                      </a:schemeClr>
                    </a:solidFill>
                  </a:tcPr>
                </a:tc>
                <a:extLst>
                  <a:ext uri="{0D108BD9-81ED-4DB2-BD59-A6C34878D82A}">
                    <a16:rowId xmlns:a16="http://schemas.microsoft.com/office/drawing/2014/main" val="1732967676"/>
                  </a:ext>
                </a:extLst>
              </a:tr>
              <a:tr h="370840">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75000"/>
                        <a:lumOff val="25000"/>
                      </a:schemeClr>
                    </a:solidFill>
                  </a:tcPr>
                </a:tc>
                <a:extLst>
                  <a:ext uri="{0D108BD9-81ED-4DB2-BD59-A6C34878D82A}">
                    <a16:rowId xmlns:a16="http://schemas.microsoft.com/office/drawing/2014/main" val="3626587743"/>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75000"/>
                        <a:lumOff val="25000"/>
                      </a:schemeClr>
                    </a:solidFill>
                  </a:tcPr>
                </a:tc>
                <a:extLst>
                  <a:ext uri="{0D108BD9-81ED-4DB2-BD59-A6C34878D82A}">
                    <a16:rowId xmlns:a16="http://schemas.microsoft.com/office/drawing/2014/main" val="2234228111"/>
                  </a:ext>
                </a:extLst>
              </a:tr>
            </a:tbl>
          </a:graphicData>
        </a:graphic>
      </p:graphicFrame>
      <p:sp>
        <p:nvSpPr>
          <p:cNvPr id="4" name="Slide Number Placeholder 3">
            <a:extLst>
              <a:ext uri="{FF2B5EF4-FFF2-40B4-BE49-F238E27FC236}">
                <a16:creationId xmlns:a16="http://schemas.microsoft.com/office/drawing/2014/main" id="{5C51976A-E8A1-6EE7-5F5B-F46A6DD18569}"/>
              </a:ext>
            </a:extLst>
          </p:cNvPr>
          <p:cNvSpPr>
            <a:spLocks noGrp="1"/>
          </p:cNvSpPr>
          <p:nvPr>
            <p:ph type="sldNum" sz="quarter" idx="12"/>
          </p:nvPr>
        </p:nvSpPr>
        <p:spPr/>
        <p:txBody>
          <a:bodyPr/>
          <a:lstStyle/>
          <a:p>
            <a:fld id="{13DE89AE-BBCC-45F3-BDAA-E98C74995322}" type="slidenum">
              <a:rPr lang="en-GB" smtClean="0"/>
              <a:t>24</a:t>
            </a:fld>
            <a:endParaRPr lang="en-GB"/>
          </a:p>
        </p:txBody>
      </p:sp>
      <p:grpSp>
        <p:nvGrpSpPr>
          <p:cNvPr id="10" name="Group 9">
            <a:extLst>
              <a:ext uri="{FF2B5EF4-FFF2-40B4-BE49-F238E27FC236}">
                <a16:creationId xmlns:a16="http://schemas.microsoft.com/office/drawing/2014/main" id="{CAB7AA6D-8C2C-BC71-1DA5-EB1AD54A6348}"/>
              </a:ext>
            </a:extLst>
          </p:cNvPr>
          <p:cNvGrpSpPr/>
          <p:nvPr/>
        </p:nvGrpSpPr>
        <p:grpSpPr>
          <a:xfrm>
            <a:off x="5562597" y="1800157"/>
            <a:ext cx="4735293" cy="1107996"/>
            <a:chOff x="4936670" y="2431534"/>
            <a:chExt cx="4735293" cy="1107996"/>
          </a:xfrm>
        </p:grpSpPr>
        <p:sp>
          <p:nvSpPr>
            <p:cNvPr id="6" name="TextBox 5">
              <a:extLst>
                <a:ext uri="{FF2B5EF4-FFF2-40B4-BE49-F238E27FC236}">
                  <a16:creationId xmlns:a16="http://schemas.microsoft.com/office/drawing/2014/main" id="{F9A0165C-E86F-9A92-811C-C85320E3E573}"/>
                </a:ext>
              </a:extLst>
            </p:cNvPr>
            <p:cNvSpPr txBox="1"/>
            <p:nvPr/>
          </p:nvSpPr>
          <p:spPr>
            <a:xfrm>
              <a:off x="5338086" y="2457103"/>
              <a:ext cx="3124199" cy="461665"/>
            </a:xfrm>
            <a:prstGeom prst="rect">
              <a:avLst/>
            </a:prstGeom>
            <a:noFill/>
          </p:spPr>
          <p:txBody>
            <a:bodyPr wrap="square" rtlCol="0">
              <a:spAutoFit/>
            </a:bodyPr>
            <a:lstStyle/>
            <a:p>
              <a:r>
                <a:rPr lang="en-GB" sz="2400" dirty="0"/>
                <a:t>Predict the next word</a:t>
              </a:r>
            </a:p>
          </p:txBody>
        </p:sp>
        <p:sp>
          <p:nvSpPr>
            <p:cNvPr id="7" name="Arrow: Right 6">
              <a:extLst>
                <a:ext uri="{FF2B5EF4-FFF2-40B4-BE49-F238E27FC236}">
                  <a16:creationId xmlns:a16="http://schemas.microsoft.com/office/drawing/2014/main" id="{0215CD70-E1D4-E810-177B-15D2D19ED4FE}"/>
                </a:ext>
              </a:extLst>
            </p:cNvPr>
            <p:cNvSpPr/>
            <p:nvPr/>
          </p:nvSpPr>
          <p:spPr>
            <a:xfrm>
              <a:off x="4936670" y="2917896"/>
              <a:ext cx="3777343"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4A7A38C-F9A2-9468-59BD-9150AAC3560F}"/>
                </a:ext>
              </a:extLst>
            </p:cNvPr>
            <p:cNvSpPr txBox="1"/>
            <p:nvPr/>
          </p:nvSpPr>
          <p:spPr>
            <a:xfrm>
              <a:off x="8909963" y="2431534"/>
              <a:ext cx="762000" cy="1107996"/>
            </a:xfrm>
            <a:prstGeom prst="rect">
              <a:avLst/>
            </a:prstGeom>
            <a:noFill/>
          </p:spPr>
          <p:txBody>
            <a:bodyPr wrap="square" rtlCol="0">
              <a:spAutoFit/>
            </a:bodyPr>
            <a:lstStyle/>
            <a:p>
              <a:pPr algn="ctr"/>
              <a:r>
                <a:rPr lang="en-GB" sz="6600" dirty="0"/>
                <a:t>?</a:t>
              </a:r>
            </a:p>
          </p:txBody>
        </p:sp>
      </p:grpSp>
      <p:sp>
        <p:nvSpPr>
          <p:cNvPr id="9" name="TextBox 8">
            <a:extLst>
              <a:ext uri="{FF2B5EF4-FFF2-40B4-BE49-F238E27FC236}">
                <a16:creationId xmlns:a16="http://schemas.microsoft.com/office/drawing/2014/main" id="{AA329092-53D8-B190-021C-841E164C21A7}"/>
              </a:ext>
            </a:extLst>
          </p:cNvPr>
          <p:cNvSpPr txBox="1"/>
          <p:nvPr/>
        </p:nvSpPr>
        <p:spPr>
          <a:xfrm>
            <a:off x="5739490" y="2517351"/>
            <a:ext cx="3423556" cy="646331"/>
          </a:xfrm>
          <a:prstGeom prst="rect">
            <a:avLst/>
          </a:prstGeom>
          <a:noFill/>
        </p:spPr>
        <p:txBody>
          <a:bodyPr wrap="square" rtlCol="0">
            <a:spAutoFit/>
          </a:bodyPr>
          <a:lstStyle/>
          <a:p>
            <a:pPr algn="ctr"/>
            <a:r>
              <a:rPr lang="en-GB" dirty="0"/>
              <a:t>Input vector from preceding token into multi-class classifier</a:t>
            </a:r>
          </a:p>
        </p:txBody>
      </p:sp>
      <p:sp>
        <p:nvSpPr>
          <p:cNvPr id="11" name="TextBox 10">
            <a:extLst>
              <a:ext uri="{FF2B5EF4-FFF2-40B4-BE49-F238E27FC236}">
                <a16:creationId xmlns:a16="http://schemas.microsoft.com/office/drawing/2014/main" id="{5585DD05-2C38-2FE9-04F1-F3BCE6DE9E1E}"/>
              </a:ext>
            </a:extLst>
          </p:cNvPr>
          <p:cNvSpPr txBox="1"/>
          <p:nvPr/>
        </p:nvSpPr>
        <p:spPr>
          <a:xfrm>
            <a:off x="372835" y="3608628"/>
            <a:ext cx="11544301" cy="2677656"/>
          </a:xfrm>
          <a:prstGeom prst="rect">
            <a:avLst/>
          </a:prstGeom>
          <a:noFill/>
        </p:spPr>
        <p:txBody>
          <a:bodyPr wrap="square" rtlCol="0">
            <a:spAutoFit/>
          </a:bodyPr>
          <a:lstStyle/>
          <a:p>
            <a:pPr marL="285750" indent="-285750">
              <a:buFont typeface="Arial" panose="020B0604020202020204" pitchFamily="34" charset="0"/>
              <a:buChar char="•"/>
            </a:pPr>
            <a:r>
              <a:rPr lang="en-GB" sz="2400" dirty="0"/>
              <a:t>Each vector knows nothing about the broader context of the preceding words</a:t>
            </a:r>
          </a:p>
          <a:p>
            <a:endParaRPr lang="en-GB" sz="2400" dirty="0"/>
          </a:p>
          <a:p>
            <a:pPr marL="285750" indent="-285750">
              <a:buFont typeface="Arial" panose="020B0604020202020204" pitchFamily="34" charset="0"/>
              <a:buChar char="•"/>
            </a:pPr>
            <a:r>
              <a:rPr lang="en-GB" sz="2400" dirty="0"/>
              <a:t>Need new vectors for each token that </a:t>
            </a:r>
            <a:r>
              <a:rPr lang="en-GB" sz="2400" u="sng" dirty="0"/>
              <a:t>take into account the preceding context</a:t>
            </a:r>
          </a:p>
          <a:p>
            <a:pPr marL="285750" indent="-285750">
              <a:buFont typeface="Arial" panose="020B0604020202020204" pitchFamily="34" charset="0"/>
              <a:buChar char="•"/>
            </a:pPr>
            <a:endParaRPr lang="en-GB" sz="2400" u="sng" dirty="0"/>
          </a:p>
          <a:p>
            <a:pPr marL="742950" lvl="1" indent="-285750">
              <a:buFont typeface="Arial" panose="020B0604020202020204" pitchFamily="34" charset="0"/>
              <a:buChar char="•"/>
            </a:pPr>
            <a:r>
              <a:rPr lang="en-GB" sz="2400" dirty="0"/>
              <a:t>We will make a Transformer</a:t>
            </a:r>
          </a:p>
          <a:p>
            <a:endParaRPr lang="en-GB" sz="2400" u="sng" dirty="0"/>
          </a:p>
          <a:p>
            <a:pPr marL="285750" indent="-285750">
              <a:buFont typeface="Arial" panose="020B0604020202020204" pitchFamily="34" charset="0"/>
              <a:buChar char="•"/>
            </a:pPr>
            <a:r>
              <a:rPr lang="en-GB" sz="2400" dirty="0"/>
              <a:t>For now, create new vectors that </a:t>
            </a:r>
            <a:r>
              <a:rPr lang="en-GB" sz="2400" u="sng" dirty="0"/>
              <a:t>take into account the context of the whole sentence</a:t>
            </a:r>
          </a:p>
        </p:txBody>
      </p:sp>
    </p:spTree>
    <p:extLst>
      <p:ext uri="{BB962C8B-B14F-4D97-AF65-F5344CB8AC3E}">
        <p14:creationId xmlns:p14="http://schemas.microsoft.com/office/powerpoint/2010/main" val="191184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3C5C-8ACD-9B94-2D67-F67F913C0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38839-245C-14E4-CEFD-1DFBE2342D04}"/>
              </a:ext>
            </a:extLst>
          </p:cNvPr>
          <p:cNvSpPr>
            <a:spLocks noGrp="1"/>
          </p:cNvSpPr>
          <p:nvPr>
            <p:ph type="title"/>
          </p:nvPr>
        </p:nvSpPr>
        <p:spPr>
          <a:xfrm>
            <a:off x="838200" y="196392"/>
            <a:ext cx="10515600" cy="930275"/>
          </a:xfrm>
        </p:spPr>
        <p:txBody>
          <a:bodyPr/>
          <a:lstStyle/>
          <a:p>
            <a:r>
              <a:rPr lang="en-GB" dirty="0"/>
              <a:t>Attention</a:t>
            </a:r>
          </a:p>
        </p:txBody>
      </p:sp>
      <p:graphicFrame>
        <p:nvGraphicFramePr>
          <p:cNvPr id="5" name="Content Placeholder 4">
            <a:extLst>
              <a:ext uri="{FF2B5EF4-FFF2-40B4-BE49-F238E27FC236}">
                <a16:creationId xmlns:a16="http://schemas.microsoft.com/office/drawing/2014/main" id="{8C68220E-A2EE-F7D2-EDBD-5E118D11CEB1}"/>
              </a:ext>
            </a:extLst>
          </p:cNvPr>
          <p:cNvGraphicFramePr>
            <a:graphicFrameLocks noGrp="1"/>
          </p:cNvGraphicFramePr>
          <p:nvPr>
            <p:ph idx="1"/>
          </p:nvPr>
        </p:nvGraphicFramePr>
        <p:xfrm>
          <a:off x="561345" y="1349718"/>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533931161"/>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732967676"/>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extLst>
                  <a:ext uri="{0D108BD9-81ED-4DB2-BD59-A6C34878D82A}">
                    <a16:rowId xmlns:a16="http://schemas.microsoft.com/office/drawing/2014/main" val="3626587743"/>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sp>
        <p:nvSpPr>
          <p:cNvPr id="4" name="Slide Number Placeholder 3">
            <a:extLst>
              <a:ext uri="{FF2B5EF4-FFF2-40B4-BE49-F238E27FC236}">
                <a16:creationId xmlns:a16="http://schemas.microsoft.com/office/drawing/2014/main" id="{D90FBEF1-E4E6-8ADD-C94F-792156685359}"/>
              </a:ext>
            </a:extLst>
          </p:cNvPr>
          <p:cNvSpPr>
            <a:spLocks noGrp="1"/>
          </p:cNvSpPr>
          <p:nvPr>
            <p:ph type="sldNum" sz="quarter" idx="12"/>
          </p:nvPr>
        </p:nvSpPr>
        <p:spPr/>
        <p:txBody>
          <a:bodyPr/>
          <a:lstStyle/>
          <a:p>
            <a:fld id="{13DE89AE-BBCC-45F3-BDAA-E98C74995322}" type="slidenum">
              <a:rPr lang="en-GB" smtClean="0"/>
              <a:t>25</a:t>
            </a:fld>
            <a:endParaRPr lang="en-GB"/>
          </a:p>
        </p:txBody>
      </p:sp>
      <p:graphicFrame>
        <p:nvGraphicFramePr>
          <p:cNvPr id="3" name="Content Placeholder 4">
            <a:extLst>
              <a:ext uri="{FF2B5EF4-FFF2-40B4-BE49-F238E27FC236}">
                <a16:creationId xmlns:a16="http://schemas.microsoft.com/office/drawing/2014/main" id="{367B3E14-DE5B-0E7E-9426-8476B5ABFA96}"/>
              </a:ext>
            </a:extLst>
          </p:cNvPr>
          <p:cNvGraphicFramePr>
            <a:graphicFrameLocks/>
          </p:cNvGraphicFramePr>
          <p:nvPr/>
        </p:nvGraphicFramePr>
        <p:xfrm>
          <a:off x="6684598" y="1338830"/>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1533931161"/>
                  </a:ext>
                </a:extLst>
              </a:tr>
              <a:tr h="370840">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extLst>
                  <a:ext uri="{0D108BD9-81ED-4DB2-BD59-A6C34878D82A}">
                    <a16:rowId xmlns:a16="http://schemas.microsoft.com/office/drawing/2014/main" val="1732967676"/>
                  </a:ext>
                </a:extLst>
              </a:tr>
              <a:tr h="370840">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a:p>
                  </a:txBody>
                  <a:tcPr>
                    <a:solidFill>
                      <a:schemeClr val="accent5">
                        <a:lumMod val="40000"/>
                        <a:lumOff val="60000"/>
                      </a:schemeClr>
                    </a:solidFill>
                  </a:tcPr>
                </a:tc>
                <a:extLst>
                  <a:ext uri="{0D108BD9-81ED-4DB2-BD59-A6C34878D82A}">
                    <a16:rowId xmlns:a16="http://schemas.microsoft.com/office/drawing/2014/main" val="3626587743"/>
                  </a:ext>
                </a:extLst>
              </a:tr>
              <a:tr h="370840">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2234228111"/>
                  </a:ext>
                </a:extLst>
              </a:tr>
            </a:tbl>
          </a:graphicData>
        </a:graphic>
      </p:graphicFrame>
      <p:sp>
        <p:nvSpPr>
          <p:cNvPr id="12" name="TextBox 11">
            <a:extLst>
              <a:ext uri="{FF2B5EF4-FFF2-40B4-BE49-F238E27FC236}">
                <a16:creationId xmlns:a16="http://schemas.microsoft.com/office/drawing/2014/main" id="{22F10B15-9C9B-B141-BDD3-5C8806BBE54D}"/>
              </a:ext>
            </a:extLst>
          </p:cNvPr>
          <p:cNvSpPr txBox="1"/>
          <p:nvPr/>
        </p:nvSpPr>
        <p:spPr>
          <a:xfrm>
            <a:off x="1393372" y="969498"/>
            <a:ext cx="2226128" cy="369332"/>
          </a:xfrm>
          <a:prstGeom prst="rect">
            <a:avLst/>
          </a:prstGeom>
          <a:noFill/>
        </p:spPr>
        <p:txBody>
          <a:bodyPr wrap="square" rtlCol="0">
            <a:spAutoFit/>
          </a:bodyPr>
          <a:lstStyle/>
          <a:p>
            <a:pPr algn="ctr"/>
            <a:r>
              <a:rPr lang="en-GB" dirty="0"/>
              <a:t>Input embeddings</a:t>
            </a:r>
          </a:p>
        </p:txBody>
      </p:sp>
      <p:sp>
        <p:nvSpPr>
          <p:cNvPr id="13" name="TextBox 12">
            <a:extLst>
              <a:ext uri="{FF2B5EF4-FFF2-40B4-BE49-F238E27FC236}">
                <a16:creationId xmlns:a16="http://schemas.microsoft.com/office/drawing/2014/main" id="{1C207BA9-862C-55CB-8F7A-E30806896B75}"/>
              </a:ext>
            </a:extLst>
          </p:cNvPr>
          <p:cNvSpPr txBox="1"/>
          <p:nvPr/>
        </p:nvSpPr>
        <p:spPr>
          <a:xfrm>
            <a:off x="7598272" y="974939"/>
            <a:ext cx="2536327" cy="369332"/>
          </a:xfrm>
          <a:prstGeom prst="rect">
            <a:avLst/>
          </a:prstGeom>
          <a:noFill/>
        </p:spPr>
        <p:txBody>
          <a:bodyPr wrap="square" rtlCol="0">
            <a:spAutoFit/>
          </a:bodyPr>
          <a:lstStyle/>
          <a:p>
            <a:pPr algn="ctr"/>
            <a:r>
              <a:rPr lang="en-GB" dirty="0"/>
              <a:t>Updated embeddings</a:t>
            </a:r>
          </a:p>
        </p:txBody>
      </p:sp>
      <p:sp>
        <p:nvSpPr>
          <p:cNvPr id="14" name="Arrow: Right 13">
            <a:extLst>
              <a:ext uri="{FF2B5EF4-FFF2-40B4-BE49-F238E27FC236}">
                <a16:creationId xmlns:a16="http://schemas.microsoft.com/office/drawing/2014/main" id="{4D8254A3-159C-4A57-9701-8E13C4E0179D}"/>
              </a:ext>
            </a:extLst>
          </p:cNvPr>
          <p:cNvSpPr/>
          <p:nvPr/>
        </p:nvSpPr>
        <p:spPr>
          <a:xfrm>
            <a:off x="5382986" y="2106383"/>
            <a:ext cx="947057"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6EC2711-CF1C-31D8-9559-6525B0ECAB9F}"/>
                  </a:ext>
                </a:extLst>
              </p:cNvPr>
              <p:cNvSpPr txBox="1"/>
              <p:nvPr/>
            </p:nvSpPr>
            <p:spPr>
              <a:xfrm>
                <a:off x="594003" y="3350876"/>
                <a:ext cx="10736035" cy="3453510"/>
              </a:xfrm>
              <a:prstGeom prst="rect">
                <a:avLst/>
              </a:prstGeom>
              <a:noFill/>
            </p:spPr>
            <p:txBody>
              <a:bodyPr wrap="square" rtlCol="0">
                <a:spAutoFit/>
              </a:bodyPr>
              <a:lstStyle/>
              <a:p>
                <a:pPr marL="285750" indent="-285750">
                  <a:buFont typeface="Arial" panose="020B0604020202020204" pitchFamily="34" charset="0"/>
                  <a:buChar char="•"/>
                </a:pPr>
                <a:r>
                  <a:rPr lang="en-GB" sz="2000" dirty="0"/>
                  <a:t>New vector for token </a:t>
                </a:r>
                <a14:m>
                  <m:oMath xmlns:m="http://schemas.openxmlformats.org/officeDocument/2006/math">
                    <m:r>
                      <a:rPr lang="en-GB" sz="2000" b="0" i="1" smtClean="0">
                        <a:latin typeface="Cambria Math" panose="02040503050406030204" pitchFamily="18" charset="0"/>
                      </a:rPr>
                      <m:t>𝑛</m:t>
                    </m:r>
                  </m:oMath>
                </a14:m>
                <a:r>
                  <a:rPr lang="en-GB" sz="2000" dirty="0"/>
                  <a:t> = weighted average across all vectors in sentence</a:t>
                </a:r>
              </a:p>
              <a:p>
                <a:pPr marL="285750" indent="-285750">
                  <a:buFont typeface="Arial" panose="020B0604020202020204" pitchFamily="34" charset="0"/>
                  <a:buChar char="•"/>
                </a:pPr>
                <a:endParaRPr lang="en-GB" sz="2000" dirty="0"/>
              </a:p>
              <a:p>
                <a:pPr lvl="1"/>
                <a14:m>
                  <m:oMathPara xmlns:m="http://schemas.openxmlformats.org/officeDocument/2006/math">
                    <m:oMath>
                      <m:sSub>
                        <m:sSubPr>
                          <m:ctrlPr>
                            <a:rPr lang="en-GB" sz="2000" b="0" i="1" smtClean="0">
                              <a:latin typeface="Cambria Math" panose="02040503050406030204" pitchFamily="18" charset="0"/>
                            </a:rPr>
                          </m:ctrlPr>
                        </m:sSubPr>
                        <m:e>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𝑦</m:t>
                              </m:r>
                            </m:e>
                          </m:bar>
                        </m:e>
                        <m:sub>
                          <m:r>
                            <a:rPr lang="en-GB" sz="2000" b="0" i="1" smtClean="0">
                              <a:latin typeface="Cambria Math" panose="02040503050406030204" pitchFamily="18" charset="0"/>
                            </a:rPr>
                            <m:t>𝑛</m:t>
                          </m:r>
                        </m:sub>
                      </m:sSub>
                      <m:r>
                        <a:rPr lang="en-GB" sz="2000" b="0" i="1" smtClean="0">
                          <a:latin typeface="Cambria Math" panose="02040503050406030204" pitchFamily="18" charset="0"/>
                        </a:rPr>
                        <m:t>= </m:t>
                      </m:r>
                      <m:nary>
                        <m:naryPr>
                          <m:chr m:val="∑"/>
                          <m:supHide m:val="on"/>
                          <m:ctrlPr>
                            <a:rPr lang="en-GB" sz="2000" b="0" i="1" smtClean="0">
                              <a:latin typeface="Cambria Math" panose="02040503050406030204" pitchFamily="18" charset="0"/>
                            </a:rPr>
                          </m:ctrlPr>
                        </m:naryPr>
                        <m:sub>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up/>
                        <m:e>
                          <m:sSub>
                            <m:sSubPr>
                              <m:ctrlPr>
                                <a:rPr lang="en-GB" sz="2000" b="0" i="1" smtClean="0">
                                  <a:latin typeface="Cambria Math" panose="02040503050406030204" pitchFamily="18" charset="0"/>
                                </a:rPr>
                              </m:ctrlPr>
                            </m:sSubPr>
                            <m:e>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𝑦</m:t>
                                  </m:r>
                                </m:e>
                              </m:bar>
                            </m:e>
                            <m:sub>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Sub>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𝐴</m:t>
                              </m:r>
                            </m:e>
                            <m:sub>
                              <m:r>
                                <a:rPr lang="en-GB" sz="2000" b="0" i="1" smtClean="0">
                                  <a:latin typeface="Cambria Math" panose="02040503050406030204" pitchFamily="18" charset="0"/>
                                </a:rPr>
                                <m:t>𝑛</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Sub>
                          <m:r>
                            <a:rPr lang="en-GB" sz="2000" b="0" i="1" smtClean="0">
                              <a:latin typeface="Cambria Math" panose="02040503050406030204" pitchFamily="18" charset="0"/>
                            </a:rPr>
                            <m:t>       ,      </m:t>
                          </m:r>
                          <m:nary>
                            <m:naryPr>
                              <m:chr m:val="∑"/>
                              <m:supHide m:val="on"/>
                              <m:ctrlPr>
                                <a:rPr lang="en-GB" sz="2000" b="0" i="1" smtClean="0">
                                  <a:latin typeface="Cambria Math" panose="02040503050406030204" pitchFamily="18" charset="0"/>
                                </a:rPr>
                              </m:ctrlPr>
                            </m:naryPr>
                            <m:sub>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up/>
                            <m:e>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𝐴</m:t>
                                  </m:r>
                                </m:e>
                                <m:sub>
                                  <m:r>
                                    <a:rPr lang="en-GB" sz="2000" b="0" i="1" smtClean="0">
                                      <a:latin typeface="Cambria Math" panose="02040503050406030204" pitchFamily="18" charset="0"/>
                                    </a:rPr>
                                    <m:t>𝑛</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Sub>
                              <m:r>
                                <a:rPr lang="en-GB" sz="2000" b="0" i="1" smtClean="0">
                                  <a:latin typeface="Cambria Math" panose="02040503050406030204" pitchFamily="18" charset="0"/>
                                </a:rPr>
                                <m:t>=1  </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𝑛</m:t>
                              </m:r>
                            </m:e>
                          </m:nary>
                        </m:e>
                      </m:nary>
                    </m:oMath>
                  </m:oMathPara>
                </a14:m>
                <a:endParaRPr lang="en-GB" sz="2000" dirty="0"/>
              </a:p>
              <a:p>
                <a:pPr lvl="1"/>
                <a:endParaRPr lang="en-GB" sz="2000" dirty="0"/>
              </a:p>
              <a:p>
                <a:pPr marL="285750" indent="-285750">
                  <a:buFont typeface="Arial" panose="020B0604020202020204" pitchFamily="34" charset="0"/>
                  <a:buChar char="•"/>
                </a:pPr>
                <a:r>
                  <a:rPr lang="en-GB" sz="2000" dirty="0"/>
                  <a:t>Actually,  let’s take weighted average of vectors that we’ll learn as part of the training process</a:t>
                </a:r>
              </a:p>
              <a:p>
                <a:pPr marL="285750" indent="-285750">
                  <a:buFont typeface="Arial" panose="020B0604020202020204" pitchFamily="34" charset="0"/>
                  <a:buChar char="•"/>
                </a:pPr>
                <a:endParaRPr lang="en-GB" sz="2000" dirty="0"/>
              </a:p>
              <a:p>
                <a:pPr/>
                <a14:m>
                  <m:oMathPara xmlns:m="http://schemas.openxmlformats.org/officeDocument/2006/math">
                    <m:oMath>
                      <m:sSub>
                        <m:sSubPr>
                          <m:ctrlPr>
                            <a:rPr lang="en-GB" sz="2000" i="1">
                              <a:latin typeface="Cambria Math" panose="02040503050406030204" pitchFamily="18" charset="0"/>
                            </a:rPr>
                          </m:ctrlPr>
                        </m:sSubPr>
                        <m:e>
                          <m:bar>
                            <m:barPr>
                              <m:pos m:val="bot"/>
                              <m:ctrlPr>
                                <a:rPr lang="en-GB" sz="2000" i="1">
                                  <a:latin typeface="Cambria Math" panose="02040503050406030204" pitchFamily="18" charset="0"/>
                                </a:rPr>
                              </m:ctrlPr>
                            </m:barPr>
                            <m:e>
                              <m:r>
                                <a:rPr lang="en-GB" sz="2000" i="1">
                                  <a:latin typeface="Cambria Math" panose="02040503050406030204" pitchFamily="18" charset="0"/>
                                </a:rPr>
                                <m:t>𝑦</m:t>
                              </m:r>
                            </m:e>
                          </m:bar>
                        </m:e>
                        <m:sub>
                          <m:r>
                            <a:rPr lang="en-GB" sz="2000" i="1">
                              <a:latin typeface="Cambria Math" panose="02040503050406030204" pitchFamily="18" charset="0"/>
                            </a:rPr>
                            <m:t>𝑛</m:t>
                          </m:r>
                        </m:sub>
                      </m:sSub>
                      <m:r>
                        <a:rPr lang="en-GB" sz="2000" i="1">
                          <a:latin typeface="Cambria Math" panose="02040503050406030204" pitchFamily="18" charset="0"/>
                        </a:rPr>
                        <m:t>=</m:t>
                      </m:r>
                      <m:r>
                        <a:rPr lang="en-GB" sz="2000" i="1" smtClean="0">
                          <a:latin typeface="Cambria Math" panose="02040503050406030204" pitchFamily="18" charset="0"/>
                        </a:rPr>
                        <m:t> </m:t>
                      </m:r>
                      <m:nary>
                        <m:naryPr>
                          <m:chr m:val="∑"/>
                          <m:supHide m:val="on"/>
                          <m:ctrlPr>
                            <a:rPr lang="en-GB" sz="2000" i="1">
                              <a:latin typeface="Cambria Math" panose="02040503050406030204" pitchFamily="18" charset="0"/>
                            </a:rPr>
                          </m:ctrlPr>
                        </m:naryPr>
                        <m:sub>
                          <m:sSup>
                            <m:sSupPr>
                              <m:ctrlPr>
                                <a:rPr lang="en-GB" sz="2000" i="1">
                                  <a:latin typeface="Cambria Math" panose="02040503050406030204" pitchFamily="18" charset="0"/>
                                </a:rPr>
                              </m:ctrlPr>
                            </m:sSupPr>
                            <m:e>
                              <m:r>
                                <a:rPr lang="en-GB" sz="2000" i="1">
                                  <a:latin typeface="Cambria Math" panose="02040503050406030204" pitchFamily="18" charset="0"/>
                                </a:rPr>
                                <m:t>𝑛</m:t>
                              </m:r>
                            </m:e>
                            <m:sup>
                              <m:r>
                                <a:rPr lang="en-GB" sz="2000" i="1">
                                  <a:latin typeface="Cambria Math" panose="02040503050406030204" pitchFamily="18" charset="0"/>
                                </a:rPr>
                                <m:t>′</m:t>
                              </m:r>
                            </m:sup>
                          </m:sSup>
                        </m:sub>
                        <m:sup/>
                        <m:e>
                          <m:sSub>
                            <m:sSubPr>
                              <m:ctrlPr>
                                <a:rPr lang="en-GB" sz="2000" b="0" i="1" smtClean="0">
                                  <a:latin typeface="Cambria Math" panose="02040503050406030204" pitchFamily="18" charset="0"/>
                                </a:rPr>
                              </m:ctrlPr>
                            </m:sSubPr>
                            <m:e>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𝑣</m:t>
                                  </m:r>
                                </m:e>
                              </m:bar>
                            </m:e>
                            <m:sub>
                              <m:sSup>
                                <m:sSupPr>
                                  <m:ctrlPr>
                                    <a:rPr lang="en-GB" sz="2000" i="1">
                                      <a:latin typeface="Cambria Math" panose="02040503050406030204" pitchFamily="18" charset="0"/>
                                    </a:rPr>
                                  </m:ctrlPr>
                                </m:sSupPr>
                                <m:e>
                                  <m:r>
                                    <a:rPr lang="en-GB" sz="2000" i="1">
                                      <a:latin typeface="Cambria Math" panose="02040503050406030204" pitchFamily="18" charset="0"/>
                                    </a:rPr>
                                    <m:t>𝑛</m:t>
                                  </m:r>
                                </m:e>
                                <m:sup>
                                  <m:r>
                                    <a:rPr lang="en-GB" sz="2000" i="1">
                                      <a:latin typeface="Cambria Math" panose="02040503050406030204" pitchFamily="18" charset="0"/>
                                    </a:rPr>
                                    <m:t>′</m:t>
                                  </m:r>
                                </m:sup>
                              </m:sSup>
                            </m:sub>
                          </m:sSub>
                          <m:r>
                            <a:rPr lang="en-GB" sz="2000" i="1">
                              <a:latin typeface="Cambria Math" panose="02040503050406030204" pitchFamily="18" charset="0"/>
                            </a:rPr>
                            <m:t> </m:t>
                          </m:r>
                          <m:sSub>
                            <m:sSubPr>
                              <m:ctrlPr>
                                <a:rPr lang="en-GB" sz="2000" i="1">
                                  <a:latin typeface="Cambria Math" panose="02040503050406030204" pitchFamily="18" charset="0"/>
                                </a:rPr>
                              </m:ctrlPr>
                            </m:sSubPr>
                            <m:e>
                              <m:r>
                                <a:rPr lang="en-GB" sz="2000" i="1">
                                  <a:latin typeface="Cambria Math" panose="02040503050406030204" pitchFamily="18" charset="0"/>
                                </a:rPr>
                                <m:t>𝐴</m:t>
                              </m:r>
                            </m:e>
                            <m:sub>
                              <m:r>
                                <a:rPr lang="en-GB" sz="2000" i="1">
                                  <a:latin typeface="Cambria Math" panose="02040503050406030204" pitchFamily="18" charset="0"/>
                                </a:rPr>
                                <m:t>𝑛</m:t>
                              </m:r>
                              <m:r>
                                <a:rPr lang="en-GB" sz="2000" i="1">
                                  <a:latin typeface="Cambria Math" panose="02040503050406030204" pitchFamily="18" charset="0"/>
                                </a:rPr>
                                <m:t>,</m:t>
                              </m:r>
                              <m:sSup>
                                <m:sSupPr>
                                  <m:ctrlPr>
                                    <a:rPr lang="en-GB" sz="2000" i="1">
                                      <a:latin typeface="Cambria Math" panose="02040503050406030204" pitchFamily="18" charset="0"/>
                                    </a:rPr>
                                  </m:ctrlPr>
                                </m:sSupPr>
                                <m:e>
                                  <m:r>
                                    <a:rPr lang="en-GB" sz="2000" i="1">
                                      <a:latin typeface="Cambria Math" panose="02040503050406030204" pitchFamily="18" charset="0"/>
                                    </a:rPr>
                                    <m:t>𝑛</m:t>
                                  </m:r>
                                </m:e>
                                <m:sup>
                                  <m:r>
                                    <a:rPr lang="en-GB" sz="2000" i="1">
                                      <a:latin typeface="Cambria Math" panose="02040503050406030204" pitchFamily="18" charset="0"/>
                                    </a:rPr>
                                    <m:t>′</m:t>
                                  </m:r>
                                </m:sup>
                              </m:sSup>
                            </m:sub>
                          </m:sSub>
                        </m:e>
                      </m:nary>
                      <m:r>
                        <a:rPr lang="en-GB" sz="2000" b="0" i="1" smtClean="0">
                          <a:latin typeface="Cambria Math" panose="02040503050406030204" pitchFamily="18" charset="0"/>
                        </a:rPr>
                        <m:t>      , </m:t>
                      </m:r>
                      <m:sSubSup>
                        <m:sSubSupPr>
                          <m:ctrlPr>
                            <a:rPr lang="en-GB" sz="2000" b="0" i="1" smtClean="0">
                              <a:latin typeface="Cambria Math" panose="02040503050406030204" pitchFamily="18" charset="0"/>
                            </a:rPr>
                          </m:ctrlPr>
                        </m:sSubSupPr>
                        <m:e>
                          <m:r>
                            <a:rPr lang="en-GB" sz="2000" b="0" i="1" smtClean="0">
                              <a:latin typeface="Cambria Math" panose="02040503050406030204" pitchFamily="18" charset="0"/>
                            </a:rPr>
                            <m:t>     </m:t>
                          </m:r>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𝑣</m:t>
                              </m:r>
                            </m:e>
                          </m:bar>
                        </m:e>
                        <m:sub>
                          <m:r>
                            <a:rPr lang="en-GB" sz="2000" b="0" i="1" smtClean="0">
                              <a:latin typeface="Cambria Math" panose="02040503050406030204" pitchFamily="18" charset="0"/>
                            </a:rPr>
                            <m:t>𝑛</m:t>
                          </m:r>
                        </m:sub>
                        <m:sup>
                          <m:r>
                            <a:rPr lang="en-GB" sz="2000" i="1">
                              <a:latin typeface="Cambria Math" panose="02040503050406030204" pitchFamily="18" charset="0"/>
                            </a:rPr>
                            <m:t>⊤</m:t>
                          </m:r>
                        </m:sup>
                      </m:sSubSup>
                      <m:r>
                        <a:rPr lang="en-GB" sz="2000" b="0" i="1" smtClean="0">
                          <a:latin typeface="Cambria Math" panose="02040503050406030204" pitchFamily="18" charset="0"/>
                        </a:rPr>
                        <m:t>= </m:t>
                      </m:r>
                      <m:sSub>
                        <m:sSubPr>
                          <m:ctrlPr>
                            <a:rPr lang="en-GB" sz="2000" b="0" i="1" smtClean="0">
                              <a:latin typeface="Cambria Math" panose="02040503050406030204" pitchFamily="18" charset="0"/>
                            </a:rPr>
                          </m:ctrlPr>
                        </m:sSubPr>
                        <m:e>
                          <m:sSubSup>
                            <m:sSubSupPr>
                              <m:ctrlPr>
                                <a:rPr lang="en-GB" sz="2000" b="0" i="1" smtClean="0">
                                  <a:latin typeface="Cambria Math" panose="02040503050406030204" pitchFamily="18" charset="0"/>
                                </a:rPr>
                              </m:ctrlPr>
                            </m:sSubSupPr>
                            <m:e>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𝑦</m:t>
                                  </m:r>
                                </m:e>
                              </m:bar>
                            </m:e>
                            <m:sub>
                              <m:r>
                                <a:rPr lang="en-GB" sz="2000" b="0" i="1" smtClean="0">
                                  <a:latin typeface="Cambria Math" panose="02040503050406030204" pitchFamily="18" charset="0"/>
                                </a:rPr>
                                <m:t>𝑛</m:t>
                              </m:r>
                            </m:sub>
                            <m:sup>
                              <m:r>
                                <a:rPr lang="en-GB" sz="2000" i="1">
                                  <a:latin typeface="Cambria Math" panose="02040503050406030204" pitchFamily="18" charset="0"/>
                                </a:rPr>
                                <m:t>⊤</m:t>
                              </m:r>
                            </m:sup>
                          </m:sSubSup>
                          <m:bar>
                            <m:barPr>
                              <m:pos m:val="bot"/>
                              <m:ctrlPr>
                                <a:rPr lang="en-GB" sz="2000" b="0" i="1" smtClean="0">
                                  <a:latin typeface="Cambria Math" panose="02040503050406030204" pitchFamily="18" charset="0"/>
                                </a:rPr>
                              </m:ctrlPr>
                            </m:barPr>
                            <m:e>
                              <m:bar>
                                <m:barPr>
                                  <m:pos m:val="bot"/>
                                  <m:ctrlPr>
                                    <a:rPr lang="en-GB" sz="2000" b="0" i="1" smtClean="0">
                                      <a:latin typeface="Cambria Math" panose="02040503050406030204" pitchFamily="18" charset="0"/>
                                    </a:rPr>
                                  </m:ctrlPr>
                                </m:barPr>
                                <m:e>
                                  <m:r>
                                    <a:rPr lang="en-GB" sz="2000" b="0" i="1" smtClean="0">
                                      <a:latin typeface="Cambria Math" panose="02040503050406030204" pitchFamily="18" charset="0"/>
                                    </a:rPr>
                                    <m:t>𝑈</m:t>
                                  </m:r>
                                </m:e>
                              </m:bar>
                            </m:e>
                          </m:bar>
                        </m:e>
                        <m:sub>
                          <m:r>
                            <a:rPr lang="en-GB" sz="2000" b="0" i="1" smtClean="0">
                              <a:latin typeface="Cambria Math" panose="02040503050406030204" pitchFamily="18" charset="0"/>
                            </a:rPr>
                            <m:t>𝑉</m:t>
                          </m:r>
                        </m:sub>
                      </m:sSub>
                    </m:oMath>
                  </m:oMathPara>
                </a14:m>
                <a:endParaRPr lang="en-GB" sz="2000" dirty="0"/>
              </a:p>
              <a:p>
                <a:pPr marL="285750" indent="-285750">
                  <a:buFont typeface="Arial" panose="020B0604020202020204" pitchFamily="34" charset="0"/>
                  <a:buChar char="•"/>
                </a:pPr>
                <a:endParaRPr lang="en-GB" sz="2000" dirty="0"/>
              </a:p>
            </p:txBody>
          </p:sp>
        </mc:Choice>
        <mc:Fallback xmlns="">
          <p:sp>
            <p:nvSpPr>
              <p:cNvPr id="15" name="TextBox 14">
                <a:extLst>
                  <a:ext uri="{FF2B5EF4-FFF2-40B4-BE49-F238E27FC236}">
                    <a16:creationId xmlns:a16="http://schemas.microsoft.com/office/drawing/2014/main" id="{C6EC2711-CF1C-31D8-9559-6525B0ECAB9F}"/>
                  </a:ext>
                </a:extLst>
              </p:cNvPr>
              <p:cNvSpPr txBox="1">
                <a:spLocks noRot="1" noChangeAspect="1" noMove="1" noResize="1" noEditPoints="1" noAdjustHandles="1" noChangeArrowheads="1" noChangeShapeType="1" noTextEdit="1"/>
              </p:cNvSpPr>
              <p:nvPr/>
            </p:nvSpPr>
            <p:spPr>
              <a:xfrm>
                <a:off x="594003" y="3350876"/>
                <a:ext cx="10736035" cy="3453510"/>
              </a:xfrm>
              <a:prstGeom prst="rect">
                <a:avLst/>
              </a:prstGeom>
              <a:blipFill>
                <a:blip r:embed="rId3"/>
                <a:stretch>
                  <a:fillRect l="-511" t="-883"/>
                </a:stretch>
              </a:blipFill>
            </p:spPr>
            <p:txBody>
              <a:bodyPr/>
              <a:lstStyle/>
              <a:p>
                <a:r>
                  <a:rPr lang="en-GB">
                    <a:noFill/>
                  </a:rPr>
                  <a:t> </a:t>
                </a:r>
              </a:p>
            </p:txBody>
          </p:sp>
        </mc:Fallback>
      </mc:AlternateContent>
    </p:spTree>
    <p:extLst>
      <p:ext uri="{BB962C8B-B14F-4D97-AF65-F5344CB8AC3E}">
        <p14:creationId xmlns:p14="http://schemas.microsoft.com/office/powerpoint/2010/main" val="386258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B3BB0-51CF-5338-D4A3-E6729B816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155F1-BE19-3CAF-1844-9672C6C9A5A5}"/>
              </a:ext>
            </a:extLst>
          </p:cNvPr>
          <p:cNvSpPr>
            <a:spLocks noGrp="1"/>
          </p:cNvSpPr>
          <p:nvPr>
            <p:ph type="title"/>
          </p:nvPr>
        </p:nvSpPr>
        <p:spPr>
          <a:xfrm>
            <a:off x="838200" y="196392"/>
            <a:ext cx="10515600" cy="930275"/>
          </a:xfrm>
        </p:spPr>
        <p:txBody>
          <a:bodyPr/>
          <a:lstStyle/>
          <a:p>
            <a:r>
              <a:rPr lang="en-GB" dirty="0"/>
              <a:t>Self-Attention</a:t>
            </a:r>
          </a:p>
        </p:txBody>
      </p:sp>
      <p:sp>
        <p:nvSpPr>
          <p:cNvPr id="4" name="Slide Number Placeholder 3">
            <a:extLst>
              <a:ext uri="{FF2B5EF4-FFF2-40B4-BE49-F238E27FC236}">
                <a16:creationId xmlns:a16="http://schemas.microsoft.com/office/drawing/2014/main" id="{66E2EFA8-C2F6-0A4C-9879-0CBADBF54D88}"/>
              </a:ext>
            </a:extLst>
          </p:cNvPr>
          <p:cNvSpPr>
            <a:spLocks noGrp="1"/>
          </p:cNvSpPr>
          <p:nvPr>
            <p:ph type="sldNum" sz="quarter" idx="12"/>
          </p:nvPr>
        </p:nvSpPr>
        <p:spPr/>
        <p:txBody>
          <a:bodyPr/>
          <a:lstStyle/>
          <a:p>
            <a:fld id="{13DE89AE-BBCC-45F3-BDAA-E98C74995322}" type="slidenum">
              <a:rPr lang="en-GB" smtClean="0"/>
              <a:t>26</a:t>
            </a:fld>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CCE96BB-080F-3E5A-E14E-3360604F4D6F}"/>
                  </a:ext>
                </a:extLst>
              </p:cNvPr>
              <p:cNvSpPr txBox="1"/>
              <p:nvPr/>
            </p:nvSpPr>
            <p:spPr>
              <a:xfrm>
                <a:off x="615043" y="1332562"/>
                <a:ext cx="10776857" cy="5444439"/>
              </a:xfrm>
              <a:prstGeom prst="rect">
                <a:avLst/>
              </a:prstGeom>
              <a:noFill/>
            </p:spPr>
            <p:txBody>
              <a:bodyPr wrap="square" rtlCol="0">
                <a:spAutoFit/>
              </a:bodyPr>
              <a:lstStyle/>
              <a:p>
                <a:pPr marL="285750" indent="-285750">
                  <a:buFont typeface="Arial" panose="020B0604020202020204" pitchFamily="34" charset="0"/>
                  <a:buChar char="•"/>
                </a:pPr>
                <a:r>
                  <a:rPr lang="en-GB" sz="2400" dirty="0"/>
                  <a:t>Where do we get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𝐴</m:t>
                        </m:r>
                      </m:e>
                      <m:sub>
                        <m:r>
                          <a:rPr lang="en-GB" sz="2400" b="0" i="1" smtClean="0">
                            <a:latin typeface="Cambria Math" panose="02040503050406030204" pitchFamily="18" charset="0"/>
                          </a:rPr>
                          <m:t>𝑛</m:t>
                        </m:r>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a14:m>
                <a:r>
                  <a:rPr lang="en-GB" sz="2400" dirty="0"/>
                  <a:t> from?</a:t>
                </a:r>
              </a:p>
              <a:p>
                <a:pPr marL="800100" lvl="1" indent="-342900">
                  <a:buFont typeface="+mj-lt"/>
                  <a:buAutoNum type="arabicParenR"/>
                </a:pPr>
                <a:r>
                  <a:rPr lang="en-GB" sz="2400" dirty="0"/>
                  <a:t>Needs to depend upon vectors for tokens </a:t>
                </a:r>
                <a14:m>
                  <m:oMath xmlns:m="http://schemas.openxmlformats.org/officeDocument/2006/math">
                    <m:r>
                      <a:rPr lang="en-GB" sz="2400" b="0" i="1" smtClean="0">
                        <a:latin typeface="Cambria Math" panose="02040503050406030204" pitchFamily="18" charset="0"/>
                      </a:rPr>
                      <m:t>𝑛</m:t>
                    </m:r>
                  </m:oMath>
                </a14:m>
                <a:r>
                  <a:rPr lang="en-GB" sz="2400" dirty="0"/>
                  <a:t> and </a:t>
                </a: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oMath>
                </a14:m>
                <a:endParaRPr lang="en-GB" sz="2400" dirty="0"/>
              </a:p>
              <a:p>
                <a:pPr marL="800100" lvl="1" indent="-342900">
                  <a:buFont typeface="+mj-lt"/>
                  <a:buAutoNum type="arabicParenR"/>
                </a:pPr>
                <a:r>
                  <a:rPr lang="en-GB" sz="2400" dirty="0"/>
                  <a:t>Needs to reflect similarity between vectors for tokens </a:t>
                </a:r>
                <a14:m>
                  <m:oMath xmlns:m="http://schemas.openxmlformats.org/officeDocument/2006/math">
                    <m:r>
                      <a:rPr lang="en-GB" sz="2400" i="1">
                        <a:latin typeface="Cambria Math" panose="02040503050406030204" pitchFamily="18" charset="0"/>
                      </a:rPr>
                      <m:t>𝑛</m:t>
                    </m:r>
                  </m:oMath>
                </a14:m>
                <a:r>
                  <a:rPr lang="en-GB" sz="2400" dirty="0"/>
                  <a:t> and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𝑛</m:t>
                        </m:r>
                      </m:e>
                      <m:sup>
                        <m:r>
                          <a:rPr lang="en-GB" sz="2400" i="1">
                            <a:latin typeface="Cambria Math" panose="02040503050406030204" pitchFamily="18" charset="0"/>
                          </a:rPr>
                          <m:t>′</m:t>
                        </m:r>
                      </m:sup>
                    </m:sSup>
                  </m:oMath>
                </a14:m>
                <a:endParaRPr lang="en-GB" sz="2400" dirty="0"/>
              </a:p>
              <a:p>
                <a:pPr lvl="1"/>
                <a:endParaRPr lang="en-GB" sz="2400" dirty="0"/>
              </a:p>
              <a:p>
                <a:pPr lvl="1"/>
                <a14:m>
                  <m:oMath xmlns:m="http://schemas.openxmlformats.org/officeDocument/2006/math">
                    <m:r>
                      <a:rPr lang="en-GB" sz="2800" i="1" smtClean="0">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 </m:t>
                    </m:r>
                    <m:sSub>
                      <m:sSubPr>
                        <m:ctrlPr>
                          <a:rPr lang="en-GB" sz="2800" b="0" i="1" smtClean="0">
                            <a:latin typeface="Cambria Math" panose="02040503050406030204" pitchFamily="18" charset="0"/>
                            <a:ea typeface="Cambria Math" panose="02040503050406030204" pitchFamily="18" charset="0"/>
                          </a:rPr>
                        </m:ctrlPr>
                      </m:sSubPr>
                      <m:e>
                        <m:r>
                          <a:rPr lang="en-GB" sz="2800" b="0" i="1" smtClean="0">
                            <a:latin typeface="Cambria Math" panose="02040503050406030204" pitchFamily="18" charset="0"/>
                            <a:ea typeface="Cambria Math" panose="02040503050406030204" pitchFamily="18" charset="0"/>
                          </a:rPr>
                          <m:t>𝐴</m:t>
                        </m:r>
                      </m:e>
                      <m:sub>
                        <m:r>
                          <a:rPr lang="en-GB" sz="2800" b="0" i="1" smtClean="0">
                            <a:latin typeface="Cambria Math" panose="02040503050406030204" pitchFamily="18" charset="0"/>
                            <a:ea typeface="Cambria Math" panose="02040503050406030204" pitchFamily="18" charset="0"/>
                          </a:rPr>
                          <m:t>𝑛</m:t>
                        </m:r>
                        <m:r>
                          <a:rPr lang="en-GB" sz="2800" b="0" i="1" smtClean="0">
                            <a:latin typeface="Cambria Math" panose="02040503050406030204" pitchFamily="18" charset="0"/>
                            <a:ea typeface="Cambria Math" panose="02040503050406030204" pitchFamily="18" charset="0"/>
                          </a:rPr>
                          <m:t>,</m:t>
                        </m:r>
                        <m:sSup>
                          <m:sSupPr>
                            <m:ctrlPr>
                              <a:rPr lang="en-GB" sz="2800" b="0" i="1" smtClean="0">
                                <a:latin typeface="Cambria Math" panose="02040503050406030204" pitchFamily="18" charset="0"/>
                                <a:ea typeface="Cambria Math" panose="02040503050406030204" pitchFamily="18" charset="0"/>
                              </a:rPr>
                            </m:ctrlPr>
                          </m:sSupPr>
                          <m:e>
                            <m:r>
                              <a:rPr lang="en-GB" sz="2800" b="0" i="1" smtClean="0">
                                <a:latin typeface="Cambria Math" panose="02040503050406030204" pitchFamily="18" charset="0"/>
                                <a:ea typeface="Cambria Math" panose="02040503050406030204" pitchFamily="18" charset="0"/>
                              </a:rPr>
                              <m:t>𝑛</m:t>
                            </m:r>
                          </m:e>
                          <m:sup>
                            <m:r>
                              <a:rPr lang="en-GB" sz="2800" b="0" i="1" smtClean="0">
                                <a:latin typeface="Cambria Math" panose="02040503050406030204" pitchFamily="18" charset="0"/>
                                <a:ea typeface="Cambria Math" panose="02040503050406030204" pitchFamily="18" charset="0"/>
                              </a:rPr>
                              <m:t>′</m:t>
                            </m:r>
                          </m:sup>
                        </m:sSup>
                      </m:sub>
                    </m:sSub>
                    <m:r>
                      <a:rPr lang="en-GB" sz="2800" b="0" i="1" smtClean="0">
                        <a:latin typeface="Cambria Math" panose="02040503050406030204" pitchFamily="18" charset="0"/>
                        <a:ea typeface="Cambria Math" panose="02040503050406030204" pitchFamily="18" charset="0"/>
                      </a:rPr>
                      <m:t> ~ </m:t>
                    </m:r>
                    <m:sSub>
                      <m:sSubPr>
                        <m:ctrlPr>
                          <a:rPr lang="en-GB" sz="2800" b="0" i="1" smtClean="0">
                            <a:latin typeface="Cambria Math" panose="02040503050406030204" pitchFamily="18" charset="0"/>
                            <a:ea typeface="Cambria Math" panose="02040503050406030204" pitchFamily="18" charset="0"/>
                          </a:rPr>
                        </m:ctrlPr>
                      </m:sSubPr>
                      <m:e>
                        <m:bar>
                          <m:barPr>
                            <m:pos m:val="bot"/>
                            <m:ctrlPr>
                              <a:rPr lang="en-GB" sz="2800" b="0" i="1" smtClean="0">
                                <a:latin typeface="Cambria Math" panose="02040503050406030204" pitchFamily="18" charset="0"/>
                                <a:ea typeface="Cambria Math" panose="02040503050406030204" pitchFamily="18" charset="0"/>
                              </a:rPr>
                            </m:ctrlPr>
                          </m:barPr>
                          <m:e>
                            <m:r>
                              <a:rPr lang="en-GB" sz="2800" b="0" i="1" smtClean="0">
                                <a:latin typeface="Cambria Math" panose="02040503050406030204" pitchFamily="18" charset="0"/>
                                <a:ea typeface="Cambria Math" panose="02040503050406030204" pitchFamily="18" charset="0"/>
                              </a:rPr>
                              <m:t>𝑦</m:t>
                            </m:r>
                          </m:e>
                        </m:bar>
                      </m:e>
                      <m:sub>
                        <m:r>
                          <a:rPr lang="en-GB" sz="2800" b="0" i="1" smtClean="0">
                            <a:latin typeface="Cambria Math" panose="02040503050406030204" pitchFamily="18" charset="0"/>
                            <a:ea typeface="Cambria Math" panose="02040503050406030204" pitchFamily="18" charset="0"/>
                          </a:rPr>
                          <m:t>𝑛</m:t>
                        </m:r>
                      </m:sub>
                    </m:sSub>
                    <m:r>
                      <a:rPr lang="en-GB" sz="2800" b="0" i="1" smtClean="0">
                        <a:latin typeface="Cambria Math" panose="02040503050406030204" pitchFamily="18" charset="0"/>
                        <a:ea typeface="Cambria Math" panose="02040503050406030204" pitchFamily="18" charset="0"/>
                      </a:rPr>
                      <m:t>∙</m:t>
                    </m:r>
                    <m:sSub>
                      <m:sSubPr>
                        <m:ctrlPr>
                          <a:rPr lang="en-GB" sz="2800" b="0" i="1" smtClean="0">
                            <a:latin typeface="Cambria Math" panose="02040503050406030204" pitchFamily="18" charset="0"/>
                            <a:ea typeface="Cambria Math" panose="02040503050406030204" pitchFamily="18" charset="0"/>
                          </a:rPr>
                        </m:ctrlPr>
                      </m:sSubPr>
                      <m:e>
                        <m:bar>
                          <m:barPr>
                            <m:pos m:val="bot"/>
                            <m:ctrlPr>
                              <a:rPr lang="en-GB" sz="2800" b="0" i="1" smtClean="0">
                                <a:latin typeface="Cambria Math" panose="02040503050406030204" pitchFamily="18" charset="0"/>
                                <a:ea typeface="Cambria Math" panose="02040503050406030204" pitchFamily="18" charset="0"/>
                              </a:rPr>
                            </m:ctrlPr>
                          </m:barPr>
                          <m:e>
                            <m:r>
                              <a:rPr lang="en-GB" sz="2800" b="0" i="1" smtClean="0">
                                <a:latin typeface="Cambria Math" panose="02040503050406030204" pitchFamily="18" charset="0"/>
                                <a:ea typeface="Cambria Math" panose="02040503050406030204" pitchFamily="18" charset="0"/>
                              </a:rPr>
                              <m:t>𝑦</m:t>
                            </m:r>
                          </m:e>
                        </m:bar>
                      </m:e>
                      <m:sub>
                        <m:sSup>
                          <m:sSupPr>
                            <m:ctrlPr>
                              <a:rPr lang="en-GB" sz="2800" b="0" i="1" smtClean="0">
                                <a:latin typeface="Cambria Math" panose="02040503050406030204" pitchFamily="18" charset="0"/>
                                <a:ea typeface="Cambria Math" panose="02040503050406030204" pitchFamily="18" charset="0"/>
                              </a:rPr>
                            </m:ctrlPr>
                          </m:sSupPr>
                          <m:e>
                            <m:r>
                              <a:rPr lang="en-GB" sz="2800" b="0" i="1" smtClean="0">
                                <a:latin typeface="Cambria Math" panose="02040503050406030204" pitchFamily="18" charset="0"/>
                                <a:ea typeface="Cambria Math" panose="02040503050406030204" pitchFamily="18" charset="0"/>
                              </a:rPr>
                              <m:t>𝑛</m:t>
                            </m:r>
                          </m:e>
                          <m:sup>
                            <m:r>
                              <a:rPr lang="en-GB" sz="2800" b="0" i="1" smtClean="0">
                                <a:latin typeface="Cambria Math" panose="02040503050406030204" pitchFamily="18" charset="0"/>
                                <a:ea typeface="Cambria Math" panose="02040503050406030204" pitchFamily="18" charset="0"/>
                              </a:rPr>
                              <m:t>′</m:t>
                            </m:r>
                          </m:sup>
                        </m:sSup>
                      </m:sub>
                    </m:sSub>
                    <m:r>
                      <a:rPr lang="en-GB" sz="2800" b="0" i="1" smtClean="0">
                        <a:latin typeface="Cambria Math" panose="02040503050406030204" pitchFamily="18" charset="0"/>
                        <a:ea typeface="Cambria Math" panose="02040503050406030204" pitchFamily="18" charset="0"/>
                      </a:rPr>
                      <m:t>   = </m:t>
                    </m:r>
                    <m:sSubSup>
                      <m:sSubSupPr>
                        <m:ctrlPr>
                          <a:rPr lang="en-GB" sz="2800" b="0" i="1" smtClean="0">
                            <a:latin typeface="Cambria Math" panose="02040503050406030204" pitchFamily="18" charset="0"/>
                            <a:ea typeface="Cambria Math" panose="02040503050406030204" pitchFamily="18" charset="0"/>
                          </a:rPr>
                        </m:ctrlPr>
                      </m:sSubSupPr>
                      <m:e>
                        <m:bar>
                          <m:barPr>
                            <m:pos m:val="bot"/>
                            <m:ctrlPr>
                              <a:rPr lang="en-GB" sz="2800" b="0" i="1" smtClean="0">
                                <a:latin typeface="Cambria Math" panose="02040503050406030204" pitchFamily="18" charset="0"/>
                                <a:ea typeface="Cambria Math" panose="02040503050406030204" pitchFamily="18" charset="0"/>
                              </a:rPr>
                            </m:ctrlPr>
                          </m:barPr>
                          <m:e>
                            <m:r>
                              <a:rPr lang="en-GB" sz="2800" b="0" i="1" smtClean="0">
                                <a:latin typeface="Cambria Math" panose="02040503050406030204" pitchFamily="18" charset="0"/>
                                <a:ea typeface="Cambria Math" panose="02040503050406030204" pitchFamily="18" charset="0"/>
                              </a:rPr>
                              <m:t>𝑦</m:t>
                            </m:r>
                          </m:e>
                        </m:bar>
                      </m:e>
                      <m:sub>
                        <m:r>
                          <a:rPr lang="en-GB" sz="2800" b="0" i="1" smtClean="0">
                            <a:latin typeface="Cambria Math" panose="02040503050406030204" pitchFamily="18" charset="0"/>
                            <a:ea typeface="Cambria Math" panose="02040503050406030204" pitchFamily="18" charset="0"/>
                          </a:rPr>
                          <m:t>𝑛</m:t>
                        </m:r>
                      </m:sub>
                      <m:sup>
                        <m:r>
                          <a:rPr lang="en-GB" sz="2800" i="1">
                            <a:latin typeface="Cambria Math" panose="02040503050406030204" pitchFamily="18" charset="0"/>
                          </a:rPr>
                          <m:t>⊤</m:t>
                        </m:r>
                      </m:sup>
                    </m:sSubSup>
                    <m:sSub>
                      <m:sSubPr>
                        <m:ctrlPr>
                          <a:rPr lang="en-GB" sz="2800" b="0" i="1" smtClean="0">
                            <a:latin typeface="Cambria Math" panose="02040503050406030204" pitchFamily="18" charset="0"/>
                            <a:ea typeface="Cambria Math" panose="02040503050406030204" pitchFamily="18" charset="0"/>
                          </a:rPr>
                        </m:ctrlPr>
                      </m:sSubPr>
                      <m:e>
                        <m:bar>
                          <m:barPr>
                            <m:pos m:val="bot"/>
                            <m:ctrlPr>
                              <a:rPr lang="en-GB" sz="2800" b="0" i="1" smtClean="0">
                                <a:latin typeface="Cambria Math" panose="02040503050406030204" pitchFamily="18" charset="0"/>
                                <a:ea typeface="Cambria Math" panose="02040503050406030204" pitchFamily="18" charset="0"/>
                              </a:rPr>
                            </m:ctrlPr>
                          </m:barPr>
                          <m:e>
                            <m:r>
                              <a:rPr lang="en-GB" sz="2800" b="0" i="1" smtClean="0">
                                <a:latin typeface="Cambria Math" panose="02040503050406030204" pitchFamily="18" charset="0"/>
                                <a:ea typeface="Cambria Math" panose="02040503050406030204" pitchFamily="18" charset="0"/>
                              </a:rPr>
                              <m:t>𝑦</m:t>
                            </m:r>
                          </m:e>
                        </m:bar>
                      </m:e>
                      <m:sub>
                        <m:sSup>
                          <m:sSupPr>
                            <m:ctrlPr>
                              <a:rPr lang="en-GB" sz="2800" b="0" i="1" smtClean="0">
                                <a:latin typeface="Cambria Math" panose="02040503050406030204" pitchFamily="18" charset="0"/>
                                <a:ea typeface="Cambria Math" panose="02040503050406030204" pitchFamily="18" charset="0"/>
                              </a:rPr>
                            </m:ctrlPr>
                          </m:sSupPr>
                          <m:e>
                            <m:r>
                              <a:rPr lang="en-GB" sz="2800" b="0" i="1" smtClean="0">
                                <a:latin typeface="Cambria Math" panose="02040503050406030204" pitchFamily="18" charset="0"/>
                                <a:ea typeface="Cambria Math" panose="02040503050406030204" pitchFamily="18" charset="0"/>
                              </a:rPr>
                              <m:t>𝑛</m:t>
                            </m:r>
                          </m:e>
                          <m:sup>
                            <m:r>
                              <a:rPr lang="en-GB" sz="2800" b="0" i="1" smtClean="0">
                                <a:latin typeface="Cambria Math" panose="02040503050406030204" pitchFamily="18" charset="0"/>
                                <a:ea typeface="Cambria Math" panose="02040503050406030204" pitchFamily="18" charset="0"/>
                              </a:rPr>
                              <m:t>′</m:t>
                            </m:r>
                          </m:sup>
                        </m:sSup>
                      </m:sub>
                    </m:sSub>
                  </m:oMath>
                </a14:m>
                <a:r>
                  <a:rPr lang="en-GB" sz="2800" dirty="0"/>
                  <a:t> </a:t>
                </a:r>
              </a:p>
              <a:p>
                <a:pPr lvl="1"/>
                <a:endParaRPr lang="en-GB" sz="2400" dirty="0"/>
              </a:p>
              <a:p>
                <a:pPr lvl="1"/>
                <a:r>
                  <a:rPr lang="en-GB" sz="2400" dirty="0"/>
                  <a:t>Not a probability !</a:t>
                </a:r>
              </a:p>
              <a:p>
                <a:pPr lvl="1"/>
                <a:endParaRPr lang="en-GB" sz="2400" dirty="0"/>
              </a:p>
              <a:p>
                <a:pPr lvl="1"/>
                <a:endParaRPr lang="en-GB" sz="2400" dirty="0"/>
              </a:p>
              <a:p>
                <a:pPr marL="342900" indent="-342900">
                  <a:buFont typeface="Arial" panose="020B0604020202020204" pitchFamily="34" charset="0"/>
                  <a:buChar char="•"/>
                </a:pPr>
                <a:r>
                  <a:rPr lang="en-GB" sz="2400" dirty="0"/>
                  <a:t>Not a problem – exponentiate and normalize</a:t>
                </a:r>
              </a:p>
              <a:p>
                <a:pPr lvl="1"/>
                <a:r>
                  <a:rPr lang="en-GB" sz="2400" dirty="0"/>
                  <a:t>	</a:t>
                </a:r>
                <a14:m>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𝐴</m:t>
                        </m:r>
                      </m:e>
                      <m:sub>
                        <m:r>
                          <a:rPr lang="en-GB" sz="2800" b="0" i="1" smtClean="0">
                            <a:latin typeface="Cambria Math" panose="02040503050406030204" pitchFamily="18" charset="0"/>
                          </a:rPr>
                          <m:t>𝑛</m:t>
                        </m:r>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𝑛</m:t>
                            </m:r>
                          </m:e>
                          <m:sup>
                            <m:r>
                              <a:rPr lang="en-GB" sz="2800" b="0" i="1" smtClean="0">
                                <a:latin typeface="Cambria Math" panose="02040503050406030204" pitchFamily="18" charset="0"/>
                              </a:rPr>
                              <m:t>′</m:t>
                            </m:r>
                          </m:sup>
                        </m:sSup>
                      </m:sub>
                    </m:sSub>
                    <m:r>
                      <a:rPr lang="en-GB" sz="2800" b="0" i="1" smtClean="0">
                        <a:latin typeface="Cambria Math" panose="02040503050406030204" pitchFamily="18" charset="0"/>
                      </a:rPr>
                      <m:t>= </m:t>
                    </m:r>
                    <m:f>
                      <m:fPr>
                        <m:ctrlPr>
                          <a:rPr lang="en-GB" sz="2800" b="0" i="0" smtClean="0">
                            <a:latin typeface="Cambria Math" panose="02040503050406030204" pitchFamily="18" charset="0"/>
                          </a:rPr>
                        </m:ctrlPr>
                      </m:fPr>
                      <m:num>
                        <m:r>
                          <m:rPr>
                            <m:nor/>
                          </m:rPr>
                          <a:rPr lang="en-GB" sz="2800" b="0" i="0" smtClean="0">
                            <a:latin typeface="Cambria Math" panose="02040503050406030204" pitchFamily="18" charset="0"/>
                          </a:rPr>
                          <m:t>exp</m:t>
                        </m:r>
                        <m:d>
                          <m:dPr>
                            <m:ctrlPr>
                              <a:rPr lang="en-GB" sz="2800" i="1">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bar>
                                  <m:barPr>
                                    <m:pos m:val="bot"/>
                                    <m:ctrlPr>
                                      <a:rPr lang="en-GB" sz="2800" i="1">
                                        <a:latin typeface="Cambria Math" panose="02040503050406030204" pitchFamily="18" charset="0"/>
                                        <a:ea typeface="Cambria Math" panose="02040503050406030204" pitchFamily="18" charset="0"/>
                                      </a:rPr>
                                    </m:ctrlPr>
                                  </m:barPr>
                                  <m:e>
                                    <m:r>
                                      <a:rPr lang="en-GB" sz="2800" i="1">
                                        <a:latin typeface="Cambria Math" panose="02040503050406030204" pitchFamily="18" charset="0"/>
                                        <a:ea typeface="Cambria Math" panose="02040503050406030204" pitchFamily="18" charset="0"/>
                                      </a:rPr>
                                      <m:t>𝑦</m:t>
                                    </m:r>
                                  </m:e>
                                </m:bar>
                              </m:e>
                              <m:sub>
                                <m:r>
                                  <a:rPr lang="en-GB" sz="2800" i="1">
                                    <a:latin typeface="Cambria Math" panose="02040503050406030204" pitchFamily="18" charset="0"/>
                                    <a:ea typeface="Cambria Math" panose="02040503050406030204" pitchFamily="18" charset="0"/>
                                  </a:rPr>
                                  <m:t>𝑛</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bar>
                                  <m:barPr>
                                    <m:pos m:val="bot"/>
                                    <m:ctrlPr>
                                      <a:rPr lang="en-GB" sz="2800" i="1">
                                        <a:latin typeface="Cambria Math" panose="02040503050406030204" pitchFamily="18" charset="0"/>
                                        <a:ea typeface="Cambria Math" panose="02040503050406030204" pitchFamily="18" charset="0"/>
                                      </a:rPr>
                                    </m:ctrlPr>
                                  </m:barPr>
                                  <m:e>
                                    <m:r>
                                      <a:rPr lang="en-GB" sz="2800" i="1">
                                        <a:latin typeface="Cambria Math" panose="02040503050406030204" pitchFamily="18" charset="0"/>
                                        <a:ea typeface="Cambria Math" panose="02040503050406030204" pitchFamily="18" charset="0"/>
                                      </a:rPr>
                                      <m:t>𝑦</m:t>
                                    </m:r>
                                  </m:e>
                                </m:bar>
                              </m:e>
                              <m:sub>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𝑛</m:t>
                                    </m:r>
                                  </m:e>
                                  <m:sup>
                                    <m:r>
                                      <a:rPr lang="en-GB" sz="2800" i="1">
                                        <a:latin typeface="Cambria Math" panose="02040503050406030204" pitchFamily="18" charset="0"/>
                                        <a:ea typeface="Cambria Math" panose="02040503050406030204" pitchFamily="18" charset="0"/>
                                      </a:rPr>
                                      <m:t>′</m:t>
                                    </m:r>
                                  </m:sup>
                                </m:sSup>
                              </m:sub>
                            </m:sSub>
                          </m:e>
                        </m:d>
                      </m:num>
                      <m:den>
                        <m:nary>
                          <m:naryPr>
                            <m:chr m:val="∑"/>
                            <m:supHide m:val="on"/>
                            <m:ctrlPr>
                              <a:rPr lang="en-GB" sz="2800" b="0" i="1" smtClean="0">
                                <a:latin typeface="Cambria Math" panose="02040503050406030204" pitchFamily="18" charset="0"/>
                              </a:rPr>
                            </m:ctrlPr>
                          </m:naryPr>
                          <m:sub>
                            <m:sSup>
                              <m:sSupPr>
                                <m:ctrlPr>
                                  <a:rPr lang="en-GB" sz="2800" b="0" i="1" smtClean="0">
                                    <a:latin typeface="Cambria Math" panose="02040503050406030204" pitchFamily="18" charset="0"/>
                                  </a:rPr>
                                </m:ctrlPr>
                              </m:sSupPr>
                              <m:e>
                                <m:r>
                                  <a:rPr lang="en-GB" sz="2800" b="0" i="1" smtClean="0">
                                    <a:latin typeface="Cambria Math" panose="02040503050406030204" pitchFamily="18" charset="0"/>
                                  </a:rPr>
                                  <m:t>𝑛</m:t>
                                </m:r>
                              </m:e>
                              <m:sup>
                                <m:r>
                                  <a:rPr lang="en-GB" sz="2800" b="0" i="1" smtClean="0">
                                    <a:latin typeface="Cambria Math" panose="02040503050406030204" pitchFamily="18" charset="0"/>
                                  </a:rPr>
                                  <m:t>′′</m:t>
                                </m:r>
                              </m:sup>
                            </m:sSup>
                          </m:sub>
                          <m:sup/>
                          <m:e>
                            <m:r>
                              <m:rPr>
                                <m:nor/>
                              </m:rPr>
                              <a:rPr lang="en-GB" sz="2800" b="0" i="0" smtClean="0">
                                <a:latin typeface="Cambria Math" panose="02040503050406030204" pitchFamily="18" charset="0"/>
                              </a:rPr>
                              <m:t>exp</m:t>
                            </m:r>
                            <m:d>
                              <m:dPr>
                                <m:ctrlPr>
                                  <a:rPr lang="en-GB" sz="2800" i="1">
                                    <a:latin typeface="Cambria Math" panose="02040503050406030204" pitchFamily="18" charset="0"/>
                                    <a:ea typeface="Cambria Math" panose="02040503050406030204" pitchFamily="18" charset="0"/>
                                  </a:rPr>
                                </m:ctrlPr>
                              </m:dPr>
                              <m:e>
                                <m:sSub>
                                  <m:sSubPr>
                                    <m:ctrlPr>
                                      <a:rPr lang="en-GB" sz="2800" i="1">
                                        <a:latin typeface="Cambria Math" panose="02040503050406030204" pitchFamily="18" charset="0"/>
                                        <a:ea typeface="Cambria Math" panose="02040503050406030204" pitchFamily="18" charset="0"/>
                                      </a:rPr>
                                    </m:ctrlPr>
                                  </m:sSubPr>
                                  <m:e>
                                    <m:bar>
                                      <m:barPr>
                                        <m:pos m:val="bot"/>
                                        <m:ctrlPr>
                                          <a:rPr lang="en-GB" sz="2800" i="1">
                                            <a:latin typeface="Cambria Math" panose="02040503050406030204" pitchFamily="18" charset="0"/>
                                            <a:ea typeface="Cambria Math" panose="02040503050406030204" pitchFamily="18" charset="0"/>
                                          </a:rPr>
                                        </m:ctrlPr>
                                      </m:barPr>
                                      <m:e>
                                        <m:r>
                                          <a:rPr lang="en-GB" sz="2800" i="1">
                                            <a:latin typeface="Cambria Math" panose="02040503050406030204" pitchFamily="18" charset="0"/>
                                            <a:ea typeface="Cambria Math" panose="02040503050406030204" pitchFamily="18" charset="0"/>
                                          </a:rPr>
                                          <m:t>𝑦</m:t>
                                        </m:r>
                                      </m:e>
                                    </m:bar>
                                  </m:e>
                                  <m:sub>
                                    <m:r>
                                      <a:rPr lang="en-GB" sz="2800" i="1">
                                        <a:latin typeface="Cambria Math" panose="02040503050406030204" pitchFamily="18" charset="0"/>
                                        <a:ea typeface="Cambria Math" panose="02040503050406030204" pitchFamily="18" charset="0"/>
                                      </a:rPr>
                                      <m:t>𝑛</m:t>
                                    </m:r>
                                  </m:sub>
                                </m:sSub>
                                <m:r>
                                  <a:rPr lang="en-GB" sz="2800" i="1">
                                    <a:latin typeface="Cambria Math" panose="02040503050406030204" pitchFamily="18" charset="0"/>
                                    <a:ea typeface="Cambria Math" panose="02040503050406030204" pitchFamily="18" charset="0"/>
                                  </a:rPr>
                                  <m:t>∙</m:t>
                                </m:r>
                                <m:sSub>
                                  <m:sSubPr>
                                    <m:ctrlPr>
                                      <a:rPr lang="en-GB" sz="2800" i="1">
                                        <a:latin typeface="Cambria Math" panose="02040503050406030204" pitchFamily="18" charset="0"/>
                                        <a:ea typeface="Cambria Math" panose="02040503050406030204" pitchFamily="18" charset="0"/>
                                      </a:rPr>
                                    </m:ctrlPr>
                                  </m:sSubPr>
                                  <m:e>
                                    <m:bar>
                                      <m:barPr>
                                        <m:pos m:val="bot"/>
                                        <m:ctrlPr>
                                          <a:rPr lang="en-GB" sz="2800" i="1">
                                            <a:latin typeface="Cambria Math" panose="02040503050406030204" pitchFamily="18" charset="0"/>
                                            <a:ea typeface="Cambria Math" panose="02040503050406030204" pitchFamily="18" charset="0"/>
                                          </a:rPr>
                                        </m:ctrlPr>
                                      </m:barPr>
                                      <m:e>
                                        <m:r>
                                          <a:rPr lang="en-GB" sz="2800" i="1">
                                            <a:latin typeface="Cambria Math" panose="02040503050406030204" pitchFamily="18" charset="0"/>
                                            <a:ea typeface="Cambria Math" panose="02040503050406030204" pitchFamily="18" charset="0"/>
                                          </a:rPr>
                                          <m:t>𝑦</m:t>
                                        </m:r>
                                      </m:e>
                                    </m:bar>
                                  </m:e>
                                  <m:sub>
                                    <m:sSup>
                                      <m:sSupPr>
                                        <m:ctrlPr>
                                          <a:rPr lang="en-GB" sz="2800" i="1">
                                            <a:latin typeface="Cambria Math" panose="02040503050406030204" pitchFamily="18" charset="0"/>
                                            <a:ea typeface="Cambria Math" panose="02040503050406030204" pitchFamily="18" charset="0"/>
                                          </a:rPr>
                                        </m:ctrlPr>
                                      </m:sSupPr>
                                      <m:e>
                                        <m:r>
                                          <a:rPr lang="en-GB" sz="2800" i="1">
                                            <a:latin typeface="Cambria Math" panose="02040503050406030204" pitchFamily="18" charset="0"/>
                                            <a:ea typeface="Cambria Math" panose="02040503050406030204" pitchFamily="18" charset="0"/>
                                          </a:rPr>
                                          <m:t>𝑛</m:t>
                                        </m:r>
                                      </m:e>
                                      <m:sup>
                                        <m:r>
                                          <a:rPr lang="en-GB" sz="2800" i="1">
                                            <a:latin typeface="Cambria Math" panose="02040503050406030204" pitchFamily="18" charset="0"/>
                                            <a:ea typeface="Cambria Math" panose="02040503050406030204" pitchFamily="18" charset="0"/>
                                          </a:rPr>
                                          <m:t>′</m:t>
                                        </m:r>
                                        <m:r>
                                          <a:rPr lang="en-GB" sz="2800" b="0" i="1" smtClean="0">
                                            <a:latin typeface="Cambria Math" panose="02040503050406030204" pitchFamily="18" charset="0"/>
                                            <a:ea typeface="Cambria Math" panose="02040503050406030204" pitchFamily="18" charset="0"/>
                                          </a:rPr>
                                          <m:t>′</m:t>
                                        </m:r>
                                      </m:sup>
                                    </m:sSup>
                                  </m:sub>
                                </m:sSub>
                              </m:e>
                            </m:d>
                          </m:e>
                        </m:nary>
                      </m:den>
                    </m:f>
                  </m:oMath>
                </a14:m>
                <a:r>
                  <a:rPr lang="en-GB" sz="2400" dirty="0"/>
                  <a:t>        just </a:t>
                </a:r>
                <a:r>
                  <a:rPr lang="en-GB" sz="2400" dirty="0" err="1"/>
                  <a:t>softmax</a:t>
                </a:r>
                <a:r>
                  <a:rPr lang="en-GB" sz="2400" dirty="0"/>
                  <a:t> function applied to </a:t>
                </a:r>
                <a14:m>
                  <m:oMath xmlns:m="http://schemas.openxmlformats.org/officeDocument/2006/math">
                    <m:sSub>
                      <m:sSubPr>
                        <m:ctrlPr>
                          <a:rPr lang="en-GB" sz="2400" i="1">
                            <a:latin typeface="Cambria Math" panose="02040503050406030204" pitchFamily="18" charset="0"/>
                            <a:ea typeface="Cambria Math" panose="02040503050406030204" pitchFamily="18" charset="0"/>
                          </a:rPr>
                        </m:ctrlPr>
                      </m:sSubPr>
                      <m:e>
                        <m:bar>
                          <m:barPr>
                            <m:pos m:val="bot"/>
                            <m:ctrlPr>
                              <a:rPr lang="en-GB" sz="2400" i="1">
                                <a:latin typeface="Cambria Math" panose="02040503050406030204" pitchFamily="18" charset="0"/>
                                <a:ea typeface="Cambria Math" panose="02040503050406030204" pitchFamily="18" charset="0"/>
                              </a:rPr>
                            </m:ctrlPr>
                          </m:barPr>
                          <m:e>
                            <m:r>
                              <a:rPr lang="en-GB" sz="2400" i="1">
                                <a:latin typeface="Cambria Math" panose="02040503050406030204" pitchFamily="18" charset="0"/>
                                <a:ea typeface="Cambria Math" panose="02040503050406030204" pitchFamily="18" charset="0"/>
                              </a:rPr>
                              <m:t>𝑦</m:t>
                            </m:r>
                          </m:e>
                        </m:bar>
                      </m:e>
                      <m:sub>
                        <m:r>
                          <a:rPr lang="en-GB" sz="2400" i="1">
                            <a:latin typeface="Cambria Math" panose="02040503050406030204" pitchFamily="18" charset="0"/>
                            <a:ea typeface="Cambria Math" panose="02040503050406030204" pitchFamily="18" charset="0"/>
                          </a:rPr>
                          <m:t>𝑛</m:t>
                        </m:r>
                      </m:sub>
                    </m:sSub>
                    <m:r>
                      <a:rPr lang="en-GB" sz="2400" i="1">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bar>
                          <m:barPr>
                            <m:pos m:val="bot"/>
                            <m:ctrlPr>
                              <a:rPr lang="en-GB" sz="2400" i="1">
                                <a:latin typeface="Cambria Math" panose="02040503050406030204" pitchFamily="18" charset="0"/>
                                <a:ea typeface="Cambria Math" panose="02040503050406030204" pitchFamily="18" charset="0"/>
                              </a:rPr>
                            </m:ctrlPr>
                          </m:barPr>
                          <m:e>
                            <m:r>
                              <a:rPr lang="en-GB" sz="2400" i="1">
                                <a:latin typeface="Cambria Math" panose="02040503050406030204" pitchFamily="18" charset="0"/>
                                <a:ea typeface="Cambria Math" panose="02040503050406030204" pitchFamily="18" charset="0"/>
                              </a:rPr>
                              <m:t>𝑦</m:t>
                            </m:r>
                          </m:e>
                        </m:bar>
                      </m:e>
                      <m:sub>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𝑛</m:t>
                            </m:r>
                          </m:e>
                          <m:sup>
                            <m:r>
                              <a:rPr lang="en-GB" sz="2400" i="1">
                                <a:latin typeface="Cambria Math" panose="02040503050406030204" pitchFamily="18" charset="0"/>
                                <a:ea typeface="Cambria Math" panose="02040503050406030204" pitchFamily="18" charset="0"/>
                              </a:rPr>
                              <m:t>′</m:t>
                            </m:r>
                          </m:sup>
                        </m:sSup>
                      </m:sub>
                    </m:sSub>
                  </m:oMath>
                </a14:m>
                <a:r>
                  <a:rPr lang="en-GB" sz="2400" dirty="0"/>
                  <a:t> </a:t>
                </a:r>
              </a:p>
              <a:p>
                <a:pPr marL="342900" indent="-342900">
                  <a:buFont typeface="Arial" panose="020B0604020202020204" pitchFamily="34" charset="0"/>
                  <a:buChar char="•"/>
                </a:pPr>
                <a:endParaRPr lang="en-GB" sz="2400" dirty="0"/>
              </a:p>
            </p:txBody>
          </p:sp>
        </mc:Choice>
        <mc:Fallback xmlns="">
          <p:sp>
            <p:nvSpPr>
              <p:cNvPr id="8" name="TextBox 7">
                <a:extLst>
                  <a:ext uri="{FF2B5EF4-FFF2-40B4-BE49-F238E27FC236}">
                    <a16:creationId xmlns:a16="http://schemas.microsoft.com/office/drawing/2014/main" id="{CCCE96BB-080F-3E5A-E14E-3360604F4D6F}"/>
                  </a:ext>
                </a:extLst>
              </p:cNvPr>
              <p:cNvSpPr txBox="1">
                <a:spLocks noRot="1" noChangeAspect="1" noMove="1" noResize="1" noEditPoints="1" noAdjustHandles="1" noChangeArrowheads="1" noChangeShapeType="1" noTextEdit="1"/>
              </p:cNvSpPr>
              <p:nvPr/>
            </p:nvSpPr>
            <p:spPr>
              <a:xfrm>
                <a:off x="615043" y="1332562"/>
                <a:ext cx="10776857" cy="5444439"/>
              </a:xfrm>
              <a:prstGeom prst="rect">
                <a:avLst/>
              </a:prstGeom>
              <a:blipFill>
                <a:blip r:embed="rId3"/>
                <a:stretch>
                  <a:fillRect l="-792" t="-672"/>
                </a:stretch>
              </a:blipFill>
            </p:spPr>
            <p:txBody>
              <a:bodyPr/>
              <a:lstStyle/>
              <a:p>
                <a:r>
                  <a:rPr lang="en-GB">
                    <a:noFill/>
                  </a:rPr>
                  <a:t> </a:t>
                </a:r>
              </a:p>
            </p:txBody>
          </p:sp>
        </mc:Fallback>
      </mc:AlternateContent>
    </p:spTree>
    <p:extLst>
      <p:ext uri="{BB962C8B-B14F-4D97-AF65-F5344CB8AC3E}">
        <p14:creationId xmlns:p14="http://schemas.microsoft.com/office/powerpoint/2010/main" val="371050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1F28A-1DC8-A7A9-45F8-534194912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5D3B3-EDFB-F430-1A50-E45DB4EE9129}"/>
              </a:ext>
            </a:extLst>
          </p:cNvPr>
          <p:cNvSpPr>
            <a:spLocks noGrp="1"/>
          </p:cNvSpPr>
          <p:nvPr>
            <p:ph type="title"/>
          </p:nvPr>
        </p:nvSpPr>
        <p:spPr>
          <a:xfrm>
            <a:off x="838200" y="196392"/>
            <a:ext cx="10515600" cy="930275"/>
          </a:xfrm>
        </p:spPr>
        <p:txBody>
          <a:bodyPr/>
          <a:lstStyle/>
          <a:p>
            <a:r>
              <a:rPr lang="en-GB" dirty="0"/>
              <a:t>Self-Attention</a:t>
            </a:r>
          </a:p>
        </p:txBody>
      </p:sp>
      <p:sp>
        <p:nvSpPr>
          <p:cNvPr id="4" name="Slide Number Placeholder 3">
            <a:extLst>
              <a:ext uri="{FF2B5EF4-FFF2-40B4-BE49-F238E27FC236}">
                <a16:creationId xmlns:a16="http://schemas.microsoft.com/office/drawing/2014/main" id="{7F056753-DF41-E230-3B31-E4569B79BD5F}"/>
              </a:ext>
            </a:extLst>
          </p:cNvPr>
          <p:cNvSpPr>
            <a:spLocks noGrp="1"/>
          </p:cNvSpPr>
          <p:nvPr>
            <p:ph type="sldNum" sz="quarter" idx="12"/>
          </p:nvPr>
        </p:nvSpPr>
        <p:spPr/>
        <p:txBody>
          <a:bodyPr/>
          <a:lstStyle/>
          <a:p>
            <a:fld id="{13DE89AE-BBCC-45F3-BDAA-E98C74995322}" type="slidenum">
              <a:rPr lang="en-GB" smtClean="0"/>
              <a:t>27</a:t>
            </a:fld>
            <a:endParaRPr lang="en-GB"/>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88F24AF-AC59-35B9-0C24-915BBF09B4C7}"/>
                  </a:ext>
                </a:extLst>
              </p:cNvPr>
              <p:cNvSpPr txBox="1"/>
              <p:nvPr/>
            </p:nvSpPr>
            <p:spPr>
              <a:xfrm>
                <a:off x="332015" y="1037975"/>
                <a:ext cx="11631386" cy="6342506"/>
              </a:xfrm>
              <a:prstGeom prst="rect">
                <a:avLst/>
              </a:prstGeom>
              <a:noFill/>
            </p:spPr>
            <p:txBody>
              <a:bodyPr wrap="square" rtlCol="0">
                <a:spAutoFit/>
              </a:bodyPr>
              <a:lstStyle/>
              <a:p>
                <a:pPr marL="285750" indent="-285750">
                  <a:buFont typeface="Arial" panose="020B0604020202020204" pitchFamily="34" charset="0"/>
                  <a:buChar char="•"/>
                </a:pPr>
                <a:r>
                  <a:rPr lang="en-GB" sz="2400" dirty="0"/>
                  <a:t>Are </a:t>
                </a:r>
                <a14:m>
                  <m:oMath xmlns:m="http://schemas.openxmlformats.org/officeDocument/2006/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Sub>
                  </m:oMath>
                </a14:m>
                <a:r>
                  <a:rPr lang="en-GB" sz="2400" dirty="0"/>
                  <a:t> and </a:t>
                </a:r>
                <a14:m>
                  <m:oMath xmlns:m="http://schemas.openxmlformats.org/officeDocument/2006/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a14:m>
                <a:r>
                  <a:rPr lang="en-GB" sz="2400" dirty="0"/>
                  <a:t> the best vectors to measure similarity between tokens </a:t>
                </a:r>
                <a14:m>
                  <m:oMath xmlns:m="http://schemas.openxmlformats.org/officeDocument/2006/math">
                    <m:r>
                      <a:rPr lang="en-GB" sz="2400" b="0" i="1" smtClean="0">
                        <a:latin typeface="Cambria Math" panose="02040503050406030204" pitchFamily="18" charset="0"/>
                      </a:rPr>
                      <m:t>𝑛</m:t>
                    </m:r>
                  </m:oMath>
                </a14:m>
                <a:r>
                  <a:rPr lang="en-GB" sz="2400" dirty="0"/>
                  <a:t> and </a:t>
                </a: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oMath>
                </a14:m>
                <a:r>
                  <a:rPr lang="en-GB" sz="2400" dirty="0"/>
                  <a:t> ?</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Ok, let’s allow for a learnable linear transformation</a:t>
                </a:r>
              </a:p>
              <a:p>
                <a:pPr lvl="1"/>
                <a14:m>
                  <m:oMathPara xmlns:m="http://schemas.openxmlformats.org/officeDocument/2006/math">
                    <m:o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bar>
                        <m:barPr>
                          <m:pos m:val="bot"/>
                          <m:ctrlPr>
                            <a:rPr lang="en-GB" sz="2400" b="0" i="1" smtClean="0">
                              <a:latin typeface="Cambria Math" panose="02040503050406030204" pitchFamily="18" charset="0"/>
                              <a:ea typeface="Cambria Math" panose="02040503050406030204" pitchFamily="18" charset="0"/>
                            </a:rPr>
                          </m:ctrlPr>
                        </m:bar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𝑈</m:t>
                              </m:r>
                            </m:e>
                          </m:bar>
                        </m:e>
                      </m:bar>
                      <m:r>
                        <a:rPr lang="en-GB" sz="2400" b="0" i="1" smtClean="0">
                          <a:latin typeface="Cambria Math" panose="02040503050406030204" pitchFamily="18" charset="0"/>
                          <a:ea typeface="Cambria Math" panose="02040503050406030204" pitchFamily="18" charset="0"/>
                        </a:rPr>
                        <m:t> </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𝑦</m:t>
                              </m:r>
                            </m:e>
                          </m:bar>
                        </m:e>
                        <m:sub>
                          <m:r>
                            <a:rPr lang="en-GB" sz="2400" b="0" i="1" smtClean="0">
                              <a:latin typeface="Cambria Math" panose="02040503050406030204" pitchFamily="18" charset="0"/>
                              <a:ea typeface="Cambria Math" panose="02040503050406030204" pitchFamily="18" charset="0"/>
                            </a:rPr>
                            <m:t>𝑛</m:t>
                          </m:r>
                        </m:sub>
                      </m:sSub>
                      <m:r>
                        <a:rPr lang="en-GB" sz="2400" b="0" i="1" smtClean="0">
                          <a:latin typeface="Cambria Math" panose="02040503050406030204" pitchFamily="18" charset="0"/>
                          <a:ea typeface="Cambria Math" panose="02040503050406030204" pitchFamily="18" charset="0"/>
                        </a:rPr>
                        <m:t>= </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r>
                            <a:rPr lang="en-GB" sz="2400" b="0" i="1" smtClean="0">
                              <a:latin typeface="Cambria Math" panose="02040503050406030204" pitchFamily="18" charset="0"/>
                              <a:ea typeface="Cambria Math" panose="02040503050406030204" pitchFamily="18" charset="0"/>
                            </a:rPr>
                            <m:t>𝑛</m:t>
                          </m:r>
                        </m:sub>
                      </m:sSub>
                    </m:oMath>
                  </m:oMathPara>
                </a14:m>
                <a:endParaRPr lang="en-GB" sz="2400" dirty="0"/>
              </a:p>
              <a:p>
                <a:pPr lvl="1"/>
                <a:endParaRPr lang="en-GB" sz="2400" dirty="0"/>
              </a:p>
              <a:p>
                <a:pPr marL="342900" indent="-342900">
                  <a:buFont typeface="Arial" panose="020B0604020202020204" pitchFamily="34" charset="0"/>
                  <a:buChar char="•"/>
                </a:pPr>
                <a:r>
                  <a:rPr lang="en-GB" sz="2400" dirty="0"/>
                  <a:t>Similarity between tokens is now defined as,</a:t>
                </a:r>
              </a:p>
              <a:p>
                <a:pPr lvl="1"/>
                <a14:m>
                  <m:oMathPara xmlns:m="http://schemas.openxmlformats.org/officeDocument/2006/math">
                    <m:o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𝑧</m:t>
                              </m:r>
                            </m:e>
                          </m:bar>
                        </m:e>
                        <m:sub>
                          <m:r>
                            <a:rPr lang="en-GB"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𝑛</m:t>
                              </m:r>
                            </m:e>
                            <m:sup>
                              <m:r>
                                <a:rPr lang="en-GB" sz="2400" b="0" i="1" smtClean="0">
                                  <a:latin typeface="Cambria Math" panose="02040503050406030204" pitchFamily="18" charset="0"/>
                                  <a:ea typeface="Cambria Math" panose="02040503050406030204" pitchFamily="18" charset="0"/>
                                </a:rPr>
                                <m:t>′</m:t>
                              </m:r>
                            </m:sup>
                          </m:sSup>
                        </m:sub>
                      </m:sSub>
                      <m:r>
                        <a:rPr lang="en-GB" sz="2400" b="0" i="1" smtClean="0">
                          <a:latin typeface="Cambria Math" panose="02040503050406030204" pitchFamily="18" charset="0"/>
                          <a:ea typeface="Cambria Math" panose="02040503050406030204" pitchFamily="18" charset="0"/>
                        </a:rPr>
                        <m:t>=</m:t>
                      </m:r>
                      <m:sSubSup>
                        <m:sSubSupPr>
                          <m:ctrlPr>
                            <a:rPr lang="en-GB" sz="2400" b="0" i="1" smtClean="0">
                              <a:latin typeface="Cambria Math" panose="02040503050406030204" pitchFamily="18" charset="0"/>
                            </a:rPr>
                          </m:ctrlPr>
                        </m:sSubSup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up>
                          <m:r>
                            <a:rPr lang="en-GB" sz="2400" i="1">
                              <a:latin typeface="Cambria Math" panose="02040503050406030204" pitchFamily="18" charset="0"/>
                            </a:rPr>
                            <m:t>⊤</m:t>
                          </m:r>
                          <m:r>
                            <m:rPr>
                              <m:nor/>
                            </m:rPr>
                            <a:rPr lang="en-GB" sz="2400" i="0" dirty="0"/>
                            <m:t> </m:t>
                          </m:r>
                        </m:sup>
                      </m:sSubSup>
                      <m:sSup>
                        <m:sSupPr>
                          <m:ctrlPr>
                            <a:rPr lang="en-GB" sz="2400" i="1" smtClean="0">
                              <a:latin typeface="Cambria Math" panose="02040503050406030204" pitchFamily="18" charset="0"/>
                            </a:rPr>
                          </m:ctrlPr>
                        </m:sSupPr>
                        <m:e>
                          <m:bar>
                            <m:barPr>
                              <m:pos m:val="bot"/>
                              <m:ctrlPr>
                                <a:rPr lang="en-GB" sz="2400" b="0" i="1" smtClean="0">
                                  <a:latin typeface="Cambria Math" panose="02040503050406030204" pitchFamily="18" charset="0"/>
                                </a:rPr>
                              </m:ctrlPr>
                            </m:bar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𝑈</m:t>
                                  </m:r>
                                </m:e>
                              </m:bar>
                            </m:e>
                          </m:bar>
                        </m:e>
                        <m:sup>
                          <m:r>
                            <a:rPr lang="en-GB" sz="2400" i="1">
                              <a:latin typeface="Cambria Math" panose="02040503050406030204" pitchFamily="18" charset="0"/>
                            </a:rPr>
                            <m:t>⊤</m:t>
                          </m:r>
                          <m:r>
                            <m:rPr>
                              <m:nor/>
                            </m:rPr>
                            <a:rPr lang="en-GB" sz="2400" i="0" dirty="0"/>
                            <m:t> </m:t>
                          </m:r>
                        </m:sup>
                      </m:sSup>
                      <m:bar>
                        <m:barPr>
                          <m:pos m:val="bot"/>
                          <m:ctrlPr>
                            <a:rPr lang="en-GB" sz="2400" b="0" i="1" smtClean="0">
                              <a:latin typeface="Cambria Math" panose="02040503050406030204" pitchFamily="18" charset="0"/>
                            </a:rPr>
                          </m:ctrlPr>
                        </m:bar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𝑈</m:t>
                              </m:r>
                            </m:e>
                          </m:bar>
                        </m:e>
                      </m:bar>
                      <m:r>
                        <a:rPr lang="en-GB" sz="2400" b="0" i="1" smtClean="0">
                          <a:latin typeface="Cambria Math" panose="02040503050406030204" pitchFamily="18" charset="0"/>
                        </a:rPr>
                        <m:t> </m:t>
                      </m:r>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m:oMathPara>
                </a14:m>
                <a:endParaRPr lang="en-GB" sz="2400" dirty="0"/>
              </a:p>
              <a:p>
                <a:pPr lvl="1"/>
                <a:endParaRPr lang="en-GB" sz="2400" dirty="0"/>
              </a:p>
              <a:p>
                <a:pPr marL="342900" indent="-342900">
                  <a:buFont typeface="Arial" panose="020B0604020202020204" pitchFamily="34" charset="0"/>
                  <a:buChar char="•"/>
                </a:pPr>
                <a:r>
                  <a:rPr lang="en-GB" sz="2400" dirty="0"/>
                  <a:t>Introduce more flexibility: 2 transformation matrices	</a:t>
                </a:r>
              </a:p>
              <a:p>
                <a:r>
                  <a:rPr lang="en-GB" sz="2400" dirty="0"/>
                  <a:t>				    </a:t>
                </a:r>
                <a14:m>
                  <m:oMath xmlns:m="http://schemas.openxmlformats.org/officeDocument/2006/math">
                    <m:sSubSup>
                      <m:sSubSupPr>
                        <m:ctrlPr>
                          <a:rPr lang="en-GB" sz="2400" i="1" smtClean="0">
                            <a:latin typeface="Cambria Math" panose="02040503050406030204" pitchFamily="18" charset="0"/>
                            <a:ea typeface="Cambria Math" panose="02040503050406030204" pitchFamily="18" charset="0"/>
                          </a:rPr>
                        </m:ctrlPr>
                      </m:sSubSup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r>
                          <a:rPr lang="en-GB" sz="2400" b="0" i="1" smtClean="0">
                            <a:latin typeface="Cambria Math" panose="02040503050406030204" pitchFamily="18" charset="0"/>
                            <a:ea typeface="Cambria Math" panose="02040503050406030204" pitchFamily="18" charset="0"/>
                          </a:rPr>
                          <m:t>𝑛</m:t>
                        </m:r>
                      </m:sub>
                      <m:sup>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𝑞</m:t>
                            </m:r>
                          </m:e>
                        </m:d>
                      </m:sup>
                    </m:sSubSup>
                    <m:r>
                      <a:rPr lang="en-GB" sz="2400" i="1">
                        <a:latin typeface="Cambria Math" panose="02040503050406030204" pitchFamily="18" charset="0"/>
                        <a:ea typeface="Cambria Math" panose="02040503050406030204" pitchFamily="18" charset="0"/>
                      </a:rPr>
                      <m:t>∙</m:t>
                    </m:r>
                    <m:sSubSup>
                      <m:sSubSupPr>
                        <m:ctrlPr>
                          <a:rPr lang="en-GB" sz="2400" i="1" smtClean="0">
                            <a:latin typeface="Cambria Math" panose="02040503050406030204" pitchFamily="18" charset="0"/>
                            <a:ea typeface="Cambria Math" panose="02040503050406030204" pitchFamily="18" charset="0"/>
                          </a:rPr>
                        </m:ctrlPr>
                      </m:sSubSup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𝑛</m:t>
                            </m:r>
                          </m:e>
                          <m:sup>
                            <m:r>
                              <a:rPr lang="en-GB" sz="2400" b="0" i="1" smtClean="0">
                                <a:latin typeface="Cambria Math" panose="02040503050406030204" pitchFamily="18" charset="0"/>
                                <a:ea typeface="Cambria Math" panose="02040503050406030204" pitchFamily="18" charset="0"/>
                              </a:rPr>
                              <m:t>′</m:t>
                            </m:r>
                          </m:sup>
                        </m:sSup>
                      </m:sub>
                      <m:sup>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𝑘</m:t>
                            </m:r>
                          </m:e>
                        </m:d>
                      </m:sup>
                    </m:sSubSup>
                    <m:r>
                      <a:rPr lang="en-GB" sz="2400" b="0" i="1" smtClean="0">
                        <a:latin typeface="Cambria Math" panose="02040503050406030204" pitchFamily="18" charset="0"/>
                        <a:ea typeface="Cambria Math" panose="02040503050406030204" pitchFamily="18" charset="0"/>
                      </a:rPr>
                      <m:t>=</m:t>
                    </m:r>
                    <m:sSubSup>
                      <m:sSubSupPr>
                        <m:ctrlPr>
                          <a:rPr lang="en-GB" sz="2400" i="1">
                            <a:latin typeface="Cambria Math" panose="02040503050406030204" pitchFamily="18" charset="0"/>
                          </a:rPr>
                        </m:ctrlPr>
                      </m:sSubSupPr>
                      <m:e>
                        <m:bar>
                          <m:barPr>
                            <m:pos m:val="bot"/>
                            <m:ctrlPr>
                              <a:rPr lang="en-GB" sz="2400" i="1">
                                <a:latin typeface="Cambria Math" panose="02040503050406030204" pitchFamily="18" charset="0"/>
                              </a:rPr>
                            </m:ctrlPr>
                          </m:barPr>
                          <m:e>
                            <m:r>
                              <a:rPr lang="en-GB" sz="2400" i="1">
                                <a:latin typeface="Cambria Math" panose="02040503050406030204" pitchFamily="18" charset="0"/>
                              </a:rPr>
                              <m:t>𝑦</m:t>
                            </m:r>
                          </m:e>
                        </m:bar>
                      </m:e>
                      <m:sub>
                        <m:r>
                          <a:rPr lang="en-GB" sz="2400" i="1">
                            <a:latin typeface="Cambria Math" panose="02040503050406030204" pitchFamily="18" charset="0"/>
                          </a:rPr>
                          <m:t>𝑛</m:t>
                        </m:r>
                      </m:sub>
                      <m:sup>
                        <m:r>
                          <a:rPr lang="en-GB" sz="2400" i="1">
                            <a:latin typeface="Cambria Math" panose="02040503050406030204" pitchFamily="18" charset="0"/>
                          </a:rPr>
                          <m:t>⊤</m:t>
                        </m:r>
                      </m:sup>
                    </m:sSubSup>
                    <m:sSubSup>
                      <m:sSubSupPr>
                        <m:ctrlPr>
                          <a:rPr lang="en-GB" sz="2400" i="1">
                            <a:latin typeface="Cambria Math" panose="02040503050406030204" pitchFamily="18" charset="0"/>
                          </a:rPr>
                        </m:ctrlPr>
                      </m:sSubSup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𝑞</m:t>
                        </m:r>
                      </m:sub>
                      <m:sup>
                        <m:r>
                          <a:rPr lang="en-GB" sz="2400" i="1">
                            <a:latin typeface="Cambria Math" panose="02040503050406030204" pitchFamily="18" charset="0"/>
                          </a:rPr>
                          <m:t>⊤</m:t>
                        </m:r>
                      </m:sup>
                    </m:sSubSup>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𝑘</m:t>
                        </m:r>
                      </m:sub>
                    </m:sSub>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r>
                              <a:rPr lang="en-GB" sz="2400" i="1">
                                <a:latin typeface="Cambria Math" panose="02040503050406030204" pitchFamily="18" charset="0"/>
                              </a:rPr>
                              <m:t>𝑦</m:t>
                            </m:r>
                          </m:e>
                        </m:bar>
                      </m:e>
                      <m:sub>
                        <m:sSup>
                          <m:sSupPr>
                            <m:ctrlPr>
                              <a:rPr lang="en-GB" sz="2400" i="1">
                                <a:latin typeface="Cambria Math" panose="02040503050406030204" pitchFamily="18" charset="0"/>
                              </a:rPr>
                            </m:ctrlPr>
                          </m:sSupPr>
                          <m:e>
                            <m:r>
                              <a:rPr lang="en-GB" sz="2400" i="1">
                                <a:latin typeface="Cambria Math" panose="02040503050406030204" pitchFamily="18" charset="0"/>
                              </a:rPr>
                              <m:t>𝑛</m:t>
                            </m:r>
                          </m:e>
                          <m:sup>
                            <m:r>
                              <a:rPr lang="en-GB" sz="2400" i="1">
                                <a:latin typeface="Cambria Math" panose="02040503050406030204" pitchFamily="18" charset="0"/>
                              </a:rPr>
                              <m:t>′</m:t>
                            </m:r>
                          </m:sup>
                        </m:sSup>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          </m:t>
                        </m:r>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𝑞</m:t>
                        </m:r>
                      </m:sub>
                    </m:sSub>
                    <m:r>
                      <a:rPr lang="en-GB" sz="2400" i="1">
                        <a:latin typeface="Cambria Math" panose="02040503050406030204" pitchFamily="18" charset="0"/>
                      </a:rPr>
                      <m:t> , </m:t>
                    </m:r>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𝑘</m:t>
                        </m:r>
                      </m:sub>
                    </m:sSub>
                    <m:r>
                      <a:rPr lang="en-GB" sz="2400" i="1">
                        <a:latin typeface="Cambria Math" panose="02040503050406030204" pitchFamily="18" charset="0"/>
                      </a:rPr>
                      <m:t>=</m:t>
                    </m:r>
                    <m:r>
                      <a:rPr lang="en-GB" sz="2400" i="1">
                        <a:latin typeface="Cambria Math" panose="02040503050406030204" pitchFamily="18" charset="0"/>
                      </a:rPr>
                      <m:t>𝑑</m:t>
                    </m:r>
                    <m:r>
                      <a:rPr lang="en-GB" sz="2400" i="1">
                        <a:latin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𝑑</m:t>
                        </m:r>
                      </m:e>
                      <m:sub>
                        <m:r>
                          <a:rPr lang="en-GB" sz="2400" i="1">
                            <a:latin typeface="Cambria Math" panose="02040503050406030204" pitchFamily="18" charset="0"/>
                            <a:ea typeface="Cambria Math" panose="02040503050406030204" pitchFamily="18" charset="0"/>
                          </a:rPr>
                          <m:t>𝑘</m:t>
                        </m:r>
                      </m:sub>
                    </m:sSub>
                    <m:r>
                      <m:rPr>
                        <m:nor/>
                      </m:rPr>
                      <a:rPr lang="en-GB" sz="2400" b="0" i="0" smtClean="0">
                        <a:latin typeface="Cambria Math" panose="02040503050406030204" pitchFamily="18" charset="0"/>
                        <a:ea typeface="Cambria Math" panose="02040503050406030204" pitchFamily="18" charset="0"/>
                      </a:rPr>
                      <m:t> </m:t>
                    </m:r>
                    <m:r>
                      <m:rPr>
                        <m:nor/>
                      </m:rPr>
                      <a:rPr lang="en-GB" sz="2400" i="0" dirty="0"/>
                      <m:t>,  </m:t>
                    </m:r>
                    <m:sSub>
                      <m:sSubPr>
                        <m:ctrlPr>
                          <a:rPr lang="en-GB" sz="2400" i="1">
                            <a:latin typeface="Cambria Math" panose="02040503050406030204" pitchFamily="18" charset="0"/>
                          </a:rPr>
                        </m:ctrlPr>
                      </m:sSubPr>
                      <m:e>
                        <m:r>
                          <a:rPr lang="en-GB" sz="2400" i="1">
                            <a:latin typeface="Cambria Math" panose="02040503050406030204" pitchFamily="18" charset="0"/>
                          </a:rPr>
                          <m:t>𝑑</m:t>
                        </m:r>
                      </m:e>
                      <m:sub>
                        <m:r>
                          <a:rPr lang="en-GB" sz="2400" i="1">
                            <a:latin typeface="Cambria Math" panose="02040503050406030204" pitchFamily="18" charset="0"/>
                          </a:rPr>
                          <m:t>𝑘</m:t>
                        </m:r>
                      </m:sub>
                    </m:sSub>
                    <m:r>
                      <a:rPr lang="en-GB" sz="2400">
                        <a:latin typeface="Cambria Math" panose="02040503050406030204" pitchFamily="18" charset="0"/>
                      </a:rPr>
                      <m:t>&lt;</m:t>
                    </m:r>
                    <m:r>
                      <m:rPr>
                        <m:sty m:val="p"/>
                      </m:rPr>
                      <a:rPr lang="en-GB" sz="2400">
                        <a:latin typeface="Cambria Math" panose="02040503050406030204" pitchFamily="18" charset="0"/>
                      </a:rPr>
                      <m:t>d</m:t>
                    </m:r>
                  </m:oMath>
                </a14:m>
                <a:endParaRPr lang="en-GB" sz="2400" dirty="0"/>
              </a:p>
              <a:p>
                <a:endParaRPr lang="en-GB" sz="2400" dirty="0"/>
              </a:p>
              <a:p>
                <a:pPr marL="342900" indent="-342900">
                  <a:buFont typeface="Arial" panose="020B0604020202020204" pitchFamily="34" charset="0"/>
                  <a:buChar char="•"/>
                </a:pPr>
                <a:r>
                  <a:rPr lang="en-GB" sz="2400" dirty="0"/>
                  <a:t>Similarity between token </a:t>
                </a:r>
                <a14:m>
                  <m:oMath xmlns:m="http://schemas.openxmlformats.org/officeDocument/2006/math">
                    <m:r>
                      <a:rPr lang="en-GB" sz="2400" i="1">
                        <a:latin typeface="Cambria Math" panose="02040503050406030204" pitchFamily="18" charset="0"/>
                      </a:rPr>
                      <m:t>𝑛</m:t>
                    </m:r>
                  </m:oMath>
                </a14:m>
                <a:r>
                  <a:rPr lang="en-GB" sz="2400" dirty="0"/>
                  <a:t> and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𝑛</m:t>
                        </m:r>
                      </m:e>
                      <m:sup>
                        <m:r>
                          <a:rPr lang="en-GB" sz="2400" i="1">
                            <a:latin typeface="Cambria Math" panose="02040503050406030204" pitchFamily="18" charset="0"/>
                          </a:rPr>
                          <m:t>′</m:t>
                        </m:r>
                      </m:sup>
                    </m:sSup>
                  </m:oMath>
                </a14:m>
                <a:r>
                  <a:rPr lang="en-GB" sz="2400" dirty="0"/>
                  <a:t> now given by</a:t>
                </a:r>
              </a:p>
              <a:p>
                <a:r>
                  <a:rPr lang="en-GB" sz="2400" dirty="0"/>
                  <a:t>   				        </a:t>
                </a:r>
                <a14:m>
                  <m:oMath xmlns:m="http://schemas.openxmlformats.org/officeDocument/2006/math">
                    <m:sSubSup>
                      <m:sSubSupPr>
                        <m:ctrlPr>
                          <a:rPr lang="en-GB" sz="2800" i="1">
                            <a:latin typeface="Cambria Math" panose="02040503050406030204" pitchFamily="18" charset="0"/>
                          </a:rPr>
                        </m:ctrlPr>
                      </m:sSubSupPr>
                      <m:e>
                        <m:bar>
                          <m:barPr>
                            <m:pos m:val="bot"/>
                            <m:ctrlPr>
                              <a:rPr lang="en-GB" sz="2800" i="1">
                                <a:latin typeface="Cambria Math" panose="02040503050406030204" pitchFamily="18" charset="0"/>
                              </a:rPr>
                            </m:ctrlPr>
                          </m:barPr>
                          <m:e>
                            <m:r>
                              <a:rPr lang="en-GB" sz="2800" i="1">
                                <a:latin typeface="Cambria Math" panose="02040503050406030204" pitchFamily="18" charset="0"/>
                              </a:rPr>
                              <m:t>𝑦</m:t>
                            </m:r>
                          </m:e>
                        </m:bar>
                      </m:e>
                      <m:sub>
                        <m:r>
                          <a:rPr lang="en-GB" sz="2800" i="1">
                            <a:latin typeface="Cambria Math" panose="02040503050406030204" pitchFamily="18" charset="0"/>
                          </a:rPr>
                          <m:t>𝑛</m:t>
                        </m:r>
                      </m:sub>
                      <m:sup>
                        <m:r>
                          <a:rPr lang="en-GB" sz="2800" i="1">
                            <a:latin typeface="Cambria Math" panose="02040503050406030204" pitchFamily="18" charset="0"/>
                          </a:rPr>
                          <m:t>⊤</m:t>
                        </m:r>
                      </m:sup>
                    </m:sSubSup>
                    <m:sSubSup>
                      <m:sSubSupPr>
                        <m:ctrlPr>
                          <a:rPr lang="en-GB" sz="2800" i="1">
                            <a:latin typeface="Cambria Math" panose="02040503050406030204" pitchFamily="18" charset="0"/>
                          </a:rPr>
                        </m:ctrlPr>
                      </m:sSubSupPr>
                      <m:e>
                        <m:bar>
                          <m:barPr>
                            <m:pos m:val="bot"/>
                            <m:ctrlPr>
                              <a:rPr lang="en-GB" sz="2800" i="1">
                                <a:latin typeface="Cambria Math" panose="02040503050406030204" pitchFamily="18" charset="0"/>
                              </a:rPr>
                            </m:ctrlPr>
                          </m:barPr>
                          <m:e>
                            <m:bar>
                              <m:barPr>
                                <m:pos m:val="bot"/>
                                <m:ctrlPr>
                                  <a:rPr lang="en-GB" sz="2800" i="1">
                                    <a:latin typeface="Cambria Math" panose="02040503050406030204" pitchFamily="18" charset="0"/>
                                  </a:rPr>
                                </m:ctrlPr>
                              </m:barPr>
                              <m:e>
                                <m:r>
                                  <a:rPr lang="en-GB" sz="2800" i="1">
                                    <a:latin typeface="Cambria Math" panose="02040503050406030204" pitchFamily="18" charset="0"/>
                                  </a:rPr>
                                  <m:t>𝑈</m:t>
                                </m:r>
                              </m:e>
                            </m:bar>
                          </m:e>
                        </m:bar>
                      </m:e>
                      <m:sub>
                        <m:r>
                          <a:rPr lang="en-GB" sz="2800" i="1">
                            <a:latin typeface="Cambria Math" panose="02040503050406030204" pitchFamily="18" charset="0"/>
                          </a:rPr>
                          <m:t>𝑞</m:t>
                        </m:r>
                      </m:sub>
                      <m:sup>
                        <m:r>
                          <a:rPr lang="en-GB" sz="2800" i="1">
                            <a:latin typeface="Cambria Math" panose="02040503050406030204" pitchFamily="18" charset="0"/>
                          </a:rPr>
                          <m:t>⊤</m:t>
                        </m:r>
                      </m:sup>
                    </m:sSubSup>
                    <m:sSub>
                      <m:sSubPr>
                        <m:ctrlPr>
                          <a:rPr lang="en-GB" sz="2800" i="1">
                            <a:latin typeface="Cambria Math" panose="02040503050406030204" pitchFamily="18" charset="0"/>
                          </a:rPr>
                        </m:ctrlPr>
                      </m:sSubPr>
                      <m:e>
                        <m:bar>
                          <m:barPr>
                            <m:pos m:val="bot"/>
                            <m:ctrlPr>
                              <a:rPr lang="en-GB" sz="2800" i="1">
                                <a:latin typeface="Cambria Math" panose="02040503050406030204" pitchFamily="18" charset="0"/>
                              </a:rPr>
                            </m:ctrlPr>
                          </m:barPr>
                          <m:e>
                            <m:bar>
                              <m:barPr>
                                <m:pos m:val="bot"/>
                                <m:ctrlPr>
                                  <a:rPr lang="en-GB" sz="2800" i="1">
                                    <a:latin typeface="Cambria Math" panose="02040503050406030204" pitchFamily="18" charset="0"/>
                                  </a:rPr>
                                </m:ctrlPr>
                              </m:barPr>
                              <m:e>
                                <m:r>
                                  <a:rPr lang="en-GB" sz="2800" i="1">
                                    <a:latin typeface="Cambria Math" panose="02040503050406030204" pitchFamily="18" charset="0"/>
                                  </a:rPr>
                                  <m:t>𝑈</m:t>
                                </m:r>
                              </m:e>
                            </m:bar>
                          </m:e>
                        </m:bar>
                      </m:e>
                      <m:sub>
                        <m:r>
                          <a:rPr lang="en-GB" sz="2800" i="1">
                            <a:latin typeface="Cambria Math" panose="02040503050406030204" pitchFamily="18" charset="0"/>
                          </a:rPr>
                          <m:t>𝑘</m:t>
                        </m:r>
                      </m:sub>
                    </m:sSub>
                    <m:sSub>
                      <m:sSubPr>
                        <m:ctrlPr>
                          <a:rPr lang="en-GB" sz="2800" i="1">
                            <a:latin typeface="Cambria Math" panose="02040503050406030204" pitchFamily="18" charset="0"/>
                          </a:rPr>
                        </m:ctrlPr>
                      </m:sSubPr>
                      <m:e>
                        <m:bar>
                          <m:barPr>
                            <m:pos m:val="bot"/>
                            <m:ctrlPr>
                              <a:rPr lang="en-GB" sz="2800" i="1">
                                <a:latin typeface="Cambria Math" panose="02040503050406030204" pitchFamily="18" charset="0"/>
                              </a:rPr>
                            </m:ctrlPr>
                          </m:barPr>
                          <m:e>
                            <m:r>
                              <a:rPr lang="en-GB" sz="2800" i="1">
                                <a:latin typeface="Cambria Math" panose="02040503050406030204" pitchFamily="18" charset="0"/>
                              </a:rPr>
                              <m:t>𝑦</m:t>
                            </m:r>
                          </m:e>
                        </m:bar>
                      </m:e>
                      <m:sub>
                        <m:sSup>
                          <m:sSupPr>
                            <m:ctrlPr>
                              <a:rPr lang="en-GB" sz="2800" i="1">
                                <a:latin typeface="Cambria Math" panose="02040503050406030204" pitchFamily="18" charset="0"/>
                              </a:rPr>
                            </m:ctrlPr>
                          </m:sSupPr>
                          <m:e>
                            <m:r>
                              <a:rPr lang="en-GB" sz="2800" i="1">
                                <a:latin typeface="Cambria Math" panose="02040503050406030204" pitchFamily="18" charset="0"/>
                              </a:rPr>
                              <m:t>𝑛</m:t>
                            </m:r>
                          </m:e>
                          <m:sup>
                            <m:r>
                              <a:rPr lang="en-GB" sz="2800" i="1">
                                <a:latin typeface="Cambria Math" panose="02040503050406030204" pitchFamily="18" charset="0"/>
                              </a:rPr>
                              <m:t>′</m:t>
                            </m:r>
                          </m:sup>
                        </m:sSup>
                      </m:sub>
                    </m:sSub>
                  </m:oMath>
                </a14:m>
                <a:endParaRPr lang="en-GB" sz="2400" dirty="0"/>
              </a:p>
              <a:p>
                <a:pPr lvl="1"/>
                <a:endParaRPr lang="en-GB" sz="2400" dirty="0"/>
              </a:p>
              <a:p>
                <a:pPr marL="742950" lvl="1" indent="-285750">
                  <a:buFont typeface="Arial" panose="020B0604020202020204" pitchFamily="34" charset="0"/>
                  <a:buChar char="•"/>
                </a:pPr>
                <a:endParaRPr lang="en-GB" sz="2400" dirty="0"/>
              </a:p>
            </p:txBody>
          </p:sp>
        </mc:Choice>
        <mc:Fallback>
          <p:sp>
            <p:nvSpPr>
              <p:cNvPr id="8" name="TextBox 7">
                <a:extLst>
                  <a:ext uri="{FF2B5EF4-FFF2-40B4-BE49-F238E27FC236}">
                    <a16:creationId xmlns:a16="http://schemas.microsoft.com/office/drawing/2014/main" id="{088F24AF-AC59-35B9-0C24-915BBF09B4C7}"/>
                  </a:ext>
                </a:extLst>
              </p:cNvPr>
              <p:cNvSpPr txBox="1">
                <a:spLocks noRot="1" noChangeAspect="1" noMove="1" noResize="1" noEditPoints="1" noAdjustHandles="1" noChangeArrowheads="1" noChangeShapeType="1" noTextEdit="1"/>
              </p:cNvSpPr>
              <p:nvPr/>
            </p:nvSpPr>
            <p:spPr>
              <a:xfrm>
                <a:off x="332015" y="1037975"/>
                <a:ext cx="11631386" cy="6342506"/>
              </a:xfrm>
              <a:prstGeom prst="rect">
                <a:avLst/>
              </a:prstGeom>
              <a:blipFill>
                <a:blip r:embed="rId3"/>
                <a:stretch>
                  <a:fillRect l="-681" t="-576"/>
                </a:stretch>
              </a:blipFill>
            </p:spPr>
            <p:txBody>
              <a:bodyPr/>
              <a:lstStyle/>
              <a:p>
                <a:r>
                  <a:rPr lang="en-GB">
                    <a:noFill/>
                  </a:rPr>
                  <a:t> </a:t>
                </a:r>
              </a:p>
            </p:txBody>
          </p:sp>
        </mc:Fallback>
      </mc:AlternateContent>
    </p:spTree>
    <p:extLst>
      <p:ext uri="{BB962C8B-B14F-4D97-AF65-F5344CB8AC3E}">
        <p14:creationId xmlns:p14="http://schemas.microsoft.com/office/powerpoint/2010/main" val="420687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29D5D-21D3-21DE-F981-B3DD40C56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1CAD2-611B-892C-60AA-651354298579}"/>
              </a:ext>
            </a:extLst>
          </p:cNvPr>
          <p:cNvSpPr>
            <a:spLocks noGrp="1"/>
          </p:cNvSpPr>
          <p:nvPr>
            <p:ph type="title"/>
          </p:nvPr>
        </p:nvSpPr>
        <p:spPr>
          <a:xfrm>
            <a:off x="838200" y="196392"/>
            <a:ext cx="10515600" cy="930275"/>
          </a:xfrm>
        </p:spPr>
        <p:txBody>
          <a:bodyPr/>
          <a:lstStyle/>
          <a:p>
            <a:r>
              <a:rPr lang="en-GB" dirty="0"/>
              <a:t>Self-Attention</a:t>
            </a:r>
          </a:p>
        </p:txBody>
      </p:sp>
      <p:sp>
        <p:nvSpPr>
          <p:cNvPr id="4" name="Slide Number Placeholder 3">
            <a:extLst>
              <a:ext uri="{FF2B5EF4-FFF2-40B4-BE49-F238E27FC236}">
                <a16:creationId xmlns:a16="http://schemas.microsoft.com/office/drawing/2014/main" id="{9D75B981-5F71-4BB9-8D5E-4B4E30C8453F}"/>
              </a:ext>
            </a:extLst>
          </p:cNvPr>
          <p:cNvSpPr>
            <a:spLocks noGrp="1"/>
          </p:cNvSpPr>
          <p:nvPr>
            <p:ph type="sldNum" sz="quarter" idx="12"/>
          </p:nvPr>
        </p:nvSpPr>
        <p:spPr/>
        <p:txBody>
          <a:bodyPr/>
          <a:lstStyle/>
          <a:p>
            <a:fld id="{13DE89AE-BBCC-45F3-BDAA-E98C74995322}" type="slidenum">
              <a:rPr lang="en-GB" smtClean="0"/>
              <a:t>28</a:t>
            </a:fld>
            <a:endParaRPr lang="en-GB"/>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D940748-66E8-D950-45D0-CE75B20B18E2}"/>
                  </a:ext>
                </a:extLst>
              </p:cNvPr>
              <p:cNvSpPr txBox="1"/>
              <p:nvPr/>
            </p:nvSpPr>
            <p:spPr>
              <a:xfrm>
                <a:off x="332015" y="1037975"/>
                <a:ext cx="11631386" cy="6403291"/>
              </a:xfrm>
              <a:prstGeom prst="rect">
                <a:avLst/>
              </a:prstGeom>
              <a:noFill/>
            </p:spPr>
            <p:txBody>
              <a:bodyPr wrap="square" rtlCol="0">
                <a:spAutoFit/>
              </a:bodyPr>
              <a:lstStyle/>
              <a:p>
                <a:pPr marL="285750" indent="-285750">
                  <a:buFont typeface="Arial" panose="020B0604020202020204" pitchFamily="34" charset="0"/>
                  <a:buChar char="•"/>
                </a:pPr>
                <a:r>
                  <a:rPr lang="en-GB" sz="2400" dirty="0"/>
                  <a:t>Are </a:t>
                </a:r>
                <a14:m>
                  <m:oMath xmlns:m="http://schemas.openxmlformats.org/officeDocument/2006/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Sub>
                  </m:oMath>
                </a14:m>
                <a:r>
                  <a:rPr lang="en-GB" sz="2400" dirty="0"/>
                  <a:t> and </a:t>
                </a:r>
                <a14:m>
                  <m:oMath xmlns:m="http://schemas.openxmlformats.org/officeDocument/2006/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a14:m>
                <a:r>
                  <a:rPr lang="en-GB" sz="2400" dirty="0"/>
                  <a:t> the best vectors to measure similarity between tokens </a:t>
                </a:r>
                <a14:m>
                  <m:oMath xmlns:m="http://schemas.openxmlformats.org/officeDocument/2006/math">
                    <m:r>
                      <a:rPr lang="en-GB" sz="2400" b="0" i="1" smtClean="0">
                        <a:latin typeface="Cambria Math" panose="02040503050406030204" pitchFamily="18" charset="0"/>
                      </a:rPr>
                      <m:t>𝑛</m:t>
                    </m:r>
                  </m:oMath>
                </a14:m>
                <a:r>
                  <a:rPr lang="en-GB" sz="2400" dirty="0"/>
                  <a:t> and </a:t>
                </a: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oMath>
                </a14:m>
                <a:r>
                  <a:rPr lang="en-GB" sz="2400" dirty="0"/>
                  <a:t> ?</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Ok, let’s allow for a learnable linear transformation</a:t>
                </a:r>
              </a:p>
              <a:p>
                <a:pPr lvl="1"/>
                <a14:m>
                  <m:oMathPara xmlns:m="http://schemas.openxmlformats.org/officeDocument/2006/math">
                    <m:o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bar>
                        <m:barPr>
                          <m:pos m:val="bot"/>
                          <m:ctrlPr>
                            <a:rPr lang="en-GB" sz="2400" b="0" i="1" smtClean="0">
                              <a:latin typeface="Cambria Math" panose="02040503050406030204" pitchFamily="18" charset="0"/>
                              <a:ea typeface="Cambria Math" panose="02040503050406030204" pitchFamily="18" charset="0"/>
                            </a:rPr>
                          </m:ctrlPr>
                        </m:bar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𝑈</m:t>
                              </m:r>
                            </m:e>
                          </m:bar>
                        </m:e>
                      </m:bar>
                      <m:r>
                        <a:rPr lang="en-GB" sz="2400" b="0" i="1" smtClean="0">
                          <a:latin typeface="Cambria Math" panose="02040503050406030204" pitchFamily="18" charset="0"/>
                          <a:ea typeface="Cambria Math" panose="02040503050406030204" pitchFamily="18" charset="0"/>
                        </a:rPr>
                        <m:t> </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𝑦</m:t>
                              </m:r>
                            </m:e>
                          </m:bar>
                        </m:e>
                        <m:sub>
                          <m:r>
                            <a:rPr lang="en-GB" sz="2400" b="0" i="1" smtClean="0">
                              <a:latin typeface="Cambria Math" panose="02040503050406030204" pitchFamily="18" charset="0"/>
                              <a:ea typeface="Cambria Math" panose="02040503050406030204" pitchFamily="18" charset="0"/>
                            </a:rPr>
                            <m:t>𝑛</m:t>
                          </m:r>
                        </m:sub>
                      </m:sSub>
                      <m:r>
                        <a:rPr lang="en-GB" sz="2400" b="0" i="1" smtClean="0">
                          <a:latin typeface="Cambria Math" panose="02040503050406030204" pitchFamily="18" charset="0"/>
                          <a:ea typeface="Cambria Math" panose="02040503050406030204" pitchFamily="18" charset="0"/>
                        </a:rPr>
                        <m:t>= </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r>
                            <a:rPr lang="en-GB" sz="2400" b="0" i="1" smtClean="0">
                              <a:latin typeface="Cambria Math" panose="02040503050406030204" pitchFamily="18" charset="0"/>
                              <a:ea typeface="Cambria Math" panose="02040503050406030204" pitchFamily="18" charset="0"/>
                            </a:rPr>
                            <m:t>𝑛</m:t>
                          </m:r>
                        </m:sub>
                      </m:sSub>
                    </m:oMath>
                  </m:oMathPara>
                </a14:m>
                <a:endParaRPr lang="en-GB" sz="2400" dirty="0"/>
              </a:p>
              <a:p>
                <a:pPr lvl="1"/>
                <a:endParaRPr lang="en-GB" sz="2400" dirty="0"/>
              </a:p>
              <a:p>
                <a:pPr marL="342900" indent="-342900">
                  <a:buFont typeface="Arial" panose="020B0604020202020204" pitchFamily="34" charset="0"/>
                  <a:buChar char="•"/>
                </a:pPr>
                <a:r>
                  <a:rPr lang="en-GB" sz="2400" dirty="0"/>
                  <a:t>Similarity between tokens is now defined as,</a:t>
                </a:r>
              </a:p>
              <a:p>
                <a:pPr lvl="1"/>
                <a14:m>
                  <m:oMathPara xmlns:m="http://schemas.openxmlformats.org/officeDocument/2006/math">
                    <m:o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𝑧</m:t>
                              </m:r>
                            </m:e>
                          </m:bar>
                        </m:e>
                        <m:sub>
                          <m:r>
                            <a:rPr lang="en-GB" sz="2400" b="0" i="1" smtClean="0">
                              <a:latin typeface="Cambria Math" panose="02040503050406030204" pitchFamily="18" charset="0"/>
                            </a:rPr>
                            <m:t>𝑛</m:t>
                          </m:r>
                        </m:sub>
                      </m:sSub>
                      <m:r>
                        <a:rPr lang="en-GB" sz="2400" i="1" smtClean="0">
                          <a:latin typeface="Cambria Math" panose="02040503050406030204" pitchFamily="18" charset="0"/>
                          <a:ea typeface="Cambria Math" panose="02040503050406030204" pitchFamily="18" charset="0"/>
                        </a:rPr>
                        <m:t>∙</m:t>
                      </m:r>
                      <m:sSub>
                        <m:sSubPr>
                          <m:ctrlPr>
                            <a:rPr lang="en-GB" sz="2400" b="0" i="1" smtClean="0">
                              <a:latin typeface="Cambria Math" panose="02040503050406030204" pitchFamily="18" charset="0"/>
                              <a:ea typeface="Cambria Math" panose="02040503050406030204" pitchFamily="18" charset="0"/>
                            </a:rPr>
                          </m:ctrlPr>
                        </m:sSub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𝑛</m:t>
                              </m:r>
                            </m:e>
                            <m:sup>
                              <m:r>
                                <a:rPr lang="en-GB" sz="2400" b="0" i="1" smtClean="0">
                                  <a:latin typeface="Cambria Math" panose="02040503050406030204" pitchFamily="18" charset="0"/>
                                  <a:ea typeface="Cambria Math" panose="02040503050406030204" pitchFamily="18" charset="0"/>
                                </a:rPr>
                                <m:t>′</m:t>
                              </m:r>
                            </m:sup>
                          </m:sSup>
                        </m:sub>
                      </m:sSub>
                      <m:r>
                        <a:rPr lang="en-GB" sz="2400" b="0" i="1" smtClean="0">
                          <a:latin typeface="Cambria Math" panose="02040503050406030204" pitchFamily="18" charset="0"/>
                          <a:ea typeface="Cambria Math" panose="02040503050406030204" pitchFamily="18" charset="0"/>
                        </a:rPr>
                        <m:t>=</m:t>
                      </m:r>
                      <m:sSubSup>
                        <m:sSubSupPr>
                          <m:ctrlPr>
                            <a:rPr lang="en-GB" sz="2400" b="0" i="1" smtClean="0">
                              <a:latin typeface="Cambria Math" panose="02040503050406030204" pitchFamily="18" charset="0"/>
                            </a:rPr>
                          </m:ctrlPr>
                        </m:sSubSup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r>
                            <a:rPr lang="en-GB" sz="2400" b="0" i="1" smtClean="0">
                              <a:latin typeface="Cambria Math" panose="02040503050406030204" pitchFamily="18" charset="0"/>
                            </a:rPr>
                            <m:t>𝑛</m:t>
                          </m:r>
                        </m:sub>
                        <m:sup>
                          <m:r>
                            <a:rPr lang="en-GB" sz="2400" i="1">
                              <a:latin typeface="Cambria Math" panose="02040503050406030204" pitchFamily="18" charset="0"/>
                            </a:rPr>
                            <m:t>⊤</m:t>
                          </m:r>
                          <m:r>
                            <m:rPr>
                              <m:nor/>
                            </m:rPr>
                            <a:rPr lang="en-GB" sz="2400" i="0" dirty="0"/>
                            <m:t> </m:t>
                          </m:r>
                        </m:sup>
                      </m:sSubSup>
                      <m:sSup>
                        <m:sSupPr>
                          <m:ctrlPr>
                            <a:rPr lang="en-GB" sz="2400" i="1" smtClean="0">
                              <a:latin typeface="Cambria Math" panose="02040503050406030204" pitchFamily="18" charset="0"/>
                            </a:rPr>
                          </m:ctrlPr>
                        </m:sSupPr>
                        <m:e>
                          <m:bar>
                            <m:barPr>
                              <m:pos m:val="bot"/>
                              <m:ctrlPr>
                                <a:rPr lang="en-GB" sz="2400" b="0" i="1" smtClean="0">
                                  <a:latin typeface="Cambria Math" panose="02040503050406030204" pitchFamily="18" charset="0"/>
                                </a:rPr>
                              </m:ctrlPr>
                            </m:bar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𝑈</m:t>
                                  </m:r>
                                </m:e>
                              </m:bar>
                            </m:e>
                          </m:bar>
                        </m:e>
                        <m:sup>
                          <m:r>
                            <a:rPr lang="en-GB" sz="2400" i="1">
                              <a:latin typeface="Cambria Math" panose="02040503050406030204" pitchFamily="18" charset="0"/>
                            </a:rPr>
                            <m:t>⊤</m:t>
                          </m:r>
                          <m:r>
                            <m:rPr>
                              <m:nor/>
                            </m:rPr>
                            <a:rPr lang="en-GB" sz="2400" i="0" dirty="0"/>
                            <m:t> </m:t>
                          </m:r>
                        </m:sup>
                      </m:sSup>
                      <m:bar>
                        <m:barPr>
                          <m:pos m:val="bot"/>
                          <m:ctrlPr>
                            <a:rPr lang="en-GB" sz="2400" b="0" i="1" smtClean="0">
                              <a:latin typeface="Cambria Math" panose="02040503050406030204" pitchFamily="18" charset="0"/>
                            </a:rPr>
                          </m:ctrlPr>
                        </m:bar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𝑈</m:t>
                              </m:r>
                            </m:e>
                          </m:bar>
                        </m:e>
                      </m:bar>
                      <m:r>
                        <a:rPr lang="en-GB" sz="2400" b="0" i="1" smtClean="0">
                          <a:latin typeface="Cambria Math" panose="02040503050406030204" pitchFamily="18" charset="0"/>
                        </a:rPr>
                        <m:t> </m:t>
                      </m:r>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𝑦</m:t>
                              </m:r>
                            </m:e>
                          </m:bar>
                        </m:e>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m:oMathPara>
                </a14:m>
                <a:endParaRPr lang="en-GB" sz="2400" dirty="0"/>
              </a:p>
              <a:p>
                <a:pPr lvl="1"/>
                <a:endParaRPr lang="en-GB" sz="2400" dirty="0"/>
              </a:p>
              <a:p>
                <a:pPr marL="342900" indent="-342900">
                  <a:buFont typeface="Arial" panose="020B0604020202020204" pitchFamily="34" charset="0"/>
                  <a:buChar char="•"/>
                </a:pPr>
                <a:r>
                  <a:rPr lang="en-GB" sz="2400" dirty="0"/>
                  <a:t>Introduce more flexibility: 2 transformation matrices	</a:t>
                </a:r>
              </a:p>
              <a:p>
                <a:r>
                  <a:rPr lang="en-GB" sz="2400" dirty="0"/>
                  <a:t>				    </a:t>
                </a:r>
                <a14:m>
                  <m:oMath xmlns:m="http://schemas.openxmlformats.org/officeDocument/2006/math">
                    <m:sSubSup>
                      <m:sSubSupPr>
                        <m:ctrlPr>
                          <a:rPr lang="en-GB" sz="2400" i="1" smtClean="0">
                            <a:latin typeface="Cambria Math" panose="02040503050406030204" pitchFamily="18" charset="0"/>
                          </a:rPr>
                        </m:ctrlPr>
                      </m:sSubSup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𝑧</m:t>
                            </m:r>
                          </m:e>
                        </m:bar>
                      </m:e>
                      <m:sub>
                        <m:r>
                          <a:rPr lang="en-GB" sz="2400" b="0" i="1" smtClean="0">
                            <a:latin typeface="Cambria Math" panose="02040503050406030204" pitchFamily="18" charset="0"/>
                          </a:rPr>
                          <m:t>𝑛</m:t>
                        </m:r>
                      </m:sub>
                      <m:sup>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𝑞</m:t>
                            </m:r>
                          </m:e>
                        </m:d>
                      </m:sup>
                    </m:sSubSup>
                    <m:r>
                      <a:rPr lang="en-GB" sz="2400" i="1">
                        <a:latin typeface="Cambria Math" panose="02040503050406030204" pitchFamily="18" charset="0"/>
                        <a:ea typeface="Cambria Math" panose="02040503050406030204" pitchFamily="18" charset="0"/>
                      </a:rPr>
                      <m:t>∙</m:t>
                    </m:r>
                    <m:sSubSup>
                      <m:sSubSupPr>
                        <m:ctrlPr>
                          <a:rPr lang="en-GB" sz="2400" i="1" smtClean="0">
                            <a:latin typeface="Cambria Math" panose="02040503050406030204" pitchFamily="18" charset="0"/>
                            <a:ea typeface="Cambria Math" panose="02040503050406030204" pitchFamily="18" charset="0"/>
                          </a:rPr>
                        </m:ctrlPr>
                      </m:sSubSupPr>
                      <m:e>
                        <m:bar>
                          <m:barPr>
                            <m:pos m:val="bot"/>
                            <m:ctrlPr>
                              <a:rPr lang="en-GB" sz="2400" b="0" i="1" smtClean="0">
                                <a:latin typeface="Cambria Math" panose="02040503050406030204" pitchFamily="18" charset="0"/>
                                <a:ea typeface="Cambria Math" panose="02040503050406030204" pitchFamily="18" charset="0"/>
                              </a:rPr>
                            </m:ctrlPr>
                          </m:barPr>
                          <m:e>
                            <m:r>
                              <a:rPr lang="en-GB" sz="2400" b="0" i="1" smtClean="0">
                                <a:latin typeface="Cambria Math" panose="02040503050406030204" pitchFamily="18" charset="0"/>
                                <a:ea typeface="Cambria Math" panose="02040503050406030204" pitchFamily="18" charset="0"/>
                              </a:rPr>
                              <m:t>𝑧</m:t>
                            </m:r>
                          </m:e>
                        </m:bar>
                      </m:e>
                      <m:sub>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𝑛</m:t>
                            </m:r>
                          </m:e>
                          <m:sup>
                            <m:r>
                              <a:rPr lang="en-GB" sz="2400" b="0" i="1" smtClean="0">
                                <a:latin typeface="Cambria Math" panose="02040503050406030204" pitchFamily="18" charset="0"/>
                                <a:ea typeface="Cambria Math" panose="02040503050406030204" pitchFamily="18" charset="0"/>
                              </a:rPr>
                              <m:t>′</m:t>
                            </m:r>
                          </m:sup>
                        </m:sSup>
                      </m:sub>
                      <m:sup>
                        <m:d>
                          <m:dPr>
                            <m:ctrlPr>
                              <a:rPr lang="en-GB" sz="2400" b="0" i="1" smtClean="0">
                                <a:latin typeface="Cambria Math" panose="02040503050406030204" pitchFamily="18" charset="0"/>
                                <a:ea typeface="Cambria Math" panose="02040503050406030204" pitchFamily="18" charset="0"/>
                              </a:rPr>
                            </m:ctrlPr>
                          </m:dPr>
                          <m:e>
                            <m:r>
                              <a:rPr lang="en-GB" sz="2400" b="0" i="1" smtClean="0">
                                <a:latin typeface="Cambria Math" panose="02040503050406030204" pitchFamily="18" charset="0"/>
                                <a:ea typeface="Cambria Math" panose="02040503050406030204" pitchFamily="18" charset="0"/>
                              </a:rPr>
                              <m:t>𝑘</m:t>
                            </m:r>
                          </m:e>
                        </m:d>
                      </m:sup>
                    </m:sSubSup>
                    <m:r>
                      <a:rPr lang="en-GB" sz="2400" b="0" i="1" smtClean="0">
                        <a:latin typeface="Cambria Math" panose="02040503050406030204" pitchFamily="18" charset="0"/>
                        <a:ea typeface="Cambria Math" panose="02040503050406030204" pitchFamily="18" charset="0"/>
                      </a:rPr>
                      <m:t>=</m:t>
                    </m:r>
                    <m:sSubSup>
                      <m:sSubSupPr>
                        <m:ctrlPr>
                          <a:rPr lang="en-GB" sz="2400" i="1">
                            <a:latin typeface="Cambria Math" panose="02040503050406030204" pitchFamily="18" charset="0"/>
                          </a:rPr>
                        </m:ctrlPr>
                      </m:sSubSupPr>
                      <m:e>
                        <m:bar>
                          <m:barPr>
                            <m:pos m:val="bot"/>
                            <m:ctrlPr>
                              <a:rPr lang="en-GB" sz="2400" i="1">
                                <a:latin typeface="Cambria Math" panose="02040503050406030204" pitchFamily="18" charset="0"/>
                              </a:rPr>
                            </m:ctrlPr>
                          </m:barPr>
                          <m:e>
                            <m:r>
                              <a:rPr lang="en-GB" sz="2400" i="1">
                                <a:latin typeface="Cambria Math" panose="02040503050406030204" pitchFamily="18" charset="0"/>
                              </a:rPr>
                              <m:t>𝑦</m:t>
                            </m:r>
                          </m:e>
                        </m:bar>
                      </m:e>
                      <m:sub>
                        <m:r>
                          <a:rPr lang="en-GB" sz="2400" i="1">
                            <a:latin typeface="Cambria Math" panose="02040503050406030204" pitchFamily="18" charset="0"/>
                          </a:rPr>
                          <m:t>𝑛</m:t>
                        </m:r>
                      </m:sub>
                      <m:sup>
                        <m:r>
                          <a:rPr lang="en-GB" sz="2400" i="1">
                            <a:latin typeface="Cambria Math" panose="02040503050406030204" pitchFamily="18" charset="0"/>
                          </a:rPr>
                          <m:t>⊤</m:t>
                        </m:r>
                      </m:sup>
                    </m:sSubSup>
                    <m:sSubSup>
                      <m:sSubSupPr>
                        <m:ctrlPr>
                          <a:rPr lang="en-GB" sz="2400" i="1">
                            <a:latin typeface="Cambria Math" panose="02040503050406030204" pitchFamily="18" charset="0"/>
                          </a:rPr>
                        </m:ctrlPr>
                      </m:sSubSup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𝑞</m:t>
                        </m:r>
                      </m:sub>
                      <m:sup>
                        <m:r>
                          <a:rPr lang="en-GB" sz="2400" i="1">
                            <a:latin typeface="Cambria Math" panose="02040503050406030204" pitchFamily="18" charset="0"/>
                          </a:rPr>
                          <m:t>⊤</m:t>
                        </m:r>
                      </m:sup>
                    </m:sSubSup>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𝑘</m:t>
                        </m:r>
                      </m:sub>
                    </m:sSub>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r>
                              <a:rPr lang="en-GB" sz="2400" i="1">
                                <a:latin typeface="Cambria Math" panose="02040503050406030204" pitchFamily="18" charset="0"/>
                              </a:rPr>
                              <m:t>𝑦</m:t>
                            </m:r>
                          </m:e>
                        </m:bar>
                      </m:e>
                      <m:sub>
                        <m:sSup>
                          <m:sSupPr>
                            <m:ctrlPr>
                              <a:rPr lang="en-GB" sz="2400" i="1">
                                <a:latin typeface="Cambria Math" panose="02040503050406030204" pitchFamily="18" charset="0"/>
                              </a:rPr>
                            </m:ctrlPr>
                          </m:sSupPr>
                          <m:e>
                            <m:r>
                              <a:rPr lang="en-GB" sz="2400" i="1">
                                <a:latin typeface="Cambria Math" panose="02040503050406030204" pitchFamily="18" charset="0"/>
                              </a:rPr>
                              <m:t>𝑛</m:t>
                            </m:r>
                          </m:e>
                          <m:sup>
                            <m:r>
                              <a:rPr lang="en-GB" sz="2400" i="1">
                                <a:latin typeface="Cambria Math" panose="02040503050406030204" pitchFamily="18" charset="0"/>
                              </a:rPr>
                              <m:t>′</m:t>
                            </m:r>
                          </m:sup>
                        </m:sSup>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          </m:t>
                        </m:r>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𝑞</m:t>
                        </m:r>
                      </m:sub>
                    </m:sSub>
                    <m:r>
                      <a:rPr lang="en-GB" sz="2400" i="1">
                        <a:latin typeface="Cambria Math" panose="02040503050406030204" pitchFamily="18" charset="0"/>
                      </a:rPr>
                      <m:t> , </m:t>
                    </m:r>
                    <m:sSub>
                      <m:sSubPr>
                        <m:ctrlPr>
                          <a:rPr lang="en-GB" sz="2400" i="1">
                            <a:latin typeface="Cambria Math" panose="02040503050406030204" pitchFamily="18" charset="0"/>
                          </a:rPr>
                        </m:ctrlPr>
                      </m:sSubPr>
                      <m:e>
                        <m:bar>
                          <m:barPr>
                            <m:pos m:val="bot"/>
                            <m:ctrlPr>
                              <a:rPr lang="en-GB" sz="2400" i="1">
                                <a:latin typeface="Cambria Math" panose="02040503050406030204" pitchFamily="18" charset="0"/>
                              </a:rPr>
                            </m:ctrlPr>
                          </m:barPr>
                          <m:e>
                            <m:bar>
                              <m:barPr>
                                <m:pos m:val="bot"/>
                                <m:ctrlPr>
                                  <a:rPr lang="en-GB" sz="2400" i="1">
                                    <a:latin typeface="Cambria Math" panose="02040503050406030204" pitchFamily="18" charset="0"/>
                                  </a:rPr>
                                </m:ctrlPr>
                              </m:barPr>
                              <m:e>
                                <m:r>
                                  <a:rPr lang="en-GB" sz="2400" i="1">
                                    <a:latin typeface="Cambria Math" panose="02040503050406030204" pitchFamily="18" charset="0"/>
                                  </a:rPr>
                                  <m:t>𝑈</m:t>
                                </m:r>
                              </m:e>
                            </m:bar>
                          </m:e>
                        </m:bar>
                      </m:e>
                      <m:sub>
                        <m:r>
                          <a:rPr lang="en-GB" sz="2400" i="1">
                            <a:latin typeface="Cambria Math" panose="02040503050406030204" pitchFamily="18" charset="0"/>
                          </a:rPr>
                          <m:t>𝑘</m:t>
                        </m:r>
                      </m:sub>
                    </m:sSub>
                    <m:r>
                      <a:rPr lang="en-GB" sz="2400" i="1">
                        <a:latin typeface="Cambria Math" panose="02040503050406030204" pitchFamily="18" charset="0"/>
                      </a:rPr>
                      <m:t>=</m:t>
                    </m:r>
                    <m:r>
                      <a:rPr lang="en-GB" sz="2400" i="1">
                        <a:latin typeface="Cambria Math" panose="02040503050406030204" pitchFamily="18" charset="0"/>
                      </a:rPr>
                      <m:t>𝑑</m:t>
                    </m:r>
                    <m:r>
                      <a:rPr lang="en-GB" sz="2400" i="1">
                        <a:latin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𝑑</m:t>
                        </m:r>
                      </m:e>
                      <m:sub>
                        <m:r>
                          <a:rPr lang="en-GB" sz="2400" i="1">
                            <a:latin typeface="Cambria Math" panose="02040503050406030204" pitchFamily="18" charset="0"/>
                            <a:ea typeface="Cambria Math" panose="02040503050406030204" pitchFamily="18" charset="0"/>
                          </a:rPr>
                          <m:t>𝑘</m:t>
                        </m:r>
                      </m:sub>
                    </m:sSub>
                    <m:r>
                      <m:rPr>
                        <m:nor/>
                      </m:rPr>
                      <a:rPr lang="en-GB" sz="2400" b="0" i="0" smtClean="0">
                        <a:latin typeface="Cambria Math" panose="02040503050406030204" pitchFamily="18" charset="0"/>
                        <a:ea typeface="Cambria Math" panose="02040503050406030204" pitchFamily="18" charset="0"/>
                      </a:rPr>
                      <m:t> </m:t>
                    </m:r>
                    <m:r>
                      <m:rPr>
                        <m:nor/>
                      </m:rPr>
                      <a:rPr lang="en-GB" sz="2400" i="0" dirty="0"/>
                      <m:t>,  </m:t>
                    </m:r>
                    <m:sSub>
                      <m:sSubPr>
                        <m:ctrlPr>
                          <a:rPr lang="en-GB" sz="2400" i="1">
                            <a:latin typeface="Cambria Math" panose="02040503050406030204" pitchFamily="18" charset="0"/>
                          </a:rPr>
                        </m:ctrlPr>
                      </m:sSubPr>
                      <m:e>
                        <m:r>
                          <a:rPr lang="en-GB" sz="2400" i="1">
                            <a:latin typeface="Cambria Math" panose="02040503050406030204" pitchFamily="18" charset="0"/>
                          </a:rPr>
                          <m:t>𝑑</m:t>
                        </m:r>
                      </m:e>
                      <m:sub>
                        <m:r>
                          <a:rPr lang="en-GB" sz="2400" i="1">
                            <a:latin typeface="Cambria Math" panose="02040503050406030204" pitchFamily="18" charset="0"/>
                          </a:rPr>
                          <m:t>𝑘</m:t>
                        </m:r>
                      </m:sub>
                    </m:sSub>
                    <m:r>
                      <a:rPr lang="en-GB" sz="2400">
                        <a:latin typeface="Cambria Math" panose="02040503050406030204" pitchFamily="18" charset="0"/>
                      </a:rPr>
                      <m:t>&lt;</m:t>
                    </m:r>
                    <m:r>
                      <m:rPr>
                        <m:sty m:val="p"/>
                      </m:rPr>
                      <a:rPr lang="en-GB" sz="2400">
                        <a:latin typeface="Cambria Math" panose="02040503050406030204" pitchFamily="18" charset="0"/>
                      </a:rPr>
                      <m:t>d</m:t>
                    </m:r>
                  </m:oMath>
                </a14:m>
                <a:endParaRPr lang="en-GB" sz="2400" dirty="0"/>
              </a:p>
              <a:p>
                <a:endParaRPr lang="en-GB" sz="2400" dirty="0"/>
              </a:p>
              <a:p>
                <a:pPr marL="342900" indent="-342900">
                  <a:buFont typeface="Arial" panose="020B0604020202020204" pitchFamily="34" charset="0"/>
                  <a:buChar char="•"/>
                </a:pPr>
                <a:r>
                  <a:rPr lang="en-GB" sz="2400" dirty="0"/>
                  <a:t>Similarity between token </a:t>
                </a:r>
                <a14:m>
                  <m:oMath xmlns:m="http://schemas.openxmlformats.org/officeDocument/2006/math">
                    <m:r>
                      <a:rPr lang="en-GB" sz="2400" i="1">
                        <a:latin typeface="Cambria Math" panose="02040503050406030204" pitchFamily="18" charset="0"/>
                      </a:rPr>
                      <m:t>𝑛</m:t>
                    </m:r>
                  </m:oMath>
                </a14:m>
                <a:r>
                  <a:rPr lang="en-GB" sz="2400" dirty="0"/>
                  <a:t> and </a:t>
                </a:r>
                <a14:m>
                  <m:oMath xmlns:m="http://schemas.openxmlformats.org/officeDocument/2006/math">
                    <m:sSup>
                      <m:sSupPr>
                        <m:ctrlPr>
                          <a:rPr lang="en-GB" sz="2400" i="1">
                            <a:latin typeface="Cambria Math" panose="02040503050406030204" pitchFamily="18" charset="0"/>
                          </a:rPr>
                        </m:ctrlPr>
                      </m:sSupPr>
                      <m:e>
                        <m:r>
                          <a:rPr lang="en-GB" sz="2400" i="1">
                            <a:latin typeface="Cambria Math" panose="02040503050406030204" pitchFamily="18" charset="0"/>
                          </a:rPr>
                          <m:t>𝑛</m:t>
                        </m:r>
                      </m:e>
                      <m:sup>
                        <m:r>
                          <a:rPr lang="en-GB" sz="2400" i="1">
                            <a:latin typeface="Cambria Math" panose="02040503050406030204" pitchFamily="18" charset="0"/>
                          </a:rPr>
                          <m:t>′</m:t>
                        </m:r>
                      </m:sup>
                    </m:sSup>
                  </m:oMath>
                </a14:m>
                <a:r>
                  <a:rPr lang="en-GB" sz="2400" dirty="0"/>
                  <a:t> now given by</a:t>
                </a:r>
              </a:p>
              <a:p>
                <a:r>
                  <a:rPr lang="en-GB" sz="2400" dirty="0"/>
                  <a:t>   				        </a:t>
                </a:r>
                <a14:m>
                  <m:oMath xmlns:m="http://schemas.openxmlformats.org/officeDocument/2006/math">
                    <m:f>
                      <m:fPr>
                        <m:type m:val="lin"/>
                        <m:ctrlPr>
                          <a:rPr lang="en-GB" sz="2800" i="1">
                            <a:latin typeface="Cambria Math" panose="02040503050406030204" pitchFamily="18" charset="0"/>
                          </a:rPr>
                        </m:ctrlPr>
                      </m:fPr>
                      <m:num>
                        <m:sSubSup>
                          <m:sSubSupPr>
                            <m:ctrlPr>
                              <a:rPr lang="en-GB" sz="2800" i="1">
                                <a:latin typeface="Cambria Math" panose="02040503050406030204" pitchFamily="18" charset="0"/>
                              </a:rPr>
                            </m:ctrlPr>
                          </m:sSubSupPr>
                          <m:e>
                            <m:bar>
                              <m:barPr>
                                <m:pos m:val="bot"/>
                                <m:ctrlPr>
                                  <a:rPr lang="en-GB" sz="2800" i="1">
                                    <a:latin typeface="Cambria Math" panose="02040503050406030204" pitchFamily="18" charset="0"/>
                                  </a:rPr>
                                </m:ctrlPr>
                              </m:barPr>
                              <m:e>
                                <m:r>
                                  <a:rPr lang="en-GB" sz="2800" i="1">
                                    <a:latin typeface="Cambria Math" panose="02040503050406030204" pitchFamily="18" charset="0"/>
                                  </a:rPr>
                                  <m:t>𝑦</m:t>
                                </m:r>
                              </m:e>
                            </m:bar>
                          </m:e>
                          <m:sub>
                            <m:r>
                              <a:rPr lang="en-GB" sz="2800" i="1">
                                <a:latin typeface="Cambria Math" panose="02040503050406030204" pitchFamily="18" charset="0"/>
                              </a:rPr>
                              <m:t>𝑛</m:t>
                            </m:r>
                          </m:sub>
                          <m:sup>
                            <m:r>
                              <a:rPr lang="en-GB" sz="2800" i="1">
                                <a:latin typeface="Cambria Math" panose="02040503050406030204" pitchFamily="18" charset="0"/>
                              </a:rPr>
                              <m:t>⊤</m:t>
                            </m:r>
                          </m:sup>
                        </m:sSubSup>
                        <m:sSubSup>
                          <m:sSubSupPr>
                            <m:ctrlPr>
                              <a:rPr lang="en-GB" sz="2800" i="1">
                                <a:latin typeface="Cambria Math" panose="02040503050406030204" pitchFamily="18" charset="0"/>
                              </a:rPr>
                            </m:ctrlPr>
                          </m:sSubSupPr>
                          <m:e>
                            <m:bar>
                              <m:barPr>
                                <m:pos m:val="bot"/>
                                <m:ctrlPr>
                                  <a:rPr lang="en-GB" sz="2800" i="1">
                                    <a:latin typeface="Cambria Math" panose="02040503050406030204" pitchFamily="18" charset="0"/>
                                  </a:rPr>
                                </m:ctrlPr>
                              </m:barPr>
                              <m:e>
                                <m:bar>
                                  <m:barPr>
                                    <m:pos m:val="bot"/>
                                    <m:ctrlPr>
                                      <a:rPr lang="en-GB" sz="2800" i="1">
                                        <a:latin typeface="Cambria Math" panose="02040503050406030204" pitchFamily="18" charset="0"/>
                                      </a:rPr>
                                    </m:ctrlPr>
                                  </m:barPr>
                                  <m:e>
                                    <m:r>
                                      <a:rPr lang="en-GB" sz="2800" i="1">
                                        <a:latin typeface="Cambria Math" panose="02040503050406030204" pitchFamily="18" charset="0"/>
                                      </a:rPr>
                                      <m:t>𝑈</m:t>
                                    </m:r>
                                  </m:e>
                                </m:bar>
                              </m:e>
                            </m:bar>
                          </m:e>
                          <m:sub>
                            <m:r>
                              <a:rPr lang="en-GB" sz="2800" i="1">
                                <a:latin typeface="Cambria Math" panose="02040503050406030204" pitchFamily="18" charset="0"/>
                              </a:rPr>
                              <m:t>𝑞</m:t>
                            </m:r>
                          </m:sub>
                          <m:sup>
                            <m:r>
                              <a:rPr lang="en-GB" sz="2800" i="1">
                                <a:latin typeface="Cambria Math" panose="02040503050406030204" pitchFamily="18" charset="0"/>
                              </a:rPr>
                              <m:t>⊤</m:t>
                            </m:r>
                          </m:sup>
                        </m:sSubSup>
                        <m:sSub>
                          <m:sSubPr>
                            <m:ctrlPr>
                              <a:rPr lang="en-GB" sz="2800" i="1">
                                <a:latin typeface="Cambria Math" panose="02040503050406030204" pitchFamily="18" charset="0"/>
                              </a:rPr>
                            </m:ctrlPr>
                          </m:sSubPr>
                          <m:e>
                            <m:bar>
                              <m:barPr>
                                <m:pos m:val="bot"/>
                                <m:ctrlPr>
                                  <a:rPr lang="en-GB" sz="2800" i="1">
                                    <a:latin typeface="Cambria Math" panose="02040503050406030204" pitchFamily="18" charset="0"/>
                                  </a:rPr>
                                </m:ctrlPr>
                              </m:barPr>
                              <m:e>
                                <m:bar>
                                  <m:barPr>
                                    <m:pos m:val="bot"/>
                                    <m:ctrlPr>
                                      <a:rPr lang="en-GB" sz="2800" i="1">
                                        <a:latin typeface="Cambria Math" panose="02040503050406030204" pitchFamily="18" charset="0"/>
                                      </a:rPr>
                                    </m:ctrlPr>
                                  </m:barPr>
                                  <m:e>
                                    <m:r>
                                      <a:rPr lang="en-GB" sz="2800" i="1">
                                        <a:latin typeface="Cambria Math" panose="02040503050406030204" pitchFamily="18" charset="0"/>
                                      </a:rPr>
                                      <m:t>𝑈</m:t>
                                    </m:r>
                                  </m:e>
                                </m:bar>
                              </m:e>
                            </m:bar>
                          </m:e>
                          <m:sub>
                            <m:r>
                              <a:rPr lang="en-GB" sz="2800" i="1">
                                <a:latin typeface="Cambria Math" panose="02040503050406030204" pitchFamily="18" charset="0"/>
                              </a:rPr>
                              <m:t>𝑘</m:t>
                            </m:r>
                          </m:sub>
                        </m:sSub>
                        <m:sSub>
                          <m:sSubPr>
                            <m:ctrlPr>
                              <a:rPr lang="en-GB" sz="2800" i="1">
                                <a:latin typeface="Cambria Math" panose="02040503050406030204" pitchFamily="18" charset="0"/>
                              </a:rPr>
                            </m:ctrlPr>
                          </m:sSubPr>
                          <m:e>
                            <m:bar>
                              <m:barPr>
                                <m:pos m:val="bot"/>
                                <m:ctrlPr>
                                  <a:rPr lang="en-GB" sz="2800" i="1">
                                    <a:latin typeface="Cambria Math" panose="02040503050406030204" pitchFamily="18" charset="0"/>
                                  </a:rPr>
                                </m:ctrlPr>
                              </m:barPr>
                              <m:e>
                                <m:r>
                                  <a:rPr lang="en-GB" sz="2800" i="1">
                                    <a:latin typeface="Cambria Math" panose="02040503050406030204" pitchFamily="18" charset="0"/>
                                  </a:rPr>
                                  <m:t>𝑦</m:t>
                                </m:r>
                              </m:e>
                            </m:bar>
                          </m:e>
                          <m:sub>
                            <m:sSup>
                              <m:sSupPr>
                                <m:ctrlPr>
                                  <a:rPr lang="en-GB" sz="2800" i="1">
                                    <a:latin typeface="Cambria Math" panose="02040503050406030204" pitchFamily="18" charset="0"/>
                                  </a:rPr>
                                </m:ctrlPr>
                              </m:sSupPr>
                              <m:e>
                                <m:r>
                                  <a:rPr lang="en-GB" sz="2800" i="1">
                                    <a:latin typeface="Cambria Math" panose="02040503050406030204" pitchFamily="18" charset="0"/>
                                  </a:rPr>
                                  <m:t>𝑛</m:t>
                                </m:r>
                              </m:e>
                              <m:sup>
                                <m:r>
                                  <a:rPr lang="en-GB" sz="2800" i="1">
                                    <a:latin typeface="Cambria Math" panose="02040503050406030204" pitchFamily="18" charset="0"/>
                                  </a:rPr>
                                  <m:t>′</m:t>
                                </m:r>
                              </m:sup>
                            </m:sSup>
                          </m:sub>
                        </m:sSub>
                      </m:num>
                      <m:den>
                        <m:rad>
                          <m:radPr>
                            <m:degHide m:val="on"/>
                            <m:ctrlPr>
                              <a:rPr lang="en-GB" sz="2800" i="1" smtClean="0">
                                <a:latin typeface="Cambria Math" panose="02040503050406030204" pitchFamily="18" charset="0"/>
                              </a:rPr>
                            </m:ctrlPr>
                          </m:radPr>
                          <m:deg/>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𝑑</m:t>
                                </m:r>
                              </m:e>
                              <m:sub>
                                <m:r>
                                  <a:rPr lang="en-GB" sz="2800" b="0" i="1" smtClean="0">
                                    <a:latin typeface="Cambria Math" panose="02040503050406030204" pitchFamily="18" charset="0"/>
                                  </a:rPr>
                                  <m:t>𝑘</m:t>
                                </m:r>
                              </m:sub>
                            </m:sSub>
                          </m:e>
                        </m:rad>
                      </m:den>
                    </m:f>
                  </m:oMath>
                </a14:m>
                <a:endParaRPr lang="en-GB" sz="2400" dirty="0"/>
              </a:p>
              <a:p>
                <a:pPr lvl="1"/>
                <a:endParaRPr lang="en-GB" sz="2400" dirty="0"/>
              </a:p>
              <a:p>
                <a:pPr marL="742950" lvl="1" indent="-285750">
                  <a:buFont typeface="Arial" panose="020B0604020202020204" pitchFamily="34" charset="0"/>
                  <a:buChar char="•"/>
                </a:pPr>
                <a:endParaRPr lang="en-GB" sz="2400" dirty="0"/>
              </a:p>
            </p:txBody>
          </p:sp>
        </mc:Choice>
        <mc:Fallback>
          <p:sp>
            <p:nvSpPr>
              <p:cNvPr id="8" name="TextBox 7">
                <a:extLst>
                  <a:ext uri="{FF2B5EF4-FFF2-40B4-BE49-F238E27FC236}">
                    <a16:creationId xmlns:a16="http://schemas.microsoft.com/office/drawing/2014/main" id="{0D940748-66E8-D950-45D0-CE75B20B18E2}"/>
                  </a:ext>
                </a:extLst>
              </p:cNvPr>
              <p:cNvSpPr txBox="1">
                <a:spLocks noRot="1" noChangeAspect="1" noMove="1" noResize="1" noEditPoints="1" noAdjustHandles="1" noChangeArrowheads="1" noChangeShapeType="1" noTextEdit="1"/>
              </p:cNvSpPr>
              <p:nvPr/>
            </p:nvSpPr>
            <p:spPr>
              <a:xfrm>
                <a:off x="332015" y="1037975"/>
                <a:ext cx="11631386" cy="6403291"/>
              </a:xfrm>
              <a:prstGeom prst="rect">
                <a:avLst/>
              </a:prstGeom>
              <a:blipFill>
                <a:blip r:embed="rId3"/>
                <a:stretch>
                  <a:fillRect l="-681" t="-571"/>
                </a:stretch>
              </a:blipFill>
            </p:spPr>
            <p:txBody>
              <a:bodyPr/>
              <a:lstStyle/>
              <a:p>
                <a:r>
                  <a:rPr lang="en-GB">
                    <a:noFill/>
                  </a:rPr>
                  <a:t> </a:t>
                </a:r>
              </a:p>
            </p:txBody>
          </p:sp>
        </mc:Fallback>
      </mc:AlternateContent>
    </p:spTree>
    <p:extLst>
      <p:ext uri="{BB962C8B-B14F-4D97-AF65-F5344CB8AC3E}">
        <p14:creationId xmlns:p14="http://schemas.microsoft.com/office/powerpoint/2010/main" val="1995176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8EC9-EDD5-8A38-674D-BAC322D3BEC2}"/>
              </a:ext>
            </a:extLst>
          </p:cNvPr>
          <p:cNvSpPr>
            <a:spLocks noGrp="1"/>
          </p:cNvSpPr>
          <p:nvPr>
            <p:ph type="title"/>
          </p:nvPr>
        </p:nvSpPr>
        <p:spPr>
          <a:xfrm>
            <a:off x="838200" y="365125"/>
            <a:ext cx="10515600" cy="805089"/>
          </a:xfrm>
        </p:spPr>
        <p:txBody>
          <a:bodyPr/>
          <a:lstStyle/>
          <a:p>
            <a:r>
              <a:rPr lang="en-GB" dirty="0"/>
              <a:t>Self-Attention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F892DC-6ABB-EABC-C3CE-980FDD5D990A}"/>
                  </a:ext>
                </a:extLst>
              </p:cNvPr>
              <p:cNvSpPr>
                <a:spLocks noGrp="1"/>
              </p:cNvSpPr>
              <p:nvPr>
                <p:ph idx="1"/>
              </p:nvPr>
            </p:nvSpPr>
            <p:spPr>
              <a:xfrm>
                <a:off x="239486" y="1324428"/>
                <a:ext cx="11636828" cy="4858658"/>
              </a:xfrm>
            </p:spPr>
            <p:txBody>
              <a:bodyPr/>
              <a:lstStyle/>
              <a:p>
                <a:r>
                  <a:rPr lang="en-GB" dirty="0"/>
                  <a:t>Putting it altogether (almost)</a:t>
                </a:r>
              </a:p>
              <a:p>
                <a:pPr marL="457200" lvl="1" indent="0">
                  <a:buNone/>
                </a:pPr>
                <a14:m>
                  <m:oMathPara xmlns:m="http://schemas.openxmlformats.org/officeDocument/2006/math">
                    <m:oMath>
                      <m:r>
                        <m:rPr>
                          <m:nor/>
                        </m:rPr>
                        <a:rPr lang="en-GB" b="0" i="0" smtClean="0">
                          <a:latin typeface="Cambria Math" panose="02040503050406030204" pitchFamily="18" charset="0"/>
                        </a:rPr>
                        <m:t>New embedding vector for </m:t>
                      </m:r>
                      <m:r>
                        <a:rPr lang="en-GB" b="0" i="1" smtClean="0">
                          <a:latin typeface="Cambria Math" panose="02040503050406030204" pitchFamily="18" charset="0"/>
                        </a:rPr>
                        <m:t>𝑛</m:t>
                      </m:r>
                      <m:r>
                        <m:rPr>
                          <m:nor/>
                        </m:rPr>
                        <a:rPr lang="en-GB" b="0" i="0" smtClean="0">
                          <a:latin typeface="Cambria Math" panose="02040503050406030204" pitchFamily="18" charset="0"/>
                        </a:rPr>
                        <m:t> = </m:t>
                      </m:r>
                      <m:nary>
                        <m:naryPr>
                          <m:chr m:val="∑"/>
                          <m:supHide m:val="on"/>
                          <m:ctrlPr>
                            <a:rPr lang="en-GB" b="0" i="1" smtClean="0">
                              <a:latin typeface="Cambria Math" panose="02040503050406030204" pitchFamily="18" charset="0"/>
                            </a:rPr>
                          </m:ctrlPr>
                        </m:naryPr>
                        <m:sub>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sub>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𝑣</m:t>
                              </m:r>
                            </m:e>
                            <m:sub>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sub>
                          </m:sSub>
                          <m:r>
                            <a:rPr lang="en-GB" b="0" i="1" smtClean="0">
                              <a:latin typeface="Cambria Math" panose="02040503050406030204" pitchFamily="18" charset="0"/>
                            </a:rPr>
                            <m:t> </m:t>
                          </m:r>
                          <m:f>
                            <m:fPr>
                              <m:ctrlPr>
                                <a:rPr lang="en-GB" b="0" i="0" smtClean="0">
                                  <a:latin typeface="Cambria Math" panose="02040503050406030204" pitchFamily="18" charset="0"/>
                                </a:rPr>
                              </m:ctrlPr>
                            </m:fPr>
                            <m:num>
                              <m:r>
                                <m:rPr>
                                  <m:nor/>
                                </m:rPr>
                                <a:rPr lang="en-GB" b="0" i="0" smtClean="0">
                                  <a:latin typeface="Cambria Math" panose="02040503050406030204" pitchFamily="18" charset="0"/>
                                </a:rPr>
                                <m:t>exp</m:t>
                              </m:r>
                              <m:d>
                                <m:dPr>
                                  <m:ctrlPr>
                                    <a:rPr lang="en-GB" i="1">
                                      <a:latin typeface="Cambria Math" panose="02040503050406030204" pitchFamily="18" charset="0"/>
                                    </a:rPr>
                                  </m:ctrlPr>
                                </m:dPr>
                                <m:e>
                                  <m:sSubSup>
                                    <m:sSubSupPr>
                                      <m:ctrlPr>
                                        <a:rPr lang="en-GB" i="1">
                                          <a:latin typeface="Cambria Math" panose="02040503050406030204" pitchFamily="18" charset="0"/>
                                        </a:rPr>
                                      </m:ctrlPr>
                                    </m:sSubSupPr>
                                    <m:e>
                                      <m:bar>
                                        <m:barPr>
                                          <m:pos m:val="bot"/>
                                          <m:ctrlPr>
                                            <a:rPr lang="en-GB" i="1">
                                              <a:latin typeface="Cambria Math" panose="02040503050406030204" pitchFamily="18" charset="0"/>
                                            </a:rPr>
                                          </m:ctrlPr>
                                        </m:barPr>
                                        <m:e>
                                          <m:r>
                                            <a:rPr lang="en-GB" i="1">
                                              <a:latin typeface="Cambria Math" panose="02040503050406030204" pitchFamily="18" charset="0"/>
                                            </a:rPr>
                                            <m:t>𝑦</m:t>
                                          </m:r>
                                        </m:e>
                                      </m:bar>
                                    </m:e>
                                    <m:sub>
                                      <m:r>
                                        <a:rPr lang="en-GB" i="1">
                                          <a:latin typeface="Cambria Math" panose="02040503050406030204" pitchFamily="18" charset="0"/>
                                        </a:rPr>
                                        <m:t>𝑛</m:t>
                                      </m:r>
                                    </m:sub>
                                    <m:sup>
                                      <m:r>
                                        <a:rPr lang="en-GB" i="1">
                                          <a:latin typeface="Cambria Math" panose="02040503050406030204" pitchFamily="18" charset="0"/>
                                        </a:rPr>
                                        <m:t>⊤</m:t>
                                      </m:r>
                                    </m:sup>
                                  </m:sSubSup>
                                  <m:sSubSup>
                                    <m:sSubSupPr>
                                      <m:ctrlPr>
                                        <a:rPr lang="en-GB" i="1">
                                          <a:latin typeface="Cambria Math" panose="02040503050406030204" pitchFamily="18" charset="0"/>
                                        </a:rPr>
                                      </m:ctrlPr>
                                    </m:sSubSupPr>
                                    <m:e>
                                      <m:bar>
                                        <m:barPr>
                                          <m:pos m:val="bot"/>
                                          <m:ctrlPr>
                                            <a:rPr lang="en-GB" i="1">
                                              <a:latin typeface="Cambria Math" panose="02040503050406030204" pitchFamily="18" charset="0"/>
                                            </a:rPr>
                                          </m:ctrlPr>
                                        </m:barPr>
                                        <m:e>
                                          <m:bar>
                                            <m:barPr>
                                              <m:pos m:val="bot"/>
                                              <m:ctrlPr>
                                                <a:rPr lang="en-GB" i="1">
                                                  <a:latin typeface="Cambria Math" panose="02040503050406030204" pitchFamily="18" charset="0"/>
                                                </a:rPr>
                                              </m:ctrlPr>
                                            </m:barPr>
                                            <m:e>
                                              <m:r>
                                                <a:rPr lang="en-GB" i="1">
                                                  <a:latin typeface="Cambria Math" panose="02040503050406030204" pitchFamily="18" charset="0"/>
                                                </a:rPr>
                                                <m:t>𝑈</m:t>
                                              </m:r>
                                            </m:e>
                                          </m:bar>
                                        </m:e>
                                      </m:bar>
                                    </m:e>
                                    <m:sub>
                                      <m:r>
                                        <a:rPr lang="en-GB" i="1">
                                          <a:latin typeface="Cambria Math" panose="02040503050406030204" pitchFamily="18" charset="0"/>
                                        </a:rPr>
                                        <m:t>𝑞</m:t>
                                      </m:r>
                                    </m:sub>
                                    <m:sup>
                                      <m:r>
                                        <a:rPr lang="en-GB" i="1">
                                          <a:latin typeface="Cambria Math" panose="02040503050406030204" pitchFamily="18" charset="0"/>
                                        </a:rPr>
                                        <m:t>⊤</m:t>
                                      </m:r>
                                    </m:sup>
                                  </m:sSubSup>
                                  <m:sSub>
                                    <m:sSubPr>
                                      <m:ctrlPr>
                                        <a:rPr lang="en-GB" i="1">
                                          <a:latin typeface="Cambria Math" panose="02040503050406030204" pitchFamily="18" charset="0"/>
                                        </a:rPr>
                                      </m:ctrlPr>
                                    </m:sSubPr>
                                    <m:e>
                                      <m:bar>
                                        <m:barPr>
                                          <m:pos m:val="bot"/>
                                          <m:ctrlPr>
                                            <a:rPr lang="en-GB" i="1">
                                              <a:latin typeface="Cambria Math" panose="02040503050406030204" pitchFamily="18" charset="0"/>
                                            </a:rPr>
                                          </m:ctrlPr>
                                        </m:barPr>
                                        <m:e>
                                          <m:bar>
                                            <m:barPr>
                                              <m:pos m:val="bot"/>
                                              <m:ctrlPr>
                                                <a:rPr lang="en-GB" i="1">
                                                  <a:latin typeface="Cambria Math" panose="02040503050406030204" pitchFamily="18" charset="0"/>
                                                </a:rPr>
                                              </m:ctrlPr>
                                            </m:barPr>
                                            <m:e>
                                              <m:r>
                                                <a:rPr lang="en-GB" i="1">
                                                  <a:latin typeface="Cambria Math" panose="02040503050406030204" pitchFamily="18" charset="0"/>
                                                </a:rPr>
                                                <m:t>𝑈</m:t>
                                              </m:r>
                                            </m:e>
                                          </m:bar>
                                        </m:e>
                                      </m:bar>
                                    </m:e>
                                    <m:sub>
                                      <m:r>
                                        <a:rPr lang="en-GB" i="1">
                                          <a:latin typeface="Cambria Math" panose="02040503050406030204" pitchFamily="18" charset="0"/>
                                        </a:rPr>
                                        <m:t>𝑘</m:t>
                                      </m:r>
                                    </m:sub>
                                  </m:sSub>
                                  <m:sSub>
                                    <m:sSubPr>
                                      <m:ctrlPr>
                                        <a:rPr lang="en-GB" i="1">
                                          <a:latin typeface="Cambria Math" panose="02040503050406030204" pitchFamily="18" charset="0"/>
                                        </a:rPr>
                                      </m:ctrlPr>
                                    </m:sSubPr>
                                    <m:e>
                                      <m:bar>
                                        <m:barPr>
                                          <m:pos m:val="bot"/>
                                          <m:ctrlPr>
                                            <a:rPr lang="en-GB" i="1">
                                              <a:latin typeface="Cambria Math" panose="02040503050406030204" pitchFamily="18" charset="0"/>
                                            </a:rPr>
                                          </m:ctrlPr>
                                        </m:barPr>
                                        <m:e>
                                          <m:r>
                                            <a:rPr lang="en-GB" i="1">
                                              <a:latin typeface="Cambria Math" panose="02040503050406030204" pitchFamily="18" charset="0"/>
                                            </a:rPr>
                                            <m:t>𝑦</m:t>
                                          </m:r>
                                        </m:e>
                                      </m:bar>
                                    </m:e>
                                    <m:sub>
                                      <m:sSup>
                                        <m:sSupPr>
                                          <m:ctrlPr>
                                            <a:rPr lang="en-GB" i="1">
                                              <a:latin typeface="Cambria Math" panose="02040503050406030204" pitchFamily="18" charset="0"/>
                                            </a:rPr>
                                          </m:ctrlPr>
                                        </m:sSupPr>
                                        <m:e>
                                          <m:r>
                                            <a:rPr lang="en-GB" i="1">
                                              <a:latin typeface="Cambria Math" panose="02040503050406030204" pitchFamily="18" charset="0"/>
                                            </a:rPr>
                                            <m:t>𝑛</m:t>
                                          </m:r>
                                        </m:e>
                                        <m:sup>
                                          <m:r>
                                            <a:rPr lang="en-GB" i="1">
                                              <a:latin typeface="Cambria Math" panose="02040503050406030204" pitchFamily="18" charset="0"/>
                                            </a:rPr>
                                            <m:t>′</m:t>
                                          </m:r>
                                        </m:sup>
                                      </m:sSup>
                                    </m:sub>
                                  </m:sSub>
                                </m:e>
                              </m:d>
                            </m:num>
                            <m:den>
                              <m:nary>
                                <m:naryPr>
                                  <m:chr m:val="∑"/>
                                  <m:supHide m:val="on"/>
                                  <m:ctrlPr>
                                    <a:rPr lang="en-GB" b="0" i="1" smtClean="0">
                                      <a:latin typeface="Cambria Math" panose="02040503050406030204" pitchFamily="18" charset="0"/>
                                    </a:rPr>
                                  </m:ctrlPr>
                                </m:naryPr>
                                <m:sub>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sub>
                                <m:sup/>
                                <m:e>
                                  <m:r>
                                    <m:rPr>
                                      <m:nor/>
                                    </m:rPr>
                                    <a:rPr lang="en-GB" b="0" i="0" smtClean="0">
                                      <a:latin typeface="Cambria Math" panose="02040503050406030204" pitchFamily="18" charset="0"/>
                                    </a:rPr>
                                    <m:t>exp</m:t>
                                  </m:r>
                                  <m:d>
                                    <m:dPr>
                                      <m:ctrlPr>
                                        <a:rPr lang="en-GB" i="1">
                                          <a:latin typeface="Cambria Math" panose="02040503050406030204" pitchFamily="18" charset="0"/>
                                        </a:rPr>
                                      </m:ctrlPr>
                                    </m:dPr>
                                    <m:e>
                                      <m:sSubSup>
                                        <m:sSubSupPr>
                                          <m:ctrlPr>
                                            <a:rPr lang="en-GB" i="1">
                                              <a:latin typeface="Cambria Math" panose="02040503050406030204" pitchFamily="18" charset="0"/>
                                            </a:rPr>
                                          </m:ctrlPr>
                                        </m:sSubSupPr>
                                        <m:e>
                                          <m:bar>
                                            <m:barPr>
                                              <m:pos m:val="bot"/>
                                              <m:ctrlPr>
                                                <a:rPr lang="en-GB" i="1">
                                                  <a:latin typeface="Cambria Math" panose="02040503050406030204" pitchFamily="18" charset="0"/>
                                                </a:rPr>
                                              </m:ctrlPr>
                                            </m:barPr>
                                            <m:e>
                                              <m:r>
                                                <a:rPr lang="en-GB" i="1">
                                                  <a:latin typeface="Cambria Math" panose="02040503050406030204" pitchFamily="18" charset="0"/>
                                                </a:rPr>
                                                <m:t>𝑦</m:t>
                                              </m:r>
                                            </m:e>
                                          </m:bar>
                                        </m:e>
                                        <m:sub>
                                          <m:r>
                                            <a:rPr lang="en-GB" i="1">
                                              <a:latin typeface="Cambria Math" panose="02040503050406030204" pitchFamily="18" charset="0"/>
                                            </a:rPr>
                                            <m:t>𝑛</m:t>
                                          </m:r>
                                        </m:sub>
                                        <m:sup>
                                          <m:r>
                                            <a:rPr lang="en-GB" i="1">
                                              <a:latin typeface="Cambria Math" panose="02040503050406030204" pitchFamily="18" charset="0"/>
                                            </a:rPr>
                                            <m:t>⊤</m:t>
                                          </m:r>
                                        </m:sup>
                                      </m:sSubSup>
                                      <m:sSubSup>
                                        <m:sSubSupPr>
                                          <m:ctrlPr>
                                            <a:rPr lang="en-GB" i="1">
                                              <a:latin typeface="Cambria Math" panose="02040503050406030204" pitchFamily="18" charset="0"/>
                                            </a:rPr>
                                          </m:ctrlPr>
                                        </m:sSubSupPr>
                                        <m:e>
                                          <m:bar>
                                            <m:barPr>
                                              <m:pos m:val="bot"/>
                                              <m:ctrlPr>
                                                <a:rPr lang="en-GB" i="1">
                                                  <a:latin typeface="Cambria Math" panose="02040503050406030204" pitchFamily="18" charset="0"/>
                                                </a:rPr>
                                              </m:ctrlPr>
                                            </m:barPr>
                                            <m:e>
                                              <m:bar>
                                                <m:barPr>
                                                  <m:pos m:val="bot"/>
                                                  <m:ctrlPr>
                                                    <a:rPr lang="en-GB" i="1">
                                                      <a:latin typeface="Cambria Math" panose="02040503050406030204" pitchFamily="18" charset="0"/>
                                                    </a:rPr>
                                                  </m:ctrlPr>
                                                </m:barPr>
                                                <m:e>
                                                  <m:r>
                                                    <a:rPr lang="en-GB" i="1">
                                                      <a:latin typeface="Cambria Math" panose="02040503050406030204" pitchFamily="18" charset="0"/>
                                                    </a:rPr>
                                                    <m:t>𝑈</m:t>
                                                  </m:r>
                                                </m:e>
                                              </m:bar>
                                            </m:e>
                                          </m:bar>
                                        </m:e>
                                        <m:sub>
                                          <m:r>
                                            <a:rPr lang="en-GB" i="1">
                                              <a:latin typeface="Cambria Math" panose="02040503050406030204" pitchFamily="18" charset="0"/>
                                            </a:rPr>
                                            <m:t>𝑞</m:t>
                                          </m:r>
                                        </m:sub>
                                        <m:sup>
                                          <m:r>
                                            <a:rPr lang="en-GB" i="1">
                                              <a:latin typeface="Cambria Math" panose="02040503050406030204" pitchFamily="18" charset="0"/>
                                            </a:rPr>
                                            <m:t>⊤</m:t>
                                          </m:r>
                                        </m:sup>
                                      </m:sSubSup>
                                      <m:sSub>
                                        <m:sSubPr>
                                          <m:ctrlPr>
                                            <a:rPr lang="en-GB" i="1">
                                              <a:latin typeface="Cambria Math" panose="02040503050406030204" pitchFamily="18" charset="0"/>
                                            </a:rPr>
                                          </m:ctrlPr>
                                        </m:sSubPr>
                                        <m:e>
                                          <m:bar>
                                            <m:barPr>
                                              <m:pos m:val="bot"/>
                                              <m:ctrlPr>
                                                <a:rPr lang="en-GB" i="1">
                                                  <a:latin typeface="Cambria Math" panose="02040503050406030204" pitchFamily="18" charset="0"/>
                                                </a:rPr>
                                              </m:ctrlPr>
                                            </m:barPr>
                                            <m:e>
                                              <m:bar>
                                                <m:barPr>
                                                  <m:pos m:val="bot"/>
                                                  <m:ctrlPr>
                                                    <a:rPr lang="en-GB" i="1">
                                                      <a:latin typeface="Cambria Math" panose="02040503050406030204" pitchFamily="18" charset="0"/>
                                                    </a:rPr>
                                                  </m:ctrlPr>
                                                </m:barPr>
                                                <m:e>
                                                  <m:r>
                                                    <a:rPr lang="en-GB" i="1">
                                                      <a:latin typeface="Cambria Math" panose="02040503050406030204" pitchFamily="18" charset="0"/>
                                                    </a:rPr>
                                                    <m:t>𝑈</m:t>
                                                  </m:r>
                                                </m:e>
                                              </m:bar>
                                            </m:e>
                                          </m:bar>
                                        </m:e>
                                        <m:sub>
                                          <m:r>
                                            <a:rPr lang="en-GB" i="1">
                                              <a:latin typeface="Cambria Math" panose="02040503050406030204" pitchFamily="18" charset="0"/>
                                            </a:rPr>
                                            <m:t>𝑘</m:t>
                                          </m:r>
                                        </m:sub>
                                      </m:sSub>
                                      <m:sSub>
                                        <m:sSubPr>
                                          <m:ctrlPr>
                                            <a:rPr lang="en-GB" i="1">
                                              <a:latin typeface="Cambria Math" panose="02040503050406030204" pitchFamily="18" charset="0"/>
                                            </a:rPr>
                                          </m:ctrlPr>
                                        </m:sSubPr>
                                        <m:e>
                                          <m:bar>
                                            <m:barPr>
                                              <m:pos m:val="bot"/>
                                              <m:ctrlPr>
                                                <a:rPr lang="en-GB" i="1">
                                                  <a:latin typeface="Cambria Math" panose="02040503050406030204" pitchFamily="18" charset="0"/>
                                                </a:rPr>
                                              </m:ctrlPr>
                                            </m:barPr>
                                            <m:e>
                                              <m:r>
                                                <a:rPr lang="en-GB" i="1">
                                                  <a:latin typeface="Cambria Math" panose="02040503050406030204" pitchFamily="18" charset="0"/>
                                                </a:rPr>
                                                <m:t>𝑦</m:t>
                                              </m:r>
                                            </m:e>
                                          </m:bar>
                                        </m:e>
                                        <m:sub>
                                          <m:sSup>
                                            <m:sSupPr>
                                              <m:ctrlPr>
                                                <a:rPr lang="en-GB" i="1">
                                                  <a:latin typeface="Cambria Math" panose="02040503050406030204" pitchFamily="18" charset="0"/>
                                                </a:rPr>
                                              </m:ctrlPr>
                                            </m:sSupPr>
                                            <m:e>
                                              <m:r>
                                                <a:rPr lang="en-GB" i="1">
                                                  <a:latin typeface="Cambria Math" panose="02040503050406030204" pitchFamily="18" charset="0"/>
                                                </a:rPr>
                                                <m:t>𝑛</m:t>
                                              </m:r>
                                            </m:e>
                                            <m:sup>
                                              <m:r>
                                                <a:rPr lang="en-GB" i="1">
                                                  <a:latin typeface="Cambria Math" panose="02040503050406030204" pitchFamily="18" charset="0"/>
                                                </a:rPr>
                                                <m:t>′</m:t>
                                              </m:r>
                                              <m:r>
                                                <a:rPr lang="en-GB" b="0" i="1" smtClean="0">
                                                  <a:latin typeface="Cambria Math" panose="02040503050406030204" pitchFamily="18" charset="0"/>
                                                </a:rPr>
                                                <m:t>′</m:t>
                                              </m:r>
                                            </m:sup>
                                          </m:sSup>
                                        </m:sub>
                                      </m:sSub>
                                    </m:e>
                                  </m:d>
                                </m:e>
                              </m:nary>
                            </m:den>
                          </m:f>
                        </m:e>
                      </m:nary>
                    </m:oMath>
                  </m:oMathPara>
                </a14:m>
                <a:endParaRPr lang="en-GB" dirty="0"/>
              </a:p>
              <a:p>
                <a:pPr marL="457200" lvl="1" indent="0">
                  <a:buNone/>
                </a:pPr>
                <a:endParaRPr lang="en-GB" dirty="0"/>
              </a:p>
              <a:p>
                <a:r>
                  <a:rPr lang="en-GB" dirty="0"/>
                  <a:t>In English:</a:t>
                </a:r>
              </a:p>
              <a:p>
                <a:pPr marL="457200" lvl="1" indent="0">
                  <a:buNone/>
                </a:pPr>
                <a:r>
                  <a:rPr lang="en-GB" dirty="0"/>
                  <a:t>New embedding vector for token </a:t>
                </a:r>
                <a14:m>
                  <m:oMath xmlns:m="http://schemas.openxmlformats.org/officeDocument/2006/math">
                    <m:r>
                      <a:rPr lang="en-GB" b="0" i="1" smtClean="0">
                        <a:latin typeface="Cambria Math" panose="02040503050406030204" pitchFamily="18" charset="0"/>
                      </a:rPr>
                      <m:t>𝑛</m:t>
                    </m:r>
                  </m:oMath>
                </a14:m>
                <a:r>
                  <a:rPr lang="en-GB" dirty="0"/>
                  <a:t> = weighted average of the vectors </a:t>
                </a:r>
                <a14:m>
                  <m:oMath xmlns:m="http://schemas.openxmlformats.org/officeDocument/2006/math">
                    <m:sSub>
                      <m:sSubPr>
                        <m:ctrlPr>
                          <a:rPr lang="en-GB" b="0" i="1" smtClean="0">
                            <a:latin typeface="Cambria Math" panose="02040503050406030204" pitchFamily="18" charset="0"/>
                          </a:rPr>
                        </m:ctrlPr>
                      </m:sSubPr>
                      <m:e>
                        <m:bar>
                          <m:barPr>
                            <m:pos m:val="bot"/>
                            <m:ctrlPr>
                              <a:rPr lang="en-GB" b="0" i="1" smtClean="0">
                                <a:latin typeface="Cambria Math" panose="02040503050406030204" pitchFamily="18" charset="0"/>
                              </a:rPr>
                            </m:ctrlPr>
                          </m:barPr>
                          <m:e>
                            <m:r>
                              <a:rPr lang="en-GB" b="0" i="1" smtClean="0">
                                <a:latin typeface="Cambria Math" panose="02040503050406030204" pitchFamily="18" charset="0"/>
                              </a:rPr>
                              <m:t>𝑣</m:t>
                            </m:r>
                          </m:e>
                        </m:bar>
                      </m:e>
                      <m:sub>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sub>
                    </m:sSub>
                  </m:oMath>
                </a14:m>
                <a:endParaRPr lang="en-GB" dirty="0"/>
              </a:p>
              <a:p>
                <a:pPr marL="457200" lvl="1" indent="0">
                  <a:buNone/>
                </a:pPr>
                <a:endParaRPr lang="en-GB" dirty="0"/>
              </a:p>
              <a:p>
                <a:pPr marL="457200" lvl="1" indent="0">
                  <a:buNone/>
                </a:pPr>
                <a14:m>
                  <m:oMath xmlns:m="http://schemas.openxmlformats.org/officeDocument/2006/math">
                    <m:r>
                      <m:rPr>
                        <m:nor/>
                      </m:rPr>
                      <a:rPr lang="en-GB" b="0" i="0" smtClean="0">
                        <a:latin typeface="Cambria Math" panose="02040503050406030204" pitchFamily="18" charset="0"/>
                      </a:rPr>
                      <m:t>weight</m:t>
                    </m:r>
                    <m:d>
                      <m:dPr>
                        <m:ctrlPr>
                          <a:rPr lang="en-GB" b="0" i="1" smtClean="0">
                            <a:latin typeface="Cambria Math" panose="02040503050406030204" pitchFamily="18" charset="0"/>
                          </a:rPr>
                        </m:ctrlPr>
                      </m:dPr>
                      <m:e>
                        <m:r>
                          <a:rPr lang="en-GB" b="0" i="1" smtClean="0">
                            <a:latin typeface="Cambria Math" panose="02040503050406030204" pitchFamily="18" charset="0"/>
                          </a:rPr>
                          <m:t>𝑛</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e>
                    </m:d>
                  </m:oMath>
                </a14:m>
                <a:r>
                  <a:rPr lang="en-GB" dirty="0"/>
                  <a:t> = </a:t>
                </a:r>
                <a:r>
                  <a:rPr lang="en-GB" dirty="0" err="1"/>
                  <a:t>Softmax</a:t>
                </a:r>
                <a:r>
                  <a:rPr lang="en-GB" dirty="0"/>
                  <a:t>( similarity between transformed vectors for </a:t>
                </a:r>
                <a14:m>
                  <m:oMath xmlns:m="http://schemas.openxmlformats.org/officeDocument/2006/math">
                    <m:r>
                      <a:rPr lang="en-GB" b="0" i="1" smtClean="0">
                        <a:latin typeface="Cambria Math" panose="02040503050406030204" pitchFamily="18" charset="0"/>
                      </a:rPr>
                      <m:t>𝑛</m:t>
                    </m:r>
                  </m:oMath>
                </a14:m>
                <a:r>
                  <a:rPr lang="en-GB" dirty="0"/>
                  <a:t> and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oMath>
                </a14:m>
                <a:r>
                  <a:rPr lang="en-GB" dirty="0"/>
                  <a:t>)</a:t>
                </a:r>
              </a:p>
              <a:p>
                <a:pPr marL="457200" lvl="1" indent="0">
                  <a:buNone/>
                </a:pPr>
                <a:endParaRPr lang="en-GB" dirty="0"/>
              </a:p>
              <a:p>
                <a:pPr marL="457200" lvl="1" indent="0">
                  <a:buNone/>
                </a:pPr>
                <a:r>
                  <a:rPr lang="en-GB" dirty="0"/>
                  <a:t>We learn the vectors </a:t>
                </a:r>
                <a14:m>
                  <m:oMath xmlns:m="http://schemas.openxmlformats.org/officeDocument/2006/math">
                    <m:sSub>
                      <m:sSubPr>
                        <m:ctrlPr>
                          <a:rPr lang="en-GB" b="0" i="1" smtClean="0">
                            <a:latin typeface="Cambria Math" panose="02040503050406030204" pitchFamily="18" charset="0"/>
                          </a:rPr>
                        </m:ctrlPr>
                      </m:sSubPr>
                      <m:e>
                        <m:bar>
                          <m:barPr>
                            <m:pos m:val="bot"/>
                            <m:ctrlPr>
                              <a:rPr lang="en-GB" b="0" i="1" smtClean="0">
                                <a:latin typeface="Cambria Math" panose="02040503050406030204" pitchFamily="18" charset="0"/>
                              </a:rPr>
                            </m:ctrlPr>
                          </m:barPr>
                          <m:e>
                            <m:r>
                              <a:rPr lang="en-GB" b="0" i="1" smtClean="0">
                                <a:latin typeface="Cambria Math" panose="02040503050406030204" pitchFamily="18" charset="0"/>
                              </a:rPr>
                              <m:t>𝑣</m:t>
                            </m:r>
                          </m:e>
                        </m:bar>
                      </m:e>
                      <m:sub>
                        <m:r>
                          <a:rPr lang="en-GB" b="0" i="1" smtClean="0">
                            <a:latin typeface="Cambria Math" panose="02040503050406030204" pitchFamily="18" charset="0"/>
                          </a:rPr>
                          <m:t>𝑛</m:t>
                        </m:r>
                      </m:sub>
                    </m:sSub>
                  </m:oMath>
                </a14:m>
                <a:r>
                  <a:rPr lang="en-GB" dirty="0"/>
                  <a:t> and the projection matrices </a:t>
                </a:r>
                <a14:m>
                  <m:oMath xmlns:m="http://schemas.openxmlformats.org/officeDocument/2006/math">
                    <m:sSub>
                      <m:sSubPr>
                        <m:ctrlPr>
                          <a:rPr lang="en-GB" i="1" smtClean="0">
                            <a:latin typeface="Cambria Math" panose="02040503050406030204" pitchFamily="18" charset="0"/>
                          </a:rPr>
                        </m:ctrlPr>
                      </m:sSubPr>
                      <m:e>
                        <m:bar>
                          <m:barPr>
                            <m:pos m:val="bot"/>
                            <m:ctrlPr>
                              <a:rPr lang="en-GB" b="0" i="1" smtClean="0">
                                <a:latin typeface="Cambria Math" panose="02040503050406030204" pitchFamily="18" charset="0"/>
                              </a:rPr>
                            </m:ctrlPr>
                          </m:barPr>
                          <m:e>
                            <m:bar>
                              <m:barPr>
                                <m:pos m:val="bot"/>
                                <m:ctrlPr>
                                  <a:rPr lang="en-GB" b="0" i="1" smtClean="0">
                                    <a:latin typeface="Cambria Math" panose="02040503050406030204" pitchFamily="18" charset="0"/>
                                  </a:rPr>
                                </m:ctrlPr>
                              </m:barPr>
                              <m:e>
                                <m:r>
                                  <a:rPr lang="en-GB" b="0" i="1" smtClean="0">
                                    <a:latin typeface="Cambria Math" panose="02040503050406030204" pitchFamily="18" charset="0"/>
                                  </a:rPr>
                                  <m:t>𝑈</m:t>
                                </m:r>
                              </m:e>
                            </m:bar>
                          </m:e>
                        </m:bar>
                      </m:e>
                      <m:sub>
                        <m:r>
                          <a:rPr lang="en-GB" b="0" i="1" smtClean="0">
                            <a:latin typeface="Cambria Math" panose="02040503050406030204" pitchFamily="18" charset="0"/>
                          </a:rPr>
                          <m:t>𝑞</m:t>
                        </m:r>
                      </m:sub>
                    </m:sSub>
                  </m:oMath>
                </a14:m>
                <a:r>
                  <a:rPr lang="en-GB" dirty="0"/>
                  <a:t> , </a:t>
                </a:r>
                <a14:m>
                  <m:oMath xmlns:m="http://schemas.openxmlformats.org/officeDocument/2006/math">
                    <m:sSub>
                      <m:sSubPr>
                        <m:ctrlPr>
                          <a:rPr lang="en-GB" i="1" smtClean="0">
                            <a:latin typeface="Cambria Math" panose="02040503050406030204" pitchFamily="18" charset="0"/>
                          </a:rPr>
                        </m:ctrlPr>
                      </m:sSubPr>
                      <m:e>
                        <m:bar>
                          <m:barPr>
                            <m:pos m:val="bot"/>
                            <m:ctrlPr>
                              <a:rPr lang="en-GB" b="0" i="1" smtClean="0">
                                <a:latin typeface="Cambria Math" panose="02040503050406030204" pitchFamily="18" charset="0"/>
                              </a:rPr>
                            </m:ctrlPr>
                          </m:barPr>
                          <m:e>
                            <m:bar>
                              <m:barPr>
                                <m:pos m:val="bot"/>
                                <m:ctrlPr>
                                  <a:rPr lang="en-GB" b="0" i="1" smtClean="0">
                                    <a:latin typeface="Cambria Math" panose="02040503050406030204" pitchFamily="18" charset="0"/>
                                  </a:rPr>
                                </m:ctrlPr>
                              </m:barPr>
                              <m:e>
                                <m:r>
                                  <a:rPr lang="en-GB" b="0" i="1" smtClean="0">
                                    <a:latin typeface="Cambria Math" panose="02040503050406030204" pitchFamily="18" charset="0"/>
                                  </a:rPr>
                                  <m:t>𝑈</m:t>
                                </m:r>
                              </m:e>
                            </m:bar>
                          </m:e>
                        </m:bar>
                      </m:e>
                      <m:sub>
                        <m:r>
                          <a:rPr lang="en-GB" b="0" i="1" smtClean="0">
                            <a:latin typeface="Cambria Math" panose="02040503050406030204" pitchFamily="18" charset="0"/>
                          </a:rPr>
                          <m:t>𝑘</m:t>
                        </m:r>
                      </m:sub>
                    </m:sSub>
                  </m:oMath>
                </a14:m>
                <a:r>
                  <a:rPr lang="en-GB" dirty="0"/>
                  <a:t> through training </a:t>
                </a:r>
              </a:p>
              <a:p>
                <a:pPr lvl="2"/>
                <a:endParaRPr lang="en-GB" dirty="0"/>
              </a:p>
            </p:txBody>
          </p:sp>
        </mc:Choice>
        <mc:Fallback xmlns="">
          <p:sp>
            <p:nvSpPr>
              <p:cNvPr id="3" name="Content Placeholder 2">
                <a:extLst>
                  <a:ext uri="{FF2B5EF4-FFF2-40B4-BE49-F238E27FC236}">
                    <a16:creationId xmlns:a16="http://schemas.microsoft.com/office/drawing/2014/main" id="{34F892DC-6ABB-EABC-C3CE-980FDD5D990A}"/>
                  </a:ext>
                </a:extLst>
              </p:cNvPr>
              <p:cNvSpPr>
                <a:spLocks noGrp="1" noRot="1" noChangeAspect="1" noMove="1" noResize="1" noEditPoints="1" noAdjustHandles="1" noChangeArrowheads="1" noChangeShapeType="1" noTextEdit="1"/>
              </p:cNvSpPr>
              <p:nvPr>
                <p:ph idx="1"/>
              </p:nvPr>
            </p:nvSpPr>
            <p:spPr>
              <a:xfrm>
                <a:off x="239486" y="1324428"/>
                <a:ext cx="11636828" cy="4858658"/>
              </a:xfrm>
              <a:blipFill>
                <a:blip r:embed="rId3"/>
                <a:stretch>
                  <a:fillRect l="-943" t="-2133"/>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0EF8BB49-C0B4-B609-57DA-17849B1A2510}"/>
              </a:ext>
            </a:extLst>
          </p:cNvPr>
          <p:cNvSpPr>
            <a:spLocks noGrp="1"/>
          </p:cNvSpPr>
          <p:nvPr>
            <p:ph type="sldNum" sz="quarter" idx="12"/>
          </p:nvPr>
        </p:nvSpPr>
        <p:spPr/>
        <p:txBody>
          <a:bodyPr/>
          <a:lstStyle/>
          <a:p>
            <a:fld id="{13DE89AE-BBCC-45F3-BDAA-E98C74995322}" type="slidenum">
              <a:rPr lang="en-GB" smtClean="0"/>
              <a:t>29</a:t>
            </a:fld>
            <a:endParaRPr lang="en-GB"/>
          </a:p>
        </p:txBody>
      </p:sp>
    </p:spTree>
    <p:extLst>
      <p:ext uri="{BB962C8B-B14F-4D97-AF65-F5344CB8AC3E}">
        <p14:creationId xmlns:p14="http://schemas.microsoft.com/office/powerpoint/2010/main" val="232698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EA9C4-EF40-75C4-1637-AAE809205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060F1-FEF6-6EEB-9151-2EB9B74F3D9A}"/>
              </a:ext>
            </a:extLst>
          </p:cNvPr>
          <p:cNvSpPr>
            <a:spLocks noGrp="1"/>
          </p:cNvSpPr>
          <p:nvPr>
            <p:ph type="title"/>
          </p:nvPr>
        </p:nvSpPr>
        <p:spPr>
          <a:xfrm>
            <a:off x="838200" y="365125"/>
            <a:ext cx="10515600" cy="805089"/>
          </a:xfrm>
        </p:spPr>
        <p:txBody>
          <a:bodyPr/>
          <a:lstStyle/>
          <a:p>
            <a:r>
              <a:rPr lang="en-GB" dirty="0"/>
              <a:t>Attention: Masking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42FB69-CDDF-033F-CBB9-2D85C9EFF6C7}"/>
                  </a:ext>
                </a:extLst>
              </p:cNvPr>
              <p:cNvSpPr>
                <a:spLocks noGrp="1"/>
              </p:cNvSpPr>
              <p:nvPr>
                <p:ph idx="1"/>
              </p:nvPr>
            </p:nvSpPr>
            <p:spPr>
              <a:xfrm>
                <a:off x="277586" y="1213783"/>
                <a:ext cx="11636828" cy="1699666"/>
              </a:xfrm>
            </p:spPr>
            <p:txBody>
              <a:bodyPr/>
              <a:lstStyle/>
              <a:p>
                <a:pPr lvl="1"/>
                <a:r>
                  <a:rPr lang="en-GB" dirty="0"/>
                  <a:t>When we are building a model to predict the next word we only want to take into account the preceding context</a:t>
                </a:r>
              </a:p>
              <a:p>
                <a:pPr marL="457200" lvl="1" indent="0">
                  <a:buNone/>
                </a:pPr>
                <a:endParaRPr lang="en-GB" dirty="0"/>
              </a:p>
              <a:p>
                <a:pPr lvl="1"/>
                <a:r>
                  <a:rPr lang="en-GB" dirty="0"/>
                  <a:t>We want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𝑛</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sub>
                    </m:sSub>
                    <m:r>
                      <a:rPr lang="en-GB" b="0" i="1" smtClean="0">
                        <a:latin typeface="Cambria Math" panose="02040503050406030204" pitchFamily="18" charset="0"/>
                      </a:rPr>
                      <m:t>=0</m:t>
                    </m:r>
                  </m:oMath>
                </a14:m>
                <a:r>
                  <a:rPr lang="en-GB" dirty="0"/>
                  <a:t> if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m:t>
                        </m:r>
                      </m:sup>
                    </m:sSup>
                    <m:r>
                      <a:rPr lang="en-GB" b="0" i="1" smtClean="0">
                        <a:latin typeface="Cambria Math" panose="02040503050406030204" pitchFamily="18" charset="0"/>
                      </a:rPr>
                      <m:t>&gt;</m:t>
                    </m:r>
                    <m:r>
                      <a:rPr lang="en-GB" b="0" i="1" smtClean="0">
                        <a:latin typeface="Cambria Math" panose="02040503050406030204" pitchFamily="18" charset="0"/>
                      </a:rPr>
                      <m:t>𝑛</m:t>
                    </m:r>
                  </m:oMath>
                </a14:m>
                <a:endParaRPr lang="en-GB" dirty="0"/>
              </a:p>
            </p:txBody>
          </p:sp>
        </mc:Choice>
        <mc:Fallback xmlns="">
          <p:sp>
            <p:nvSpPr>
              <p:cNvPr id="3" name="Content Placeholder 2">
                <a:extLst>
                  <a:ext uri="{FF2B5EF4-FFF2-40B4-BE49-F238E27FC236}">
                    <a16:creationId xmlns:a16="http://schemas.microsoft.com/office/drawing/2014/main" id="{6642FB69-CDDF-033F-CBB9-2D85C9EFF6C7}"/>
                  </a:ext>
                </a:extLst>
              </p:cNvPr>
              <p:cNvSpPr>
                <a:spLocks noGrp="1" noRot="1" noChangeAspect="1" noMove="1" noResize="1" noEditPoints="1" noAdjustHandles="1" noChangeArrowheads="1" noChangeShapeType="1" noTextEdit="1"/>
              </p:cNvSpPr>
              <p:nvPr>
                <p:ph idx="1"/>
              </p:nvPr>
            </p:nvSpPr>
            <p:spPr>
              <a:xfrm>
                <a:off x="277586" y="1213783"/>
                <a:ext cx="11636828" cy="1699666"/>
              </a:xfrm>
              <a:blipFill>
                <a:blip r:embed="rId3"/>
                <a:stretch>
                  <a:fillRect t="-4659"/>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360F6DDE-E0A0-CB40-4876-AAF7C69BEB42}"/>
              </a:ext>
            </a:extLst>
          </p:cNvPr>
          <p:cNvSpPr>
            <a:spLocks noGrp="1"/>
          </p:cNvSpPr>
          <p:nvPr>
            <p:ph type="sldNum" sz="quarter" idx="12"/>
          </p:nvPr>
        </p:nvSpPr>
        <p:spPr/>
        <p:txBody>
          <a:bodyPr/>
          <a:lstStyle/>
          <a:p>
            <a:fld id="{13DE89AE-BBCC-45F3-BDAA-E98C74995322}" type="slidenum">
              <a:rPr lang="en-GB" smtClean="0"/>
              <a:t>30</a:t>
            </a:fld>
            <a:endParaRPr lang="en-GB"/>
          </a:p>
        </p:txBody>
      </p:sp>
      <p:graphicFrame>
        <p:nvGraphicFramePr>
          <p:cNvPr id="5" name="Table 4">
            <a:extLst>
              <a:ext uri="{FF2B5EF4-FFF2-40B4-BE49-F238E27FC236}">
                <a16:creationId xmlns:a16="http://schemas.microsoft.com/office/drawing/2014/main" id="{F07604C7-E8C1-CF66-8A10-EDFFBE1F310E}"/>
              </a:ext>
            </a:extLst>
          </p:cNvPr>
          <p:cNvGraphicFramePr>
            <a:graphicFrameLocks noGrp="1"/>
          </p:cNvGraphicFramePr>
          <p:nvPr/>
        </p:nvGraphicFramePr>
        <p:xfrm>
          <a:off x="5332506" y="2388075"/>
          <a:ext cx="4649694" cy="2225040"/>
        </p:xfrm>
        <a:graphic>
          <a:graphicData uri="http://schemas.openxmlformats.org/drawingml/2006/table">
            <a:tbl>
              <a:tblPr firstRow="1" bandRow="1">
                <a:tableStyleId>{5C22544A-7EE6-4342-B048-85BDC9FD1C3A}</a:tableStyleId>
              </a:tblPr>
              <a:tblGrid>
                <a:gridCol w="774949">
                  <a:extLst>
                    <a:ext uri="{9D8B030D-6E8A-4147-A177-3AD203B41FA5}">
                      <a16:colId xmlns:a16="http://schemas.microsoft.com/office/drawing/2014/main" val="249844106"/>
                    </a:ext>
                  </a:extLst>
                </a:gridCol>
                <a:gridCol w="774949">
                  <a:extLst>
                    <a:ext uri="{9D8B030D-6E8A-4147-A177-3AD203B41FA5}">
                      <a16:colId xmlns:a16="http://schemas.microsoft.com/office/drawing/2014/main" val="362794382"/>
                    </a:ext>
                  </a:extLst>
                </a:gridCol>
                <a:gridCol w="774949">
                  <a:extLst>
                    <a:ext uri="{9D8B030D-6E8A-4147-A177-3AD203B41FA5}">
                      <a16:colId xmlns:a16="http://schemas.microsoft.com/office/drawing/2014/main" val="803417319"/>
                    </a:ext>
                  </a:extLst>
                </a:gridCol>
                <a:gridCol w="774949">
                  <a:extLst>
                    <a:ext uri="{9D8B030D-6E8A-4147-A177-3AD203B41FA5}">
                      <a16:colId xmlns:a16="http://schemas.microsoft.com/office/drawing/2014/main" val="4140024328"/>
                    </a:ext>
                  </a:extLst>
                </a:gridCol>
                <a:gridCol w="774949">
                  <a:extLst>
                    <a:ext uri="{9D8B030D-6E8A-4147-A177-3AD203B41FA5}">
                      <a16:colId xmlns:a16="http://schemas.microsoft.com/office/drawing/2014/main" val="3943156411"/>
                    </a:ext>
                  </a:extLst>
                </a:gridCol>
                <a:gridCol w="774949">
                  <a:extLst>
                    <a:ext uri="{9D8B030D-6E8A-4147-A177-3AD203B41FA5}">
                      <a16:colId xmlns:a16="http://schemas.microsoft.com/office/drawing/2014/main" val="927123215"/>
                    </a:ext>
                  </a:extLst>
                </a:gridCol>
              </a:tblGrid>
              <a:tr h="370840">
                <a:tc>
                  <a:txBody>
                    <a:bodyPr/>
                    <a:lstStyle/>
                    <a:p>
                      <a:endParaRPr lang="en-GB" dirty="0"/>
                    </a:p>
                  </a:txBody>
                  <a:tcPr/>
                </a:tc>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1528470182"/>
                  </a:ext>
                </a:extLst>
              </a:tr>
              <a:tr h="370840">
                <a:tc>
                  <a:txBody>
                    <a:bodyPr/>
                    <a:lstStyle/>
                    <a:p>
                      <a:r>
                        <a:rPr lang="en-GB" b="1" dirty="0">
                          <a:solidFill>
                            <a:schemeClr val="bg1"/>
                          </a:solidFill>
                        </a:rPr>
                        <a:t>the</a:t>
                      </a:r>
                    </a:p>
                  </a:txBody>
                  <a:tcPr>
                    <a:solidFill>
                      <a:schemeClr val="accent1"/>
                    </a:solidFill>
                  </a:tcPr>
                </a:tc>
                <a:tc>
                  <a:txBody>
                    <a:bodyPr/>
                    <a:lstStyle/>
                    <a:p>
                      <a:r>
                        <a:rPr lang="en-GB" dirty="0"/>
                        <a:t>1.0</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3151908905"/>
                  </a:ext>
                </a:extLst>
              </a:tr>
              <a:tr h="370840">
                <a:tc>
                  <a:txBody>
                    <a:bodyPr/>
                    <a:lstStyle/>
                    <a:p>
                      <a:r>
                        <a:rPr lang="en-GB" b="1" dirty="0">
                          <a:solidFill>
                            <a:schemeClr val="bg1"/>
                          </a:solidFill>
                        </a:rPr>
                        <a:t>cat</a:t>
                      </a:r>
                    </a:p>
                  </a:txBody>
                  <a:tcPr>
                    <a:solidFill>
                      <a:schemeClr val="accent1"/>
                    </a:solidFill>
                  </a:tcPr>
                </a:tc>
                <a:tc>
                  <a:txBody>
                    <a:bodyPr/>
                    <a:lstStyle/>
                    <a:p>
                      <a:r>
                        <a:rPr lang="en-GB" dirty="0"/>
                        <a:t>0.2</a:t>
                      </a:r>
                    </a:p>
                  </a:txBody>
                  <a:tcPr/>
                </a:tc>
                <a:tc>
                  <a:txBody>
                    <a:bodyPr/>
                    <a:lstStyle/>
                    <a:p>
                      <a:r>
                        <a:rPr lang="en-GB" dirty="0"/>
                        <a:t>0.8</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224551477"/>
                  </a:ext>
                </a:extLst>
              </a:tr>
              <a:tr h="370840">
                <a:tc>
                  <a:txBody>
                    <a:bodyPr/>
                    <a:lstStyle/>
                    <a:p>
                      <a:r>
                        <a:rPr lang="en-GB" b="1" dirty="0">
                          <a:solidFill>
                            <a:schemeClr val="bg1"/>
                          </a:solidFill>
                        </a:rPr>
                        <a:t>sat</a:t>
                      </a:r>
                    </a:p>
                  </a:txBody>
                  <a:tcPr>
                    <a:solidFill>
                      <a:schemeClr val="accent1"/>
                    </a:solidFill>
                  </a:tcPr>
                </a:tc>
                <a:tc>
                  <a:txBody>
                    <a:bodyPr/>
                    <a:lstStyle/>
                    <a:p>
                      <a:r>
                        <a:rPr lang="en-GB" dirty="0"/>
                        <a:t>0.35</a:t>
                      </a:r>
                    </a:p>
                  </a:txBody>
                  <a:tcPr/>
                </a:tc>
                <a:tc>
                  <a:txBody>
                    <a:bodyPr/>
                    <a:lstStyle/>
                    <a:p>
                      <a:r>
                        <a:rPr lang="en-GB" dirty="0"/>
                        <a:t>0.15</a:t>
                      </a:r>
                    </a:p>
                  </a:txBody>
                  <a:tcPr/>
                </a:tc>
                <a:tc>
                  <a:txBody>
                    <a:bodyPr/>
                    <a:lstStyle/>
                    <a:p>
                      <a:r>
                        <a:rPr lang="en-GB" dirty="0"/>
                        <a:t>0.5</a:t>
                      </a:r>
                    </a:p>
                  </a:txBody>
                  <a:tcPr/>
                </a:tc>
                <a:tc>
                  <a:txBody>
                    <a:bodyPr/>
                    <a:lstStyle/>
                    <a:p>
                      <a:r>
                        <a:rPr lang="en-GB" dirty="0"/>
                        <a:t>0</a:t>
                      </a:r>
                    </a:p>
                  </a:txBody>
                  <a:tcPr/>
                </a:tc>
                <a:tc>
                  <a:txBody>
                    <a:bodyPr/>
                    <a:lstStyle/>
                    <a:p>
                      <a:r>
                        <a:rPr lang="en-GB" dirty="0"/>
                        <a:t>0</a:t>
                      </a:r>
                    </a:p>
                  </a:txBody>
                  <a:tcPr/>
                </a:tc>
                <a:extLst>
                  <a:ext uri="{0D108BD9-81ED-4DB2-BD59-A6C34878D82A}">
                    <a16:rowId xmlns:a16="http://schemas.microsoft.com/office/drawing/2014/main" val="1363497946"/>
                  </a:ext>
                </a:extLst>
              </a:tr>
              <a:tr h="370840">
                <a:tc>
                  <a:txBody>
                    <a:bodyPr/>
                    <a:lstStyle/>
                    <a:p>
                      <a:r>
                        <a:rPr lang="en-GB" b="1" dirty="0">
                          <a:solidFill>
                            <a:schemeClr val="bg1"/>
                          </a:solidFill>
                        </a:rPr>
                        <a:t>on </a:t>
                      </a:r>
                    </a:p>
                  </a:txBody>
                  <a:tcPr>
                    <a:solidFill>
                      <a:schemeClr val="accent1"/>
                    </a:solidFill>
                  </a:tcPr>
                </a:tc>
                <a:tc>
                  <a:txBody>
                    <a:bodyPr/>
                    <a:lstStyle/>
                    <a:p>
                      <a:r>
                        <a:rPr lang="en-GB" dirty="0"/>
                        <a:t>0.08</a:t>
                      </a:r>
                    </a:p>
                  </a:txBody>
                  <a:tcPr/>
                </a:tc>
                <a:tc>
                  <a:txBody>
                    <a:bodyPr/>
                    <a:lstStyle/>
                    <a:p>
                      <a:r>
                        <a:rPr lang="en-GB" dirty="0"/>
                        <a:t>0.12</a:t>
                      </a:r>
                    </a:p>
                  </a:txBody>
                  <a:tcPr/>
                </a:tc>
                <a:tc>
                  <a:txBody>
                    <a:bodyPr/>
                    <a:lstStyle/>
                    <a:p>
                      <a:r>
                        <a:rPr lang="en-GB" dirty="0"/>
                        <a:t>0.34</a:t>
                      </a:r>
                    </a:p>
                  </a:txBody>
                  <a:tcPr/>
                </a:tc>
                <a:tc>
                  <a:txBody>
                    <a:bodyPr/>
                    <a:lstStyle/>
                    <a:p>
                      <a:r>
                        <a:rPr lang="en-GB" dirty="0"/>
                        <a:t>0.46</a:t>
                      </a:r>
                    </a:p>
                  </a:txBody>
                  <a:tcPr/>
                </a:tc>
                <a:tc>
                  <a:txBody>
                    <a:bodyPr/>
                    <a:lstStyle/>
                    <a:p>
                      <a:r>
                        <a:rPr lang="en-GB" dirty="0"/>
                        <a:t>0</a:t>
                      </a:r>
                    </a:p>
                  </a:txBody>
                  <a:tcPr/>
                </a:tc>
                <a:extLst>
                  <a:ext uri="{0D108BD9-81ED-4DB2-BD59-A6C34878D82A}">
                    <a16:rowId xmlns:a16="http://schemas.microsoft.com/office/drawing/2014/main" val="1766702907"/>
                  </a:ext>
                </a:extLst>
              </a:tr>
              <a:tr h="370840">
                <a:tc>
                  <a:txBody>
                    <a:bodyPr/>
                    <a:lstStyle/>
                    <a:p>
                      <a:r>
                        <a:rPr lang="en-GB" b="1" dirty="0">
                          <a:solidFill>
                            <a:schemeClr val="bg1"/>
                          </a:solidFill>
                        </a:rPr>
                        <a:t>the</a:t>
                      </a:r>
                    </a:p>
                  </a:txBody>
                  <a:tcPr>
                    <a:solidFill>
                      <a:schemeClr val="accent1"/>
                    </a:solidFill>
                  </a:tcPr>
                </a:tc>
                <a:tc>
                  <a:txBody>
                    <a:bodyPr/>
                    <a:lstStyle/>
                    <a:p>
                      <a:r>
                        <a:rPr lang="en-GB" dirty="0"/>
                        <a:t>0.2</a:t>
                      </a:r>
                    </a:p>
                  </a:txBody>
                  <a:tcPr/>
                </a:tc>
                <a:tc>
                  <a:txBody>
                    <a:bodyPr/>
                    <a:lstStyle/>
                    <a:p>
                      <a:r>
                        <a:rPr lang="en-GB" dirty="0"/>
                        <a:t>0.25</a:t>
                      </a:r>
                    </a:p>
                  </a:txBody>
                  <a:tcPr/>
                </a:tc>
                <a:tc>
                  <a:txBody>
                    <a:bodyPr/>
                    <a:lstStyle/>
                    <a:p>
                      <a:r>
                        <a:rPr lang="en-GB" dirty="0"/>
                        <a:t>0.30</a:t>
                      </a:r>
                    </a:p>
                  </a:txBody>
                  <a:tcPr/>
                </a:tc>
                <a:tc>
                  <a:txBody>
                    <a:bodyPr/>
                    <a:lstStyle/>
                    <a:p>
                      <a:r>
                        <a:rPr lang="en-GB" dirty="0"/>
                        <a:t>0.05</a:t>
                      </a:r>
                    </a:p>
                  </a:txBody>
                  <a:tcPr/>
                </a:tc>
                <a:tc>
                  <a:txBody>
                    <a:bodyPr/>
                    <a:lstStyle/>
                    <a:p>
                      <a:r>
                        <a:rPr lang="en-GB" dirty="0"/>
                        <a:t>0.2</a:t>
                      </a:r>
                    </a:p>
                  </a:txBody>
                  <a:tcPr/>
                </a:tc>
                <a:extLst>
                  <a:ext uri="{0D108BD9-81ED-4DB2-BD59-A6C34878D82A}">
                    <a16:rowId xmlns:a16="http://schemas.microsoft.com/office/drawing/2014/main" val="3885791563"/>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1F650DD-4E52-D01D-C79D-E18ABAD12073}"/>
                  </a:ext>
                </a:extLst>
              </p:cNvPr>
              <p:cNvSpPr txBox="1"/>
              <p:nvPr/>
            </p:nvSpPr>
            <p:spPr>
              <a:xfrm>
                <a:off x="729127" y="5235399"/>
                <a:ext cx="10877177" cy="830997"/>
              </a:xfrm>
              <a:prstGeom prst="rect">
                <a:avLst/>
              </a:prstGeom>
              <a:noFill/>
            </p:spPr>
            <p:txBody>
              <a:bodyPr wrap="square" rtlCol="0">
                <a:spAutoFit/>
              </a:bodyPr>
              <a:lstStyle/>
              <a:p>
                <a:pPr marL="285750" indent="-285750">
                  <a:buFont typeface="Arial" panose="020B0604020202020204" pitchFamily="34" charset="0"/>
                  <a:buChar char="•"/>
                </a:pPr>
                <a:r>
                  <a:rPr lang="en-GB" sz="2400" dirty="0"/>
                  <a:t>We can easily achieve this by putting correspond ‘similarity’ values equal to </a:t>
                </a:r>
                <a14:m>
                  <m:oMath xmlns:m="http://schemas.openxmlformats.org/officeDocument/2006/math">
                    <m:r>
                      <a:rPr lang="en-GB" sz="2400" b="0" i="1" smtClean="0">
                        <a:latin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m:t>
                    </m:r>
                  </m:oMath>
                </a14:m>
                <a:r>
                  <a:rPr lang="en-GB" sz="2400" dirty="0"/>
                  <a:t> before applying </a:t>
                </a:r>
                <a:r>
                  <a:rPr lang="en-GB" sz="2400" dirty="0" err="1"/>
                  <a:t>softmax</a:t>
                </a:r>
                <a:r>
                  <a:rPr lang="en-GB" sz="2400" dirty="0"/>
                  <a:t> operation</a:t>
                </a:r>
              </a:p>
            </p:txBody>
          </p:sp>
        </mc:Choice>
        <mc:Fallback xmlns="">
          <p:sp>
            <p:nvSpPr>
              <p:cNvPr id="7" name="TextBox 6">
                <a:extLst>
                  <a:ext uri="{FF2B5EF4-FFF2-40B4-BE49-F238E27FC236}">
                    <a16:creationId xmlns:a16="http://schemas.microsoft.com/office/drawing/2014/main" id="{51F650DD-4E52-D01D-C79D-E18ABAD12073}"/>
                  </a:ext>
                </a:extLst>
              </p:cNvPr>
              <p:cNvSpPr txBox="1">
                <a:spLocks noRot="1" noChangeAspect="1" noMove="1" noResize="1" noEditPoints="1" noAdjustHandles="1" noChangeArrowheads="1" noChangeShapeType="1" noTextEdit="1"/>
              </p:cNvSpPr>
              <p:nvPr/>
            </p:nvSpPr>
            <p:spPr>
              <a:xfrm>
                <a:off x="729127" y="5235399"/>
                <a:ext cx="10877177" cy="830997"/>
              </a:xfrm>
              <a:prstGeom prst="rect">
                <a:avLst/>
              </a:prstGeom>
              <a:blipFill>
                <a:blip r:embed="rId4"/>
                <a:stretch>
                  <a:fillRect l="-785" t="-5882" b="-16176"/>
                </a:stretch>
              </a:blipFill>
            </p:spPr>
            <p:txBody>
              <a:bodyPr/>
              <a:lstStyle/>
              <a:p>
                <a:r>
                  <a:rPr lang="en-GB">
                    <a:noFill/>
                  </a:rPr>
                  <a:t> </a:t>
                </a:r>
              </a:p>
            </p:txBody>
          </p:sp>
        </mc:Fallback>
      </mc:AlternateContent>
    </p:spTree>
    <p:extLst>
      <p:ext uri="{BB962C8B-B14F-4D97-AF65-F5344CB8AC3E}">
        <p14:creationId xmlns:p14="http://schemas.microsoft.com/office/powerpoint/2010/main" val="133772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73C2-4F28-E4E9-14D2-44F7A0DB7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81085-85A5-BE54-AC34-411AF0C3528F}"/>
              </a:ext>
            </a:extLst>
          </p:cNvPr>
          <p:cNvSpPr>
            <a:spLocks noGrp="1"/>
          </p:cNvSpPr>
          <p:nvPr>
            <p:ph type="title"/>
          </p:nvPr>
        </p:nvSpPr>
        <p:spPr>
          <a:xfrm>
            <a:off x="838200" y="365125"/>
            <a:ext cx="6155871" cy="805089"/>
          </a:xfrm>
        </p:spPr>
        <p:txBody>
          <a:bodyPr>
            <a:normAutofit/>
          </a:bodyPr>
          <a:lstStyle/>
          <a:p>
            <a:r>
              <a:rPr lang="en-GB" dirty="0"/>
              <a:t>Attention Head</a:t>
            </a:r>
          </a:p>
        </p:txBody>
      </p:sp>
      <p:graphicFrame>
        <p:nvGraphicFramePr>
          <p:cNvPr id="5" name="Content Placeholder 4">
            <a:extLst>
              <a:ext uri="{FF2B5EF4-FFF2-40B4-BE49-F238E27FC236}">
                <a16:creationId xmlns:a16="http://schemas.microsoft.com/office/drawing/2014/main" id="{BC48210D-E889-D7A3-FC87-A95CD1D0437D}"/>
              </a:ext>
            </a:extLst>
          </p:cNvPr>
          <p:cNvGraphicFramePr>
            <a:graphicFrameLocks noGrp="1"/>
          </p:cNvGraphicFramePr>
          <p:nvPr>
            <p:ph idx="1"/>
          </p:nvPr>
        </p:nvGraphicFramePr>
        <p:xfrm>
          <a:off x="2722228" y="1794942"/>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3557548173"/>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2970414154"/>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906825795"/>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096864878"/>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710943698"/>
                  </a:ext>
                </a:extLst>
              </a:tr>
            </a:tbl>
          </a:graphicData>
        </a:graphic>
      </p:graphicFrame>
      <p:sp>
        <p:nvSpPr>
          <p:cNvPr id="4" name="Slide Number Placeholder 3">
            <a:extLst>
              <a:ext uri="{FF2B5EF4-FFF2-40B4-BE49-F238E27FC236}">
                <a16:creationId xmlns:a16="http://schemas.microsoft.com/office/drawing/2014/main" id="{0E51FC40-4CBC-0E91-D2CC-DB2B0A57701C}"/>
              </a:ext>
            </a:extLst>
          </p:cNvPr>
          <p:cNvSpPr>
            <a:spLocks noGrp="1"/>
          </p:cNvSpPr>
          <p:nvPr>
            <p:ph type="sldNum" sz="quarter" idx="12"/>
          </p:nvPr>
        </p:nvSpPr>
        <p:spPr/>
        <p:txBody>
          <a:bodyPr/>
          <a:lstStyle/>
          <a:p>
            <a:fld id="{13DE89AE-BBCC-45F3-BDAA-E98C74995322}" type="slidenum">
              <a:rPr lang="en-GB" smtClean="0"/>
              <a:t>31</a:t>
            </a:fld>
            <a:endParaRPr lang="en-GB" dirty="0"/>
          </a:p>
        </p:txBody>
      </p:sp>
      <p:sp>
        <p:nvSpPr>
          <p:cNvPr id="6" name="Arrow: Right 5">
            <a:extLst>
              <a:ext uri="{FF2B5EF4-FFF2-40B4-BE49-F238E27FC236}">
                <a16:creationId xmlns:a16="http://schemas.microsoft.com/office/drawing/2014/main" id="{2B3C53E3-266C-F5F6-74AF-B3C6569E3B22}"/>
              </a:ext>
            </a:extLst>
          </p:cNvPr>
          <p:cNvSpPr/>
          <p:nvPr/>
        </p:nvSpPr>
        <p:spPr>
          <a:xfrm>
            <a:off x="3511223" y="2400957"/>
            <a:ext cx="947057"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7" name="Content Placeholder 4">
            <a:extLst>
              <a:ext uri="{FF2B5EF4-FFF2-40B4-BE49-F238E27FC236}">
                <a16:creationId xmlns:a16="http://schemas.microsoft.com/office/drawing/2014/main" id="{C83738B3-BD30-4481-CAE0-DD99F3FB2C4C}"/>
              </a:ext>
            </a:extLst>
          </p:cNvPr>
          <p:cNvGraphicFramePr>
            <a:graphicFrameLocks/>
          </p:cNvGraphicFramePr>
          <p:nvPr/>
        </p:nvGraphicFramePr>
        <p:xfrm>
          <a:off x="8416251" y="1781643"/>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3557548173"/>
                  </a:ext>
                </a:extLst>
              </a:tr>
              <a:tr h="370840">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2970414154"/>
                  </a:ext>
                </a:extLst>
              </a:tr>
              <a:tr h="370840">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906825795"/>
                  </a:ext>
                </a:extLst>
              </a:tr>
              <a:tr h="370840">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1096864878"/>
                  </a:ext>
                </a:extLst>
              </a:tr>
              <a:tr h="370840">
                <a:tc>
                  <a:txBody>
                    <a:bodyPr/>
                    <a:lstStyle/>
                    <a:p>
                      <a:endParaRPr lang="en-GB" dirty="0"/>
                    </a:p>
                  </a:txBody>
                  <a:tcPr>
                    <a:solidFill>
                      <a:schemeClr val="accent5">
                        <a:lumMod val="40000"/>
                        <a:lumOff val="60000"/>
                      </a:schemeClr>
                    </a:solidFill>
                  </a:tcPr>
                </a:tc>
                <a:extLst>
                  <a:ext uri="{0D108BD9-81ED-4DB2-BD59-A6C34878D82A}">
                    <a16:rowId xmlns:a16="http://schemas.microsoft.com/office/drawing/2014/main" val="1710943698"/>
                  </a:ext>
                </a:extLst>
              </a:tr>
            </a:tbl>
          </a:graphicData>
        </a:graphic>
      </p:graphicFrame>
      <p:sp>
        <p:nvSpPr>
          <p:cNvPr id="8" name="Rectangle: Rounded Corners 7">
            <a:extLst>
              <a:ext uri="{FF2B5EF4-FFF2-40B4-BE49-F238E27FC236}">
                <a16:creationId xmlns:a16="http://schemas.microsoft.com/office/drawing/2014/main" id="{AA6CA008-12D3-9A98-7F77-D14EFC18479D}"/>
              </a:ext>
            </a:extLst>
          </p:cNvPr>
          <p:cNvSpPr/>
          <p:nvPr/>
        </p:nvSpPr>
        <p:spPr>
          <a:xfrm>
            <a:off x="4651776" y="1960049"/>
            <a:ext cx="2166330" cy="12519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Attention Head</a:t>
            </a:r>
          </a:p>
        </p:txBody>
      </p:sp>
      <p:sp>
        <p:nvSpPr>
          <p:cNvPr id="9" name="Arrow: Right 8">
            <a:extLst>
              <a:ext uri="{FF2B5EF4-FFF2-40B4-BE49-F238E27FC236}">
                <a16:creationId xmlns:a16="http://schemas.microsoft.com/office/drawing/2014/main" id="{78436275-19F9-FF22-92E7-4732294D5998}"/>
              </a:ext>
            </a:extLst>
          </p:cNvPr>
          <p:cNvSpPr/>
          <p:nvPr/>
        </p:nvSpPr>
        <p:spPr>
          <a:xfrm>
            <a:off x="7075741" y="2387658"/>
            <a:ext cx="947057"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BD9DC9-5DB7-9BF6-6687-D41DB6364114}"/>
                  </a:ext>
                </a:extLst>
              </p:cNvPr>
              <p:cNvSpPr txBox="1"/>
              <p:nvPr/>
            </p:nvSpPr>
            <p:spPr>
              <a:xfrm>
                <a:off x="299820" y="4001814"/>
                <a:ext cx="11660372" cy="2274020"/>
              </a:xfrm>
              <a:prstGeom prst="rect">
                <a:avLst/>
              </a:prstGeom>
              <a:noFill/>
            </p:spPr>
            <p:txBody>
              <a:bodyPr wrap="square" rtlCol="0">
                <a:spAutoFit/>
              </a:bodyPr>
              <a:lstStyle/>
              <a:p>
                <a:pPr marL="285750" indent="-285750">
                  <a:buFont typeface="Arial" panose="020B0604020202020204" pitchFamily="34" charset="0"/>
                  <a:buChar char="•"/>
                </a:pPr>
                <a:r>
                  <a:rPr lang="en-GB" sz="2000" dirty="0"/>
                  <a:t>We can wrap all the mathematics of self-attention into an operation we will call an Attention Head</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An attention head maps an embedding vector to an updated embedding vector taking into account what the surrounding words (tokens) are</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Problem:  We use the same attention weight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𝐴</m:t>
                        </m:r>
                      </m:e>
                      <m:sub>
                        <m:r>
                          <a:rPr lang="en-GB" sz="2000" b="0" i="1" smtClean="0">
                            <a:latin typeface="Cambria Math" panose="02040503050406030204" pitchFamily="18" charset="0"/>
                          </a:rPr>
                          <m:t>𝑛</m:t>
                        </m:r>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𝑛</m:t>
                            </m:r>
                          </m:e>
                          <m:sup>
                            <m:r>
                              <a:rPr lang="en-GB" sz="2000" b="0" i="1" smtClean="0">
                                <a:latin typeface="Cambria Math" panose="02040503050406030204" pitchFamily="18" charset="0"/>
                              </a:rPr>
                              <m:t>′</m:t>
                            </m:r>
                          </m:sup>
                        </m:sSup>
                      </m:sub>
                    </m:sSub>
                  </m:oMath>
                </a14:m>
                <a:r>
                  <a:rPr lang="en-GB" sz="2000" dirty="0"/>
                  <a:t> for each dimension of the embedding space</a:t>
                </a:r>
              </a:p>
              <a:p>
                <a:pPr lvl="3"/>
                <a:r>
                  <a:rPr lang="en-GB" sz="2000" dirty="0"/>
                  <a:t>We can’t have two tokens similar in one dimension and very dis-similar in another dimension</a:t>
                </a:r>
              </a:p>
            </p:txBody>
          </p:sp>
        </mc:Choice>
        <mc:Fallback xmlns="">
          <p:sp>
            <p:nvSpPr>
              <p:cNvPr id="10" name="TextBox 9">
                <a:extLst>
                  <a:ext uri="{FF2B5EF4-FFF2-40B4-BE49-F238E27FC236}">
                    <a16:creationId xmlns:a16="http://schemas.microsoft.com/office/drawing/2014/main" id="{ACBD9DC9-5DB7-9BF6-6687-D41DB6364114}"/>
                  </a:ext>
                </a:extLst>
              </p:cNvPr>
              <p:cNvSpPr txBox="1">
                <a:spLocks noRot="1" noChangeAspect="1" noMove="1" noResize="1" noEditPoints="1" noAdjustHandles="1" noChangeArrowheads="1" noChangeShapeType="1" noTextEdit="1"/>
              </p:cNvSpPr>
              <p:nvPr/>
            </p:nvSpPr>
            <p:spPr>
              <a:xfrm>
                <a:off x="299820" y="4001814"/>
                <a:ext cx="11660372" cy="2274020"/>
              </a:xfrm>
              <a:prstGeom prst="rect">
                <a:avLst/>
              </a:prstGeom>
              <a:blipFill>
                <a:blip r:embed="rId3"/>
                <a:stretch>
                  <a:fillRect l="-470" t="-1337" r="-157" b="-3743"/>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28107126-1296-16EA-BF63-6C82A586FDD4}"/>
              </a:ext>
            </a:extLst>
          </p:cNvPr>
          <p:cNvSpPr txBox="1"/>
          <p:nvPr/>
        </p:nvSpPr>
        <p:spPr>
          <a:xfrm>
            <a:off x="1343985" y="1361222"/>
            <a:ext cx="3430534" cy="369332"/>
          </a:xfrm>
          <a:prstGeom prst="rect">
            <a:avLst/>
          </a:prstGeom>
          <a:noFill/>
        </p:spPr>
        <p:txBody>
          <a:bodyPr wrap="square" rtlCol="0">
            <a:spAutoFit/>
          </a:bodyPr>
          <a:lstStyle/>
          <a:p>
            <a:pPr algn="ctr"/>
            <a:r>
              <a:rPr lang="en-GB" dirty="0"/>
              <a:t>Input embedding vector for token</a:t>
            </a:r>
          </a:p>
        </p:txBody>
      </p:sp>
      <p:sp>
        <p:nvSpPr>
          <p:cNvPr id="12" name="TextBox 11">
            <a:extLst>
              <a:ext uri="{FF2B5EF4-FFF2-40B4-BE49-F238E27FC236}">
                <a16:creationId xmlns:a16="http://schemas.microsoft.com/office/drawing/2014/main" id="{3C280A25-232F-9D69-4130-C6D081B833E5}"/>
              </a:ext>
            </a:extLst>
          </p:cNvPr>
          <p:cNvSpPr txBox="1"/>
          <p:nvPr/>
        </p:nvSpPr>
        <p:spPr>
          <a:xfrm>
            <a:off x="6817073" y="1360197"/>
            <a:ext cx="3910247" cy="369332"/>
          </a:xfrm>
          <a:prstGeom prst="rect">
            <a:avLst/>
          </a:prstGeom>
          <a:noFill/>
        </p:spPr>
        <p:txBody>
          <a:bodyPr wrap="square" rtlCol="0">
            <a:spAutoFit/>
          </a:bodyPr>
          <a:lstStyle/>
          <a:p>
            <a:pPr algn="ctr"/>
            <a:r>
              <a:rPr lang="en-GB" dirty="0"/>
              <a:t>Output embedding vector for token</a:t>
            </a:r>
          </a:p>
        </p:txBody>
      </p:sp>
    </p:spTree>
    <p:extLst>
      <p:ext uri="{BB962C8B-B14F-4D97-AF65-F5344CB8AC3E}">
        <p14:creationId xmlns:p14="http://schemas.microsoft.com/office/powerpoint/2010/main" val="1576435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FEEBE-3F72-EC51-BA36-7EE76EBA6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70AD1-8A0F-2C31-8AF5-0E23E7F855B1}"/>
              </a:ext>
            </a:extLst>
          </p:cNvPr>
          <p:cNvSpPr>
            <a:spLocks noGrp="1"/>
          </p:cNvSpPr>
          <p:nvPr>
            <p:ph type="title"/>
          </p:nvPr>
        </p:nvSpPr>
        <p:spPr>
          <a:xfrm>
            <a:off x="513907" y="121580"/>
            <a:ext cx="6155871" cy="805089"/>
          </a:xfrm>
        </p:spPr>
        <p:txBody>
          <a:bodyPr>
            <a:normAutofit fontScale="90000"/>
          </a:bodyPr>
          <a:lstStyle/>
          <a:p>
            <a:r>
              <a:rPr lang="en-GB" dirty="0"/>
              <a:t>Multi-headed Self-Attention</a:t>
            </a:r>
          </a:p>
        </p:txBody>
      </p:sp>
      <p:graphicFrame>
        <p:nvGraphicFramePr>
          <p:cNvPr id="5" name="Content Placeholder 4">
            <a:extLst>
              <a:ext uri="{FF2B5EF4-FFF2-40B4-BE49-F238E27FC236}">
                <a16:creationId xmlns:a16="http://schemas.microsoft.com/office/drawing/2014/main" id="{38C033A0-3BAE-2D4D-E451-8C7933E6C50D}"/>
              </a:ext>
            </a:extLst>
          </p:cNvPr>
          <p:cNvGraphicFramePr>
            <a:graphicFrameLocks noGrp="1"/>
          </p:cNvGraphicFramePr>
          <p:nvPr>
            <p:ph idx="1"/>
          </p:nvPr>
        </p:nvGraphicFramePr>
        <p:xfrm>
          <a:off x="1028447" y="2095646"/>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3557548173"/>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2970414154"/>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906825795"/>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096864878"/>
                  </a:ext>
                </a:extLst>
              </a:tr>
              <a:tr h="370840">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710943698"/>
                  </a:ext>
                </a:extLst>
              </a:tr>
            </a:tbl>
          </a:graphicData>
        </a:graphic>
      </p:graphicFrame>
      <p:sp>
        <p:nvSpPr>
          <p:cNvPr id="4" name="Slide Number Placeholder 3">
            <a:extLst>
              <a:ext uri="{FF2B5EF4-FFF2-40B4-BE49-F238E27FC236}">
                <a16:creationId xmlns:a16="http://schemas.microsoft.com/office/drawing/2014/main" id="{0BF056A4-6EF7-FF57-2C34-6F42A9AB1E9F}"/>
              </a:ext>
            </a:extLst>
          </p:cNvPr>
          <p:cNvSpPr>
            <a:spLocks noGrp="1"/>
          </p:cNvSpPr>
          <p:nvPr>
            <p:ph type="sldNum" sz="quarter" idx="12"/>
          </p:nvPr>
        </p:nvSpPr>
        <p:spPr/>
        <p:txBody>
          <a:bodyPr/>
          <a:lstStyle/>
          <a:p>
            <a:fld id="{13DE89AE-BBCC-45F3-BDAA-E98C74995322}" type="slidenum">
              <a:rPr lang="en-GB" smtClean="0"/>
              <a:t>32</a:t>
            </a:fld>
            <a:endParaRPr lang="en-GB"/>
          </a:p>
        </p:txBody>
      </p:sp>
      <p:graphicFrame>
        <p:nvGraphicFramePr>
          <p:cNvPr id="7" name="Content Placeholder 4">
            <a:extLst>
              <a:ext uri="{FF2B5EF4-FFF2-40B4-BE49-F238E27FC236}">
                <a16:creationId xmlns:a16="http://schemas.microsoft.com/office/drawing/2014/main" id="{E8EEC912-88F1-EBF0-1952-D0E54245DEBF}"/>
              </a:ext>
            </a:extLst>
          </p:cNvPr>
          <p:cNvGraphicFramePr>
            <a:graphicFrameLocks/>
          </p:cNvGraphicFramePr>
          <p:nvPr/>
        </p:nvGraphicFramePr>
        <p:xfrm>
          <a:off x="6523880" y="774913"/>
          <a:ext cx="413513" cy="1371600"/>
        </p:xfrm>
        <a:graphic>
          <a:graphicData uri="http://schemas.openxmlformats.org/drawingml/2006/table">
            <a:tbl>
              <a:tblPr>
                <a:tableStyleId>{5C22544A-7EE6-4342-B048-85BDC9FD1C3A}</a:tableStyleId>
              </a:tblPr>
              <a:tblGrid>
                <a:gridCol w="413513">
                  <a:extLst>
                    <a:ext uri="{9D8B030D-6E8A-4147-A177-3AD203B41FA5}">
                      <a16:colId xmlns:a16="http://schemas.microsoft.com/office/drawing/2014/main" val="2505470103"/>
                    </a:ext>
                  </a:extLst>
                </a:gridCol>
              </a:tblGrid>
              <a:tr h="196860">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3557548173"/>
                  </a:ext>
                </a:extLst>
              </a:tr>
              <a:tr h="131683">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2970414154"/>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906825795"/>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096864878"/>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710943698"/>
                  </a:ext>
                </a:extLst>
              </a:tr>
            </a:tbl>
          </a:graphicData>
        </a:graphic>
      </p:graphicFrame>
      <p:graphicFrame>
        <p:nvGraphicFramePr>
          <p:cNvPr id="25" name="Content Placeholder 4">
            <a:extLst>
              <a:ext uri="{FF2B5EF4-FFF2-40B4-BE49-F238E27FC236}">
                <a16:creationId xmlns:a16="http://schemas.microsoft.com/office/drawing/2014/main" id="{6BAC4D3F-A7C3-0AB0-3070-EE148E3C41FE}"/>
              </a:ext>
            </a:extLst>
          </p:cNvPr>
          <p:cNvGraphicFramePr>
            <a:graphicFrameLocks/>
          </p:cNvGraphicFramePr>
          <p:nvPr/>
        </p:nvGraphicFramePr>
        <p:xfrm>
          <a:off x="6535081" y="2292192"/>
          <a:ext cx="413513" cy="1371600"/>
        </p:xfrm>
        <a:graphic>
          <a:graphicData uri="http://schemas.openxmlformats.org/drawingml/2006/table">
            <a:tbl>
              <a:tblPr>
                <a:tableStyleId>{5C22544A-7EE6-4342-B048-85BDC9FD1C3A}</a:tableStyleId>
              </a:tblPr>
              <a:tblGrid>
                <a:gridCol w="413513">
                  <a:extLst>
                    <a:ext uri="{9D8B030D-6E8A-4147-A177-3AD203B41FA5}">
                      <a16:colId xmlns:a16="http://schemas.microsoft.com/office/drawing/2014/main" val="2505470103"/>
                    </a:ext>
                  </a:extLst>
                </a:gridCol>
              </a:tblGrid>
              <a:tr h="196860">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3557548173"/>
                  </a:ext>
                </a:extLst>
              </a:tr>
              <a:tr h="131683">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2970414154"/>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906825795"/>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096864878"/>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710943698"/>
                  </a:ext>
                </a:extLst>
              </a:tr>
            </a:tbl>
          </a:graphicData>
        </a:graphic>
      </p:graphicFrame>
      <p:graphicFrame>
        <p:nvGraphicFramePr>
          <p:cNvPr id="26" name="Content Placeholder 4">
            <a:extLst>
              <a:ext uri="{FF2B5EF4-FFF2-40B4-BE49-F238E27FC236}">
                <a16:creationId xmlns:a16="http://schemas.microsoft.com/office/drawing/2014/main" id="{CA41A050-3BF3-D604-029E-81A7B6886095}"/>
              </a:ext>
            </a:extLst>
          </p:cNvPr>
          <p:cNvGraphicFramePr>
            <a:graphicFrameLocks/>
          </p:cNvGraphicFramePr>
          <p:nvPr/>
        </p:nvGraphicFramePr>
        <p:xfrm>
          <a:off x="6561980" y="3778088"/>
          <a:ext cx="413513" cy="1371600"/>
        </p:xfrm>
        <a:graphic>
          <a:graphicData uri="http://schemas.openxmlformats.org/drawingml/2006/table">
            <a:tbl>
              <a:tblPr>
                <a:tableStyleId>{5C22544A-7EE6-4342-B048-85BDC9FD1C3A}</a:tableStyleId>
              </a:tblPr>
              <a:tblGrid>
                <a:gridCol w="413513">
                  <a:extLst>
                    <a:ext uri="{9D8B030D-6E8A-4147-A177-3AD203B41FA5}">
                      <a16:colId xmlns:a16="http://schemas.microsoft.com/office/drawing/2014/main" val="2505470103"/>
                    </a:ext>
                  </a:extLst>
                </a:gridCol>
              </a:tblGrid>
              <a:tr h="196860">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3557548173"/>
                  </a:ext>
                </a:extLst>
              </a:tr>
              <a:tr h="131683">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2970414154"/>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906825795"/>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096864878"/>
                  </a:ext>
                </a:extLst>
              </a:tr>
              <a:tr h="262479">
                <a:tc>
                  <a:txBody>
                    <a:bodyPr/>
                    <a:lstStyle/>
                    <a:p>
                      <a:endParaRPr lang="en-GB" sz="1200" dirty="0"/>
                    </a:p>
                  </a:txBody>
                  <a:tcPr>
                    <a:solidFill>
                      <a:schemeClr val="accent5">
                        <a:lumMod val="40000"/>
                        <a:lumOff val="60000"/>
                      </a:schemeClr>
                    </a:solidFill>
                  </a:tcPr>
                </a:tc>
                <a:extLst>
                  <a:ext uri="{0D108BD9-81ED-4DB2-BD59-A6C34878D82A}">
                    <a16:rowId xmlns:a16="http://schemas.microsoft.com/office/drawing/2014/main" val="1710943698"/>
                  </a:ext>
                </a:extLst>
              </a:tr>
            </a:tbl>
          </a:graphicData>
        </a:graphic>
      </p:graphicFrame>
      <p:grpSp>
        <p:nvGrpSpPr>
          <p:cNvPr id="53" name="Group 52">
            <a:extLst>
              <a:ext uri="{FF2B5EF4-FFF2-40B4-BE49-F238E27FC236}">
                <a16:creationId xmlns:a16="http://schemas.microsoft.com/office/drawing/2014/main" id="{A7B2641C-F87C-2B08-45F6-D29B039BE5A4}"/>
              </a:ext>
            </a:extLst>
          </p:cNvPr>
          <p:cNvGrpSpPr/>
          <p:nvPr/>
        </p:nvGrpSpPr>
        <p:grpSpPr>
          <a:xfrm>
            <a:off x="74614" y="1318259"/>
            <a:ext cx="6487366" cy="3145629"/>
            <a:chOff x="74614" y="1318259"/>
            <a:chExt cx="6487366" cy="3145629"/>
          </a:xfrm>
        </p:grpSpPr>
        <p:sp>
          <p:nvSpPr>
            <p:cNvPr id="8" name="Rectangle: Rounded Corners 7">
              <a:extLst>
                <a:ext uri="{FF2B5EF4-FFF2-40B4-BE49-F238E27FC236}">
                  <a16:creationId xmlns:a16="http://schemas.microsoft.com/office/drawing/2014/main" id="{B7DFD51E-CBF5-EE9D-9301-54BA080D9C5E}"/>
                </a:ext>
              </a:extLst>
            </p:cNvPr>
            <p:cNvSpPr/>
            <p:nvPr/>
          </p:nvSpPr>
          <p:spPr>
            <a:xfrm>
              <a:off x="3149992" y="1829761"/>
              <a:ext cx="1870003"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Attention Head</a:t>
              </a:r>
            </a:p>
          </p:txBody>
        </p:sp>
        <p:sp>
          <p:nvSpPr>
            <p:cNvPr id="11" name="TextBox 10">
              <a:extLst>
                <a:ext uri="{FF2B5EF4-FFF2-40B4-BE49-F238E27FC236}">
                  <a16:creationId xmlns:a16="http://schemas.microsoft.com/office/drawing/2014/main" id="{3C5317AF-2E1D-B38B-9496-2B8FA63DCD8F}"/>
                </a:ext>
              </a:extLst>
            </p:cNvPr>
            <p:cNvSpPr txBox="1"/>
            <p:nvPr/>
          </p:nvSpPr>
          <p:spPr>
            <a:xfrm>
              <a:off x="74614" y="1318259"/>
              <a:ext cx="2332026" cy="646331"/>
            </a:xfrm>
            <a:prstGeom prst="rect">
              <a:avLst/>
            </a:prstGeom>
            <a:noFill/>
          </p:spPr>
          <p:txBody>
            <a:bodyPr wrap="square" rtlCol="0">
              <a:spAutoFit/>
            </a:bodyPr>
            <a:lstStyle/>
            <a:p>
              <a:pPr algn="ctr"/>
              <a:r>
                <a:rPr lang="en-GB" dirty="0"/>
                <a:t>Input embedding vector for token</a:t>
              </a:r>
            </a:p>
          </p:txBody>
        </p:sp>
        <p:sp>
          <p:nvSpPr>
            <p:cNvPr id="3" name="Rectangle: Rounded Corners 2">
              <a:extLst>
                <a:ext uri="{FF2B5EF4-FFF2-40B4-BE49-F238E27FC236}">
                  <a16:creationId xmlns:a16="http://schemas.microsoft.com/office/drawing/2014/main" id="{0E7489FE-DE8C-2D1F-47C8-340C639A48E2}"/>
                </a:ext>
              </a:extLst>
            </p:cNvPr>
            <p:cNvSpPr/>
            <p:nvPr/>
          </p:nvSpPr>
          <p:spPr>
            <a:xfrm>
              <a:off x="3155104" y="2654868"/>
              <a:ext cx="1870003"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Attention Head</a:t>
              </a:r>
            </a:p>
          </p:txBody>
        </p:sp>
        <p:sp>
          <p:nvSpPr>
            <p:cNvPr id="13" name="Rectangle: Rounded Corners 12">
              <a:extLst>
                <a:ext uri="{FF2B5EF4-FFF2-40B4-BE49-F238E27FC236}">
                  <a16:creationId xmlns:a16="http://schemas.microsoft.com/office/drawing/2014/main" id="{14DDC2C4-B8D9-7763-F6D2-A5CDCECD4FFE}"/>
                </a:ext>
              </a:extLst>
            </p:cNvPr>
            <p:cNvSpPr/>
            <p:nvPr/>
          </p:nvSpPr>
          <p:spPr>
            <a:xfrm>
              <a:off x="3179652" y="3438048"/>
              <a:ext cx="1870003"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t>Attention Head</a:t>
              </a:r>
            </a:p>
          </p:txBody>
        </p:sp>
        <p:cxnSp>
          <p:nvCxnSpPr>
            <p:cNvPr id="15" name="Straight Arrow Connector 14">
              <a:extLst>
                <a:ext uri="{FF2B5EF4-FFF2-40B4-BE49-F238E27FC236}">
                  <a16:creationId xmlns:a16="http://schemas.microsoft.com/office/drawing/2014/main" id="{C11F5651-5417-E9D9-CD19-4B75137CC191}"/>
                </a:ext>
              </a:extLst>
            </p:cNvPr>
            <p:cNvCxnSpPr>
              <a:cxnSpLocks/>
              <a:stCxn id="5" idx="3"/>
              <a:endCxn id="8" idx="1"/>
            </p:cNvCxnSpPr>
            <p:nvPr/>
          </p:nvCxnSpPr>
          <p:spPr>
            <a:xfrm flipV="1">
              <a:off x="1411493" y="2152927"/>
              <a:ext cx="1738499" cy="869819"/>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EA81372-BF4B-BFE5-0BF5-44E3F2F979EC}"/>
                </a:ext>
              </a:extLst>
            </p:cNvPr>
            <p:cNvCxnSpPr>
              <a:cxnSpLocks/>
              <a:stCxn id="5" idx="3"/>
              <a:endCxn id="3" idx="1"/>
            </p:cNvCxnSpPr>
            <p:nvPr/>
          </p:nvCxnSpPr>
          <p:spPr>
            <a:xfrm flipV="1">
              <a:off x="1411493" y="2978034"/>
              <a:ext cx="1743611" cy="44712"/>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75CA568-00F6-1A9F-75E3-CEEA14E83691}"/>
                </a:ext>
              </a:extLst>
            </p:cNvPr>
            <p:cNvCxnSpPr>
              <a:cxnSpLocks/>
              <a:stCxn id="5" idx="3"/>
              <a:endCxn id="13" idx="1"/>
            </p:cNvCxnSpPr>
            <p:nvPr/>
          </p:nvCxnSpPr>
          <p:spPr>
            <a:xfrm>
              <a:off x="1411493" y="3022746"/>
              <a:ext cx="1768159" cy="738468"/>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68440A7-980C-8D5D-6111-26904A5158DD}"/>
                </a:ext>
              </a:extLst>
            </p:cNvPr>
            <p:cNvCxnSpPr>
              <a:cxnSpLocks/>
              <a:stCxn id="8" idx="3"/>
              <a:endCxn id="7" idx="1"/>
            </p:cNvCxnSpPr>
            <p:nvPr/>
          </p:nvCxnSpPr>
          <p:spPr>
            <a:xfrm flipV="1">
              <a:off x="5019995" y="1460713"/>
              <a:ext cx="1503885" cy="692214"/>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CADFB27-385D-361F-51A1-08098DB87177}"/>
                </a:ext>
              </a:extLst>
            </p:cNvPr>
            <p:cNvCxnSpPr>
              <a:cxnSpLocks/>
              <a:stCxn id="3" idx="3"/>
              <a:endCxn id="25" idx="1"/>
            </p:cNvCxnSpPr>
            <p:nvPr/>
          </p:nvCxnSpPr>
          <p:spPr>
            <a:xfrm flipV="1">
              <a:off x="5025107" y="2977992"/>
              <a:ext cx="1509974" cy="42"/>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E84B2FB-58BE-8772-6AA2-B504908DCAFC}"/>
                </a:ext>
              </a:extLst>
            </p:cNvPr>
            <p:cNvCxnSpPr>
              <a:cxnSpLocks/>
              <a:stCxn id="13" idx="3"/>
              <a:endCxn id="26" idx="1"/>
            </p:cNvCxnSpPr>
            <p:nvPr/>
          </p:nvCxnSpPr>
          <p:spPr>
            <a:xfrm>
              <a:off x="5049655" y="3761214"/>
              <a:ext cx="1512325" cy="702674"/>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3EEB9822-AC02-416F-F249-7ADA539BDEA4}"/>
              </a:ext>
            </a:extLst>
          </p:cNvPr>
          <p:cNvGrpSpPr/>
          <p:nvPr/>
        </p:nvGrpSpPr>
        <p:grpSpPr>
          <a:xfrm>
            <a:off x="6937393" y="1160489"/>
            <a:ext cx="5272167" cy="3303399"/>
            <a:chOff x="6937393" y="1160489"/>
            <a:chExt cx="5272167" cy="3303399"/>
          </a:xfrm>
        </p:grpSpPr>
        <p:graphicFrame>
          <p:nvGraphicFramePr>
            <p:cNvPr id="37" name="Content Placeholder 4">
              <a:extLst>
                <a:ext uri="{FF2B5EF4-FFF2-40B4-BE49-F238E27FC236}">
                  <a16:creationId xmlns:a16="http://schemas.microsoft.com/office/drawing/2014/main" id="{6DD47B7B-1A64-F0E2-B0FA-2036A1ECDFE4}"/>
                </a:ext>
              </a:extLst>
            </p:cNvPr>
            <p:cNvGraphicFramePr>
              <a:graphicFrameLocks/>
            </p:cNvGraphicFramePr>
            <p:nvPr/>
          </p:nvGraphicFramePr>
          <p:xfrm>
            <a:off x="11019293" y="1907013"/>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rgbClr val="C00000"/>
                      </a:solidFill>
                    </a:tcPr>
                  </a:tc>
                  <a:extLst>
                    <a:ext uri="{0D108BD9-81ED-4DB2-BD59-A6C34878D82A}">
                      <a16:rowId xmlns:a16="http://schemas.microsoft.com/office/drawing/2014/main" val="3557548173"/>
                    </a:ext>
                  </a:extLst>
                </a:tr>
                <a:tr h="370840">
                  <a:tc>
                    <a:txBody>
                      <a:bodyPr/>
                      <a:lstStyle/>
                      <a:p>
                        <a:endParaRPr lang="en-GB" dirty="0"/>
                      </a:p>
                    </a:txBody>
                    <a:tcPr>
                      <a:solidFill>
                        <a:srgbClr val="C00000"/>
                      </a:solidFill>
                    </a:tcPr>
                  </a:tc>
                  <a:extLst>
                    <a:ext uri="{0D108BD9-81ED-4DB2-BD59-A6C34878D82A}">
                      <a16:rowId xmlns:a16="http://schemas.microsoft.com/office/drawing/2014/main" val="2970414154"/>
                    </a:ext>
                  </a:extLst>
                </a:tr>
                <a:tr h="370840">
                  <a:tc>
                    <a:txBody>
                      <a:bodyPr/>
                      <a:lstStyle/>
                      <a:p>
                        <a:endParaRPr lang="en-GB" dirty="0"/>
                      </a:p>
                    </a:txBody>
                    <a:tcPr>
                      <a:solidFill>
                        <a:srgbClr val="C00000"/>
                      </a:solidFill>
                    </a:tcPr>
                  </a:tc>
                  <a:extLst>
                    <a:ext uri="{0D108BD9-81ED-4DB2-BD59-A6C34878D82A}">
                      <a16:rowId xmlns:a16="http://schemas.microsoft.com/office/drawing/2014/main" val="906825795"/>
                    </a:ext>
                  </a:extLst>
                </a:tr>
                <a:tr h="370840">
                  <a:tc>
                    <a:txBody>
                      <a:bodyPr/>
                      <a:lstStyle/>
                      <a:p>
                        <a:endParaRPr lang="en-GB" dirty="0"/>
                      </a:p>
                    </a:txBody>
                    <a:tcPr>
                      <a:solidFill>
                        <a:srgbClr val="C00000"/>
                      </a:solidFill>
                    </a:tcPr>
                  </a:tc>
                  <a:extLst>
                    <a:ext uri="{0D108BD9-81ED-4DB2-BD59-A6C34878D82A}">
                      <a16:rowId xmlns:a16="http://schemas.microsoft.com/office/drawing/2014/main" val="1096864878"/>
                    </a:ext>
                  </a:extLst>
                </a:tr>
                <a:tr h="370840">
                  <a:tc>
                    <a:txBody>
                      <a:bodyPr/>
                      <a:lstStyle/>
                      <a:p>
                        <a:endParaRPr lang="en-GB" dirty="0"/>
                      </a:p>
                    </a:txBody>
                    <a:tcPr>
                      <a:solidFill>
                        <a:srgbClr val="C00000"/>
                      </a:solidFill>
                    </a:tcPr>
                  </a:tc>
                  <a:extLst>
                    <a:ext uri="{0D108BD9-81ED-4DB2-BD59-A6C34878D82A}">
                      <a16:rowId xmlns:a16="http://schemas.microsoft.com/office/drawing/2014/main" val="1710943698"/>
                    </a:ext>
                  </a:extLst>
                </a:tr>
              </a:tbl>
            </a:graphicData>
          </a:graphic>
        </p:graphicFrame>
        <p:grpSp>
          <p:nvGrpSpPr>
            <p:cNvPr id="51" name="Group 50">
              <a:extLst>
                <a:ext uri="{FF2B5EF4-FFF2-40B4-BE49-F238E27FC236}">
                  <a16:creationId xmlns:a16="http://schemas.microsoft.com/office/drawing/2014/main" id="{97F0042E-9DFB-FF0F-9A99-C28F63AA7BBA}"/>
                </a:ext>
              </a:extLst>
            </p:cNvPr>
            <p:cNvGrpSpPr/>
            <p:nvPr/>
          </p:nvGrpSpPr>
          <p:grpSpPr>
            <a:xfrm>
              <a:off x="6937393" y="1160489"/>
              <a:ext cx="5272167" cy="3303399"/>
              <a:chOff x="6937393" y="1160489"/>
              <a:chExt cx="5272167" cy="3303399"/>
            </a:xfrm>
          </p:grpSpPr>
          <p:sp>
            <p:nvSpPr>
              <p:cNvPr id="12" name="TextBox 11">
                <a:extLst>
                  <a:ext uri="{FF2B5EF4-FFF2-40B4-BE49-F238E27FC236}">
                    <a16:creationId xmlns:a16="http://schemas.microsoft.com/office/drawing/2014/main" id="{B6273231-1B5D-A006-752B-84EDFB829860}"/>
                  </a:ext>
                </a:extLst>
              </p:cNvPr>
              <p:cNvSpPr txBox="1"/>
              <p:nvPr/>
            </p:nvSpPr>
            <p:spPr>
              <a:xfrm>
                <a:off x="9970625" y="1160489"/>
                <a:ext cx="2238935" cy="646331"/>
              </a:xfrm>
              <a:prstGeom prst="rect">
                <a:avLst/>
              </a:prstGeom>
              <a:noFill/>
            </p:spPr>
            <p:txBody>
              <a:bodyPr wrap="square" rtlCol="0">
                <a:spAutoFit/>
              </a:bodyPr>
              <a:lstStyle/>
              <a:p>
                <a:pPr algn="ctr"/>
                <a:r>
                  <a:rPr lang="en-GB" dirty="0"/>
                  <a:t>Output embedding vector for token</a:t>
                </a:r>
              </a:p>
            </p:txBody>
          </p:sp>
          <p:sp>
            <p:nvSpPr>
              <p:cNvPr id="38" name="Rectangle: Rounded Corners 37">
                <a:extLst>
                  <a:ext uri="{FF2B5EF4-FFF2-40B4-BE49-F238E27FC236}">
                    <a16:creationId xmlns:a16="http://schemas.microsoft.com/office/drawing/2014/main" id="{219E0943-F71C-6514-455D-46F710A8C175}"/>
                  </a:ext>
                </a:extLst>
              </p:cNvPr>
              <p:cNvSpPr/>
              <p:nvPr/>
            </p:nvSpPr>
            <p:spPr>
              <a:xfrm>
                <a:off x="8135472" y="2346521"/>
                <a:ext cx="1801906" cy="1210235"/>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Concatenation Operator, e.g. stacking or  take average</a:t>
                </a:r>
              </a:p>
            </p:txBody>
          </p:sp>
          <p:sp>
            <p:nvSpPr>
              <p:cNvPr id="39" name="Arrow: Right 38">
                <a:extLst>
                  <a:ext uri="{FF2B5EF4-FFF2-40B4-BE49-F238E27FC236}">
                    <a16:creationId xmlns:a16="http://schemas.microsoft.com/office/drawing/2014/main" id="{BEDEB0E7-6E7D-827B-82C1-6CCB35BAC9C8}"/>
                  </a:ext>
                </a:extLst>
              </p:cNvPr>
              <p:cNvSpPr/>
              <p:nvPr/>
            </p:nvSpPr>
            <p:spPr>
              <a:xfrm>
                <a:off x="10132252" y="2638825"/>
                <a:ext cx="739696"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0" name="Straight Arrow Connector 39">
                <a:extLst>
                  <a:ext uri="{FF2B5EF4-FFF2-40B4-BE49-F238E27FC236}">
                    <a16:creationId xmlns:a16="http://schemas.microsoft.com/office/drawing/2014/main" id="{F6ECC8B3-59C8-3A9A-E801-133F302DC86A}"/>
                  </a:ext>
                </a:extLst>
              </p:cNvPr>
              <p:cNvCxnSpPr>
                <a:cxnSpLocks/>
                <a:stCxn id="7" idx="3"/>
              </p:cNvCxnSpPr>
              <p:nvPr/>
            </p:nvCxnSpPr>
            <p:spPr>
              <a:xfrm>
                <a:off x="6937393" y="1460713"/>
                <a:ext cx="1198079" cy="1067334"/>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9FC3607-7813-8D5C-4CDD-AD495DA6C767}"/>
                  </a:ext>
                </a:extLst>
              </p:cNvPr>
              <p:cNvCxnSpPr>
                <a:cxnSpLocks/>
                <a:stCxn id="25" idx="3"/>
                <a:endCxn id="38" idx="1"/>
              </p:cNvCxnSpPr>
              <p:nvPr/>
            </p:nvCxnSpPr>
            <p:spPr>
              <a:xfrm flipV="1">
                <a:off x="6948594" y="2951639"/>
                <a:ext cx="1186878" cy="26353"/>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EF658F0E-BC08-BEF6-9DC3-6353BCE28525}"/>
                  </a:ext>
                </a:extLst>
              </p:cNvPr>
              <p:cNvCxnSpPr>
                <a:cxnSpLocks/>
                <a:stCxn id="26" idx="3"/>
              </p:cNvCxnSpPr>
              <p:nvPr/>
            </p:nvCxnSpPr>
            <p:spPr>
              <a:xfrm flipV="1">
                <a:off x="6975493" y="3450033"/>
                <a:ext cx="1213766" cy="1013855"/>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sp>
        <p:nvSpPr>
          <p:cNvPr id="54" name="TextBox 53">
            <a:extLst>
              <a:ext uri="{FF2B5EF4-FFF2-40B4-BE49-F238E27FC236}">
                <a16:creationId xmlns:a16="http://schemas.microsoft.com/office/drawing/2014/main" id="{EBE2FEEC-F7AD-B2CB-FDB0-D142679821BD}"/>
              </a:ext>
            </a:extLst>
          </p:cNvPr>
          <p:cNvSpPr txBox="1"/>
          <p:nvPr/>
        </p:nvSpPr>
        <p:spPr>
          <a:xfrm>
            <a:off x="680486" y="5349619"/>
            <a:ext cx="10962166" cy="1200329"/>
          </a:xfrm>
          <a:prstGeom prst="rect">
            <a:avLst/>
          </a:prstGeom>
          <a:noFill/>
        </p:spPr>
        <p:txBody>
          <a:bodyPr wrap="square" rtlCol="0">
            <a:spAutoFit/>
          </a:bodyPr>
          <a:lstStyle/>
          <a:p>
            <a:pPr marL="285750" indent="-285750">
              <a:buFont typeface="Arial" panose="020B0604020202020204" pitchFamily="34" charset="0"/>
              <a:buChar char="•"/>
            </a:pPr>
            <a:r>
              <a:rPr lang="en-GB" sz="2400" dirty="0"/>
              <a:t>We solve this by having multiple (H) self-attention heads. </a:t>
            </a:r>
          </a:p>
          <a:p>
            <a:pPr marL="285750" indent="-285750">
              <a:buFont typeface="Arial" panose="020B0604020202020204" pitchFamily="34" charset="0"/>
              <a:buChar char="•"/>
            </a:pPr>
            <a:r>
              <a:rPr lang="en-GB" sz="2400" dirty="0"/>
              <a:t>We combine the output vectors of all the attention heads into a single vector</a:t>
            </a:r>
          </a:p>
          <a:p>
            <a:pPr marL="285750" indent="-285750">
              <a:buFont typeface="Arial" panose="020B0604020202020204" pitchFamily="34" charset="0"/>
              <a:buChar char="•"/>
            </a:pPr>
            <a:r>
              <a:rPr lang="en-GB" sz="2400" dirty="0"/>
              <a:t>Typically, we make output dimension of each attention head d/H</a:t>
            </a:r>
          </a:p>
        </p:txBody>
      </p:sp>
    </p:spTree>
    <p:extLst>
      <p:ext uri="{BB962C8B-B14F-4D97-AF65-F5344CB8AC3E}">
        <p14:creationId xmlns:p14="http://schemas.microsoft.com/office/powerpoint/2010/main" val="265592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02B9F-D619-178C-E3BB-93DDB7CD3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C8F2B-42D0-77A0-EF10-719E07DFF8D5}"/>
              </a:ext>
            </a:extLst>
          </p:cNvPr>
          <p:cNvSpPr>
            <a:spLocks noGrp="1"/>
          </p:cNvSpPr>
          <p:nvPr>
            <p:ph type="title"/>
          </p:nvPr>
        </p:nvSpPr>
        <p:spPr>
          <a:xfrm>
            <a:off x="838200" y="365125"/>
            <a:ext cx="6155871" cy="805089"/>
          </a:xfrm>
        </p:spPr>
        <p:txBody>
          <a:bodyPr>
            <a:normAutofit/>
          </a:bodyPr>
          <a:lstStyle/>
          <a:p>
            <a:r>
              <a:rPr lang="en-GB" dirty="0"/>
              <a:t>Neural Network Sub-Layer</a:t>
            </a:r>
          </a:p>
        </p:txBody>
      </p:sp>
      <p:sp>
        <p:nvSpPr>
          <p:cNvPr id="4" name="Slide Number Placeholder 3">
            <a:extLst>
              <a:ext uri="{FF2B5EF4-FFF2-40B4-BE49-F238E27FC236}">
                <a16:creationId xmlns:a16="http://schemas.microsoft.com/office/drawing/2014/main" id="{857AA0BF-22FD-8E99-0467-96101E81E678}"/>
              </a:ext>
            </a:extLst>
          </p:cNvPr>
          <p:cNvSpPr>
            <a:spLocks noGrp="1"/>
          </p:cNvSpPr>
          <p:nvPr>
            <p:ph type="sldNum" sz="quarter" idx="12"/>
          </p:nvPr>
        </p:nvSpPr>
        <p:spPr/>
        <p:txBody>
          <a:bodyPr/>
          <a:lstStyle/>
          <a:p>
            <a:fld id="{13DE89AE-BBCC-45F3-BDAA-E98C74995322}" type="slidenum">
              <a:rPr lang="en-GB" smtClean="0"/>
              <a:t>33</a:t>
            </a:fld>
            <a:endParaRPr lang="en-GB"/>
          </a:p>
        </p:txBody>
      </p:sp>
      <p:grpSp>
        <p:nvGrpSpPr>
          <p:cNvPr id="22" name="Group 21">
            <a:extLst>
              <a:ext uri="{FF2B5EF4-FFF2-40B4-BE49-F238E27FC236}">
                <a16:creationId xmlns:a16="http://schemas.microsoft.com/office/drawing/2014/main" id="{D94EA4D3-8757-744D-D28C-39B0AA65B70B}"/>
              </a:ext>
            </a:extLst>
          </p:cNvPr>
          <p:cNvGrpSpPr/>
          <p:nvPr/>
        </p:nvGrpSpPr>
        <p:grpSpPr>
          <a:xfrm>
            <a:off x="70525" y="1351563"/>
            <a:ext cx="12056150" cy="2242319"/>
            <a:chOff x="70525" y="2951762"/>
            <a:chExt cx="12056150" cy="2242319"/>
          </a:xfrm>
        </p:grpSpPr>
        <p:grpSp>
          <p:nvGrpSpPr>
            <p:cNvPr id="20" name="Group 19">
              <a:extLst>
                <a:ext uri="{FF2B5EF4-FFF2-40B4-BE49-F238E27FC236}">
                  <a16:creationId xmlns:a16="http://schemas.microsoft.com/office/drawing/2014/main" id="{16CFF2C4-513C-036F-7AA8-D65AEDACE961}"/>
                </a:ext>
              </a:extLst>
            </p:cNvPr>
            <p:cNvGrpSpPr/>
            <p:nvPr/>
          </p:nvGrpSpPr>
          <p:grpSpPr>
            <a:xfrm>
              <a:off x="70525" y="2970549"/>
              <a:ext cx="4231820" cy="2223532"/>
              <a:chOff x="70525" y="2970549"/>
              <a:chExt cx="4231820" cy="2223532"/>
            </a:xfrm>
          </p:grpSpPr>
          <p:graphicFrame>
            <p:nvGraphicFramePr>
              <p:cNvPr id="5" name="Content Placeholder 4">
                <a:extLst>
                  <a:ext uri="{FF2B5EF4-FFF2-40B4-BE49-F238E27FC236}">
                    <a16:creationId xmlns:a16="http://schemas.microsoft.com/office/drawing/2014/main" id="{A0FD39E0-A4B7-DA09-8AF4-0713E2B39A62}"/>
                  </a:ext>
                </a:extLst>
              </p:cNvPr>
              <p:cNvGraphicFramePr>
                <a:graphicFrameLocks/>
              </p:cNvGraphicFramePr>
              <p:nvPr/>
            </p:nvGraphicFramePr>
            <p:xfrm>
              <a:off x="70525" y="3339881"/>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533931161"/>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1732967676"/>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a:p>
                      </a:txBody>
                      <a:tcPr>
                        <a:solidFill>
                          <a:schemeClr val="tx2">
                            <a:lumMod val="25000"/>
                            <a:lumOff val="75000"/>
                          </a:schemeClr>
                        </a:solidFill>
                      </a:tcPr>
                    </a:tc>
                    <a:extLst>
                      <a:ext uri="{0D108BD9-81ED-4DB2-BD59-A6C34878D82A}">
                        <a16:rowId xmlns:a16="http://schemas.microsoft.com/office/drawing/2014/main" val="3626587743"/>
                      </a:ext>
                    </a:extLst>
                  </a:tr>
                  <a:tr h="370840">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tc>
                      <a:txBody>
                        <a:bodyPr/>
                        <a:lstStyle/>
                        <a:p>
                          <a:endParaRPr lang="en-GB"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sp>
            <p:nvSpPr>
              <p:cNvPr id="7" name="TextBox 6">
                <a:extLst>
                  <a:ext uri="{FF2B5EF4-FFF2-40B4-BE49-F238E27FC236}">
                    <a16:creationId xmlns:a16="http://schemas.microsoft.com/office/drawing/2014/main" id="{E7A2E206-C00A-476C-0A8F-1A816F1F374E}"/>
                  </a:ext>
                </a:extLst>
              </p:cNvPr>
              <p:cNvSpPr txBox="1"/>
              <p:nvPr/>
            </p:nvSpPr>
            <p:spPr>
              <a:xfrm>
                <a:off x="1003413" y="2970549"/>
                <a:ext cx="2226128" cy="369332"/>
              </a:xfrm>
              <a:prstGeom prst="rect">
                <a:avLst/>
              </a:prstGeom>
              <a:noFill/>
            </p:spPr>
            <p:txBody>
              <a:bodyPr wrap="square" rtlCol="0">
                <a:spAutoFit/>
              </a:bodyPr>
              <a:lstStyle/>
              <a:p>
                <a:pPr algn="ctr"/>
                <a:r>
                  <a:rPr lang="en-GB" dirty="0"/>
                  <a:t>Input embeddings</a:t>
                </a:r>
              </a:p>
            </p:txBody>
          </p:sp>
        </p:grpSp>
        <p:grpSp>
          <p:nvGrpSpPr>
            <p:cNvPr id="21" name="Group 20">
              <a:extLst>
                <a:ext uri="{FF2B5EF4-FFF2-40B4-BE49-F238E27FC236}">
                  <a16:creationId xmlns:a16="http://schemas.microsoft.com/office/drawing/2014/main" id="{6B8E5A78-2AE3-8998-CA61-D986300808D9}"/>
                </a:ext>
              </a:extLst>
            </p:cNvPr>
            <p:cNvGrpSpPr/>
            <p:nvPr/>
          </p:nvGrpSpPr>
          <p:grpSpPr>
            <a:xfrm>
              <a:off x="7894855" y="2951762"/>
              <a:ext cx="4231820" cy="2231431"/>
              <a:chOff x="7894855" y="2951762"/>
              <a:chExt cx="4231820" cy="2231431"/>
            </a:xfrm>
          </p:grpSpPr>
          <p:graphicFrame>
            <p:nvGraphicFramePr>
              <p:cNvPr id="6" name="Content Placeholder 4">
                <a:extLst>
                  <a:ext uri="{FF2B5EF4-FFF2-40B4-BE49-F238E27FC236}">
                    <a16:creationId xmlns:a16="http://schemas.microsoft.com/office/drawing/2014/main" id="{D0690A06-2587-E88E-AE42-C44D3E08DD37}"/>
                  </a:ext>
                </a:extLst>
              </p:cNvPr>
              <p:cNvGraphicFramePr>
                <a:graphicFrameLocks/>
              </p:cNvGraphicFramePr>
              <p:nvPr/>
            </p:nvGraphicFramePr>
            <p:xfrm>
              <a:off x="7894855" y="3328993"/>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rgbClr val="C00000"/>
                        </a:solidFill>
                      </a:tcPr>
                    </a:tc>
                    <a:tc>
                      <a:txBody>
                        <a:bodyPr/>
                        <a:lstStyle/>
                        <a:p>
                          <a:endParaRPr lang="en-GB"/>
                        </a:p>
                      </a:txBody>
                      <a:tcPr>
                        <a:solidFill>
                          <a:srgbClr val="C00000"/>
                        </a:solidFill>
                      </a:tcPr>
                    </a:tc>
                    <a:tc>
                      <a:txBody>
                        <a:bodyPr/>
                        <a:lstStyle/>
                        <a:p>
                          <a:endParaRPr lang="en-GB"/>
                        </a:p>
                      </a:txBody>
                      <a:tcPr>
                        <a:solidFill>
                          <a:srgbClr val="C00000"/>
                        </a:solidFill>
                      </a:tcPr>
                    </a:tc>
                    <a:tc>
                      <a:txBody>
                        <a:bodyPr/>
                        <a:lstStyle/>
                        <a:p>
                          <a:endParaRPr lang="en-GB"/>
                        </a:p>
                      </a:txBody>
                      <a:tcPr>
                        <a:solidFill>
                          <a:srgbClr val="C00000"/>
                        </a:solidFill>
                      </a:tcPr>
                    </a:tc>
                    <a:tc>
                      <a:txBody>
                        <a:bodyPr/>
                        <a:lstStyle/>
                        <a:p>
                          <a:endParaRPr lang="en-GB" dirty="0"/>
                        </a:p>
                      </a:txBody>
                      <a:tcPr>
                        <a:solidFill>
                          <a:srgbClr val="C00000"/>
                        </a:solidFill>
                      </a:tcPr>
                    </a:tc>
                    <a:extLst>
                      <a:ext uri="{0D108BD9-81ED-4DB2-BD59-A6C34878D82A}">
                        <a16:rowId xmlns:a16="http://schemas.microsoft.com/office/drawing/2014/main" val="1533931161"/>
                      </a:ext>
                    </a:extLst>
                  </a:tr>
                  <a:tr h="370840">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a:p>
                      </a:txBody>
                      <a:tcPr>
                        <a:solidFill>
                          <a:srgbClr val="C00000"/>
                        </a:solidFill>
                      </a:tcPr>
                    </a:tc>
                    <a:tc>
                      <a:txBody>
                        <a:bodyPr/>
                        <a:lstStyle/>
                        <a:p>
                          <a:endParaRPr lang="en-GB"/>
                        </a:p>
                      </a:txBody>
                      <a:tcPr>
                        <a:solidFill>
                          <a:srgbClr val="C00000"/>
                        </a:solidFill>
                      </a:tcPr>
                    </a:tc>
                    <a:tc>
                      <a:txBody>
                        <a:bodyPr/>
                        <a:lstStyle/>
                        <a:p>
                          <a:endParaRPr lang="en-GB"/>
                        </a:p>
                      </a:txBody>
                      <a:tcPr>
                        <a:solidFill>
                          <a:srgbClr val="C00000"/>
                        </a:solidFill>
                      </a:tcPr>
                    </a:tc>
                    <a:extLst>
                      <a:ext uri="{0D108BD9-81ED-4DB2-BD59-A6C34878D82A}">
                        <a16:rowId xmlns:a16="http://schemas.microsoft.com/office/drawing/2014/main" val="1732967676"/>
                      </a:ext>
                    </a:extLst>
                  </a:tr>
                  <a:tr h="370840">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a:p>
                      </a:txBody>
                      <a:tcPr>
                        <a:solidFill>
                          <a:srgbClr val="C00000"/>
                        </a:solidFill>
                      </a:tcPr>
                    </a:tc>
                    <a:extLst>
                      <a:ext uri="{0D108BD9-81ED-4DB2-BD59-A6C34878D82A}">
                        <a16:rowId xmlns:a16="http://schemas.microsoft.com/office/drawing/2014/main" val="3626587743"/>
                      </a:ext>
                    </a:extLst>
                  </a:tr>
                  <a:tr h="370840">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dirty="0"/>
                        </a:p>
                      </a:txBody>
                      <a:tcPr>
                        <a:solidFill>
                          <a:srgbClr val="C00000"/>
                        </a:solidFill>
                      </a:tcPr>
                    </a:tc>
                    <a:tc>
                      <a:txBody>
                        <a:bodyPr/>
                        <a:lstStyle/>
                        <a:p>
                          <a:endParaRPr lang="en-GB" dirty="0"/>
                        </a:p>
                      </a:txBody>
                      <a:tcPr>
                        <a:solidFill>
                          <a:srgbClr val="C00000"/>
                        </a:solidFill>
                      </a:tcPr>
                    </a:tc>
                    <a:extLst>
                      <a:ext uri="{0D108BD9-81ED-4DB2-BD59-A6C34878D82A}">
                        <a16:rowId xmlns:a16="http://schemas.microsoft.com/office/drawing/2014/main" val="2234228111"/>
                      </a:ext>
                    </a:extLst>
                  </a:tr>
                </a:tbl>
              </a:graphicData>
            </a:graphic>
          </p:graphicFrame>
          <p:sp>
            <p:nvSpPr>
              <p:cNvPr id="8" name="TextBox 7">
                <a:extLst>
                  <a:ext uri="{FF2B5EF4-FFF2-40B4-BE49-F238E27FC236}">
                    <a16:creationId xmlns:a16="http://schemas.microsoft.com/office/drawing/2014/main" id="{7F1CB991-A200-DD25-9AFE-27779455AA01}"/>
                  </a:ext>
                </a:extLst>
              </p:cNvPr>
              <p:cNvSpPr txBox="1"/>
              <p:nvPr/>
            </p:nvSpPr>
            <p:spPr>
              <a:xfrm>
                <a:off x="8742601" y="2951762"/>
                <a:ext cx="2536327" cy="369332"/>
              </a:xfrm>
              <a:prstGeom prst="rect">
                <a:avLst/>
              </a:prstGeom>
              <a:noFill/>
            </p:spPr>
            <p:txBody>
              <a:bodyPr wrap="square" rtlCol="0">
                <a:spAutoFit/>
              </a:bodyPr>
              <a:lstStyle/>
              <a:p>
                <a:pPr algn="ctr"/>
                <a:r>
                  <a:rPr lang="en-GB" dirty="0"/>
                  <a:t>Output embeddings</a:t>
                </a:r>
              </a:p>
            </p:txBody>
          </p:sp>
        </p:grpSp>
        <p:grpSp>
          <p:nvGrpSpPr>
            <p:cNvPr id="19" name="Group 18">
              <a:extLst>
                <a:ext uri="{FF2B5EF4-FFF2-40B4-BE49-F238E27FC236}">
                  <a16:creationId xmlns:a16="http://schemas.microsoft.com/office/drawing/2014/main" id="{BE490595-60A1-D66F-8653-82E5D46B247B}"/>
                </a:ext>
              </a:extLst>
            </p:cNvPr>
            <p:cNvGrpSpPr/>
            <p:nvPr/>
          </p:nvGrpSpPr>
          <p:grpSpPr>
            <a:xfrm>
              <a:off x="4502210" y="3798794"/>
              <a:ext cx="3267949" cy="887506"/>
              <a:chOff x="4502210" y="3798794"/>
              <a:chExt cx="3267949" cy="887506"/>
            </a:xfrm>
          </p:grpSpPr>
          <p:sp>
            <p:nvSpPr>
              <p:cNvPr id="9" name="Arrow: Right 8">
                <a:extLst>
                  <a:ext uri="{FF2B5EF4-FFF2-40B4-BE49-F238E27FC236}">
                    <a16:creationId xmlns:a16="http://schemas.microsoft.com/office/drawing/2014/main" id="{F9ACB5C0-2FCC-C46B-847B-BF34BF3FF68D}"/>
                  </a:ext>
                </a:extLst>
              </p:cNvPr>
              <p:cNvSpPr/>
              <p:nvPr/>
            </p:nvSpPr>
            <p:spPr>
              <a:xfrm>
                <a:off x="4502210" y="4096546"/>
                <a:ext cx="614396"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C5F0E447-9A34-4CAD-99AB-C569C47B818E}"/>
                  </a:ext>
                </a:extLst>
              </p:cNvPr>
              <p:cNvSpPr/>
              <p:nvPr/>
            </p:nvSpPr>
            <p:spPr>
              <a:xfrm>
                <a:off x="5419165" y="3798794"/>
                <a:ext cx="1499347" cy="8875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Multi-headed attention</a:t>
                </a:r>
              </a:p>
            </p:txBody>
          </p:sp>
          <p:sp>
            <p:nvSpPr>
              <p:cNvPr id="11" name="Arrow: Right 10">
                <a:extLst>
                  <a:ext uri="{FF2B5EF4-FFF2-40B4-BE49-F238E27FC236}">
                    <a16:creationId xmlns:a16="http://schemas.microsoft.com/office/drawing/2014/main" id="{7E4F912D-C7FC-25B1-36F1-5AF860603F0F}"/>
                  </a:ext>
                </a:extLst>
              </p:cNvPr>
              <p:cNvSpPr/>
              <p:nvPr/>
            </p:nvSpPr>
            <p:spPr>
              <a:xfrm>
                <a:off x="7155763" y="4080858"/>
                <a:ext cx="614396" cy="37011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8" name="Group 17">
            <a:extLst>
              <a:ext uri="{FF2B5EF4-FFF2-40B4-BE49-F238E27FC236}">
                <a16:creationId xmlns:a16="http://schemas.microsoft.com/office/drawing/2014/main" id="{3854888C-4924-14B7-BB3E-9FAB4A3711D2}"/>
              </a:ext>
            </a:extLst>
          </p:cNvPr>
          <p:cNvGrpSpPr/>
          <p:nvPr/>
        </p:nvGrpSpPr>
        <p:grpSpPr>
          <a:xfrm>
            <a:off x="456083" y="3558655"/>
            <a:ext cx="3529843" cy="1270525"/>
            <a:chOff x="456083" y="5158854"/>
            <a:chExt cx="3529843" cy="1270525"/>
          </a:xfrm>
        </p:grpSpPr>
        <p:grpSp>
          <p:nvGrpSpPr>
            <p:cNvPr id="16" name="Group 15">
              <a:extLst>
                <a:ext uri="{FF2B5EF4-FFF2-40B4-BE49-F238E27FC236}">
                  <a16:creationId xmlns:a16="http://schemas.microsoft.com/office/drawing/2014/main" id="{B95E9B29-52CC-29F6-FE5E-7D3FF4386D1A}"/>
                </a:ext>
              </a:extLst>
            </p:cNvPr>
            <p:cNvGrpSpPr/>
            <p:nvPr/>
          </p:nvGrpSpPr>
          <p:grpSpPr>
            <a:xfrm>
              <a:off x="456083" y="5158854"/>
              <a:ext cx="3529843" cy="776094"/>
              <a:chOff x="456083" y="5158854"/>
              <a:chExt cx="3529843" cy="776094"/>
            </a:xfrm>
          </p:grpSpPr>
          <p:sp>
            <p:nvSpPr>
              <p:cNvPr id="12" name="Left Bracket 11">
                <a:extLst>
                  <a:ext uri="{FF2B5EF4-FFF2-40B4-BE49-F238E27FC236}">
                    <a16:creationId xmlns:a16="http://schemas.microsoft.com/office/drawing/2014/main" id="{4277B673-8953-FBBF-DC1B-1CFC895E8FA7}"/>
                  </a:ext>
                </a:extLst>
              </p:cNvPr>
              <p:cNvSpPr/>
              <p:nvPr/>
            </p:nvSpPr>
            <p:spPr>
              <a:xfrm rot="16200000">
                <a:off x="2462568" y="4744091"/>
                <a:ext cx="218363" cy="1118342"/>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Left Bracket 12">
                <a:extLst>
                  <a:ext uri="{FF2B5EF4-FFF2-40B4-BE49-F238E27FC236}">
                    <a16:creationId xmlns:a16="http://schemas.microsoft.com/office/drawing/2014/main" id="{B81E32CD-A50C-2E32-610A-6BBE4DA40E47}"/>
                  </a:ext>
                </a:extLst>
              </p:cNvPr>
              <p:cNvSpPr/>
              <p:nvPr/>
            </p:nvSpPr>
            <p:spPr>
              <a:xfrm rot="16200000">
                <a:off x="1971911" y="4519811"/>
                <a:ext cx="484741" cy="1833280"/>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4" name="Left Bracket 13">
                <a:extLst>
                  <a:ext uri="{FF2B5EF4-FFF2-40B4-BE49-F238E27FC236}">
                    <a16:creationId xmlns:a16="http://schemas.microsoft.com/office/drawing/2014/main" id="{B0EA537E-1B4D-C849-6B7D-0DBB20BABA29}"/>
                  </a:ext>
                </a:extLst>
              </p:cNvPr>
              <p:cNvSpPr/>
              <p:nvPr/>
            </p:nvSpPr>
            <p:spPr>
              <a:xfrm rot="16200000" flipV="1">
                <a:off x="3438352" y="4864870"/>
                <a:ext cx="253589" cy="841558"/>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Left Bracket 14">
                <a:extLst>
                  <a:ext uri="{FF2B5EF4-FFF2-40B4-BE49-F238E27FC236}">
                    <a16:creationId xmlns:a16="http://schemas.microsoft.com/office/drawing/2014/main" id="{19A597D2-8C5D-8783-89C1-D3E9B5553FA7}"/>
                  </a:ext>
                </a:extLst>
              </p:cNvPr>
              <p:cNvSpPr/>
              <p:nvPr/>
            </p:nvSpPr>
            <p:spPr>
              <a:xfrm rot="16200000">
                <a:off x="1412179" y="4202759"/>
                <a:ext cx="776093" cy="2688285"/>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2900FA4-078B-58D5-9A0F-4A0FBC99AE84}"/>
                    </a:ext>
                  </a:extLst>
                </p:cNvPr>
                <p:cNvSpPr txBox="1"/>
                <p:nvPr/>
              </p:nvSpPr>
              <p:spPr>
                <a:xfrm>
                  <a:off x="505071" y="5934948"/>
                  <a:ext cx="3222812" cy="494431"/>
                </a:xfrm>
                <a:prstGeom prst="rect">
                  <a:avLst/>
                </a:prstGeom>
                <a:noFill/>
              </p:spPr>
              <p:txBody>
                <a:bodyPr wrap="square" rtlCol="0">
                  <a:spAutoFit/>
                </a:bodyPr>
                <a:lstStyle/>
                <a:p>
                  <a:pPr algn="ctr"/>
                  <a:r>
                    <a:rPr lang="en-GB" sz="2400" dirty="0"/>
                    <a:t>Attention weights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𝐴</m:t>
                          </m:r>
                        </m:e>
                        <m:sub>
                          <m:r>
                            <a:rPr lang="en-GB" sz="2400" b="0" i="1" smtClean="0">
                              <a:latin typeface="Cambria Math" panose="02040503050406030204" pitchFamily="18" charset="0"/>
                            </a:rPr>
                            <m:t>𝑛</m:t>
                          </m:r>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oMath>
                  </a14:m>
                  <a:endParaRPr lang="en-GB" sz="2400" dirty="0"/>
                </a:p>
              </p:txBody>
            </p:sp>
          </mc:Choice>
          <mc:Fallback xmlns="">
            <p:sp>
              <p:nvSpPr>
                <p:cNvPr id="17" name="TextBox 16">
                  <a:extLst>
                    <a:ext uri="{FF2B5EF4-FFF2-40B4-BE49-F238E27FC236}">
                      <a16:creationId xmlns:a16="http://schemas.microsoft.com/office/drawing/2014/main" id="{D2900FA4-078B-58D5-9A0F-4A0FBC99AE84}"/>
                    </a:ext>
                  </a:extLst>
                </p:cNvPr>
                <p:cNvSpPr txBox="1">
                  <a:spLocks noRot="1" noChangeAspect="1" noMove="1" noResize="1" noEditPoints="1" noAdjustHandles="1" noChangeArrowheads="1" noChangeShapeType="1" noTextEdit="1"/>
                </p:cNvSpPr>
                <p:nvPr/>
              </p:nvSpPr>
              <p:spPr>
                <a:xfrm>
                  <a:off x="505071" y="5934948"/>
                  <a:ext cx="3222812" cy="494431"/>
                </a:xfrm>
                <a:prstGeom prst="rect">
                  <a:avLst/>
                </a:prstGeom>
                <a:blipFill>
                  <a:blip r:embed="rId3"/>
                  <a:stretch>
                    <a:fillRect l="-2268" t="-7407" b="-23457"/>
                  </a:stretch>
                </a:blipFill>
              </p:spPr>
              <p:txBody>
                <a:bodyPr/>
                <a:lstStyle/>
                <a:p>
                  <a:r>
                    <a:rPr lang="en-GB">
                      <a:noFill/>
                    </a:rPr>
                    <a:t> </a:t>
                  </a:r>
                </a:p>
              </p:txBody>
            </p:sp>
          </mc:Fallback>
        </mc:AlternateContent>
      </p:grpSp>
      <p:sp>
        <p:nvSpPr>
          <p:cNvPr id="23" name="TextBox 22">
            <a:extLst>
              <a:ext uri="{FF2B5EF4-FFF2-40B4-BE49-F238E27FC236}">
                <a16:creationId xmlns:a16="http://schemas.microsoft.com/office/drawing/2014/main" id="{B438941D-4EB3-EECE-6569-061DFAE20908}"/>
              </a:ext>
            </a:extLst>
          </p:cNvPr>
          <p:cNvSpPr txBox="1"/>
          <p:nvPr/>
        </p:nvSpPr>
        <p:spPr>
          <a:xfrm>
            <a:off x="330574" y="4920015"/>
            <a:ext cx="11530852" cy="1815882"/>
          </a:xfrm>
          <a:prstGeom prst="rect">
            <a:avLst/>
          </a:prstGeom>
          <a:noFill/>
        </p:spPr>
        <p:txBody>
          <a:bodyPr wrap="square" rtlCol="0">
            <a:spAutoFit/>
          </a:bodyPr>
          <a:lstStyle/>
          <a:p>
            <a:pPr marL="285750" indent="-285750">
              <a:buFont typeface="Arial" panose="020B0604020202020204" pitchFamily="34" charset="0"/>
              <a:buChar char="•"/>
            </a:pPr>
            <a:r>
              <a:rPr lang="en-GB" sz="2800" dirty="0"/>
              <a:t>Attention process is column-wise (token-to-token)</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We haven’t allowed the different rows within a column to interact when producing the updated embedding </a:t>
            </a:r>
          </a:p>
        </p:txBody>
      </p:sp>
    </p:spTree>
    <p:extLst>
      <p:ext uri="{BB962C8B-B14F-4D97-AF65-F5344CB8AC3E}">
        <p14:creationId xmlns:p14="http://schemas.microsoft.com/office/powerpoint/2010/main" val="208208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AD2E1-0613-0F66-36C1-EFF6E035E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50329-659B-F435-4E5C-6BB84431361E}"/>
              </a:ext>
            </a:extLst>
          </p:cNvPr>
          <p:cNvSpPr>
            <a:spLocks noGrp="1"/>
          </p:cNvSpPr>
          <p:nvPr>
            <p:ph type="title"/>
          </p:nvPr>
        </p:nvSpPr>
        <p:spPr>
          <a:xfrm>
            <a:off x="838200" y="365125"/>
            <a:ext cx="6155871" cy="805089"/>
          </a:xfrm>
        </p:spPr>
        <p:txBody>
          <a:bodyPr>
            <a:normAutofit/>
          </a:bodyPr>
          <a:lstStyle/>
          <a:p>
            <a:r>
              <a:rPr lang="en-GB" dirty="0"/>
              <a:t>Neural Network Sub-Layer</a:t>
            </a:r>
          </a:p>
        </p:txBody>
      </p:sp>
      <p:sp>
        <p:nvSpPr>
          <p:cNvPr id="4" name="Slide Number Placeholder 3">
            <a:extLst>
              <a:ext uri="{FF2B5EF4-FFF2-40B4-BE49-F238E27FC236}">
                <a16:creationId xmlns:a16="http://schemas.microsoft.com/office/drawing/2014/main" id="{27D13198-1ABA-61C4-00D4-9A30FC59AA7D}"/>
              </a:ext>
            </a:extLst>
          </p:cNvPr>
          <p:cNvSpPr>
            <a:spLocks noGrp="1"/>
          </p:cNvSpPr>
          <p:nvPr>
            <p:ph type="sldNum" sz="quarter" idx="12"/>
          </p:nvPr>
        </p:nvSpPr>
        <p:spPr/>
        <p:txBody>
          <a:bodyPr/>
          <a:lstStyle/>
          <a:p>
            <a:fld id="{13DE89AE-BBCC-45F3-BDAA-E98C74995322}" type="slidenum">
              <a:rPr lang="en-GB" smtClean="0"/>
              <a:t>34</a:t>
            </a:fld>
            <a:endParaRPr lang="en-GB"/>
          </a:p>
        </p:txBody>
      </p:sp>
      <p:graphicFrame>
        <p:nvGraphicFramePr>
          <p:cNvPr id="27" name="Content Placeholder 4">
            <a:extLst>
              <a:ext uri="{FF2B5EF4-FFF2-40B4-BE49-F238E27FC236}">
                <a16:creationId xmlns:a16="http://schemas.microsoft.com/office/drawing/2014/main" id="{645CEF80-2029-1F0E-C136-4153B24B3A96}"/>
              </a:ext>
            </a:extLst>
          </p:cNvPr>
          <p:cNvGraphicFramePr>
            <a:graphicFrameLocks noGrp="1"/>
          </p:cNvGraphicFramePr>
          <p:nvPr>
            <p:ph idx="1"/>
          </p:nvPr>
        </p:nvGraphicFramePr>
        <p:xfrm>
          <a:off x="1423756" y="2209936"/>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rgbClr val="C00000"/>
                    </a:solidFill>
                  </a:tcPr>
                </a:tc>
                <a:extLst>
                  <a:ext uri="{0D108BD9-81ED-4DB2-BD59-A6C34878D82A}">
                    <a16:rowId xmlns:a16="http://schemas.microsoft.com/office/drawing/2014/main" val="3557548173"/>
                  </a:ext>
                </a:extLst>
              </a:tr>
              <a:tr h="370840">
                <a:tc>
                  <a:txBody>
                    <a:bodyPr/>
                    <a:lstStyle/>
                    <a:p>
                      <a:endParaRPr lang="en-GB" dirty="0"/>
                    </a:p>
                  </a:txBody>
                  <a:tcPr>
                    <a:solidFill>
                      <a:srgbClr val="C00000"/>
                    </a:solidFill>
                  </a:tcPr>
                </a:tc>
                <a:extLst>
                  <a:ext uri="{0D108BD9-81ED-4DB2-BD59-A6C34878D82A}">
                    <a16:rowId xmlns:a16="http://schemas.microsoft.com/office/drawing/2014/main" val="2970414154"/>
                  </a:ext>
                </a:extLst>
              </a:tr>
              <a:tr h="370840">
                <a:tc>
                  <a:txBody>
                    <a:bodyPr/>
                    <a:lstStyle/>
                    <a:p>
                      <a:endParaRPr lang="en-GB" dirty="0"/>
                    </a:p>
                  </a:txBody>
                  <a:tcPr>
                    <a:solidFill>
                      <a:srgbClr val="C00000"/>
                    </a:solidFill>
                  </a:tcPr>
                </a:tc>
                <a:extLst>
                  <a:ext uri="{0D108BD9-81ED-4DB2-BD59-A6C34878D82A}">
                    <a16:rowId xmlns:a16="http://schemas.microsoft.com/office/drawing/2014/main" val="906825795"/>
                  </a:ext>
                </a:extLst>
              </a:tr>
              <a:tr h="370840">
                <a:tc>
                  <a:txBody>
                    <a:bodyPr/>
                    <a:lstStyle/>
                    <a:p>
                      <a:endParaRPr lang="en-GB" dirty="0"/>
                    </a:p>
                  </a:txBody>
                  <a:tcPr>
                    <a:solidFill>
                      <a:srgbClr val="C00000"/>
                    </a:solidFill>
                  </a:tcPr>
                </a:tc>
                <a:extLst>
                  <a:ext uri="{0D108BD9-81ED-4DB2-BD59-A6C34878D82A}">
                    <a16:rowId xmlns:a16="http://schemas.microsoft.com/office/drawing/2014/main" val="1096864878"/>
                  </a:ext>
                </a:extLst>
              </a:tr>
              <a:tr h="370840">
                <a:tc>
                  <a:txBody>
                    <a:bodyPr/>
                    <a:lstStyle/>
                    <a:p>
                      <a:endParaRPr lang="en-GB" dirty="0"/>
                    </a:p>
                  </a:txBody>
                  <a:tcPr>
                    <a:solidFill>
                      <a:srgbClr val="C00000"/>
                    </a:solidFill>
                  </a:tcPr>
                </a:tc>
                <a:extLst>
                  <a:ext uri="{0D108BD9-81ED-4DB2-BD59-A6C34878D82A}">
                    <a16:rowId xmlns:a16="http://schemas.microsoft.com/office/drawing/2014/main" val="1710943698"/>
                  </a:ext>
                </a:extLst>
              </a:tr>
            </a:tbl>
          </a:graphicData>
        </a:graphic>
      </p:graphicFrame>
      <p:grpSp>
        <p:nvGrpSpPr>
          <p:cNvPr id="31" name="Group 30">
            <a:extLst>
              <a:ext uri="{FF2B5EF4-FFF2-40B4-BE49-F238E27FC236}">
                <a16:creationId xmlns:a16="http://schemas.microsoft.com/office/drawing/2014/main" id="{7F9A87E4-F4F4-FCCC-261A-7D33C03DAE18}"/>
              </a:ext>
            </a:extLst>
          </p:cNvPr>
          <p:cNvGrpSpPr/>
          <p:nvPr/>
        </p:nvGrpSpPr>
        <p:grpSpPr>
          <a:xfrm>
            <a:off x="573743" y="2315813"/>
            <a:ext cx="871205" cy="1577101"/>
            <a:chOff x="271181" y="2779745"/>
            <a:chExt cx="871205" cy="1577101"/>
          </a:xfrm>
        </p:grpSpPr>
        <p:grpSp>
          <p:nvGrpSpPr>
            <p:cNvPr id="25" name="Group 24">
              <a:extLst>
                <a:ext uri="{FF2B5EF4-FFF2-40B4-BE49-F238E27FC236}">
                  <a16:creationId xmlns:a16="http://schemas.microsoft.com/office/drawing/2014/main" id="{659A6AC8-D2F2-589C-5682-C7B92253D224}"/>
                </a:ext>
              </a:extLst>
            </p:cNvPr>
            <p:cNvGrpSpPr/>
            <p:nvPr/>
          </p:nvGrpSpPr>
          <p:grpSpPr>
            <a:xfrm>
              <a:off x="490818" y="2779745"/>
              <a:ext cx="644845" cy="1180413"/>
              <a:chOff x="1411941" y="2705785"/>
              <a:chExt cx="644845" cy="1180413"/>
            </a:xfrm>
          </p:grpSpPr>
          <p:sp>
            <p:nvSpPr>
              <p:cNvPr id="14" name="Left Bracket 13">
                <a:extLst>
                  <a:ext uri="{FF2B5EF4-FFF2-40B4-BE49-F238E27FC236}">
                    <a16:creationId xmlns:a16="http://schemas.microsoft.com/office/drawing/2014/main" id="{8A10AA63-D05A-A961-7CDE-E444F3FC0EBD}"/>
                  </a:ext>
                </a:extLst>
              </p:cNvPr>
              <p:cNvSpPr/>
              <p:nvPr/>
            </p:nvSpPr>
            <p:spPr>
              <a:xfrm flipV="1">
                <a:off x="1794053" y="2706000"/>
                <a:ext cx="226282" cy="467505"/>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 name="Left Bracket 2">
                <a:extLst>
                  <a:ext uri="{FF2B5EF4-FFF2-40B4-BE49-F238E27FC236}">
                    <a16:creationId xmlns:a16="http://schemas.microsoft.com/office/drawing/2014/main" id="{8A03DA3F-6F94-76B7-420F-88F02BDE9490}"/>
                  </a:ext>
                </a:extLst>
              </p:cNvPr>
              <p:cNvSpPr/>
              <p:nvPr/>
            </p:nvSpPr>
            <p:spPr>
              <a:xfrm flipV="1">
                <a:off x="1625447" y="2705999"/>
                <a:ext cx="394887" cy="790235"/>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4" name="Left Bracket 23">
                <a:extLst>
                  <a:ext uri="{FF2B5EF4-FFF2-40B4-BE49-F238E27FC236}">
                    <a16:creationId xmlns:a16="http://schemas.microsoft.com/office/drawing/2014/main" id="{6848EFEE-02DB-8247-5668-EEB1D66A7763}"/>
                  </a:ext>
                </a:extLst>
              </p:cNvPr>
              <p:cNvSpPr/>
              <p:nvPr/>
            </p:nvSpPr>
            <p:spPr>
              <a:xfrm flipV="1">
                <a:off x="1411941" y="2705785"/>
                <a:ext cx="644845" cy="1180413"/>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28" name="Left Bracket 27">
              <a:extLst>
                <a:ext uri="{FF2B5EF4-FFF2-40B4-BE49-F238E27FC236}">
                  <a16:creationId xmlns:a16="http://schemas.microsoft.com/office/drawing/2014/main" id="{5A101FB7-7594-ECE1-35A1-28AE1F10A0EC}"/>
                </a:ext>
              </a:extLst>
            </p:cNvPr>
            <p:cNvSpPr/>
            <p:nvPr/>
          </p:nvSpPr>
          <p:spPr>
            <a:xfrm flipV="1">
              <a:off x="271181" y="2780517"/>
              <a:ext cx="871205" cy="1576329"/>
            </a:xfrm>
            <a:prstGeom prst="leftBracket">
              <a:avLst/>
            </a:prstGeom>
            <a:ln w="3492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30" name="TextBox 29">
            <a:extLst>
              <a:ext uri="{FF2B5EF4-FFF2-40B4-BE49-F238E27FC236}">
                <a16:creationId xmlns:a16="http://schemas.microsoft.com/office/drawing/2014/main" id="{59AA7E6F-DC6E-6D96-17ED-4BF3BD4C0C19}"/>
              </a:ext>
            </a:extLst>
          </p:cNvPr>
          <p:cNvSpPr txBox="1"/>
          <p:nvPr/>
        </p:nvSpPr>
        <p:spPr>
          <a:xfrm>
            <a:off x="633335" y="1595959"/>
            <a:ext cx="1963888" cy="646331"/>
          </a:xfrm>
          <a:prstGeom prst="rect">
            <a:avLst/>
          </a:prstGeom>
          <a:noFill/>
        </p:spPr>
        <p:txBody>
          <a:bodyPr wrap="square" rtlCol="0">
            <a:spAutoFit/>
          </a:bodyPr>
          <a:lstStyle/>
          <a:p>
            <a:pPr algn="ctr"/>
            <a:r>
              <a:rPr lang="en-GB" dirty="0"/>
              <a:t>Embedding vector</a:t>
            </a:r>
          </a:p>
        </p:txBody>
      </p:sp>
      <p:grpSp>
        <p:nvGrpSpPr>
          <p:cNvPr id="39" name="Group 38">
            <a:extLst>
              <a:ext uri="{FF2B5EF4-FFF2-40B4-BE49-F238E27FC236}">
                <a16:creationId xmlns:a16="http://schemas.microsoft.com/office/drawing/2014/main" id="{D1689907-3300-827B-FF87-0F9E708E6D3A}"/>
              </a:ext>
            </a:extLst>
          </p:cNvPr>
          <p:cNvGrpSpPr/>
          <p:nvPr/>
        </p:nvGrpSpPr>
        <p:grpSpPr>
          <a:xfrm>
            <a:off x="2030506" y="1547915"/>
            <a:ext cx="8450238" cy="2500531"/>
            <a:chOff x="2030506" y="1547915"/>
            <a:chExt cx="8450238" cy="2500531"/>
          </a:xfrm>
        </p:grpSpPr>
        <p:grpSp>
          <p:nvGrpSpPr>
            <p:cNvPr id="37" name="Group 36">
              <a:extLst>
                <a:ext uri="{FF2B5EF4-FFF2-40B4-BE49-F238E27FC236}">
                  <a16:creationId xmlns:a16="http://schemas.microsoft.com/office/drawing/2014/main" id="{18620761-031A-01FC-B05F-73833AB3E470}"/>
                </a:ext>
              </a:extLst>
            </p:cNvPr>
            <p:cNvGrpSpPr/>
            <p:nvPr/>
          </p:nvGrpSpPr>
          <p:grpSpPr>
            <a:xfrm>
              <a:off x="2030506" y="1547915"/>
              <a:ext cx="5021162" cy="2500531"/>
              <a:chOff x="2030506" y="1547915"/>
              <a:chExt cx="5021162" cy="2500531"/>
            </a:xfrm>
          </p:grpSpPr>
          <p:sp>
            <p:nvSpPr>
              <p:cNvPr id="32" name="Arrow: Right 31">
                <a:extLst>
                  <a:ext uri="{FF2B5EF4-FFF2-40B4-BE49-F238E27FC236}">
                    <a16:creationId xmlns:a16="http://schemas.microsoft.com/office/drawing/2014/main" id="{4E5F7230-D392-5682-C32A-DA50F82B5213}"/>
                  </a:ext>
                </a:extLst>
              </p:cNvPr>
              <p:cNvSpPr/>
              <p:nvPr/>
            </p:nvSpPr>
            <p:spPr>
              <a:xfrm>
                <a:off x="2030506" y="3039035"/>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9D4DEBE1-B904-72C7-EF92-207CF4283BDF}"/>
                  </a:ext>
                </a:extLst>
              </p:cNvPr>
              <p:cNvSpPr/>
              <p:nvPr/>
            </p:nvSpPr>
            <p:spPr>
              <a:xfrm>
                <a:off x="3193677" y="2315813"/>
                <a:ext cx="1196788" cy="1577101"/>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p:txBody>
          </p:sp>
          <p:graphicFrame>
            <p:nvGraphicFramePr>
              <p:cNvPr id="34" name="Content Placeholder 4">
                <a:extLst>
                  <a:ext uri="{FF2B5EF4-FFF2-40B4-BE49-F238E27FC236}">
                    <a16:creationId xmlns:a16="http://schemas.microsoft.com/office/drawing/2014/main" id="{0DD5B963-D13C-5FC5-F2F9-E39C252051AE}"/>
                  </a:ext>
                </a:extLst>
              </p:cNvPr>
              <p:cNvGraphicFramePr>
                <a:graphicFrameLocks/>
              </p:cNvGraphicFramePr>
              <p:nvPr/>
            </p:nvGraphicFramePr>
            <p:xfrm>
              <a:off x="5650605" y="2194246"/>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chemeClr val="accent5"/>
                        </a:solidFill>
                      </a:tcPr>
                    </a:tc>
                    <a:extLst>
                      <a:ext uri="{0D108BD9-81ED-4DB2-BD59-A6C34878D82A}">
                        <a16:rowId xmlns:a16="http://schemas.microsoft.com/office/drawing/2014/main" val="3557548173"/>
                      </a:ext>
                    </a:extLst>
                  </a:tr>
                  <a:tr h="370840">
                    <a:tc>
                      <a:txBody>
                        <a:bodyPr/>
                        <a:lstStyle/>
                        <a:p>
                          <a:endParaRPr lang="en-GB" dirty="0"/>
                        </a:p>
                      </a:txBody>
                      <a:tcPr>
                        <a:solidFill>
                          <a:schemeClr val="accent5"/>
                        </a:solidFill>
                      </a:tcPr>
                    </a:tc>
                    <a:extLst>
                      <a:ext uri="{0D108BD9-81ED-4DB2-BD59-A6C34878D82A}">
                        <a16:rowId xmlns:a16="http://schemas.microsoft.com/office/drawing/2014/main" val="2970414154"/>
                      </a:ext>
                    </a:extLst>
                  </a:tr>
                  <a:tr h="370840">
                    <a:tc>
                      <a:txBody>
                        <a:bodyPr/>
                        <a:lstStyle/>
                        <a:p>
                          <a:endParaRPr lang="en-GB" dirty="0"/>
                        </a:p>
                      </a:txBody>
                      <a:tcPr>
                        <a:solidFill>
                          <a:schemeClr val="accent5"/>
                        </a:solidFill>
                      </a:tcPr>
                    </a:tc>
                    <a:extLst>
                      <a:ext uri="{0D108BD9-81ED-4DB2-BD59-A6C34878D82A}">
                        <a16:rowId xmlns:a16="http://schemas.microsoft.com/office/drawing/2014/main" val="906825795"/>
                      </a:ext>
                    </a:extLst>
                  </a:tr>
                  <a:tr h="370840">
                    <a:tc>
                      <a:txBody>
                        <a:bodyPr/>
                        <a:lstStyle/>
                        <a:p>
                          <a:endParaRPr lang="en-GB" dirty="0"/>
                        </a:p>
                      </a:txBody>
                      <a:tcPr>
                        <a:solidFill>
                          <a:schemeClr val="accent5"/>
                        </a:solidFill>
                      </a:tcPr>
                    </a:tc>
                    <a:extLst>
                      <a:ext uri="{0D108BD9-81ED-4DB2-BD59-A6C34878D82A}">
                        <a16:rowId xmlns:a16="http://schemas.microsoft.com/office/drawing/2014/main" val="1096864878"/>
                      </a:ext>
                    </a:extLst>
                  </a:tr>
                  <a:tr h="370840">
                    <a:tc>
                      <a:txBody>
                        <a:bodyPr/>
                        <a:lstStyle/>
                        <a:p>
                          <a:endParaRPr lang="en-GB" dirty="0"/>
                        </a:p>
                      </a:txBody>
                      <a:tcPr>
                        <a:solidFill>
                          <a:schemeClr val="accent5"/>
                        </a:solidFill>
                      </a:tcPr>
                    </a:tc>
                    <a:extLst>
                      <a:ext uri="{0D108BD9-81ED-4DB2-BD59-A6C34878D82A}">
                        <a16:rowId xmlns:a16="http://schemas.microsoft.com/office/drawing/2014/main" val="1710943698"/>
                      </a:ext>
                    </a:extLst>
                  </a:tr>
                </a:tbl>
              </a:graphicData>
            </a:graphic>
          </p:graphicFrame>
          <p:sp>
            <p:nvSpPr>
              <p:cNvPr id="35" name="Arrow: Right 34">
                <a:extLst>
                  <a:ext uri="{FF2B5EF4-FFF2-40B4-BE49-F238E27FC236}">
                    <a16:creationId xmlns:a16="http://schemas.microsoft.com/office/drawing/2014/main" id="{504E16E8-DD4C-2D5D-8867-129B26F22A67}"/>
                  </a:ext>
                </a:extLst>
              </p:cNvPr>
              <p:cNvSpPr/>
              <p:nvPr/>
            </p:nvSpPr>
            <p:spPr>
              <a:xfrm>
                <a:off x="4643715" y="3009899"/>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82D899D7-EA35-43CC-11C2-86AAC4944589}"/>
                  </a:ext>
                </a:extLst>
              </p:cNvPr>
              <p:cNvSpPr txBox="1"/>
              <p:nvPr/>
            </p:nvSpPr>
            <p:spPr>
              <a:xfrm>
                <a:off x="4643715" y="1547915"/>
                <a:ext cx="2407953" cy="646331"/>
              </a:xfrm>
              <a:prstGeom prst="rect">
                <a:avLst/>
              </a:prstGeom>
              <a:noFill/>
            </p:spPr>
            <p:txBody>
              <a:bodyPr wrap="square" rtlCol="0">
                <a:spAutoFit/>
              </a:bodyPr>
              <a:lstStyle/>
              <a:p>
                <a:pPr algn="ctr"/>
                <a:r>
                  <a:rPr lang="en-GB" dirty="0"/>
                  <a:t>Output Embedding vector</a:t>
                </a:r>
              </a:p>
            </p:txBody>
          </p:sp>
        </p:grpSp>
        <p:sp>
          <p:nvSpPr>
            <p:cNvPr id="38" name="TextBox 37">
              <a:extLst>
                <a:ext uri="{FF2B5EF4-FFF2-40B4-BE49-F238E27FC236}">
                  <a16:creationId xmlns:a16="http://schemas.microsoft.com/office/drawing/2014/main" id="{309E4E41-1E40-93A3-2D0F-3742D585DE09}"/>
                </a:ext>
              </a:extLst>
            </p:cNvPr>
            <p:cNvSpPr txBox="1"/>
            <p:nvPr/>
          </p:nvSpPr>
          <p:spPr>
            <a:xfrm>
              <a:off x="7293791" y="2242290"/>
              <a:ext cx="3186953" cy="1569660"/>
            </a:xfrm>
            <a:prstGeom prst="rect">
              <a:avLst/>
            </a:prstGeom>
            <a:noFill/>
          </p:spPr>
          <p:txBody>
            <a:bodyPr wrap="square" rtlCol="0">
              <a:spAutoFit/>
            </a:bodyPr>
            <a:lstStyle/>
            <a:p>
              <a:r>
                <a:rPr lang="en-GB" sz="2400" dirty="0"/>
                <a:t>Parameters of neural network are learnt as part of the overall model training</a:t>
              </a:r>
            </a:p>
          </p:txBody>
        </p:sp>
      </p:grpSp>
    </p:spTree>
    <p:extLst>
      <p:ext uri="{BB962C8B-B14F-4D97-AF65-F5344CB8AC3E}">
        <p14:creationId xmlns:p14="http://schemas.microsoft.com/office/powerpoint/2010/main" val="94816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EF08B-B216-0FCC-DBE5-450FBB024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C1E2C-BEBC-776E-F2E4-6DE6E9DAECD4}"/>
              </a:ext>
            </a:extLst>
          </p:cNvPr>
          <p:cNvSpPr>
            <a:spLocks noGrp="1"/>
          </p:cNvSpPr>
          <p:nvPr>
            <p:ph type="title"/>
          </p:nvPr>
        </p:nvSpPr>
        <p:spPr>
          <a:xfrm>
            <a:off x="281940" y="304658"/>
            <a:ext cx="9555480" cy="805089"/>
          </a:xfrm>
        </p:spPr>
        <p:txBody>
          <a:bodyPr>
            <a:normAutofit fontScale="90000"/>
          </a:bodyPr>
          <a:lstStyle/>
          <a:p>
            <a:r>
              <a:rPr lang="en-GB" dirty="0"/>
              <a:t>Neural Network Sub-Layer: Mixture of Experts </a:t>
            </a:r>
          </a:p>
        </p:txBody>
      </p:sp>
      <p:sp>
        <p:nvSpPr>
          <p:cNvPr id="4" name="Slide Number Placeholder 3">
            <a:extLst>
              <a:ext uri="{FF2B5EF4-FFF2-40B4-BE49-F238E27FC236}">
                <a16:creationId xmlns:a16="http://schemas.microsoft.com/office/drawing/2014/main" id="{885BD271-B0AB-4AA4-604D-601C7ABC0EB6}"/>
              </a:ext>
            </a:extLst>
          </p:cNvPr>
          <p:cNvSpPr>
            <a:spLocks noGrp="1"/>
          </p:cNvSpPr>
          <p:nvPr>
            <p:ph type="sldNum" sz="quarter" idx="12"/>
          </p:nvPr>
        </p:nvSpPr>
        <p:spPr/>
        <p:txBody>
          <a:bodyPr/>
          <a:lstStyle/>
          <a:p>
            <a:fld id="{13DE89AE-BBCC-45F3-BDAA-E98C74995322}" type="slidenum">
              <a:rPr lang="en-GB" smtClean="0"/>
              <a:t>35</a:t>
            </a:fld>
            <a:endParaRPr lang="en-GB"/>
          </a:p>
        </p:txBody>
      </p:sp>
      <p:graphicFrame>
        <p:nvGraphicFramePr>
          <p:cNvPr id="27" name="Content Placeholder 4">
            <a:extLst>
              <a:ext uri="{FF2B5EF4-FFF2-40B4-BE49-F238E27FC236}">
                <a16:creationId xmlns:a16="http://schemas.microsoft.com/office/drawing/2014/main" id="{AB582268-0192-912D-05F0-352F5F62C099}"/>
              </a:ext>
            </a:extLst>
          </p:cNvPr>
          <p:cNvGraphicFramePr>
            <a:graphicFrameLocks noGrp="1"/>
          </p:cNvGraphicFramePr>
          <p:nvPr>
            <p:ph idx="1"/>
          </p:nvPr>
        </p:nvGraphicFramePr>
        <p:xfrm>
          <a:off x="532216" y="2385196"/>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rgbClr val="C00000"/>
                    </a:solidFill>
                  </a:tcPr>
                </a:tc>
                <a:extLst>
                  <a:ext uri="{0D108BD9-81ED-4DB2-BD59-A6C34878D82A}">
                    <a16:rowId xmlns:a16="http://schemas.microsoft.com/office/drawing/2014/main" val="3557548173"/>
                  </a:ext>
                </a:extLst>
              </a:tr>
              <a:tr h="370840">
                <a:tc>
                  <a:txBody>
                    <a:bodyPr/>
                    <a:lstStyle/>
                    <a:p>
                      <a:endParaRPr lang="en-GB" dirty="0"/>
                    </a:p>
                  </a:txBody>
                  <a:tcPr>
                    <a:solidFill>
                      <a:srgbClr val="C00000"/>
                    </a:solidFill>
                  </a:tcPr>
                </a:tc>
                <a:extLst>
                  <a:ext uri="{0D108BD9-81ED-4DB2-BD59-A6C34878D82A}">
                    <a16:rowId xmlns:a16="http://schemas.microsoft.com/office/drawing/2014/main" val="2970414154"/>
                  </a:ext>
                </a:extLst>
              </a:tr>
              <a:tr h="370840">
                <a:tc>
                  <a:txBody>
                    <a:bodyPr/>
                    <a:lstStyle/>
                    <a:p>
                      <a:endParaRPr lang="en-GB" dirty="0"/>
                    </a:p>
                  </a:txBody>
                  <a:tcPr>
                    <a:solidFill>
                      <a:srgbClr val="C00000"/>
                    </a:solidFill>
                  </a:tcPr>
                </a:tc>
                <a:extLst>
                  <a:ext uri="{0D108BD9-81ED-4DB2-BD59-A6C34878D82A}">
                    <a16:rowId xmlns:a16="http://schemas.microsoft.com/office/drawing/2014/main" val="906825795"/>
                  </a:ext>
                </a:extLst>
              </a:tr>
              <a:tr h="370840">
                <a:tc>
                  <a:txBody>
                    <a:bodyPr/>
                    <a:lstStyle/>
                    <a:p>
                      <a:endParaRPr lang="en-GB" dirty="0"/>
                    </a:p>
                  </a:txBody>
                  <a:tcPr>
                    <a:solidFill>
                      <a:srgbClr val="C00000"/>
                    </a:solidFill>
                  </a:tcPr>
                </a:tc>
                <a:extLst>
                  <a:ext uri="{0D108BD9-81ED-4DB2-BD59-A6C34878D82A}">
                    <a16:rowId xmlns:a16="http://schemas.microsoft.com/office/drawing/2014/main" val="1096864878"/>
                  </a:ext>
                </a:extLst>
              </a:tr>
              <a:tr h="370840">
                <a:tc>
                  <a:txBody>
                    <a:bodyPr/>
                    <a:lstStyle/>
                    <a:p>
                      <a:endParaRPr lang="en-GB" dirty="0"/>
                    </a:p>
                  </a:txBody>
                  <a:tcPr>
                    <a:solidFill>
                      <a:srgbClr val="C00000"/>
                    </a:solidFill>
                  </a:tcPr>
                </a:tc>
                <a:extLst>
                  <a:ext uri="{0D108BD9-81ED-4DB2-BD59-A6C34878D82A}">
                    <a16:rowId xmlns:a16="http://schemas.microsoft.com/office/drawing/2014/main" val="1710943698"/>
                  </a:ext>
                </a:extLst>
              </a:tr>
            </a:tbl>
          </a:graphicData>
        </a:graphic>
      </p:graphicFrame>
      <p:sp>
        <p:nvSpPr>
          <p:cNvPr id="30" name="TextBox 29">
            <a:extLst>
              <a:ext uri="{FF2B5EF4-FFF2-40B4-BE49-F238E27FC236}">
                <a16:creationId xmlns:a16="http://schemas.microsoft.com/office/drawing/2014/main" id="{6290F8BB-AE94-467E-5316-244017C568B1}"/>
              </a:ext>
            </a:extLst>
          </p:cNvPr>
          <p:cNvSpPr txBox="1"/>
          <p:nvPr/>
        </p:nvSpPr>
        <p:spPr>
          <a:xfrm>
            <a:off x="54215" y="1771219"/>
            <a:ext cx="1368487" cy="646331"/>
          </a:xfrm>
          <a:prstGeom prst="rect">
            <a:avLst/>
          </a:prstGeom>
          <a:noFill/>
        </p:spPr>
        <p:txBody>
          <a:bodyPr wrap="square" rtlCol="0">
            <a:spAutoFit/>
          </a:bodyPr>
          <a:lstStyle/>
          <a:p>
            <a:pPr algn="ctr"/>
            <a:r>
              <a:rPr lang="en-GB" dirty="0"/>
              <a:t>Embedding vector</a:t>
            </a:r>
          </a:p>
        </p:txBody>
      </p:sp>
      <p:sp>
        <p:nvSpPr>
          <p:cNvPr id="32" name="Arrow: Right 31">
            <a:extLst>
              <a:ext uri="{FF2B5EF4-FFF2-40B4-BE49-F238E27FC236}">
                <a16:creationId xmlns:a16="http://schemas.microsoft.com/office/drawing/2014/main" id="{3F53B177-5E73-42D3-BE34-725BCD22B064}"/>
              </a:ext>
            </a:extLst>
          </p:cNvPr>
          <p:cNvSpPr/>
          <p:nvPr/>
        </p:nvSpPr>
        <p:spPr>
          <a:xfrm>
            <a:off x="4354606" y="3039035"/>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4115950B-39FF-4947-9762-833CA835724B}"/>
              </a:ext>
            </a:extLst>
          </p:cNvPr>
          <p:cNvSpPr/>
          <p:nvPr/>
        </p:nvSpPr>
        <p:spPr>
          <a:xfrm>
            <a:off x="5517777" y="1340454"/>
            <a:ext cx="1164963" cy="95182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p:txBody>
      </p:sp>
      <p:sp>
        <p:nvSpPr>
          <p:cNvPr id="35" name="Arrow: Right 34">
            <a:extLst>
              <a:ext uri="{FF2B5EF4-FFF2-40B4-BE49-F238E27FC236}">
                <a16:creationId xmlns:a16="http://schemas.microsoft.com/office/drawing/2014/main" id="{4718E3AC-C53A-CFA4-4B48-197E024A19E1}"/>
              </a:ext>
            </a:extLst>
          </p:cNvPr>
          <p:cNvSpPr/>
          <p:nvPr/>
        </p:nvSpPr>
        <p:spPr>
          <a:xfrm>
            <a:off x="9680535" y="3009899"/>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9179CD64-EA11-BE06-6145-731EA5E967A0}"/>
              </a:ext>
            </a:extLst>
          </p:cNvPr>
          <p:cNvGrpSpPr/>
          <p:nvPr/>
        </p:nvGrpSpPr>
        <p:grpSpPr>
          <a:xfrm>
            <a:off x="9650055" y="1806995"/>
            <a:ext cx="2407953" cy="2500531"/>
            <a:chOff x="4643715" y="1547915"/>
            <a:chExt cx="2407953" cy="2500531"/>
          </a:xfrm>
        </p:grpSpPr>
        <p:graphicFrame>
          <p:nvGraphicFramePr>
            <p:cNvPr id="34" name="Content Placeholder 4">
              <a:extLst>
                <a:ext uri="{FF2B5EF4-FFF2-40B4-BE49-F238E27FC236}">
                  <a16:creationId xmlns:a16="http://schemas.microsoft.com/office/drawing/2014/main" id="{2F7DAB4E-227E-B47D-425B-2FE652D761E4}"/>
                </a:ext>
              </a:extLst>
            </p:cNvPr>
            <p:cNvGraphicFramePr>
              <a:graphicFrameLocks/>
            </p:cNvGraphicFramePr>
            <p:nvPr/>
          </p:nvGraphicFramePr>
          <p:xfrm>
            <a:off x="5650605" y="2194246"/>
            <a:ext cx="383046" cy="1854200"/>
          </p:xfrm>
          <a:graphic>
            <a:graphicData uri="http://schemas.openxmlformats.org/drawingml/2006/table">
              <a:tbl>
                <a:tblPr>
                  <a:tableStyleId>{5C22544A-7EE6-4342-B048-85BDC9FD1C3A}</a:tableStyleId>
                </a:tblPr>
                <a:tblGrid>
                  <a:gridCol w="383046">
                    <a:extLst>
                      <a:ext uri="{9D8B030D-6E8A-4147-A177-3AD203B41FA5}">
                        <a16:colId xmlns:a16="http://schemas.microsoft.com/office/drawing/2014/main" val="2505470103"/>
                      </a:ext>
                    </a:extLst>
                  </a:gridCol>
                </a:tblGrid>
                <a:tr h="370840">
                  <a:tc>
                    <a:txBody>
                      <a:bodyPr/>
                      <a:lstStyle/>
                      <a:p>
                        <a:endParaRPr lang="en-GB" dirty="0"/>
                      </a:p>
                    </a:txBody>
                    <a:tcPr>
                      <a:solidFill>
                        <a:schemeClr val="accent5"/>
                      </a:solidFill>
                    </a:tcPr>
                  </a:tc>
                  <a:extLst>
                    <a:ext uri="{0D108BD9-81ED-4DB2-BD59-A6C34878D82A}">
                      <a16:rowId xmlns:a16="http://schemas.microsoft.com/office/drawing/2014/main" val="3557548173"/>
                    </a:ext>
                  </a:extLst>
                </a:tr>
                <a:tr h="370840">
                  <a:tc>
                    <a:txBody>
                      <a:bodyPr/>
                      <a:lstStyle/>
                      <a:p>
                        <a:endParaRPr lang="en-GB" dirty="0"/>
                      </a:p>
                    </a:txBody>
                    <a:tcPr>
                      <a:solidFill>
                        <a:schemeClr val="accent5"/>
                      </a:solidFill>
                    </a:tcPr>
                  </a:tc>
                  <a:extLst>
                    <a:ext uri="{0D108BD9-81ED-4DB2-BD59-A6C34878D82A}">
                      <a16:rowId xmlns:a16="http://schemas.microsoft.com/office/drawing/2014/main" val="2970414154"/>
                    </a:ext>
                  </a:extLst>
                </a:tr>
                <a:tr h="370840">
                  <a:tc>
                    <a:txBody>
                      <a:bodyPr/>
                      <a:lstStyle/>
                      <a:p>
                        <a:endParaRPr lang="en-GB" dirty="0"/>
                      </a:p>
                    </a:txBody>
                    <a:tcPr>
                      <a:solidFill>
                        <a:schemeClr val="accent5"/>
                      </a:solidFill>
                    </a:tcPr>
                  </a:tc>
                  <a:extLst>
                    <a:ext uri="{0D108BD9-81ED-4DB2-BD59-A6C34878D82A}">
                      <a16:rowId xmlns:a16="http://schemas.microsoft.com/office/drawing/2014/main" val="906825795"/>
                    </a:ext>
                  </a:extLst>
                </a:tr>
                <a:tr h="370840">
                  <a:tc>
                    <a:txBody>
                      <a:bodyPr/>
                      <a:lstStyle/>
                      <a:p>
                        <a:endParaRPr lang="en-GB" dirty="0"/>
                      </a:p>
                    </a:txBody>
                    <a:tcPr>
                      <a:solidFill>
                        <a:schemeClr val="accent5"/>
                      </a:solidFill>
                    </a:tcPr>
                  </a:tc>
                  <a:extLst>
                    <a:ext uri="{0D108BD9-81ED-4DB2-BD59-A6C34878D82A}">
                      <a16:rowId xmlns:a16="http://schemas.microsoft.com/office/drawing/2014/main" val="1096864878"/>
                    </a:ext>
                  </a:extLst>
                </a:tr>
                <a:tr h="370840">
                  <a:tc>
                    <a:txBody>
                      <a:bodyPr/>
                      <a:lstStyle/>
                      <a:p>
                        <a:endParaRPr lang="en-GB" dirty="0"/>
                      </a:p>
                    </a:txBody>
                    <a:tcPr>
                      <a:solidFill>
                        <a:schemeClr val="accent5"/>
                      </a:solidFill>
                    </a:tcPr>
                  </a:tc>
                  <a:extLst>
                    <a:ext uri="{0D108BD9-81ED-4DB2-BD59-A6C34878D82A}">
                      <a16:rowId xmlns:a16="http://schemas.microsoft.com/office/drawing/2014/main" val="1710943698"/>
                    </a:ext>
                  </a:extLst>
                </a:tr>
              </a:tbl>
            </a:graphicData>
          </a:graphic>
        </p:graphicFrame>
        <p:sp>
          <p:nvSpPr>
            <p:cNvPr id="36" name="TextBox 35">
              <a:extLst>
                <a:ext uri="{FF2B5EF4-FFF2-40B4-BE49-F238E27FC236}">
                  <a16:creationId xmlns:a16="http://schemas.microsoft.com/office/drawing/2014/main" id="{9DBECEA6-A2CB-EF97-ADBD-6FF8FFCBF5DD}"/>
                </a:ext>
              </a:extLst>
            </p:cNvPr>
            <p:cNvSpPr txBox="1"/>
            <p:nvPr/>
          </p:nvSpPr>
          <p:spPr>
            <a:xfrm>
              <a:off x="4643715" y="1547915"/>
              <a:ext cx="2407953" cy="646331"/>
            </a:xfrm>
            <a:prstGeom prst="rect">
              <a:avLst/>
            </a:prstGeom>
            <a:noFill/>
          </p:spPr>
          <p:txBody>
            <a:bodyPr wrap="square" rtlCol="0">
              <a:spAutoFit/>
            </a:bodyPr>
            <a:lstStyle/>
            <a:p>
              <a:pPr algn="ctr"/>
              <a:r>
                <a:rPr lang="en-GB" dirty="0"/>
                <a:t>Output Embedding vector</a:t>
              </a:r>
            </a:p>
          </p:txBody>
        </p:sp>
      </p:grpSp>
      <p:sp>
        <p:nvSpPr>
          <p:cNvPr id="6" name="Rectangle: Rounded Corners 5">
            <a:extLst>
              <a:ext uri="{FF2B5EF4-FFF2-40B4-BE49-F238E27FC236}">
                <a16:creationId xmlns:a16="http://schemas.microsoft.com/office/drawing/2014/main" id="{2F514088-B035-B56C-7EB7-6151435B8526}"/>
              </a:ext>
            </a:extLst>
          </p:cNvPr>
          <p:cNvSpPr/>
          <p:nvPr/>
        </p:nvSpPr>
        <p:spPr>
          <a:xfrm>
            <a:off x="5540637" y="2658714"/>
            <a:ext cx="1164963" cy="95182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p:txBody>
      </p:sp>
      <p:sp>
        <p:nvSpPr>
          <p:cNvPr id="8" name="Rectangle: Rounded Corners 7">
            <a:extLst>
              <a:ext uri="{FF2B5EF4-FFF2-40B4-BE49-F238E27FC236}">
                <a16:creationId xmlns:a16="http://schemas.microsoft.com/office/drawing/2014/main" id="{9D0A91BE-E45E-1798-49C4-8D6C4245BC79}"/>
              </a:ext>
            </a:extLst>
          </p:cNvPr>
          <p:cNvSpPr/>
          <p:nvPr/>
        </p:nvSpPr>
        <p:spPr>
          <a:xfrm>
            <a:off x="5533017" y="3976974"/>
            <a:ext cx="1164963" cy="951822"/>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p:txBody>
      </p:sp>
      <p:sp>
        <p:nvSpPr>
          <p:cNvPr id="13" name="Arrow: Right 12">
            <a:extLst>
              <a:ext uri="{FF2B5EF4-FFF2-40B4-BE49-F238E27FC236}">
                <a16:creationId xmlns:a16="http://schemas.microsoft.com/office/drawing/2014/main" id="{0F535B96-0889-BE4D-DD22-699FED981A6D}"/>
              </a:ext>
            </a:extLst>
          </p:cNvPr>
          <p:cNvSpPr/>
          <p:nvPr/>
        </p:nvSpPr>
        <p:spPr>
          <a:xfrm rot="19385034">
            <a:off x="4309215" y="2510446"/>
            <a:ext cx="1227179" cy="218556"/>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Right 15">
            <a:extLst>
              <a:ext uri="{FF2B5EF4-FFF2-40B4-BE49-F238E27FC236}">
                <a16:creationId xmlns:a16="http://schemas.microsoft.com/office/drawing/2014/main" id="{FB1ECA50-0C7C-FE99-5A88-03DC10AE260F}"/>
              </a:ext>
            </a:extLst>
          </p:cNvPr>
          <p:cNvSpPr/>
          <p:nvPr/>
        </p:nvSpPr>
        <p:spPr>
          <a:xfrm rot="1918550">
            <a:off x="4274623" y="3600717"/>
            <a:ext cx="1329955" cy="235291"/>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8EE1A26-959B-E7BB-A192-0EB419E3DDF2}"/>
              </a:ext>
            </a:extLst>
          </p:cNvPr>
          <p:cNvSpPr txBox="1"/>
          <p:nvPr/>
        </p:nvSpPr>
        <p:spPr>
          <a:xfrm>
            <a:off x="7635240" y="2474805"/>
            <a:ext cx="2202180" cy="1200329"/>
          </a:xfrm>
          <a:prstGeom prst="rect">
            <a:avLst/>
          </a:prstGeom>
          <a:noFill/>
        </p:spPr>
        <p:txBody>
          <a:bodyPr wrap="square" rtlCol="0">
            <a:spAutoFit/>
          </a:bodyPr>
          <a:lstStyle/>
          <a:p>
            <a:pPr algn="ctr"/>
            <a:r>
              <a:rPr lang="en-GB" sz="2400" dirty="0" err="1"/>
              <a:t>TopK</a:t>
            </a:r>
            <a:r>
              <a:rPr lang="en-GB" sz="2400" dirty="0"/>
              <a:t> weighted average, e.g. top 2 experts</a:t>
            </a:r>
          </a:p>
        </p:txBody>
      </p:sp>
      <p:sp>
        <p:nvSpPr>
          <p:cNvPr id="19" name="Arrow: Right 18">
            <a:extLst>
              <a:ext uri="{FF2B5EF4-FFF2-40B4-BE49-F238E27FC236}">
                <a16:creationId xmlns:a16="http://schemas.microsoft.com/office/drawing/2014/main" id="{E6C725DE-4208-2E74-8270-909521F23356}"/>
              </a:ext>
            </a:extLst>
          </p:cNvPr>
          <p:cNvSpPr/>
          <p:nvPr/>
        </p:nvSpPr>
        <p:spPr>
          <a:xfrm>
            <a:off x="6853966" y="3046655"/>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10BB7BF3-E197-FEFD-964E-BB497DF1551B}"/>
              </a:ext>
            </a:extLst>
          </p:cNvPr>
          <p:cNvSpPr/>
          <p:nvPr/>
        </p:nvSpPr>
        <p:spPr>
          <a:xfrm>
            <a:off x="2135060" y="2315813"/>
            <a:ext cx="2069083" cy="19132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Gating Router: decides </a:t>
            </a:r>
            <a:r>
              <a:rPr lang="en-GB" dirty="0" err="1"/>
              <a:t>TopK</a:t>
            </a:r>
            <a:r>
              <a:rPr lang="en-GB" dirty="0"/>
              <a:t> weights</a:t>
            </a:r>
          </a:p>
        </p:txBody>
      </p:sp>
      <p:sp>
        <p:nvSpPr>
          <p:cNvPr id="22" name="Arrow: Right 21">
            <a:extLst>
              <a:ext uri="{FF2B5EF4-FFF2-40B4-BE49-F238E27FC236}">
                <a16:creationId xmlns:a16="http://schemas.microsoft.com/office/drawing/2014/main" id="{E54D1C07-A3FB-52A8-92F6-1EA398C4034F}"/>
              </a:ext>
            </a:extLst>
          </p:cNvPr>
          <p:cNvSpPr/>
          <p:nvPr/>
        </p:nvSpPr>
        <p:spPr>
          <a:xfrm>
            <a:off x="1078006" y="3039035"/>
            <a:ext cx="867335" cy="228600"/>
          </a:xfrm>
          <a:prstGeom prst="rightArrow">
            <a:avLst/>
          </a:prstGeom>
          <a:solidFill>
            <a:schemeClr val="tx1"/>
          </a:solid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71610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B773C-D0F0-EFAC-DDC7-08D60BEB8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DAF6D-0FAE-8043-24D5-FF0912E31770}"/>
              </a:ext>
            </a:extLst>
          </p:cNvPr>
          <p:cNvSpPr>
            <a:spLocks noGrp="1"/>
          </p:cNvSpPr>
          <p:nvPr>
            <p:ph type="title"/>
          </p:nvPr>
        </p:nvSpPr>
        <p:spPr>
          <a:xfrm>
            <a:off x="838200" y="365125"/>
            <a:ext cx="6155871" cy="805089"/>
          </a:xfrm>
        </p:spPr>
        <p:txBody>
          <a:bodyPr>
            <a:normAutofit/>
          </a:bodyPr>
          <a:lstStyle/>
          <a:p>
            <a:r>
              <a:rPr lang="en-GB" dirty="0"/>
              <a:t>The Transformer Block</a:t>
            </a:r>
          </a:p>
        </p:txBody>
      </p:sp>
      <p:sp>
        <p:nvSpPr>
          <p:cNvPr id="4" name="Slide Number Placeholder 3">
            <a:extLst>
              <a:ext uri="{FF2B5EF4-FFF2-40B4-BE49-F238E27FC236}">
                <a16:creationId xmlns:a16="http://schemas.microsoft.com/office/drawing/2014/main" id="{A106AB13-D538-45A7-74C4-D08B1DE7E5B8}"/>
              </a:ext>
            </a:extLst>
          </p:cNvPr>
          <p:cNvSpPr>
            <a:spLocks noGrp="1"/>
          </p:cNvSpPr>
          <p:nvPr>
            <p:ph type="sldNum" sz="quarter" idx="12"/>
          </p:nvPr>
        </p:nvSpPr>
        <p:spPr/>
        <p:txBody>
          <a:bodyPr/>
          <a:lstStyle/>
          <a:p>
            <a:fld id="{13DE89AE-BBCC-45F3-BDAA-E98C74995322}" type="slidenum">
              <a:rPr lang="en-GB" smtClean="0"/>
              <a:t>36</a:t>
            </a:fld>
            <a:endParaRPr lang="en-GB"/>
          </a:p>
        </p:txBody>
      </p:sp>
      <p:sp>
        <p:nvSpPr>
          <p:cNvPr id="18" name="TextBox 17">
            <a:extLst>
              <a:ext uri="{FF2B5EF4-FFF2-40B4-BE49-F238E27FC236}">
                <a16:creationId xmlns:a16="http://schemas.microsoft.com/office/drawing/2014/main" id="{9E94FE71-8EA6-54AD-B37B-845767F78A96}"/>
              </a:ext>
            </a:extLst>
          </p:cNvPr>
          <p:cNvSpPr txBox="1"/>
          <p:nvPr/>
        </p:nvSpPr>
        <p:spPr>
          <a:xfrm>
            <a:off x="519623" y="1457697"/>
            <a:ext cx="1524032" cy="369332"/>
          </a:xfrm>
          <a:prstGeom prst="rect">
            <a:avLst/>
          </a:prstGeom>
          <a:noFill/>
        </p:spPr>
        <p:txBody>
          <a:bodyPr wrap="square" rtlCol="0">
            <a:spAutoFit/>
          </a:bodyPr>
          <a:lstStyle/>
          <a:p>
            <a:pPr algn="ctr"/>
            <a:r>
              <a:rPr lang="en-GB" dirty="0"/>
              <a:t>Input embeddings</a:t>
            </a:r>
          </a:p>
        </p:txBody>
      </p:sp>
      <p:grpSp>
        <p:nvGrpSpPr>
          <p:cNvPr id="22" name="Group 21">
            <a:extLst>
              <a:ext uri="{FF2B5EF4-FFF2-40B4-BE49-F238E27FC236}">
                <a16:creationId xmlns:a16="http://schemas.microsoft.com/office/drawing/2014/main" id="{718A75EB-D46E-2396-D029-02210FB8AD47}"/>
              </a:ext>
            </a:extLst>
          </p:cNvPr>
          <p:cNvGrpSpPr/>
          <p:nvPr/>
        </p:nvGrpSpPr>
        <p:grpSpPr>
          <a:xfrm>
            <a:off x="105497" y="1645817"/>
            <a:ext cx="8668694" cy="2454088"/>
            <a:chOff x="555985" y="1645817"/>
            <a:chExt cx="8668694" cy="2454088"/>
          </a:xfrm>
        </p:grpSpPr>
        <p:graphicFrame>
          <p:nvGraphicFramePr>
            <p:cNvPr id="17" name="Content Placeholder 4">
              <a:extLst>
                <a:ext uri="{FF2B5EF4-FFF2-40B4-BE49-F238E27FC236}">
                  <a16:creationId xmlns:a16="http://schemas.microsoft.com/office/drawing/2014/main" id="{35C7475A-BA61-5F1D-EAE0-06111B32D7F3}"/>
                </a:ext>
              </a:extLst>
            </p:cNvPr>
            <p:cNvGraphicFramePr>
              <a:graphicFrameLocks/>
            </p:cNvGraphicFramePr>
            <p:nvPr/>
          </p:nvGraphicFramePr>
          <p:xfrm>
            <a:off x="555985" y="2071906"/>
            <a:ext cx="2450800" cy="1601910"/>
          </p:xfrm>
          <a:graphic>
            <a:graphicData uri="http://schemas.openxmlformats.org/drawingml/2006/table">
              <a:tbl>
                <a:tblPr firstRow="1">
                  <a:tableStyleId>{5C22544A-7EE6-4342-B048-85BDC9FD1C3A}</a:tableStyleId>
                </a:tblPr>
                <a:tblGrid>
                  <a:gridCol w="490160">
                    <a:extLst>
                      <a:ext uri="{9D8B030D-6E8A-4147-A177-3AD203B41FA5}">
                        <a16:colId xmlns:a16="http://schemas.microsoft.com/office/drawing/2014/main" val="116916505"/>
                      </a:ext>
                    </a:extLst>
                  </a:gridCol>
                  <a:gridCol w="490160">
                    <a:extLst>
                      <a:ext uri="{9D8B030D-6E8A-4147-A177-3AD203B41FA5}">
                        <a16:colId xmlns:a16="http://schemas.microsoft.com/office/drawing/2014/main" val="858692082"/>
                      </a:ext>
                    </a:extLst>
                  </a:gridCol>
                  <a:gridCol w="490160">
                    <a:extLst>
                      <a:ext uri="{9D8B030D-6E8A-4147-A177-3AD203B41FA5}">
                        <a16:colId xmlns:a16="http://schemas.microsoft.com/office/drawing/2014/main" val="1217996601"/>
                      </a:ext>
                    </a:extLst>
                  </a:gridCol>
                  <a:gridCol w="490160">
                    <a:extLst>
                      <a:ext uri="{9D8B030D-6E8A-4147-A177-3AD203B41FA5}">
                        <a16:colId xmlns:a16="http://schemas.microsoft.com/office/drawing/2014/main" val="1242521241"/>
                      </a:ext>
                    </a:extLst>
                  </a:gridCol>
                  <a:gridCol w="490160">
                    <a:extLst>
                      <a:ext uri="{9D8B030D-6E8A-4147-A177-3AD203B41FA5}">
                        <a16:colId xmlns:a16="http://schemas.microsoft.com/office/drawing/2014/main" val="3847871238"/>
                      </a:ext>
                    </a:extLst>
                  </a:gridCol>
                </a:tblGrid>
                <a:tr h="320382">
                  <a:tc>
                    <a:txBody>
                      <a:bodyPr/>
                      <a:lstStyle/>
                      <a:p>
                        <a:r>
                          <a:rPr lang="en-GB" sz="1400" dirty="0"/>
                          <a:t>the</a:t>
                        </a:r>
                      </a:p>
                    </a:txBody>
                    <a:tcPr/>
                  </a:tc>
                  <a:tc>
                    <a:txBody>
                      <a:bodyPr/>
                      <a:lstStyle/>
                      <a:p>
                        <a:r>
                          <a:rPr lang="en-GB" sz="1400" dirty="0"/>
                          <a:t>cat</a:t>
                        </a:r>
                      </a:p>
                    </a:txBody>
                    <a:tcPr/>
                  </a:tc>
                  <a:tc>
                    <a:txBody>
                      <a:bodyPr/>
                      <a:lstStyle/>
                      <a:p>
                        <a:r>
                          <a:rPr lang="en-GB" sz="1400" dirty="0"/>
                          <a:t>sat</a:t>
                        </a:r>
                      </a:p>
                    </a:txBody>
                    <a:tcPr/>
                  </a:tc>
                  <a:tc>
                    <a:txBody>
                      <a:bodyPr/>
                      <a:lstStyle/>
                      <a:p>
                        <a:r>
                          <a:rPr lang="en-GB" sz="1400" dirty="0"/>
                          <a:t>on</a:t>
                        </a:r>
                      </a:p>
                    </a:txBody>
                    <a:tcPr/>
                  </a:tc>
                  <a:tc>
                    <a:txBody>
                      <a:bodyPr/>
                      <a:lstStyle/>
                      <a:p>
                        <a:r>
                          <a:rPr lang="en-GB" sz="1400" dirty="0"/>
                          <a:t>the</a:t>
                        </a:r>
                      </a:p>
                    </a:txBody>
                    <a:tcPr/>
                  </a:tc>
                  <a:extLst>
                    <a:ext uri="{0D108BD9-81ED-4DB2-BD59-A6C34878D82A}">
                      <a16:rowId xmlns:a16="http://schemas.microsoft.com/office/drawing/2014/main" val="696599091"/>
                    </a:ext>
                  </a:extLst>
                </a:tr>
                <a:tr h="320382">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extLst>
                    <a:ext uri="{0D108BD9-81ED-4DB2-BD59-A6C34878D82A}">
                      <a16:rowId xmlns:a16="http://schemas.microsoft.com/office/drawing/2014/main" val="1533931161"/>
                    </a:ext>
                  </a:extLst>
                </a:tr>
                <a:tr h="320382">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extLst>
                    <a:ext uri="{0D108BD9-81ED-4DB2-BD59-A6C34878D82A}">
                      <a16:rowId xmlns:a16="http://schemas.microsoft.com/office/drawing/2014/main" val="1732967676"/>
                    </a:ext>
                  </a:extLst>
                </a:tr>
                <a:tr h="320382">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extLst>
                    <a:ext uri="{0D108BD9-81ED-4DB2-BD59-A6C34878D82A}">
                      <a16:rowId xmlns:a16="http://schemas.microsoft.com/office/drawing/2014/main" val="3626587743"/>
                    </a:ext>
                  </a:extLst>
                </a:tr>
                <a:tr h="320382">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grpSp>
          <p:nvGrpSpPr>
            <p:cNvPr id="21" name="Group 20">
              <a:extLst>
                <a:ext uri="{FF2B5EF4-FFF2-40B4-BE49-F238E27FC236}">
                  <a16:creationId xmlns:a16="http://schemas.microsoft.com/office/drawing/2014/main" id="{99E8F14F-2B09-5FCF-EDDA-B8C3AB261528}"/>
                </a:ext>
              </a:extLst>
            </p:cNvPr>
            <p:cNvGrpSpPr/>
            <p:nvPr/>
          </p:nvGrpSpPr>
          <p:grpSpPr>
            <a:xfrm>
              <a:off x="3845856" y="1645817"/>
              <a:ext cx="5378823" cy="2454088"/>
              <a:chOff x="4081182" y="1600201"/>
              <a:chExt cx="5378823" cy="2454088"/>
            </a:xfrm>
          </p:grpSpPr>
          <p:sp>
            <p:nvSpPr>
              <p:cNvPr id="12" name="Rectangle: Rounded Corners 11">
                <a:extLst>
                  <a:ext uri="{FF2B5EF4-FFF2-40B4-BE49-F238E27FC236}">
                    <a16:creationId xmlns:a16="http://schemas.microsoft.com/office/drawing/2014/main" id="{8BCF3744-9640-B5C6-DEAE-24F81C576D58}"/>
                  </a:ext>
                </a:extLst>
              </p:cNvPr>
              <p:cNvSpPr/>
              <p:nvPr/>
            </p:nvSpPr>
            <p:spPr>
              <a:xfrm>
                <a:off x="5001192" y="1781413"/>
                <a:ext cx="1250575" cy="20305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Multi-headed attention</a:t>
                </a:r>
              </a:p>
            </p:txBody>
          </p:sp>
          <p:sp>
            <p:nvSpPr>
              <p:cNvPr id="19" name="Rectangle: Rounded Corners 18">
                <a:extLst>
                  <a:ext uri="{FF2B5EF4-FFF2-40B4-BE49-F238E27FC236}">
                    <a16:creationId xmlns:a16="http://schemas.microsoft.com/office/drawing/2014/main" id="{D8797219-7BF9-F725-6208-DCA7C803D349}"/>
                  </a:ext>
                </a:extLst>
              </p:cNvPr>
              <p:cNvSpPr/>
              <p:nvPr/>
            </p:nvSpPr>
            <p:spPr>
              <a:xfrm>
                <a:off x="4081182" y="1600201"/>
                <a:ext cx="5378823" cy="2454088"/>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21772755-F3E4-5366-91C2-A78FEC8464C2}"/>
                  </a:ext>
                </a:extLst>
              </p:cNvPr>
              <p:cNvSpPr/>
              <p:nvPr/>
            </p:nvSpPr>
            <p:spPr>
              <a:xfrm>
                <a:off x="8072717" y="1811992"/>
                <a:ext cx="1250575" cy="20305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a:p>
                <a:pPr algn="ctr"/>
                <a:r>
                  <a:rPr lang="en-GB" dirty="0"/>
                  <a:t>Layer</a:t>
                </a:r>
              </a:p>
            </p:txBody>
          </p:sp>
        </p:grpSp>
      </p:grpSp>
      <p:graphicFrame>
        <p:nvGraphicFramePr>
          <p:cNvPr id="26" name="Content Placeholder 4">
            <a:extLst>
              <a:ext uri="{FF2B5EF4-FFF2-40B4-BE49-F238E27FC236}">
                <a16:creationId xmlns:a16="http://schemas.microsoft.com/office/drawing/2014/main" id="{EDC899F0-8284-F1D1-43C8-13EFB36798B0}"/>
              </a:ext>
            </a:extLst>
          </p:cNvPr>
          <p:cNvGraphicFramePr>
            <a:graphicFrameLocks/>
          </p:cNvGraphicFramePr>
          <p:nvPr/>
        </p:nvGraphicFramePr>
        <p:xfrm>
          <a:off x="9630475" y="2042768"/>
          <a:ext cx="2450800" cy="1601910"/>
        </p:xfrm>
        <a:graphic>
          <a:graphicData uri="http://schemas.openxmlformats.org/drawingml/2006/table">
            <a:tbl>
              <a:tblPr firstRow="1">
                <a:tableStyleId>{5C22544A-7EE6-4342-B048-85BDC9FD1C3A}</a:tableStyleId>
              </a:tblPr>
              <a:tblGrid>
                <a:gridCol w="490160">
                  <a:extLst>
                    <a:ext uri="{9D8B030D-6E8A-4147-A177-3AD203B41FA5}">
                      <a16:colId xmlns:a16="http://schemas.microsoft.com/office/drawing/2014/main" val="116916505"/>
                    </a:ext>
                  </a:extLst>
                </a:gridCol>
                <a:gridCol w="490160">
                  <a:extLst>
                    <a:ext uri="{9D8B030D-6E8A-4147-A177-3AD203B41FA5}">
                      <a16:colId xmlns:a16="http://schemas.microsoft.com/office/drawing/2014/main" val="858692082"/>
                    </a:ext>
                  </a:extLst>
                </a:gridCol>
                <a:gridCol w="490160">
                  <a:extLst>
                    <a:ext uri="{9D8B030D-6E8A-4147-A177-3AD203B41FA5}">
                      <a16:colId xmlns:a16="http://schemas.microsoft.com/office/drawing/2014/main" val="1217996601"/>
                    </a:ext>
                  </a:extLst>
                </a:gridCol>
                <a:gridCol w="490160">
                  <a:extLst>
                    <a:ext uri="{9D8B030D-6E8A-4147-A177-3AD203B41FA5}">
                      <a16:colId xmlns:a16="http://schemas.microsoft.com/office/drawing/2014/main" val="1242521241"/>
                    </a:ext>
                  </a:extLst>
                </a:gridCol>
                <a:gridCol w="490160">
                  <a:extLst>
                    <a:ext uri="{9D8B030D-6E8A-4147-A177-3AD203B41FA5}">
                      <a16:colId xmlns:a16="http://schemas.microsoft.com/office/drawing/2014/main" val="3847871238"/>
                    </a:ext>
                  </a:extLst>
                </a:gridCol>
              </a:tblGrid>
              <a:tr h="320382">
                <a:tc>
                  <a:txBody>
                    <a:bodyPr/>
                    <a:lstStyle/>
                    <a:p>
                      <a:r>
                        <a:rPr lang="en-GB" sz="1400" dirty="0"/>
                        <a:t>the</a:t>
                      </a:r>
                    </a:p>
                  </a:txBody>
                  <a:tcPr/>
                </a:tc>
                <a:tc>
                  <a:txBody>
                    <a:bodyPr/>
                    <a:lstStyle/>
                    <a:p>
                      <a:r>
                        <a:rPr lang="en-GB" sz="1400" dirty="0"/>
                        <a:t>cat</a:t>
                      </a:r>
                    </a:p>
                  </a:txBody>
                  <a:tcPr/>
                </a:tc>
                <a:tc>
                  <a:txBody>
                    <a:bodyPr/>
                    <a:lstStyle/>
                    <a:p>
                      <a:r>
                        <a:rPr lang="en-GB" sz="1400" dirty="0"/>
                        <a:t>sat</a:t>
                      </a:r>
                    </a:p>
                  </a:txBody>
                  <a:tcPr/>
                </a:tc>
                <a:tc>
                  <a:txBody>
                    <a:bodyPr/>
                    <a:lstStyle/>
                    <a:p>
                      <a:r>
                        <a:rPr lang="en-GB" sz="1400" dirty="0"/>
                        <a:t>on</a:t>
                      </a:r>
                    </a:p>
                  </a:txBody>
                  <a:tcPr/>
                </a:tc>
                <a:tc>
                  <a:txBody>
                    <a:bodyPr/>
                    <a:lstStyle/>
                    <a:p>
                      <a:r>
                        <a:rPr lang="en-GB" sz="1400" dirty="0"/>
                        <a:t>the</a:t>
                      </a:r>
                    </a:p>
                  </a:txBody>
                  <a:tcPr/>
                </a:tc>
                <a:extLst>
                  <a:ext uri="{0D108BD9-81ED-4DB2-BD59-A6C34878D82A}">
                    <a16:rowId xmlns:a16="http://schemas.microsoft.com/office/drawing/2014/main" val="696599091"/>
                  </a:ext>
                </a:extLst>
              </a:tr>
              <a:tr h="320382">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extLst>
                  <a:ext uri="{0D108BD9-81ED-4DB2-BD59-A6C34878D82A}">
                    <a16:rowId xmlns:a16="http://schemas.microsoft.com/office/drawing/2014/main" val="1533931161"/>
                  </a:ext>
                </a:extLst>
              </a:tr>
              <a:tr h="32038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extLst>
                  <a:ext uri="{0D108BD9-81ED-4DB2-BD59-A6C34878D82A}">
                    <a16:rowId xmlns:a16="http://schemas.microsoft.com/office/drawing/2014/main" val="1732967676"/>
                  </a:ext>
                </a:extLst>
              </a:tr>
              <a:tr h="32038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solidFill>
                  </a:tcPr>
                </a:tc>
                <a:extLst>
                  <a:ext uri="{0D108BD9-81ED-4DB2-BD59-A6C34878D82A}">
                    <a16:rowId xmlns:a16="http://schemas.microsoft.com/office/drawing/2014/main" val="3626587743"/>
                  </a:ext>
                </a:extLst>
              </a:tr>
              <a:tr h="32038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extLst>
                  <a:ext uri="{0D108BD9-81ED-4DB2-BD59-A6C34878D82A}">
                    <a16:rowId xmlns:a16="http://schemas.microsoft.com/office/drawing/2014/main" val="2234228111"/>
                  </a:ext>
                </a:extLst>
              </a:tr>
            </a:tbl>
          </a:graphicData>
        </a:graphic>
      </p:graphicFrame>
      <p:sp>
        <p:nvSpPr>
          <p:cNvPr id="29" name="TextBox 28">
            <a:extLst>
              <a:ext uri="{FF2B5EF4-FFF2-40B4-BE49-F238E27FC236}">
                <a16:creationId xmlns:a16="http://schemas.microsoft.com/office/drawing/2014/main" id="{647AA5D7-BA52-78F6-A053-F948D38EEBD7}"/>
              </a:ext>
            </a:extLst>
          </p:cNvPr>
          <p:cNvSpPr txBox="1"/>
          <p:nvPr/>
        </p:nvSpPr>
        <p:spPr>
          <a:xfrm>
            <a:off x="10246294" y="1475626"/>
            <a:ext cx="1524032" cy="646331"/>
          </a:xfrm>
          <a:prstGeom prst="rect">
            <a:avLst/>
          </a:prstGeom>
          <a:noFill/>
        </p:spPr>
        <p:txBody>
          <a:bodyPr wrap="square" rtlCol="0">
            <a:spAutoFit/>
          </a:bodyPr>
          <a:lstStyle/>
          <a:p>
            <a:pPr algn="ctr"/>
            <a:r>
              <a:rPr lang="en-GB" dirty="0"/>
              <a:t>Output embeddings</a:t>
            </a:r>
          </a:p>
        </p:txBody>
      </p:sp>
      <p:sp>
        <p:nvSpPr>
          <p:cNvPr id="40" name="TextBox 39">
            <a:extLst>
              <a:ext uri="{FF2B5EF4-FFF2-40B4-BE49-F238E27FC236}">
                <a16:creationId xmlns:a16="http://schemas.microsoft.com/office/drawing/2014/main" id="{5009F733-A0A6-C087-EA77-E188B18B8B98}"/>
              </a:ext>
            </a:extLst>
          </p:cNvPr>
          <p:cNvSpPr txBox="1"/>
          <p:nvPr/>
        </p:nvSpPr>
        <p:spPr>
          <a:xfrm>
            <a:off x="4834219" y="1220950"/>
            <a:ext cx="2212040" cy="400110"/>
          </a:xfrm>
          <a:prstGeom prst="rect">
            <a:avLst/>
          </a:prstGeom>
          <a:noFill/>
        </p:spPr>
        <p:txBody>
          <a:bodyPr wrap="square" rtlCol="0">
            <a:spAutoFit/>
          </a:bodyPr>
          <a:lstStyle/>
          <a:p>
            <a:r>
              <a:rPr lang="en-GB" sz="2000" dirty="0"/>
              <a:t>Transformer Block</a:t>
            </a:r>
          </a:p>
        </p:txBody>
      </p:sp>
      <p:grpSp>
        <p:nvGrpSpPr>
          <p:cNvPr id="45" name="Group 44">
            <a:extLst>
              <a:ext uri="{FF2B5EF4-FFF2-40B4-BE49-F238E27FC236}">
                <a16:creationId xmlns:a16="http://schemas.microsoft.com/office/drawing/2014/main" id="{830569F4-50C4-53E3-B69A-D94C68A80921}"/>
              </a:ext>
            </a:extLst>
          </p:cNvPr>
          <p:cNvGrpSpPr/>
          <p:nvPr/>
        </p:nvGrpSpPr>
        <p:grpSpPr>
          <a:xfrm>
            <a:off x="3301258" y="3003170"/>
            <a:ext cx="4020670" cy="1996871"/>
            <a:chOff x="3301258" y="3003170"/>
            <a:chExt cx="4020670" cy="1996871"/>
          </a:xfrm>
        </p:grpSpPr>
        <p:cxnSp>
          <p:nvCxnSpPr>
            <p:cNvPr id="42" name="Straight Arrow Connector 41">
              <a:extLst>
                <a:ext uri="{FF2B5EF4-FFF2-40B4-BE49-F238E27FC236}">
                  <a16:creationId xmlns:a16="http://schemas.microsoft.com/office/drawing/2014/main" id="{15891449-0C82-399C-2830-E56DF08A8B00}"/>
                </a:ext>
              </a:extLst>
            </p:cNvPr>
            <p:cNvCxnSpPr/>
            <p:nvPr/>
          </p:nvCxnSpPr>
          <p:spPr>
            <a:xfrm flipV="1">
              <a:off x="3916135" y="3012141"/>
              <a:ext cx="0" cy="1573306"/>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A5920F1-4A05-80A6-32AB-23DEDEC4E0B4}"/>
                </a:ext>
              </a:extLst>
            </p:cNvPr>
            <p:cNvCxnSpPr/>
            <p:nvPr/>
          </p:nvCxnSpPr>
          <p:spPr>
            <a:xfrm flipV="1">
              <a:off x="6690705" y="3003170"/>
              <a:ext cx="0" cy="1573306"/>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F43E5E03-BEC7-A299-1D24-B6064A50D19B}"/>
                </a:ext>
              </a:extLst>
            </p:cNvPr>
            <p:cNvSpPr txBox="1"/>
            <p:nvPr/>
          </p:nvSpPr>
          <p:spPr>
            <a:xfrm>
              <a:off x="3301258" y="4538376"/>
              <a:ext cx="4020670" cy="461665"/>
            </a:xfrm>
            <a:prstGeom prst="rect">
              <a:avLst/>
            </a:prstGeom>
            <a:noFill/>
          </p:spPr>
          <p:txBody>
            <a:bodyPr wrap="square" rtlCol="0">
              <a:spAutoFit/>
            </a:bodyPr>
            <a:lstStyle/>
            <a:p>
              <a:pPr algn="ctr"/>
              <a:r>
                <a:rPr lang="en-GB" sz="2400" dirty="0"/>
                <a:t>What are these gaps?</a:t>
              </a:r>
            </a:p>
          </p:txBody>
        </p:sp>
      </p:grpSp>
      <p:cxnSp>
        <p:nvCxnSpPr>
          <p:cNvPr id="47" name="Straight Arrow Connector 46">
            <a:extLst>
              <a:ext uri="{FF2B5EF4-FFF2-40B4-BE49-F238E27FC236}">
                <a16:creationId xmlns:a16="http://schemas.microsoft.com/office/drawing/2014/main" id="{1944F327-7D37-CA13-5AF8-FEDAD15E8F8A}"/>
              </a:ext>
            </a:extLst>
          </p:cNvPr>
          <p:cNvCxnSpPr/>
          <p:nvPr/>
        </p:nvCxnSpPr>
        <p:spPr>
          <a:xfrm>
            <a:off x="2556297" y="2904565"/>
            <a:ext cx="744961"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B328AAA7-0CB5-3D26-AF0C-07517D5CB3E2}"/>
              </a:ext>
            </a:extLst>
          </p:cNvPr>
          <p:cNvCxnSpPr/>
          <p:nvPr/>
        </p:nvCxnSpPr>
        <p:spPr>
          <a:xfrm>
            <a:off x="5593095" y="2895597"/>
            <a:ext cx="744961"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0C846A33-E2FA-723D-A139-E1060A22A8F3}"/>
              </a:ext>
            </a:extLst>
          </p:cNvPr>
          <p:cNvCxnSpPr/>
          <p:nvPr/>
        </p:nvCxnSpPr>
        <p:spPr>
          <a:xfrm>
            <a:off x="8847259" y="2902323"/>
            <a:ext cx="744961"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543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94BB0-04AC-BC43-8B39-734606EA7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219C6-AB96-F765-F5C8-669383046570}"/>
              </a:ext>
            </a:extLst>
          </p:cNvPr>
          <p:cNvSpPr>
            <a:spLocks noGrp="1"/>
          </p:cNvSpPr>
          <p:nvPr>
            <p:ph type="title"/>
          </p:nvPr>
        </p:nvSpPr>
        <p:spPr>
          <a:xfrm>
            <a:off x="838200" y="365125"/>
            <a:ext cx="6155871" cy="805089"/>
          </a:xfrm>
        </p:spPr>
        <p:txBody>
          <a:bodyPr>
            <a:normAutofit/>
          </a:bodyPr>
          <a:lstStyle/>
          <a:p>
            <a:r>
              <a:rPr lang="en-GB" dirty="0"/>
              <a:t>The Transformer Block</a:t>
            </a:r>
          </a:p>
        </p:txBody>
      </p:sp>
      <p:sp>
        <p:nvSpPr>
          <p:cNvPr id="4" name="Slide Number Placeholder 3">
            <a:extLst>
              <a:ext uri="{FF2B5EF4-FFF2-40B4-BE49-F238E27FC236}">
                <a16:creationId xmlns:a16="http://schemas.microsoft.com/office/drawing/2014/main" id="{8CA75456-264E-77F2-495B-A4A3DAB50E38}"/>
              </a:ext>
            </a:extLst>
          </p:cNvPr>
          <p:cNvSpPr>
            <a:spLocks noGrp="1"/>
          </p:cNvSpPr>
          <p:nvPr>
            <p:ph type="sldNum" sz="quarter" idx="12"/>
          </p:nvPr>
        </p:nvSpPr>
        <p:spPr/>
        <p:txBody>
          <a:bodyPr/>
          <a:lstStyle/>
          <a:p>
            <a:fld id="{13DE89AE-BBCC-45F3-BDAA-E98C74995322}" type="slidenum">
              <a:rPr lang="en-GB" smtClean="0"/>
              <a:t>37</a:t>
            </a:fld>
            <a:endParaRPr lang="en-GB"/>
          </a:p>
        </p:txBody>
      </p:sp>
      <p:grpSp>
        <p:nvGrpSpPr>
          <p:cNvPr id="71" name="Group 70">
            <a:extLst>
              <a:ext uri="{FF2B5EF4-FFF2-40B4-BE49-F238E27FC236}">
                <a16:creationId xmlns:a16="http://schemas.microsoft.com/office/drawing/2014/main" id="{994C2138-010A-8A8B-7111-4A1E1653FF17}"/>
              </a:ext>
            </a:extLst>
          </p:cNvPr>
          <p:cNvGrpSpPr/>
          <p:nvPr/>
        </p:nvGrpSpPr>
        <p:grpSpPr>
          <a:xfrm>
            <a:off x="185240" y="1709341"/>
            <a:ext cx="11778056" cy="3558774"/>
            <a:chOff x="89547" y="1358466"/>
            <a:chExt cx="11778056" cy="3558774"/>
          </a:xfrm>
        </p:grpSpPr>
        <p:grpSp>
          <p:nvGrpSpPr>
            <p:cNvPr id="66" name="Group 65">
              <a:extLst>
                <a:ext uri="{FF2B5EF4-FFF2-40B4-BE49-F238E27FC236}">
                  <a16:creationId xmlns:a16="http://schemas.microsoft.com/office/drawing/2014/main" id="{8E99562E-8C66-3BEA-C0E2-E3D9775CF386}"/>
                </a:ext>
              </a:extLst>
            </p:cNvPr>
            <p:cNvGrpSpPr/>
            <p:nvPr/>
          </p:nvGrpSpPr>
          <p:grpSpPr>
            <a:xfrm>
              <a:off x="89547" y="2013510"/>
              <a:ext cx="2061635" cy="2032177"/>
              <a:chOff x="89547" y="2013510"/>
              <a:chExt cx="2061635" cy="2032177"/>
            </a:xfrm>
          </p:grpSpPr>
          <p:sp>
            <p:nvSpPr>
              <p:cNvPr id="18" name="TextBox 17">
                <a:extLst>
                  <a:ext uri="{FF2B5EF4-FFF2-40B4-BE49-F238E27FC236}">
                    <a16:creationId xmlns:a16="http://schemas.microsoft.com/office/drawing/2014/main" id="{90F323C4-B9AD-B737-CD8A-14F6E5D5727E}"/>
                  </a:ext>
                </a:extLst>
              </p:cNvPr>
              <p:cNvSpPr txBox="1"/>
              <p:nvPr/>
            </p:nvSpPr>
            <p:spPr>
              <a:xfrm>
                <a:off x="287706" y="2013510"/>
                <a:ext cx="1524032" cy="369332"/>
              </a:xfrm>
              <a:prstGeom prst="rect">
                <a:avLst/>
              </a:prstGeom>
              <a:noFill/>
            </p:spPr>
            <p:txBody>
              <a:bodyPr wrap="square" rtlCol="0">
                <a:spAutoFit/>
              </a:bodyPr>
              <a:lstStyle/>
              <a:p>
                <a:pPr algn="ctr"/>
                <a:r>
                  <a:rPr lang="en-GB" dirty="0"/>
                  <a:t>Input embeddings</a:t>
                </a:r>
              </a:p>
            </p:txBody>
          </p:sp>
          <p:graphicFrame>
            <p:nvGraphicFramePr>
              <p:cNvPr id="17" name="Content Placeholder 4">
                <a:extLst>
                  <a:ext uri="{FF2B5EF4-FFF2-40B4-BE49-F238E27FC236}">
                    <a16:creationId xmlns:a16="http://schemas.microsoft.com/office/drawing/2014/main" id="{48137ECA-B052-0DBB-20B6-837BE0C22E52}"/>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grpSp>
        <p:grpSp>
          <p:nvGrpSpPr>
            <p:cNvPr id="67" name="Group 66">
              <a:extLst>
                <a:ext uri="{FF2B5EF4-FFF2-40B4-BE49-F238E27FC236}">
                  <a16:creationId xmlns:a16="http://schemas.microsoft.com/office/drawing/2014/main" id="{14CAA7EB-259A-18E9-1E3D-A663BD5A08DB}"/>
                </a:ext>
              </a:extLst>
            </p:cNvPr>
            <p:cNvGrpSpPr/>
            <p:nvPr/>
          </p:nvGrpSpPr>
          <p:grpSpPr>
            <a:xfrm>
              <a:off x="2142134" y="1358466"/>
              <a:ext cx="7683978" cy="3558774"/>
              <a:chOff x="2535536" y="1443527"/>
              <a:chExt cx="7683978" cy="3558774"/>
            </a:xfrm>
          </p:grpSpPr>
          <p:sp>
            <p:nvSpPr>
              <p:cNvPr id="40" name="TextBox 39">
                <a:extLst>
                  <a:ext uri="{FF2B5EF4-FFF2-40B4-BE49-F238E27FC236}">
                    <a16:creationId xmlns:a16="http://schemas.microsoft.com/office/drawing/2014/main" id="{05AD9417-D27A-F7E8-9B2D-9A32020DF997}"/>
                  </a:ext>
                </a:extLst>
              </p:cNvPr>
              <p:cNvSpPr txBox="1"/>
              <p:nvPr/>
            </p:nvSpPr>
            <p:spPr>
              <a:xfrm>
                <a:off x="5090264" y="1443527"/>
                <a:ext cx="2857921" cy="461665"/>
              </a:xfrm>
              <a:prstGeom prst="rect">
                <a:avLst/>
              </a:prstGeom>
              <a:noFill/>
            </p:spPr>
            <p:txBody>
              <a:bodyPr wrap="square" rtlCol="0">
                <a:spAutoFit/>
              </a:bodyPr>
              <a:lstStyle/>
              <a:p>
                <a:r>
                  <a:rPr lang="en-GB" sz="2400" dirty="0"/>
                  <a:t>Transformer Block</a:t>
                </a:r>
              </a:p>
            </p:txBody>
          </p:sp>
          <p:grpSp>
            <p:nvGrpSpPr>
              <p:cNvPr id="62" name="Group 61">
                <a:extLst>
                  <a:ext uri="{FF2B5EF4-FFF2-40B4-BE49-F238E27FC236}">
                    <a16:creationId xmlns:a16="http://schemas.microsoft.com/office/drawing/2014/main" id="{C2312588-54AA-AC2E-4F19-43F06C9868D0}"/>
                  </a:ext>
                </a:extLst>
              </p:cNvPr>
              <p:cNvGrpSpPr/>
              <p:nvPr/>
            </p:nvGrpSpPr>
            <p:grpSpPr>
              <a:xfrm>
                <a:off x="2535536" y="1869144"/>
                <a:ext cx="7683978" cy="3133157"/>
                <a:chOff x="2928938" y="1869144"/>
                <a:chExt cx="7683978" cy="3133157"/>
              </a:xfrm>
            </p:grpSpPr>
            <p:sp>
              <p:nvSpPr>
                <p:cNvPr id="19" name="Rectangle: Rounded Corners 18">
                  <a:extLst>
                    <a:ext uri="{FF2B5EF4-FFF2-40B4-BE49-F238E27FC236}">
                      <a16:creationId xmlns:a16="http://schemas.microsoft.com/office/drawing/2014/main" id="{73AD2B6B-2D05-3B50-8379-194DE24D4B8C}"/>
                    </a:ext>
                  </a:extLst>
                </p:cNvPr>
                <p:cNvSpPr/>
                <p:nvPr/>
              </p:nvSpPr>
              <p:spPr>
                <a:xfrm>
                  <a:off x="3216304" y="1869144"/>
                  <a:ext cx="6910336" cy="3133157"/>
                </a:xfrm>
                <a:prstGeom prst="round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2C71583B-9BD1-EB4D-5D98-82CE25EF4AF5}"/>
                    </a:ext>
                  </a:extLst>
                </p:cNvPr>
                <p:cNvSpPr/>
                <p:nvPr/>
              </p:nvSpPr>
              <p:spPr>
                <a:xfrm>
                  <a:off x="8088656" y="2395806"/>
                  <a:ext cx="1250575" cy="2030506"/>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Neural Network</a:t>
                  </a:r>
                </a:p>
                <a:p>
                  <a:pPr algn="ctr"/>
                  <a:r>
                    <a:rPr lang="en-GB" dirty="0"/>
                    <a:t>Layer</a:t>
                  </a:r>
                </a:p>
              </p:txBody>
            </p:sp>
            <p:cxnSp>
              <p:nvCxnSpPr>
                <p:cNvPr id="49" name="Straight Arrow Connector 48">
                  <a:extLst>
                    <a:ext uri="{FF2B5EF4-FFF2-40B4-BE49-F238E27FC236}">
                      <a16:creationId xmlns:a16="http://schemas.microsoft.com/office/drawing/2014/main" id="{4A8A59F8-E3F1-2558-96A9-26F8B172CA15}"/>
                    </a:ext>
                  </a:extLst>
                </p:cNvPr>
                <p:cNvCxnSpPr>
                  <a:cxnSpLocks/>
                </p:cNvCxnSpPr>
                <p:nvPr/>
              </p:nvCxnSpPr>
              <p:spPr>
                <a:xfrm flipV="1">
                  <a:off x="9823018" y="3394805"/>
                  <a:ext cx="789898" cy="10708"/>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 name="Rectangle: Rounded Corners 2">
                  <a:extLst>
                    <a:ext uri="{FF2B5EF4-FFF2-40B4-BE49-F238E27FC236}">
                      <a16:creationId xmlns:a16="http://schemas.microsoft.com/office/drawing/2014/main" id="{A30E938D-FA8F-BE15-ADC2-2371C007783B}"/>
                    </a:ext>
                  </a:extLst>
                </p:cNvPr>
                <p:cNvSpPr/>
                <p:nvPr/>
              </p:nvSpPr>
              <p:spPr>
                <a:xfrm>
                  <a:off x="3691219" y="2391808"/>
                  <a:ext cx="544074" cy="20305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GB" dirty="0"/>
                    <a:t>Layer Normalization</a:t>
                  </a:r>
                </a:p>
              </p:txBody>
            </p:sp>
            <p:sp>
              <p:nvSpPr>
                <p:cNvPr id="5" name="Rectangle: Rounded Corners 4">
                  <a:extLst>
                    <a:ext uri="{FF2B5EF4-FFF2-40B4-BE49-F238E27FC236}">
                      <a16:creationId xmlns:a16="http://schemas.microsoft.com/office/drawing/2014/main" id="{6B4AF066-DAA6-2EED-3B7E-5684C9B14D71}"/>
                    </a:ext>
                  </a:extLst>
                </p:cNvPr>
                <p:cNvSpPr/>
                <p:nvPr/>
              </p:nvSpPr>
              <p:spPr>
                <a:xfrm>
                  <a:off x="7047370" y="2382842"/>
                  <a:ext cx="544074" cy="2030506"/>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GB" dirty="0"/>
                    <a:t>Layer Normalization</a:t>
                  </a:r>
                </a:p>
              </p:txBody>
            </p:sp>
            <p:cxnSp>
              <p:nvCxnSpPr>
                <p:cNvPr id="7" name="Straight Arrow Connector 6">
                  <a:extLst>
                    <a:ext uri="{FF2B5EF4-FFF2-40B4-BE49-F238E27FC236}">
                      <a16:creationId xmlns:a16="http://schemas.microsoft.com/office/drawing/2014/main" id="{6CF30DF7-6D97-183B-1AF2-391B8C4B9C03}"/>
                    </a:ext>
                  </a:extLst>
                </p:cNvPr>
                <p:cNvCxnSpPr>
                  <a:cxnSpLocks/>
                </p:cNvCxnSpPr>
                <p:nvPr/>
              </p:nvCxnSpPr>
              <p:spPr>
                <a:xfrm>
                  <a:off x="7588447" y="3409724"/>
                  <a:ext cx="502905"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2D8F527E-221C-8107-152D-6879108A0855}"/>
                    </a:ext>
                  </a:extLst>
                </p:cNvPr>
                <p:cNvGrpSpPr/>
                <p:nvPr/>
              </p:nvGrpSpPr>
              <p:grpSpPr>
                <a:xfrm>
                  <a:off x="2928938" y="2391807"/>
                  <a:ext cx="3680866" cy="2229529"/>
                  <a:chOff x="2928938" y="2391807"/>
                  <a:chExt cx="3680866" cy="2229529"/>
                </a:xfrm>
              </p:grpSpPr>
              <p:sp>
                <p:nvSpPr>
                  <p:cNvPr id="12" name="Rectangle: Rounded Corners 11">
                    <a:extLst>
                      <a:ext uri="{FF2B5EF4-FFF2-40B4-BE49-F238E27FC236}">
                        <a16:creationId xmlns:a16="http://schemas.microsoft.com/office/drawing/2014/main" id="{3F5EE1A2-7C2C-696C-34E6-585C273CD823}"/>
                      </a:ext>
                    </a:extLst>
                  </p:cNvPr>
                  <p:cNvSpPr/>
                  <p:nvPr/>
                </p:nvSpPr>
                <p:spPr>
                  <a:xfrm>
                    <a:off x="4747784" y="2391807"/>
                    <a:ext cx="1250575" cy="20305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Multi-headed attention</a:t>
                    </a:r>
                  </a:p>
                </p:txBody>
              </p:sp>
              <p:cxnSp>
                <p:nvCxnSpPr>
                  <p:cNvPr id="47" name="Straight Arrow Connector 46">
                    <a:extLst>
                      <a:ext uri="{FF2B5EF4-FFF2-40B4-BE49-F238E27FC236}">
                        <a16:creationId xmlns:a16="http://schemas.microsoft.com/office/drawing/2014/main" id="{3BAB9CB9-B9B2-0EFD-9A82-9E6A450566B8}"/>
                      </a:ext>
                    </a:extLst>
                  </p:cNvPr>
                  <p:cNvCxnSpPr>
                    <a:cxnSpLocks/>
                    <a:endCxn id="3" idx="1"/>
                  </p:cNvCxnSpPr>
                  <p:nvPr/>
                </p:nvCxnSpPr>
                <p:spPr>
                  <a:xfrm>
                    <a:off x="2928938" y="3407060"/>
                    <a:ext cx="762281" cy="1"/>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48005BBC-3B3E-2C94-F6BA-41A588612121}"/>
                      </a:ext>
                    </a:extLst>
                  </p:cNvPr>
                  <p:cNvCxnSpPr>
                    <a:cxnSpLocks/>
                    <a:stCxn id="12" idx="3"/>
                  </p:cNvCxnSpPr>
                  <p:nvPr/>
                </p:nvCxnSpPr>
                <p:spPr>
                  <a:xfrm>
                    <a:off x="5998359" y="3407060"/>
                    <a:ext cx="445964"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7F4B317-7D37-EC64-E0D6-049CD05146D7}"/>
                      </a:ext>
                    </a:extLst>
                  </p:cNvPr>
                  <p:cNvCxnSpPr>
                    <a:cxnSpLocks/>
                  </p:cNvCxnSpPr>
                  <p:nvPr/>
                </p:nvCxnSpPr>
                <p:spPr>
                  <a:xfrm>
                    <a:off x="4237188" y="3418585"/>
                    <a:ext cx="502905"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 name="Flowchart: Or 10">
                    <a:extLst>
                      <a:ext uri="{FF2B5EF4-FFF2-40B4-BE49-F238E27FC236}">
                        <a16:creationId xmlns:a16="http://schemas.microsoft.com/office/drawing/2014/main" id="{36F1DE14-CBD9-9E65-E2C2-D5DD4BD4A2A7}"/>
                      </a:ext>
                    </a:extLst>
                  </p:cNvPr>
                  <p:cNvSpPr/>
                  <p:nvPr/>
                </p:nvSpPr>
                <p:spPr>
                  <a:xfrm>
                    <a:off x="6364582" y="3286973"/>
                    <a:ext cx="245222" cy="242515"/>
                  </a:xfrm>
                  <a:prstGeom prst="flowChartOr">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8" name="Group 37">
                    <a:extLst>
                      <a:ext uri="{FF2B5EF4-FFF2-40B4-BE49-F238E27FC236}">
                        <a16:creationId xmlns:a16="http://schemas.microsoft.com/office/drawing/2014/main" id="{188CD681-AE5E-F564-C4FE-138E9369C3F4}"/>
                      </a:ext>
                    </a:extLst>
                  </p:cNvPr>
                  <p:cNvGrpSpPr/>
                  <p:nvPr/>
                </p:nvGrpSpPr>
                <p:grpSpPr>
                  <a:xfrm>
                    <a:off x="3350148" y="3394805"/>
                    <a:ext cx="3137298" cy="1226531"/>
                    <a:chOff x="3350148" y="3394805"/>
                    <a:chExt cx="3137298" cy="1226531"/>
                  </a:xfrm>
                </p:grpSpPr>
                <p:cxnSp>
                  <p:nvCxnSpPr>
                    <p:cNvPr id="28" name="Straight Arrow Connector 27">
                      <a:extLst>
                        <a:ext uri="{FF2B5EF4-FFF2-40B4-BE49-F238E27FC236}">
                          <a16:creationId xmlns:a16="http://schemas.microsoft.com/office/drawing/2014/main" id="{0AF0541C-32A8-1750-D3C5-DE22B53269A5}"/>
                        </a:ext>
                      </a:extLst>
                    </p:cNvPr>
                    <p:cNvCxnSpPr>
                      <a:cxnSpLocks/>
                    </p:cNvCxnSpPr>
                    <p:nvPr/>
                  </p:nvCxnSpPr>
                  <p:spPr>
                    <a:xfrm>
                      <a:off x="3350148" y="4593430"/>
                      <a:ext cx="3137045" cy="1310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2CB90D4-88CD-5543-6AF7-5380A7C33802}"/>
                        </a:ext>
                      </a:extLst>
                    </p:cNvPr>
                    <p:cNvCxnSpPr>
                      <a:cxnSpLocks/>
                    </p:cNvCxnSpPr>
                    <p:nvPr/>
                  </p:nvCxnSpPr>
                  <p:spPr>
                    <a:xfrm flipV="1">
                      <a:off x="3363249" y="3394805"/>
                      <a:ext cx="0" cy="1211726"/>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9522D94E-5167-3C9F-159C-EA6265602708}"/>
                        </a:ext>
                      </a:extLst>
                    </p:cNvPr>
                    <p:cNvCxnSpPr>
                      <a:cxnSpLocks/>
                    </p:cNvCxnSpPr>
                    <p:nvPr/>
                  </p:nvCxnSpPr>
                  <p:spPr>
                    <a:xfrm flipV="1">
                      <a:off x="6487446" y="3540625"/>
                      <a:ext cx="0" cy="108071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grpSp>
            <p:cxnSp>
              <p:nvCxnSpPr>
                <p:cNvPr id="41" name="Straight Arrow Connector 40">
                  <a:extLst>
                    <a:ext uri="{FF2B5EF4-FFF2-40B4-BE49-F238E27FC236}">
                      <a16:creationId xmlns:a16="http://schemas.microsoft.com/office/drawing/2014/main" id="{6D06860B-F5B5-7D9E-9790-A18417186889}"/>
                    </a:ext>
                  </a:extLst>
                </p:cNvPr>
                <p:cNvCxnSpPr>
                  <a:cxnSpLocks/>
                </p:cNvCxnSpPr>
                <p:nvPr/>
              </p:nvCxnSpPr>
              <p:spPr>
                <a:xfrm>
                  <a:off x="6535917" y="3407338"/>
                  <a:ext cx="502905" cy="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6ABD8CF7-B51F-8DF4-EFDE-DAA454E935A3}"/>
                    </a:ext>
                  </a:extLst>
                </p:cNvPr>
                <p:cNvCxnSpPr>
                  <a:cxnSpLocks/>
                </p:cNvCxnSpPr>
                <p:nvPr/>
              </p:nvCxnSpPr>
              <p:spPr>
                <a:xfrm flipV="1">
                  <a:off x="6780017" y="4593430"/>
                  <a:ext cx="2972222" cy="2607"/>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8A1A0E9-8DF1-6395-2A41-F33D936CBC4C}"/>
                    </a:ext>
                  </a:extLst>
                </p:cNvPr>
                <p:cNvCxnSpPr>
                  <a:cxnSpLocks/>
                </p:cNvCxnSpPr>
                <p:nvPr/>
              </p:nvCxnSpPr>
              <p:spPr>
                <a:xfrm flipV="1">
                  <a:off x="6782732" y="3399566"/>
                  <a:ext cx="0" cy="1211726"/>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sp>
              <p:nvSpPr>
                <p:cNvPr id="51" name="Flowchart: Or 50">
                  <a:extLst>
                    <a:ext uri="{FF2B5EF4-FFF2-40B4-BE49-F238E27FC236}">
                      <a16:creationId xmlns:a16="http://schemas.microsoft.com/office/drawing/2014/main" id="{7A63FE02-370A-F206-DE15-443EA1460787}"/>
                    </a:ext>
                  </a:extLst>
                </p:cNvPr>
                <p:cNvSpPr/>
                <p:nvPr/>
              </p:nvSpPr>
              <p:spPr>
                <a:xfrm>
                  <a:off x="9620174" y="3284793"/>
                  <a:ext cx="245222" cy="242515"/>
                </a:xfrm>
                <a:prstGeom prst="flowChartOr">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Straight Arrow Connector 51">
                  <a:extLst>
                    <a:ext uri="{FF2B5EF4-FFF2-40B4-BE49-F238E27FC236}">
                      <a16:creationId xmlns:a16="http://schemas.microsoft.com/office/drawing/2014/main" id="{71587440-30D9-D870-6BC3-BD9A0B2C06A2}"/>
                    </a:ext>
                  </a:extLst>
                </p:cNvPr>
                <p:cNvCxnSpPr>
                  <a:cxnSpLocks/>
                </p:cNvCxnSpPr>
                <p:nvPr/>
              </p:nvCxnSpPr>
              <p:spPr>
                <a:xfrm>
                  <a:off x="9348745" y="3407192"/>
                  <a:ext cx="445964"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C48A8BB8-DFAC-D36B-855F-DA3341FDF9F3}"/>
                    </a:ext>
                  </a:extLst>
                </p:cNvPr>
                <p:cNvCxnSpPr>
                  <a:cxnSpLocks/>
                </p:cNvCxnSpPr>
                <p:nvPr/>
              </p:nvCxnSpPr>
              <p:spPr>
                <a:xfrm flipV="1">
                  <a:off x="9742284" y="3478714"/>
                  <a:ext cx="0" cy="1127817"/>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grpSp>
        <p:grpSp>
          <p:nvGrpSpPr>
            <p:cNvPr id="68" name="Group 67">
              <a:extLst>
                <a:ext uri="{FF2B5EF4-FFF2-40B4-BE49-F238E27FC236}">
                  <a16:creationId xmlns:a16="http://schemas.microsoft.com/office/drawing/2014/main" id="{18DB35EB-D7E6-1628-D071-FF30E29B4B50}"/>
                </a:ext>
              </a:extLst>
            </p:cNvPr>
            <p:cNvGrpSpPr/>
            <p:nvPr/>
          </p:nvGrpSpPr>
          <p:grpSpPr>
            <a:xfrm>
              <a:off x="9805968" y="2017053"/>
              <a:ext cx="2061635" cy="2032177"/>
              <a:chOff x="89547" y="2013510"/>
              <a:chExt cx="2061635" cy="2032177"/>
            </a:xfrm>
          </p:grpSpPr>
          <p:sp>
            <p:nvSpPr>
              <p:cNvPr id="69" name="TextBox 68">
                <a:extLst>
                  <a:ext uri="{FF2B5EF4-FFF2-40B4-BE49-F238E27FC236}">
                    <a16:creationId xmlns:a16="http://schemas.microsoft.com/office/drawing/2014/main" id="{7AAA5F23-F7B6-FC9D-21B5-B537037D3FEB}"/>
                  </a:ext>
                </a:extLst>
              </p:cNvPr>
              <p:cNvSpPr txBox="1"/>
              <p:nvPr/>
            </p:nvSpPr>
            <p:spPr>
              <a:xfrm>
                <a:off x="287706" y="2013510"/>
                <a:ext cx="1524032" cy="646331"/>
              </a:xfrm>
              <a:prstGeom prst="rect">
                <a:avLst/>
              </a:prstGeom>
              <a:noFill/>
            </p:spPr>
            <p:txBody>
              <a:bodyPr wrap="square" rtlCol="0">
                <a:spAutoFit/>
              </a:bodyPr>
              <a:lstStyle/>
              <a:p>
                <a:pPr algn="ctr"/>
                <a:r>
                  <a:rPr lang="en-GB" dirty="0"/>
                  <a:t>Output embeddings</a:t>
                </a:r>
              </a:p>
            </p:txBody>
          </p:sp>
          <p:graphicFrame>
            <p:nvGraphicFramePr>
              <p:cNvPr id="70" name="Content Placeholder 4">
                <a:extLst>
                  <a:ext uri="{FF2B5EF4-FFF2-40B4-BE49-F238E27FC236}">
                    <a16:creationId xmlns:a16="http://schemas.microsoft.com/office/drawing/2014/main" id="{13412171-CF07-A79C-D8FB-531936416AB6}"/>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2234228111"/>
                      </a:ext>
                    </a:extLst>
                  </a:tr>
                </a:tbl>
              </a:graphicData>
            </a:graphic>
          </p:graphicFrame>
        </p:grpSp>
      </p:grpSp>
    </p:spTree>
    <p:extLst>
      <p:ext uri="{BB962C8B-B14F-4D97-AF65-F5344CB8AC3E}">
        <p14:creationId xmlns:p14="http://schemas.microsoft.com/office/powerpoint/2010/main" val="580262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EC7C2-EA03-383A-F1BF-EC0488020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BA40E-BA86-DF9B-D200-45396CCFCCDA}"/>
              </a:ext>
            </a:extLst>
          </p:cNvPr>
          <p:cNvSpPr>
            <a:spLocks noGrp="1"/>
          </p:cNvSpPr>
          <p:nvPr>
            <p:ph type="title"/>
          </p:nvPr>
        </p:nvSpPr>
        <p:spPr>
          <a:xfrm>
            <a:off x="838200" y="365125"/>
            <a:ext cx="6155871" cy="805089"/>
          </a:xfrm>
        </p:spPr>
        <p:txBody>
          <a:bodyPr>
            <a:normAutofit/>
          </a:bodyPr>
          <a:lstStyle/>
          <a:p>
            <a:r>
              <a:rPr lang="en-GB" dirty="0"/>
              <a:t>The Transformer Model</a:t>
            </a:r>
          </a:p>
        </p:txBody>
      </p:sp>
      <p:sp>
        <p:nvSpPr>
          <p:cNvPr id="4" name="Slide Number Placeholder 3">
            <a:extLst>
              <a:ext uri="{FF2B5EF4-FFF2-40B4-BE49-F238E27FC236}">
                <a16:creationId xmlns:a16="http://schemas.microsoft.com/office/drawing/2014/main" id="{0A3738AE-FCEB-761A-882F-4B0C68C49F02}"/>
              </a:ext>
            </a:extLst>
          </p:cNvPr>
          <p:cNvSpPr>
            <a:spLocks noGrp="1"/>
          </p:cNvSpPr>
          <p:nvPr>
            <p:ph type="sldNum" sz="quarter" idx="12"/>
          </p:nvPr>
        </p:nvSpPr>
        <p:spPr/>
        <p:txBody>
          <a:bodyPr/>
          <a:lstStyle/>
          <a:p>
            <a:fld id="{13DE89AE-BBCC-45F3-BDAA-E98C74995322}" type="slidenum">
              <a:rPr lang="en-GB" smtClean="0"/>
              <a:t>38</a:t>
            </a:fld>
            <a:endParaRPr lang="en-GB"/>
          </a:p>
        </p:txBody>
      </p:sp>
      <p:grpSp>
        <p:nvGrpSpPr>
          <p:cNvPr id="61" name="Group 60">
            <a:extLst>
              <a:ext uri="{FF2B5EF4-FFF2-40B4-BE49-F238E27FC236}">
                <a16:creationId xmlns:a16="http://schemas.microsoft.com/office/drawing/2014/main" id="{016EB5BE-1367-E0DE-70E4-26E66E7517D3}"/>
              </a:ext>
            </a:extLst>
          </p:cNvPr>
          <p:cNvGrpSpPr/>
          <p:nvPr/>
        </p:nvGrpSpPr>
        <p:grpSpPr>
          <a:xfrm>
            <a:off x="54006" y="2364385"/>
            <a:ext cx="12088518" cy="2183403"/>
            <a:chOff x="54006" y="2364385"/>
            <a:chExt cx="12088518" cy="2183403"/>
          </a:xfrm>
        </p:grpSpPr>
        <p:grpSp>
          <p:nvGrpSpPr>
            <p:cNvPr id="66" name="Group 65">
              <a:extLst>
                <a:ext uri="{FF2B5EF4-FFF2-40B4-BE49-F238E27FC236}">
                  <a16:creationId xmlns:a16="http://schemas.microsoft.com/office/drawing/2014/main" id="{25910CFB-4304-542E-1327-F0DDA538F563}"/>
                </a:ext>
              </a:extLst>
            </p:cNvPr>
            <p:cNvGrpSpPr/>
            <p:nvPr/>
          </p:nvGrpSpPr>
          <p:grpSpPr>
            <a:xfrm>
              <a:off x="54006" y="2364385"/>
              <a:ext cx="2061635" cy="2032177"/>
              <a:chOff x="89547" y="2013510"/>
              <a:chExt cx="2061635" cy="2032177"/>
            </a:xfrm>
          </p:grpSpPr>
          <p:sp>
            <p:nvSpPr>
              <p:cNvPr id="18" name="TextBox 17">
                <a:extLst>
                  <a:ext uri="{FF2B5EF4-FFF2-40B4-BE49-F238E27FC236}">
                    <a16:creationId xmlns:a16="http://schemas.microsoft.com/office/drawing/2014/main" id="{73F8F764-949E-2137-E481-461843D08198}"/>
                  </a:ext>
                </a:extLst>
              </p:cNvPr>
              <p:cNvSpPr txBox="1"/>
              <p:nvPr/>
            </p:nvSpPr>
            <p:spPr>
              <a:xfrm>
                <a:off x="287706" y="2013510"/>
                <a:ext cx="1524032" cy="369332"/>
              </a:xfrm>
              <a:prstGeom prst="rect">
                <a:avLst/>
              </a:prstGeom>
              <a:noFill/>
            </p:spPr>
            <p:txBody>
              <a:bodyPr wrap="square" rtlCol="0">
                <a:spAutoFit/>
              </a:bodyPr>
              <a:lstStyle/>
              <a:p>
                <a:pPr algn="ctr"/>
                <a:r>
                  <a:rPr lang="en-GB" dirty="0"/>
                  <a:t>Input embeddings</a:t>
                </a:r>
              </a:p>
            </p:txBody>
          </p:sp>
          <p:graphicFrame>
            <p:nvGraphicFramePr>
              <p:cNvPr id="17" name="Content Placeholder 4">
                <a:extLst>
                  <a:ext uri="{FF2B5EF4-FFF2-40B4-BE49-F238E27FC236}">
                    <a16:creationId xmlns:a16="http://schemas.microsoft.com/office/drawing/2014/main" id="{518BB85D-21B0-2DE1-F61F-88F7509265FD}"/>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grpSp>
        <p:grpSp>
          <p:nvGrpSpPr>
            <p:cNvPr id="68" name="Group 67">
              <a:extLst>
                <a:ext uri="{FF2B5EF4-FFF2-40B4-BE49-F238E27FC236}">
                  <a16:creationId xmlns:a16="http://schemas.microsoft.com/office/drawing/2014/main" id="{8D5E8AB3-AE31-43CD-5009-2AF6D4D2B653}"/>
                </a:ext>
              </a:extLst>
            </p:cNvPr>
            <p:cNvGrpSpPr/>
            <p:nvPr/>
          </p:nvGrpSpPr>
          <p:grpSpPr>
            <a:xfrm>
              <a:off x="10080889" y="2367928"/>
              <a:ext cx="2061635" cy="2032177"/>
              <a:chOff x="89547" y="2013510"/>
              <a:chExt cx="2061635" cy="2032177"/>
            </a:xfrm>
          </p:grpSpPr>
          <p:sp>
            <p:nvSpPr>
              <p:cNvPr id="69" name="TextBox 68">
                <a:extLst>
                  <a:ext uri="{FF2B5EF4-FFF2-40B4-BE49-F238E27FC236}">
                    <a16:creationId xmlns:a16="http://schemas.microsoft.com/office/drawing/2014/main" id="{EA689375-AD95-C891-3222-FDD981755647}"/>
                  </a:ext>
                </a:extLst>
              </p:cNvPr>
              <p:cNvSpPr txBox="1"/>
              <p:nvPr/>
            </p:nvSpPr>
            <p:spPr>
              <a:xfrm>
                <a:off x="287706" y="2013510"/>
                <a:ext cx="1524032" cy="646331"/>
              </a:xfrm>
              <a:prstGeom prst="rect">
                <a:avLst/>
              </a:prstGeom>
              <a:noFill/>
            </p:spPr>
            <p:txBody>
              <a:bodyPr wrap="square" rtlCol="0">
                <a:spAutoFit/>
              </a:bodyPr>
              <a:lstStyle/>
              <a:p>
                <a:pPr algn="ctr"/>
                <a:r>
                  <a:rPr lang="en-GB" dirty="0"/>
                  <a:t>Output embeddings</a:t>
                </a:r>
              </a:p>
            </p:txBody>
          </p:sp>
          <p:graphicFrame>
            <p:nvGraphicFramePr>
              <p:cNvPr id="70" name="Content Placeholder 4">
                <a:extLst>
                  <a:ext uri="{FF2B5EF4-FFF2-40B4-BE49-F238E27FC236}">
                    <a16:creationId xmlns:a16="http://schemas.microsoft.com/office/drawing/2014/main" id="{5D44CBA1-ACD9-C82D-0629-4D6BBF5D9524}"/>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2234228111"/>
                      </a:ext>
                    </a:extLst>
                  </a:tr>
                </a:tbl>
              </a:graphicData>
            </a:graphic>
          </p:graphicFrame>
        </p:grpSp>
        <p:grpSp>
          <p:nvGrpSpPr>
            <p:cNvPr id="60" name="Group 59">
              <a:extLst>
                <a:ext uri="{FF2B5EF4-FFF2-40B4-BE49-F238E27FC236}">
                  <a16:creationId xmlns:a16="http://schemas.microsoft.com/office/drawing/2014/main" id="{D3910A8E-A339-CDF5-0D6B-34249355CFE6}"/>
                </a:ext>
              </a:extLst>
            </p:cNvPr>
            <p:cNvGrpSpPr/>
            <p:nvPr/>
          </p:nvGrpSpPr>
          <p:grpSpPr>
            <a:xfrm>
              <a:off x="2105669" y="2805818"/>
              <a:ext cx="7993138" cy="1741970"/>
              <a:chOff x="2105669" y="2805818"/>
              <a:chExt cx="7993138" cy="1741970"/>
            </a:xfrm>
          </p:grpSpPr>
          <p:grpSp>
            <p:nvGrpSpPr>
              <p:cNvPr id="58" name="Group 57">
                <a:extLst>
                  <a:ext uri="{FF2B5EF4-FFF2-40B4-BE49-F238E27FC236}">
                    <a16:creationId xmlns:a16="http://schemas.microsoft.com/office/drawing/2014/main" id="{A29F3371-64A2-C2EE-BC4E-7D88FF120AB5}"/>
                  </a:ext>
                </a:extLst>
              </p:cNvPr>
              <p:cNvGrpSpPr/>
              <p:nvPr/>
            </p:nvGrpSpPr>
            <p:grpSpPr>
              <a:xfrm>
                <a:off x="2105669" y="2805818"/>
                <a:ext cx="7564629" cy="1741970"/>
                <a:chOff x="2565854" y="2805818"/>
                <a:chExt cx="7564629" cy="1741970"/>
              </a:xfrm>
            </p:grpSpPr>
            <p:cxnSp>
              <p:nvCxnSpPr>
                <p:cNvPr id="6" name="Straight Arrow Connector 5">
                  <a:extLst>
                    <a:ext uri="{FF2B5EF4-FFF2-40B4-BE49-F238E27FC236}">
                      <a16:creationId xmlns:a16="http://schemas.microsoft.com/office/drawing/2014/main" id="{0B2C8F46-37F5-EDDE-7CF5-3A30A9388A66}"/>
                    </a:ext>
                  </a:extLst>
                </p:cNvPr>
                <p:cNvCxnSpPr>
                  <a:cxnSpLocks/>
                </p:cNvCxnSpPr>
                <p:nvPr/>
              </p:nvCxnSpPr>
              <p:spPr>
                <a:xfrm>
                  <a:off x="2565854" y="3669713"/>
                  <a:ext cx="429940" cy="709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8F3731E0-F1E0-557F-5039-31C82AF9A9E1}"/>
                    </a:ext>
                  </a:extLst>
                </p:cNvPr>
                <p:cNvGrpSpPr/>
                <p:nvPr/>
              </p:nvGrpSpPr>
              <p:grpSpPr>
                <a:xfrm>
                  <a:off x="2982432" y="2812908"/>
                  <a:ext cx="887819" cy="1727791"/>
                  <a:chOff x="2982432" y="2812908"/>
                  <a:chExt cx="1249325" cy="1727791"/>
                </a:xfrm>
              </p:grpSpPr>
              <p:sp>
                <p:nvSpPr>
                  <p:cNvPr id="9" name="Rectangle: Rounded Corners 8">
                    <a:extLst>
                      <a:ext uri="{FF2B5EF4-FFF2-40B4-BE49-F238E27FC236}">
                        <a16:creationId xmlns:a16="http://schemas.microsoft.com/office/drawing/2014/main" id="{0E039C41-45B8-DC1B-3CB4-B4CED764AD58}"/>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20EB642-1A8D-EAC4-8661-0B47B60C7074}"/>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22" name="Group 21">
                  <a:extLst>
                    <a:ext uri="{FF2B5EF4-FFF2-40B4-BE49-F238E27FC236}">
                      <a16:creationId xmlns:a16="http://schemas.microsoft.com/office/drawing/2014/main" id="{140861CB-4ACB-11BB-5FAA-4C8CEF83F6A9}"/>
                    </a:ext>
                  </a:extLst>
                </p:cNvPr>
                <p:cNvGrpSpPr/>
                <p:nvPr/>
              </p:nvGrpSpPr>
              <p:grpSpPr>
                <a:xfrm>
                  <a:off x="4235304" y="2805818"/>
                  <a:ext cx="887819" cy="1727791"/>
                  <a:chOff x="2982432" y="2812908"/>
                  <a:chExt cx="1249325" cy="1727791"/>
                </a:xfrm>
              </p:grpSpPr>
              <p:sp>
                <p:nvSpPr>
                  <p:cNvPr id="23" name="Rectangle: Rounded Corners 22">
                    <a:extLst>
                      <a:ext uri="{FF2B5EF4-FFF2-40B4-BE49-F238E27FC236}">
                        <a16:creationId xmlns:a16="http://schemas.microsoft.com/office/drawing/2014/main" id="{438A1B2A-68F6-6CED-48D4-BD72AABE1FAE}"/>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B673975-B6AA-18F3-3472-6E6F0A2EED57}"/>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25" name="Group 24">
                  <a:extLst>
                    <a:ext uri="{FF2B5EF4-FFF2-40B4-BE49-F238E27FC236}">
                      <a16:creationId xmlns:a16="http://schemas.microsoft.com/office/drawing/2014/main" id="{FD0FB825-1107-A92F-AC34-ECEED674DB22}"/>
                    </a:ext>
                  </a:extLst>
                </p:cNvPr>
                <p:cNvGrpSpPr/>
                <p:nvPr/>
              </p:nvGrpSpPr>
              <p:grpSpPr>
                <a:xfrm>
                  <a:off x="5487568" y="2811135"/>
                  <a:ext cx="887819" cy="1727791"/>
                  <a:chOff x="2982432" y="2812908"/>
                  <a:chExt cx="1249325" cy="1727791"/>
                </a:xfrm>
              </p:grpSpPr>
              <p:sp>
                <p:nvSpPr>
                  <p:cNvPr id="26" name="Rectangle: Rounded Corners 25">
                    <a:extLst>
                      <a:ext uri="{FF2B5EF4-FFF2-40B4-BE49-F238E27FC236}">
                        <a16:creationId xmlns:a16="http://schemas.microsoft.com/office/drawing/2014/main" id="{FFE16D10-9549-1D7F-6F3D-D6B8F2CAC800}"/>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3D75C9A1-32BB-8247-6CA7-57711E83386F}"/>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29" name="Group 28">
                  <a:extLst>
                    <a:ext uri="{FF2B5EF4-FFF2-40B4-BE49-F238E27FC236}">
                      <a16:creationId xmlns:a16="http://schemas.microsoft.com/office/drawing/2014/main" id="{E4339659-DB39-459E-FC44-946F7FA9D0B8}"/>
                    </a:ext>
                  </a:extLst>
                </p:cNvPr>
                <p:cNvGrpSpPr/>
                <p:nvPr/>
              </p:nvGrpSpPr>
              <p:grpSpPr>
                <a:xfrm>
                  <a:off x="6744738" y="2816451"/>
                  <a:ext cx="887819" cy="1727791"/>
                  <a:chOff x="2982432" y="2812908"/>
                  <a:chExt cx="1249325" cy="1727791"/>
                </a:xfrm>
              </p:grpSpPr>
              <p:sp>
                <p:nvSpPr>
                  <p:cNvPr id="31" name="Rectangle: Rounded Corners 30">
                    <a:extLst>
                      <a:ext uri="{FF2B5EF4-FFF2-40B4-BE49-F238E27FC236}">
                        <a16:creationId xmlns:a16="http://schemas.microsoft.com/office/drawing/2014/main" id="{400D01E4-2DA5-40C7-8C12-599569D71D11}"/>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CE967CF6-7A32-C524-A010-0EFAF77EAE00}"/>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33" name="Group 32">
                  <a:extLst>
                    <a:ext uri="{FF2B5EF4-FFF2-40B4-BE49-F238E27FC236}">
                      <a16:creationId xmlns:a16="http://schemas.microsoft.com/office/drawing/2014/main" id="{68352452-D67E-AA3C-3D42-B421C52AF9FD}"/>
                    </a:ext>
                  </a:extLst>
                </p:cNvPr>
                <p:cNvGrpSpPr/>
                <p:nvPr/>
              </p:nvGrpSpPr>
              <p:grpSpPr>
                <a:xfrm>
                  <a:off x="7999242" y="2816453"/>
                  <a:ext cx="887819" cy="1727791"/>
                  <a:chOff x="2982432" y="2812908"/>
                  <a:chExt cx="1249325" cy="1727791"/>
                </a:xfrm>
              </p:grpSpPr>
              <p:sp>
                <p:nvSpPr>
                  <p:cNvPr id="34" name="Rectangle: Rounded Corners 33">
                    <a:extLst>
                      <a:ext uri="{FF2B5EF4-FFF2-40B4-BE49-F238E27FC236}">
                        <a16:creationId xmlns:a16="http://schemas.microsoft.com/office/drawing/2014/main" id="{219F881A-D7B6-B0E9-46A7-1A223E6651C0}"/>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15E2985C-BC9D-8856-B87A-9C52181453BD}"/>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cxnSp>
              <p:nvCxnSpPr>
                <p:cNvPr id="37" name="Straight Arrow Connector 36">
                  <a:extLst>
                    <a:ext uri="{FF2B5EF4-FFF2-40B4-BE49-F238E27FC236}">
                      <a16:creationId xmlns:a16="http://schemas.microsoft.com/office/drawing/2014/main" id="{B334DF0A-DD25-D49C-B05F-09306D0D1284}"/>
                    </a:ext>
                  </a:extLst>
                </p:cNvPr>
                <p:cNvCxnSpPr>
                  <a:cxnSpLocks/>
                </p:cNvCxnSpPr>
                <p:nvPr/>
              </p:nvCxnSpPr>
              <p:spPr>
                <a:xfrm>
                  <a:off x="3874158" y="3671486"/>
                  <a:ext cx="360000"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DE07FE4-D091-13EF-85CB-8D12FFDC30D7}"/>
                    </a:ext>
                  </a:extLst>
                </p:cNvPr>
                <p:cNvCxnSpPr>
                  <a:cxnSpLocks/>
                </p:cNvCxnSpPr>
                <p:nvPr/>
              </p:nvCxnSpPr>
              <p:spPr>
                <a:xfrm>
                  <a:off x="5121168" y="3670162"/>
                  <a:ext cx="360000"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27B5E66A-C899-5577-CA24-EDFB3A350F16}"/>
                    </a:ext>
                  </a:extLst>
                </p:cNvPr>
                <p:cNvCxnSpPr>
                  <a:cxnSpLocks/>
                </p:cNvCxnSpPr>
                <p:nvPr/>
              </p:nvCxnSpPr>
              <p:spPr>
                <a:xfrm>
                  <a:off x="6381437" y="3671491"/>
                  <a:ext cx="360000"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764E11A-D801-4012-2C80-ABF3230F18B6}"/>
                    </a:ext>
                  </a:extLst>
                </p:cNvPr>
                <p:cNvCxnSpPr>
                  <a:cxnSpLocks/>
                </p:cNvCxnSpPr>
                <p:nvPr/>
              </p:nvCxnSpPr>
              <p:spPr>
                <a:xfrm>
                  <a:off x="7633750" y="3670167"/>
                  <a:ext cx="360000"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848C40CC-7B3B-71E7-BA3B-CF3F6E0E9682}"/>
                    </a:ext>
                  </a:extLst>
                </p:cNvPr>
                <p:cNvGrpSpPr/>
                <p:nvPr/>
              </p:nvGrpSpPr>
              <p:grpSpPr>
                <a:xfrm>
                  <a:off x="9242664" y="2819997"/>
                  <a:ext cx="887819" cy="1727791"/>
                  <a:chOff x="2982432" y="2812908"/>
                  <a:chExt cx="1249325" cy="1727791"/>
                </a:xfrm>
              </p:grpSpPr>
              <p:sp>
                <p:nvSpPr>
                  <p:cNvPr id="55" name="Rectangle: Rounded Corners 54">
                    <a:extLst>
                      <a:ext uri="{FF2B5EF4-FFF2-40B4-BE49-F238E27FC236}">
                        <a16:creationId xmlns:a16="http://schemas.microsoft.com/office/drawing/2014/main" id="{E27731D2-1BBC-1CDD-4480-D3E3DC00C9DC}"/>
                      </a:ext>
                    </a:extLst>
                  </p:cNvPr>
                  <p:cNvSpPr/>
                  <p:nvPr/>
                </p:nvSpPr>
                <p:spPr>
                  <a:xfrm>
                    <a:off x="298243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47B9C03E-913A-2EC5-A9C0-33836B0F381C}"/>
                      </a:ext>
                    </a:extLst>
                  </p:cNvPr>
                  <p:cNvSpPr txBox="1"/>
                  <p:nvPr/>
                </p:nvSpPr>
                <p:spPr>
                  <a:xfrm>
                    <a:off x="3316044" y="2964678"/>
                    <a:ext cx="800219" cy="1431884"/>
                  </a:xfrm>
                  <a:prstGeom prst="rect">
                    <a:avLst/>
                  </a:prstGeom>
                  <a:noFill/>
                </p:spPr>
                <p:txBody>
                  <a:bodyPr vert="vert" wrap="square" rtlCol="0">
                    <a:spAutoFit/>
                  </a:bodyPr>
                  <a:lstStyle/>
                  <a:p>
                    <a:pPr algn="ctr"/>
                    <a:r>
                      <a:rPr lang="en-GB" sz="2000" dirty="0"/>
                      <a:t>Transformer Block</a:t>
                    </a:r>
                  </a:p>
                </p:txBody>
              </p:sp>
            </p:grpSp>
            <p:cxnSp>
              <p:nvCxnSpPr>
                <p:cNvPr id="57" name="Straight Arrow Connector 56">
                  <a:extLst>
                    <a:ext uri="{FF2B5EF4-FFF2-40B4-BE49-F238E27FC236}">
                      <a16:creationId xmlns:a16="http://schemas.microsoft.com/office/drawing/2014/main" id="{FD329F21-CE3E-BB14-968C-4C0421555AA1}"/>
                    </a:ext>
                  </a:extLst>
                </p:cNvPr>
                <p:cNvCxnSpPr>
                  <a:cxnSpLocks/>
                </p:cNvCxnSpPr>
                <p:nvPr/>
              </p:nvCxnSpPr>
              <p:spPr>
                <a:xfrm>
                  <a:off x="8881525" y="3670167"/>
                  <a:ext cx="360000" cy="1"/>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cxnSp>
            <p:nvCxnSpPr>
              <p:cNvPr id="59" name="Straight Arrow Connector 58">
                <a:extLst>
                  <a:ext uri="{FF2B5EF4-FFF2-40B4-BE49-F238E27FC236}">
                    <a16:creationId xmlns:a16="http://schemas.microsoft.com/office/drawing/2014/main" id="{A27989DD-90EF-5076-9580-9087867BE85F}"/>
                  </a:ext>
                </a:extLst>
              </p:cNvPr>
              <p:cNvCxnSpPr>
                <a:cxnSpLocks/>
              </p:cNvCxnSpPr>
              <p:nvPr/>
            </p:nvCxnSpPr>
            <p:spPr>
              <a:xfrm>
                <a:off x="9668867" y="3668023"/>
                <a:ext cx="429940" cy="709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2093233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485C6D46-E6F4-94A5-D94E-B720CC7A4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199D-60E0-3845-E329-190B37E48CC5}"/>
              </a:ext>
            </a:extLst>
          </p:cNvPr>
          <p:cNvSpPr>
            <a:spLocks noGrp="1"/>
          </p:cNvSpPr>
          <p:nvPr>
            <p:ph type="title"/>
          </p:nvPr>
        </p:nvSpPr>
        <p:spPr/>
        <p:txBody>
          <a:bodyPr/>
          <a:lstStyle/>
          <a:p>
            <a:r>
              <a:rPr lang="en-GB" dirty="0">
                <a:solidFill>
                  <a:schemeClr val="bg1"/>
                </a:solidFill>
              </a:rPr>
              <a:t>Back to predicting the next word</a:t>
            </a:r>
          </a:p>
        </p:txBody>
      </p:sp>
      <p:sp>
        <p:nvSpPr>
          <p:cNvPr id="3" name="Text Placeholder 2">
            <a:extLst>
              <a:ext uri="{FF2B5EF4-FFF2-40B4-BE49-F238E27FC236}">
                <a16:creationId xmlns:a16="http://schemas.microsoft.com/office/drawing/2014/main" id="{96DE17DF-D04B-7F56-3A14-E48106D472CD}"/>
              </a:ext>
            </a:extLst>
          </p:cNvPr>
          <p:cNvSpPr>
            <a:spLocks noGrp="1"/>
          </p:cNvSpPr>
          <p:nvPr>
            <p:ph type="body" idx="1"/>
          </p:nvPr>
        </p:nvSpPr>
        <p:spPr/>
        <p:txBody>
          <a:bodyPr/>
          <a:lstStyle/>
          <a:p>
            <a:r>
              <a:rPr lang="en-GB" dirty="0">
                <a:solidFill>
                  <a:schemeClr val="bg1"/>
                </a:solidFill>
              </a:rPr>
              <a:t>Back to our goal</a:t>
            </a:r>
          </a:p>
        </p:txBody>
      </p:sp>
      <p:sp>
        <p:nvSpPr>
          <p:cNvPr id="4" name="Slide Number Placeholder 3">
            <a:extLst>
              <a:ext uri="{FF2B5EF4-FFF2-40B4-BE49-F238E27FC236}">
                <a16:creationId xmlns:a16="http://schemas.microsoft.com/office/drawing/2014/main" id="{E84AE03B-66EB-9769-9679-6AF47B8AA07A}"/>
              </a:ext>
            </a:extLst>
          </p:cNvPr>
          <p:cNvSpPr>
            <a:spLocks noGrp="1"/>
          </p:cNvSpPr>
          <p:nvPr>
            <p:ph type="sldNum" sz="quarter" idx="12"/>
          </p:nvPr>
        </p:nvSpPr>
        <p:spPr/>
        <p:txBody>
          <a:bodyPr/>
          <a:lstStyle/>
          <a:p>
            <a:fld id="{13DE89AE-BBCC-45F3-BDAA-E98C74995322}" type="slidenum">
              <a:rPr lang="en-GB" smtClean="0"/>
              <a:t>39</a:t>
            </a:fld>
            <a:endParaRPr lang="en-GB"/>
          </a:p>
        </p:txBody>
      </p:sp>
    </p:spTree>
    <p:extLst>
      <p:ext uri="{BB962C8B-B14F-4D97-AF65-F5344CB8AC3E}">
        <p14:creationId xmlns:p14="http://schemas.microsoft.com/office/powerpoint/2010/main" val="4190833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F77CC-700C-9716-0FA9-8CA832F43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5C667-8A21-8B85-694A-C7F5B731B86A}"/>
              </a:ext>
            </a:extLst>
          </p:cNvPr>
          <p:cNvSpPr>
            <a:spLocks noGrp="1"/>
          </p:cNvSpPr>
          <p:nvPr>
            <p:ph type="title"/>
          </p:nvPr>
        </p:nvSpPr>
        <p:spPr>
          <a:xfrm>
            <a:off x="706213" y="534595"/>
            <a:ext cx="10515600" cy="930275"/>
          </a:xfrm>
        </p:spPr>
        <p:txBody>
          <a:bodyPr>
            <a:normAutofit fontScale="90000"/>
          </a:bodyPr>
          <a:lstStyle/>
          <a:p>
            <a:r>
              <a:rPr lang="en-GB" dirty="0"/>
              <a:t>Predicting the next word from context embeddings</a:t>
            </a:r>
          </a:p>
        </p:txBody>
      </p:sp>
      <p:graphicFrame>
        <p:nvGraphicFramePr>
          <p:cNvPr id="5" name="Content Placeholder 4">
            <a:extLst>
              <a:ext uri="{FF2B5EF4-FFF2-40B4-BE49-F238E27FC236}">
                <a16:creationId xmlns:a16="http://schemas.microsoft.com/office/drawing/2014/main" id="{A3E0B797-EABF-2469-395D-548416EC41F0}"/>
              </a:ext>
            </a:extLst>
          </p:cNvPr>
          <p:cNvGraphicFramePr>
            <a:graphicFrameLocks noGrp="1"/>
          </p:cNvGraphicFramePr>
          <p:nvPr>
            <p:ph idx="1"/>
          </p:nvPr>
        </p:nvGraphicFramePr>
        <p:xfrm>
          <a:off x="1230085" y="1502923"/>
          <a:ext cx="4231820" cy="1854200"/>
        </p:xfrm>
        <a:graphic>
          <a:graphicData uri="http://schemas.openxmlformats.org/drawingml/2006/table">
            <a:tbl>
              <a:tblPr firstRow="1">
                <a:tableStyleId>{5C22544A-7EE6-4342-B048-85BDC9FD1C3A}</a:tableStyleId>
              </a:tblPr>
              <a:tblGrid>
                <a:gridCol w="846364">
                  <a:extLst>
                    <a:ext uri="{9D8B030D-6E8A-4147-A177-3AD203B41FA5}">
                      <a16:colId xmlns:a16="http://schemas.microsoft.com/office/drawing/2014/main" val="116916505"/>
                    </a:ext>
                  </a:extLst>
                </a:gridCol>
                <a:gridCol w="846364">
                  <a:extLst>
                    <a:ext uri="{9D8B030D-6E8A-4147-A177-3AD203B41FA5}">
                      <a16:colId xmlns:a16="http://schemas.microsoft.com/office/drawing/2014/main" val="858692082"/>
                    </a:ext>
                  </a:extLst>
                </a:gridCol>
                <a:gridCol w="846364">
                  <a:extLst>
                    <a:ext uri="{9D8B030D-6E8A-4147-A177-3AD203B41FA5}">
                      <a16:colId xmlns:a16="http://schemas.microsoft.com/office/drawing/2014/main" val="1217996601"/>
                    </a:ext>
                  </a:extLst>
                </a:gridCol>
                <a:gridCol w="846364">
                  <a:extLst>
                    <a:ext uri="{9D8B030D-6E8A-4147-A177-3AD203B41FA5}">
                      <a16:colId xmlns:a16="http://schemas.microsoft.com/office/drawing/2014/main" val="1242521241"/>
                    </a:ext>
                  </a:extLst>
                </a:gridCol>
                <a:gridCol w="846364">
                  <a:extLst>
                    <a:ext uri="{9D8B030D-6E8A-4147-A177-3AD203B41FA5}">
                      <a16:colId xmlns:a16="http://schemas.microsoft.com/office/drawing/2014/main" val="3847871238"/>
                    </a:ext>
                  </a:extLst>
                </a:gridCol>
              </a:tblGrid>
              <a:tr h="370840">
                <a:tc>
                  <a:txBody>
                    <a:bodyPr/>
                    <a:lstStyle/>
                    <a:p>
                      <a:r>
                        <a:rPr lang="en-GB" dirty="0"/>
                        <a:t>the</a:t>
                      </a:r>
                    </a:p>
                  </a:txBody>
                  <a:tcPr/>
                </a:tc>
                <a:tc>
                  <a:txBody>
                    <a:bodyPr/>
                    <a:lstStyle/>
                    <a:p>
                      <a:r>
                        <a:rPr lang="en-GB" dirty="0"/>
                        <a:t>cat</a:t>
                      </a:r>
                    </a:p>
                  </a:txBody>
                  <a:tcPr/>
                </a:tc>
                <a:tc>
                  <a:txBody>
                    <a:bodyPr/>
                    <a:lstStyle/>
                    <a:p>
                      <a:r>
                        <a:rPr lang="en-GB" dirty="0"/>
                        <a:t>sat</a:t>
                      </a:r>
                    </a:p>
                  </a:txBody>
                  <a:tcPr/>
                </a:tc>
                <a:tc>
                  <a:txBody>
                    <a:bodyPr/>
                    <a:lstStyle/>
                    <a:p>
                      <a:r>
                        <a:rPr lang="en-GB" dirty="0"/>
                        <a:t>on</a:t>
                      </a:r>
                    </a:p>
                  </a:txBody>
                  <a:tcPr/>
                </a:tc>
                <a:tc>
                  <a:txBody>
                    <a:bodyPr/>
                    <a:lstStyle/>
                    <a:p>
                      <a:r>
                        <a:rPr lang="en-GB" dirty="0"/>
                        <a:t>the</a:t>
                      </a:r>
                    </a:p>
                  </a:txBody>
                  <a:tcPr/>
                </a:tc>
                <a:extLst>
                  <a:ext uri="{0D108BD9-81ED-4DB2-BD59-A6C34878D82A}">
                    <a16:rowId xmlns:a16="http://schemas.microsoft.com/office/drawing/2014/main" val="696599091"/>
                  </a:ext>
                </a:extLst>
              </a:tr>
              <a:tr h="370840">
                <a:tc>
                  <a:txBody>
                    <a:bodyPr/>
                    <a:lstStyle/>
                    <a:p>
                      <a:endParaRPr lang="en-GB" dirty="0"/>
                    </a:p>
                  </a:txBody>
                  <a:tcPr>
                    <a:solidFill>
                      <a:schemeClr val="accent5"/>
                    </a:solidFill>
                  </a:tcPr>
                </a:tc>
                <a:tc>
                  <a:txBody>
                    <a:bodyPr/>
                    <a:lstStyle/>
                    <a:p>
                      <a:endParaRPr lang="en-GB"/>
                    </a:p>
                  </a:txBody>
                  <a:tcPr>
                    <a:solidFill>
                      <a:schemeClr val="accent5"/>
                    </a:solidFill>
                  </a:tcPr>
                </a:tc>
                <a:tc>
                  <a:txBody>
                    <a:bodyPr/>
                    <a:lstStyle/>
                    <a:p>
                      <a:endParaRPr lang="en-GB"/>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lumMod val="50000"/>
                      </a:schemeClr>
                    </a:solidFill>
                  </a:tcPr>
                </a:tc>
                <a:extLst>
                  <a:ext uri="{0D108BD9-81ED-4DB2-BD59-A6C34878D82A}">
                    <a16:rowId xmlns:a16="http://schemas.microsoft.com/office/drawing/2014/main" val="1533931161"/>
                  </a:ext>
                </a:extLst>
              </a:tr>
              <a:tr h="370840">
                <a:tc>
                  <a:txBody>
                    <a:bodyPr/>
                    <a:lstStyle/>
                    <a:p>
                      <a:endParaRPr lang="en-GB" dirty="0"/>
                    </a:p>
                  </a:txBody>
                  <a:tcPr>
                    <a:solidFill>
                      <a:schemeClr val="accent5"/>
                    </a:solidFill>
                  </a:tcPr>
                </a:tc>
                <a:tc>
                  <a:txBody>
                    <a:bodyPr/>
                    <a:lstStyle/>
                    <a:p>
                      <a:endParaRPr lang="en-GB"/>
                    </a:p>
                  </a:txBody>
                  <a:tcPr>
                    <a:solidFill>
                      <a:schemeClr val="accent5"/>
                    </a:solidFill>
                  </a:tcPr>
                </a:tc>
                <a:tc>
                  <a:txBody>
                    <a:bodyPr/>
                    <a:lstStyle/>
                    <a:p>
                      <a:endParaRPr lang="en-GB"/>
                    </a:p>
                  </a:txBody>
                  <a:tcPr>
                    <a:solidFill>
                      <a:schemeClr val="accent5"/>
                    </a:solidFill>
                  </a:tcPr>
                </a:tc>
                <a:tc>
                  <a:txBody>
                    <a:bodyPr/>
                    <a:lstStyle/>
                    <a:p>
                      <a:endParaRPr lang="en-GB"/>
                    </a:p>
                  </a:txBody>
                  <a:tcPr>
                    <a:solidFill>
                      <a:schemeClr val="accent5"/>
                    </a:solidFill>
                  </a:tcPr>
                </a:tc>
                <a:tc>
                  <a:txBody>
                    <a:bodyPr/>
                    <a:lstStyle/>
                    <a:p>
                      <a:endParaRPr lang="en-GB"/>
                    </a:p>
                  </a:txBody>
                  <a:tcPr>
                    <a:solidFill>
                      <a:schemeClr val="accent5">
                        <a:lumMod val="50000"/>
                      </a:schemeClr>
                    </a:solidFill>
                  </a:tcPr>
                </a:tc>
                <a:extLst>
                  <a:ext uri="{0D108BD9-81ED-4DB2-BD59-A6C34878D82A}">
                    <a16:rowId xmlns:a16="http://schemas.microsoft.com/office/drawing/2014/main" val="1732967676"/>
                  </a:ext>
                </a:extLst>
              </a:tr>
              <a:tr h="370840">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a:p>
                  </a:txBody>
                  <a:tcPr>
                    <a:solidFill>
                      <a:schemeClr val="accent5">
                        <a:lumMod val="50000"/>
                      </a:schemeClr>
                    </a:solidFill>
                  </a:tcPr>
                </a:tc>
                <a:extLst>
                  <a:ext uri="{0D108BD9-81ED-4DB2-BD59-A6C34878D82A}">
                    <a16:rowId xmlns:a16="http://schemas.microsoft.com/office/drawing/2014/main" val="3626587743"/>
                  </a:ext>
                </a:extLst>
              </a:tr>
              <a:tr h="370840">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solidFill>
                  </a:tcPr>
                </a:tc>
                <a:tc>
                  <a:txBody>
                    <a:bodyPr/>
                    <a:lstStyle/>
                    <a:p>
                      <a:endParaRPr lang="en-GB" dirty="0"/>
                    </a:p>
                  </a:txBody>
                  <a:tcPr>
                    <a:solidFill>
                      <a:schemeClr val="accent5">
                        <a:lumMod val="50000"/>
                      </a:schemeClr>
                    </a:solidFill>
                  </a:tcPr>
                </a:tc>
                <a:extLst>
                  <a:ext uri="{0D108BD9-81ED-4DB2-BD59-A6C34878D82A}">
                    <a16:rowId xmlns:a16="http://schemas.microsoft.com/office/drawing/2014/main" val="2234228111"/>
                  </a:ext>
                </a:extLst>
              </a:tr>
            </a:tbl>
          </a:graphicData>
        </a:graphic>
      </p:graphicFrame>
      <p:sp>
        <p:nvSpPr>
          <p:cNvPr id="4" name="Slide Number Placeholder 3">
            <a:extLst>
              <a:ext uri="{FF2B5EF4-FFF2-40B4-BE49-F238E27FC236}">
                <a16:creationId xmlns:a16="http://schemas.microsoft.com/office/drawing/2014/main" id="{5B856A05-AC0F-9D11-C357-F41C3AB94959}"/>
              </a:ext>
            </a:extLst>
          </p:cNvPr>
          <p:cNvSpPr>
            <a:spLocks noGrp="1"/>
          </p:cNvSpPr>
          <p:nvPr>
            <p:ph type="sldNum" sz="quarter" idx="12"/>
          </p:nvPr>
        </p:nvSpPr>
        <p:spPr/>
        <p:txBody>
          <a:bodyPr/>
          <a:lstStyle/>
          <a:p>
            <a:fld id="{13DE89AE-BBCC-45F3-BDAA-E98C74995322}" type="slidenum">
              <a:rPr lang="en-GB" smtClean="0"/>
              <a:t>40</a:t>
            </a:fld>
            <a:endParaRPr lang="en-GB"/>
          </a:p>
        </p:txBody>
      </p:sp>
      <p:grpSp>
        <p:nvGrpSpPr>
          <p:cNvPr id="10" name="Group 9">
            <a:extLst>
              <a:ext uri="{FF2B5EF4-FFF2-40B4-BE49-F238E27FC236}">
                <a16:creationId xmlns:a16="http://schemas.microsoft.com/office/drawing/2014/main" id="{A5C79B9E-3ACA-1409-3D9D-61BFD97A1499}"/>
              </a:ext>
            </a:extLst>
          </p:cNvPr>
          <p:cNvGrpSpPr/>
          <p:nvPr/>
        </p:nvGrpSpPr>
        <p:grpSpPr>
          <a:xfrm>
            <a:off x="5562597" y="1876025"/>
            <a:ext cx="4735293" cy="1107996"/>
            <a:chOff x="4936670" y="2431534"/>
            <a:chExt cx="4735293" cy="1107996"/>
          </a:xfrm>
        </p:grpSpPr>
        <p:sp>
          <p:nvSpPr>
            <p:cNvPr id="6" name="TextBox 5">
              <a:extLst>
                <a:ext uri="{FF2B5EF4-FFF2-40B4-BE49-F238E27FC236}">
                  <a16:creationId xmlns:a16="http://schemas.microsoft.com/office/drawing/2014/main" id="{809B7BE7-9B4A-65FB-F9C0-3A5C6C283811}"/>
                </a:ext>
              </a:extLst>
            </p:cNvPr>
            <p:cNvSpPr txBox="1"/>
            <p:nvPr/>
          </p:nvSpPr>
          <p:spPr>
            <a:xfrm>
              <a:off x="5338086" y="2457103"/>
              <a:ext cx="3124199" cy="461665"/>
            </a:xfrm>
            <a:prstGeom prst="rect">
              <a:avLst/>
            </a:prstGeom>
            <a:noFill/>
          </p:spPr>
          <p:txBody>
            <a:bodyPr wrap="square" rtlCol="0">
              <a:spAutoFit/>
            </a:bodyPr>
            <a:lstStyle/>
            <a:p>
              <a:r>
                <a:rPr lang="en-GB" sz="2400" dirty="0"/>
                <a:t>Predict the next word</a:t>
              </a:r>
            </a:p>
          </p:txBody>
        </p:sp>
        <p:sp>
          <p:nvSpPr>
            <p:cNvPr id="7" name="Arrow: Right 6">
              <a:extLst>
                <a:ext uri="{FF2B5EF4-FFF2-40B4-BE49-F238E27FC236}">
                  <a16:creationId xmlns:a16="http://schemas.microsoft.com/office/drawing/2014/main" id="{96CC9273-52E5-A68E-A729-F87FACCCF14E}"/>
                </a:ext>
              </a:extLst>
            </p:cNvPr>
            <p:cNvSpPr/>
            <p:nvPr/>
          </p:nvSpPr>
          <p:spPr>
            <a:xfrm>
              <a:off x="4936670" y="2917896"/>
              <a:ext cx="3777343"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91CDA55-CE77-374B-B5D8-04A4F916F0F5}"/>
                </a:ext>
              </a:extLst>
            </p:cNvPr>
            <p:cNvSpPr txBox="1"/>
            <p:nvPr/>
          </p:nvSpPr>
          <p:spPr>
            <a:xfrm>
              <a:off x="8909963" y="2431534"/>
              <a:ext cx="762000" cy="1107996"/>
            </a:xfrm>
            <a:prstGeom prst="rect">
              <a:avLst/>
            </a:prstGeom>
            <a:noFill/>
          </p:spPr>
          <p:txBody>
            <a:bodyPr wrap="square" rtlCol="0">
              <a:spAutoFit/>
            </a:bodyPr>
            <a:lstStyle/>
            <a:p>
              <a:pPr algn="ctr"/>
              <a:r>
                <a:rPr lang="en-GB" sz="6600" dirty="0"/>
                <a:t>?</a:t>
              </a:r>
            </a:p>
          </p:txBody>
        </p:sp>
      </p:grpSp>
      <p:sp>
        <p:nvSpPr>
          <p:cNvPr id="9" name="TextBox 8">
            <a:extLst>
              <a:ext uri="{FF2B5EF4-FFF2-40B4-BE49-F238E27FC236}">
                <a16:creationId xmlns:a16="http://schemas.microsoft.com/office/drawing/2014/main" id="{634016CD-355C-0458-9700-2399AC3F3FF5}"/>
              </a:ext>
            </a:extLst>
          </p:cNvPr>
          <p:cNvSpPr txBox="1"/>
          <p:nvPr/>
        </p:nvSpPr>
        <p:spPr>
          <a:xfrm>
            <a:off x="5739490" y="2593219"/>
            <a:ext cx="3423556" cy="646331"/>
          </a:xfrm>
          <a:prstGeom prst="rect">
            <a:avLst/>
          </a:prstGeom>
          <a:noFill/>
        </p:spPr>
        <p:txBody>
          <a:bodyPr wrap="square" rtlCol="0">
            <a:spAutoFit/>
          </a:bodyPr>
          <a:lstStyle/>
          <a:p>
            <a:pPr algn="ctr"/>
            <a:r>
              <a:rPr lang="en-GB" dirty="0"/>
              <a:t>Input vector from preceding token into multi-class classifier</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761937F-D5EA-DF8E-3376-3039098321FF}"/>
                  </a:ext>
                </a:extLst>
              </p:cNvPr>
              <p:cNvSpPr txBox="1"/>
              <p:nvPr/>
            </p:nvSpPr>
            <p:spPr>
              <a:xfrm>
                <a:off x="384787" y="3591539"/>
                <a:ext cx="11544301" cy="3318986"/>
              </a:xfrm>
              <a:prstGeom prst="rect">
                <a:avLst/>
              </a:prstGeom>
              <a:noFill/>
            </p:spPr>
            <p:txBody>
              <a:bodyPr wrap="square" rtlCol="0">
                <a:spAutoFit/>
              </a:bodyPr>
              <a:lstStyle/>
              <a:p>
                <a:pPr marL="285750" indent="-285750">
                  <a:buFont typeface="Arial" panose="020B0604020202020204" pitchFamily="34" charset="0"/>
                  <a:buChar char="•"/>
                </a:pPr>
                <a:r>
                  <a:rPr lang="en-GB" sz="2400" dirty="0"/>
                  <a:t>Use </a:t>
                </a:r>
                <a:r>
                  <a:rPr lang="en-GB" sz="2400" dirty="0" err="1"/>
                  <a:t>softmax</a:t>
                </a:r>
                <a:r>
                  <a:rPr lang="en-GB" sz="2400" dirty="0"/>
                  <a:t> to compute probabilities of each word in our vocabulary given the context embedding vector </a:t>
                </a:r>
                <a14:m>
                  <m:oMath xmlns:m="http://schemas.openxmlformats.org/officeDocument/2006/math">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𝑓</m:t>
                        </m:r>
                      </m:e>
                    </m:bar>
                  </m:oMath>
                </a14:m>
                <a:endParaRPr lang="en-GB" sz="2400" dirty="0"/>
              </a:p>
              <a:p>
                <a:pPr marL="285750" indent="-285750">
                  <a:buFont typeface="Arial" panose="020B0604020202020204" pitchFamily="34" charset="0"/>
                  <a:buChar char="•"/>
                </a:pPr>
                <a:endParaRPr lang="en-GB" sz="2400" b="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GB" sz="2400" b="0" i="1" smtClean="0">
                        <a:latin typeface="Cambria Math" panose="02040503050406030204" pitchFamily="18" charset="0"/>
                      </a:rPr>
                      <m:t>𝑃</m:t>
                    </m:r>
                    <m:d>
                      <m:dPr>
                        <m:ctrlPr>
                          <a:rPr lang="en-GB" sz="2400" b="0" i="0" smtClean="0">
                            <a:latin typeface="Cambria Math" panose="02040503050406030204" pitchFamily="18" charset="0"/>
                          </a:rPr>
                        </m:ctrlPr>
                      </m:dPr>
                      <m:e>
                        <m:r>
                          <m:rPr>
                            <m:nor/>
                          </m:rPr>
                          <a:rPr lang="en-GB" sz="2400" b="0" i="0" smtClean="0">
                            <a:latin typeface="Cambria Math" panose="02040503050406030204" pitchFamily="18" charset="0"/>
                          </a:rPr>
                          <m:t>word </m:t>
                        </m:r>
                        <m:r>
                          <a:rPr lang="en-GB" sz="2400" b="0" i="1" smtClean="0">
                            <a:latin typeface="Cambria Math" panose="02040503050406030204" pitchFamily="18" charset="0"/>
                          </a:rPr>
                          <m:t>𝑘</m:t>
                        </m:r>
                        <m:r>
                          <a:rPr lang="en-GB" sz="2400" b="0" i="1" smtClean="0">
                            <a:latin typeface="Cambria Math" panose="02040503050406030204" pitchFamily="18" charset="0"/>
                          </a:rPr>
                          <m:t> | </m:t>
                        </m:r>
                        <m:r>
                          <m:rPr>
                            <m:nor/>
                          </m:rPr>
                          <a:rPr lang="en-GB" sz="2400" b="0" i="0" smtClean="0">
                            <a:latin typeface="Cambria Math" panose="02040503050406030204" pitchFamily="18" charset="0"/>
                          </a:rPr>
                          <m:t>context</m:t>
                        </m:r>
                        <m:r>
                          <a:rPr lang="en-GB" sz="2400" b="0" i="1" smtClean="0">
                            <a:latin typeface="Cambria Math" panose="02040503050406030204" pitchFamily="18" charset="0"/>
                          </a:rPr>
                          <m:t> </m:t>
                        </m:r>
                        <m:r>
                          <m:rPr>
                            <m:nor/>
                          </m:rPr>
                          <a:rPr lang="en-GB" sz="2400" b="0" i="0" smtClean="0">
                            <a:latin typeface="Cambria Math" panose="02040503050406030204" pitchFamily="18" charset="0"/>
                          </a:rPr>
                          <m:t>embedding vector </m:t>
                        </m:r>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𝑓</m:t>
                            </m:r>
                          </m:e>
                        </m:bar>
                      </m:e>
                    </m:d>
                    <m:r>
                      <a:rPr lang="en-GB" sz="2400" b="0" i="1" smtClean="0">
                        <a:latin typeface="Cambria Math" panose="02040503050406030204" pitchFamily="18" charset="0"/>
                      </a:rPr>
                      <m:t>= </m:t>
                    </m:r>
                    <m:f>
                      <m:fPr>
                        <m:ctrlPr>
                          <a:rPr lang="en-GB" sz="2400" b="0" i="0" smtClean="0">
                            <a:latin typeface="Cambria Math" panose="02040503050406030204" pitchFamily="18" charset="0"/>
                          </a:rPr>
                        </m:ctrlPr>
                      </m:fPr>
                      <m:num>
                        <m:r>
                          <m:rPr>
                            <m:nor/>
                          </m:rPr>
                          <a:rPr lang="en-GB" sz="2400" b="0" i="0" smtClean="0">
                            <a:latin typeface="Cambria Math" panose="02040503050406030204" pitchFamily="18" charset="0"/>
                          </a:rPr>
                          <m:t>exp</m:t>
                        </m:r>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𝑔</m:t>
                                        </m:r>
                                      </m:e>
                                    </m:bar>
                                  </m:e>
                                  <m:sub>
                                    <m:r>
                                      <a:rPr lang="en-GB" sz="2400" b="0" i="1" smtClean="0">
                                        <a:latin typeface="Cambria Math" panose="02040503050406030204" pitchFamily="18" charset="0"/>
                                      </a:rPr>
                                      <m:t>𝑘</m:t>
                                    </m:r>
                                  </m:sub>
                                </m:sSub>
                              </m:e>
                              <m:sup>
                                <m:r>
                                  <a:rPr lang="en-GB" sz="2400" i="1">
                                    <a:latin typeface="Cambria Math" panose="02040503050406030204" pitchFamily="18" charset="0"/>
                                  </a:rPr>
                                  <m:t>⊤</m:t>
                                </m:r>
                              </m:sup>
                            </m:sSup>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𝑓</m:t>
                                </m:r>
                              </m:e>
                            </m:bar>
                          </m:e>
                        </m:d>
                      </m:num>
                      <m:den>
                        <m:nary>
                          <m:naryPr>
                            <m:chr m:val="∑"/>
                            <m:supHide m:val="on"/>
                            <m:ctrlPr>
                              <a:rPr lang="en-GB" sz="2400" b="0" i="1" smtClean="0">
                                <a:latin typeface="Cambria Math" panose="02040503050406030204" pitchFamily="18" charset="0"/>
                              </a:rPr>
                            </m:ctrlPr>
                          </m:naryPr>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𝑘</m:t>
                                </m:r>
                              </m:e>
                              <m:sup>
                                <m:r>
                                  <a:rPr lang="en-GB" sz="2400" b="0" i="1" smtClean="0">
                                    <a:latin typeface="Cambria Math" panose="02040503050406030204" pitchFamily="18" charset="0"/>
                                  </a:rPr>
                                  <m:t>′</m:t>
                                </m:r>
                              </m:sup>
                            </m:sSup>
                          </m:sub>
                          <m:sup/>
                          <m:e>
                            <m:r>
                              <m:rPr>
                                <m:nor/>
                              </m:rPr>
                              <a:rPr lang="en-GB" sz="2400" b="0" i="0" smtClean="0">
                                <a:latin typeface="Cambria Math" panose="02040503050406030204" pitchFamily="18" charset="0"/>
                              </a:rPr>
                              <m:t>exp</m:t>
                            </m:r>
                            <m:d>
                              <m:dPr>
                                <m:ctrlPr>
                                  <a:rPr lang="en-GB" sz="2400" b="0" i="1" smtClean="0">
                                    <a:latin typeface="Cambria Math" panose="02040503050406030204" pitchFamily="18" charset="0"/>
                                  </a:rPr>
                                </m:ctrlPr>
                              </m:dPr>
                              <m:e>
                                <m:sSubSup>
                                  <m:sSubSupPr>
                                    <m:ctrlPr>
                                      <a:rPr lang="en-GB" sz="2400" b="0" i="1" smtClean="0">
                                        <a:latin typeface="Cambria Math" panose="02040503050406030204" pitchFamily="18" charset="0"/>
                                      </a:rPr>
                                    </m:ctrlPr>
                                  </m:sSubSup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𝑔</m:t>
                                        </m:r>
                                      </m:e>
                                    </m:bar>
                                  </m:e>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𝑘</m:t>
                                        </m:r>
                                      </m:e>
                                      <m:sup>
                                        <m:r>
                                          <a:rPr lang="en-GB" sz="2400" b="0" i="1" smtClean="0">
                                            <a:latin typeface="Cambria Math" panose="02040503050406030204" pitchFamily="18" charset="0"/>
                                          </a:rPr>
                                          <m:t>′</m:t>
                                        </m:r>
                                      </m:sup>
                                    </m:sSup>
                                  </m:sub>
                                  <m:sup>
                                    <m:r>
                                      <a:rPr lang="en-GB" sz="2400" i="1">
                                        <a:latin typeface="Cambria Math" panose="02040503050406030204" pitchFamily="18" charset="0"/>
                                      </a:rPr>
                                      <m:t>⊤</m:t>
                                    </m:r>
                                  </m:sup>
                                </m:sSubSup>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𝑓</m:t>
                                    </m:r>
                                  </m:e>
                                </m:bar>
                              </m:e>
                            </m:d>
                          </m:e>
                        </m:nary>
                      </m:den>
                    </m:f>
                  </m:oMath>
                </a14:m>
                <a:endParaRPr lang="en-GB" sz="2400" dirty="0"/>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We learn the vectors </a:t>
                </a:r>
                <a14:m>
                  <m:oMath xmlns:m="http://schemas.openxmlformats.org/officeDocument/2006/math">
                    <m:sSub>
                      <m:sSubPr>
                        <m:ctrlPr>
                          <a:rPr lang="en-GB" sz="2400" b="0" i="1" smtClean="0">
                            <a:latin typeface="Cambria Math" panose="02040503050406030204" pitchFamily="18" charset="0"/>
                          </a:rPr>
                        </m:ctrlPr>
                      </m:sSubPr>
                      <m:e>
                        <m:bar>
                          <m:barPr>
                            <m:pos m:val="bot"/>
                            <m:ctrlPr>
                              <a:rPr lang="en-GB" sz="2400" b="0" i="1" smtClean="0">
                                <a:latin typeface="Cambria Math" panose="02040503050406030204" pitchFamily="18" charset="0"/>
                              </a:rPr>
                            </m:ctrlPr>
                          </m:barPr>
                          <m:e>
                            <m:r>
                              <a:rPr lang="en-GB" sz="2400" b="0" i="1" smtClean="0">
                                <a:latin typeface="Cambria Math" panose="02040503050406030204" pitchFamily="18" charset="0"/>
                              </a:rPr>
                              <m:t>𝑔</m:t>
                            </m:r>
                          </m:e>
                        </m:bar>
                      </m:e>
                      <m:sub>
                        <m:r>
                          <a:rPr lang="en-GB" sz="2400" b="0" i="1" smtClean="0">
                            <a:latin typeface="Cambria Math" panose="02040503050406030204" pitchFamily="18" charset="0"/>
                          </a:rPr>
                          <m:t>𝑘</m:t>
                        </m:r>
                      </m:sub>
                    </m:sSub>
                  </m:oMath>
                </a14:m>
                <a:r>
                  <a:rPr lang="en-GB" sz="2400" dirty="0"/>
                  <a:t> as part of the model training </a:t>
                </a:r>
              </a:p>
              <a:p>
                <a:endParaRPr lang="en-GB" sz="2400" dirty="0"/>
              </a:p>
            </p:txBody>
          </p:sp>
        </mc:Choice>
        <mc:Fallback xmlns="">
          <p:sp>
            <p:nvSpPr>
              <p:cNvPr id="11" name="TextBox 10">
                <a:extLst>
                  <a:ext uri="{FF2B5EF4-FFF2-40B4-BE49-F238E27FC236}">
                    <a16:creationId xmlns:a16="http://schemas.microsoft.com/office/drawing/2014/main" id="{B761937F-D5EA-DF8E-3376-3039098321FF}"/>
                  </a:ext>
                </a:extLst>
              </p:cNvPr>
              <p:cNvSpPr txBox="1">
                <a:spLocks noRot="1" noChangeAspect="1" noMove="1" noResize="1" noEditPoints="1" noAdjustHandles="1" noChangeArrowheads="1" noChangeShapeType="1" noTextEdit="1"/>
              </p:cNvSpPr>
              <p:nvPr/>
            </p:nvSpPr>
            <p:spPr>
              <a:xfrm>
                <a:off x="384787" y="3591539"/>
                <a:ext cx="11544301" cy="3318986"/>
              </a:xfrm>
              <a:prstGeom prst="rect">
                <a:avLst/>
              </a:prstGeom>
              <a:blipFill>
                <a:blip r:embed="rId3"/>
                <a:stretch>
                  <a:fillRect l="-686" t="-1468"/>
                </a:stretch>
              </a:blipFill>
            </p:spPr>
            <p:txBody>
              <a:bodyPr/>
              <a:lstStyle/>
              <a:p>
                <a:r>
                  <a:rPr lang="en-GB">
                    <a:noFill/>
                  </a:rPr>
                  <a:t> </a:t>
                </a:r>
              </a:p>
            </p:txBody>
          </p:sp>
        </mc:Fallback>
      </mc:AlternateContent>
    </p:spTree>
    <p:extLst>
      <p:ext uri="{BB962C8B-B14F-4D97-AF65-F5344CB8AC3E}">
        <p14:creationId xmlns:p14="http://schemas.microsoft.com/office/powerpoint/2010/main" val="174742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4900D-5F68-E124-259B-155ACAB71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14815-5F7A-DD85-6AFE-0726ADE0F24E}"/>
              </a:ext>
            </a:extLst>
          </p:cNvPr>
          <p:cNvSpPr>
            <a:spLocks noGrp="1"/>
          </p:cNvSpPr>
          <p:nvPr>
            <p:ph type="title"/>
          </p:nvPr>
        </p:nvSpPr>
        <p:spPr>
          <a:xfrm>
            <a:off x="669471" y="481615"/>
            <a:ext cx="10515600" cy="930275"/>
          </a:xfrm>
        </p:spPr>
        <p:txBody>
          <a:bodyPr>
            <a:normAutofit fontScale="90000"/>
          </a:bodyPr>
          <a:lstStyle/>
          <a:p>
            <a:r>
              <a:rPr lang="en-GB" dirty="0"/>
              <a:t>Predicting the next word from context embeddings</a:t>
            </a:r>
          </a:p>
        </p:txBody>
      </p:sp>
      <p:graphicFrame>
        <p:nvGraphicFramePr>
          <p:cNvPr id="5" name="Content Placeholder 4">
            <a:extLst>
              <a:ext uri="{FF2B5EF4-FFF2-40B4-BE49-F238E27FC236}">
                <a16:creationId xmlns:a16="http://schemas.microsoft.com/office/drawing/2014/main" id="{D843277E-6E81-14FA-A0B2-1BABE71F272F}"/>
              </a:ext>
            </a:extLst>
          </p:cNvPr>
          <p:cNvGraphicFramePr>
            <a:graphicFrameLocks noGrp="1"/>
          </p:cNvGraphicFramePr>
          <p:nvPr>
            <p:ph idx="1"/>
          </p:nvPr>
        </p:nvGraphicFramePr>
        <p:xfrm>
          <a:off x="1387929" y="1546468"/>
          <a:ext cx="2890160" cy="1524000"/>
        </p:xfrm>
        <a:graphic>
          <a:graphicData uri="http://schemas.openxmlformats.org/drawingml/2006/table">
            <a:tbl>
              <a:tblPr firstRow="1">
                <a:tableStyleId>{5C22544A-7EE6-4342-B048-85BDC9FD1C3A}</a:tableStyleId>
              </a:tblPr>
              <a:tblGrid>
                <a:gridCol w="578032">
                  <a:extLst>
                    <a:ext uri="{9D8B030D-6E8A-4147-A177-3AD203B41FA5}">
                      <a16:colId xmlns:a16="http://schemas.microsoft.com/office/drawing/2014/main" val="116916505"/>
                    </a:ext>
                  </a:extLst>
                </a:gridCol>
                <a:gridCol w="578032">
                  <a:extLst>
                    <a:ext uri="{9D8B030D-6E8A-4147-A177-3AD203B41FA5}">
                      <a16:colId xmlns:a16="http://schemas.microsoft.com/office/drawing/2014/main" val="858692082"/>
                    </a:ext>
                  </a:extLst>
                </a:gridCol>
                <a:gridCol w="578032">
                  <a:extLst>
                    <a:ext uri="{9D8B030D-6E8A-4147-A177-3AD203B41FA5}">
                      <a16:colId xmlns:a16="http://schemas.microsoft.com/office/drawing/2014/main" val="1217996601"/>
                    </a:ext>
                  </a:extLst>
                </a:gridCol>
                <a:gridCol w="578032">
                  <a:extLst>
                    <a:ext uri="{9D8B030D-6E8A-4147-A177-3AD203B41FA5}">
                      <a16:colId xmlns:a16="http://schemas.microsoft.com/office/drawing/2014/main" val="1242521241"/>
                    </a:ext>
                  </a:extLst>
                </a:gridCol>
                <a:gridCol w="578032">
                  <a:extLst>
                    <a:ext uri="{9D8B030D-6E8A-4147-A177-3AD203B41FA5}">
                      <a16:colId xmlns:a16="http://schemas.microsoft.com/office/drawing/2014/main" val="3847871238"/>
                    </a:ext>
                  </a:extLst>
                </a:gridCol>
              </a:tblGrid>
              <a:tr h="256622">
                <a:tc>
                  <a:txBody>
                    <a:bodyPr/>
                    <a:lstStyle/>
                    <a:p>
                      <a:r>
                        <a:rPr lang="en-GB" sz="1400" dirty="0"/>
                        <a:t>the</a:t>
                      </a:r>
                    </a:p>
                  </a:txBody>
                  <a:tcPr/>
                </a:tc>
                <a:tc>
                  <a:txBody>
                    <a:bodyPr/>
                    <a:lstStyle/>
                    <a:p>
                      <a:r>
                        <a:rPr lang="en-GB" sz="1400" dirty="0"/>
                        <a:t>cat</a:t>
                      </a:r>
                    </a:p>
                  </a:txBody>
                  <a:tcPr/>
                </a:tc>
                <a:tc>
                  <a:txBody>
                    <a:bodyPr/>
                    <a:lstStyle/>
                    <a:p>
                      <a:r>
                        <a:rPr lang="en-GB" sz="1400" dirty="0"/>
                        <a:t>sat</a:t>
                      </a:r>
                    </a:p>
                  </a:txBody>
                  <a:tcPr/>
                </a:tc>
                <a:tc>
                  <a:txBody>
                    <a:bodyPr/>
                    <a:lstStyle/>
                    <a:p>
                      <a:r>
                        <a:rPr lang="en-GB" sz="1400" dirty="0"/>
                        <a:t>on</a:t>
                      </a:r>
                    </a:p>
                  </a:txBody>
                  <a:tcPr/>
                </a:tc>
                <a:tc>
                  <a:txBody>
                    <a:bodyPr/>
                    <a:lstStyle/>
                    <a:p>
                      <a:r>
                        <a:rPr lang="en-GB" sz="1400" dirty="0"/>
                        <a:t>the</a:t>
                      </a:r>
                    </a:p>
                  </a:txBody>
                  <a:tcPr/>
                </a:tc>
                <a:extLst>
                  <a:ext uri="{0D108BD9-81ED-4DB2-BD59-A6C34878D82A}">
                    <a16:rowId xmlns:a16="http://schemas.microsoft.com/office/drawing/2014/main" val="696599091"/>
                  </a:ext>
                </a:extLst>
              </a:tr>
              <a:tr h="256622">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lumMod val="50000"/>
                      </a:schemeClr>
                    </a:solidFill>
                  </a:tcPr>
                </a:tc>
                <a:extLst>
                  <a:ext uri="{0D108BD9-81ED-4DB2-BD59-A6C34878D82A}">
                    <a16:rowId xmlns:a16="http://schemas.microsoft.com/office/drawing/2014/main" val="1533931161"/>
                  </a:ext>
                </a:extLst>
              </a:tr>
              <a:tr h="256622">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lumMod val="50000"/>
                      </a:schemeClr>
                    </a:solidFill>
                  </a:tcPr>
                </a:tc>
                <a:extLst>
                  <a:ext uri="{0D108BD9-81ED-4DB2-BD59-A6C34878D82A}">
                    <a16:rowId xmlns:a16="http://schemas.microsoft.com/office/drawing/2014/main" val="1732967676"/>
                  </a:ext>
                </a:extLst>
              </a:tr>
              <a:tr h="25662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lumMod val="50000"/>
                      </a:schemeClr>
                    </a:solidFill>
                  </a:tcPr>
                </a:tc>
                <a:extLst>
                  <a:ext uri="{0D108BD9-81ED-4DB2-BD59-A6C34878D82A}">
                    <a16:rowId xmlns:a16="http://schemas.microsoft.com/office/drawing/2014/main" val="3626587743"/>
                  </a:ext>
                </a:extLst>
              </a:tr>
              <a:tr h="25662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lumMod val="50000"/>
                      </a:schemeClr>
                    </a:solidFill>
                  </a:tcPr>
                </a:tc>
                <a:extLst>
                  <a:ext uri="{0D108BD9-81ED-4DB2-BD59-A6C34878D82A}">
                    <a16:rowId xmlns:a16="http://schemas.microsoft.com/office/drawing/2014/main" val="2234228111"/>
                  </a:ext>
                </a:extLst>
              </a:tr>
            </a:tbl>
          </a:graphicData>
        </a:graphic>
      </p:graphicFrame>
      <p:sp>
        <p:nvSpPr>
          <p:cNvPr id="4" name="Slide Number Placeholder 3">
            <a:extLst>
              <a:ext uri="{FF2B5EF4-FFF2-40B4-BE49-F238E27FC236}">
                <a16:creationId xmlns:a16="http://schemas.microsoft.com/office/drawing/2014/main" id="{75B7C2DF-9658-DBB3-6CA9-8CAEC8A02B7D}"/>
              </a:ext>
            </a:extLst>
          </p:cNvPr>
          <p:cNvSpPr>
            <a:spLocks noGrp="1"/>
          </p:cNvSpPr>
          <p:nvPr>
            <p:ph type="sldNum" sz="quarter" idx="12"/>
          </p:nvPr>
        </p:nvSpPr>
        <p:spPr/>
        <p:txBody>
          <a:bodyPr/>
          <a:lstStyle/>
          <a:p>
            <a:fld id="{13DE89AE-BBCC-45F3-BDAA-E98C74995322}" type="slidenum">
              <a:rPr lang="en-GB" smtClean="0"/>
              <a:t>41</a:t>
            </a:fld>
            <a:endParaRPr lang="en-GB"/>
          </a:p>
        </p:txBody>
      </p:sp>
      <p:sp>
        <p:nvSpPr>
          <p:cNvPr id="7" name="Arrow: Right 6">
            <a:extLst>
              <a:ext uri="{FF2B5EF4-FFF2-40B4-BE49-F238E27FC236}">
                <a16:creationId xmlns:a16="http://schemas.microsoft.com/office/drawing/2014/main" id="{3D8EFD65-B2E9-8D0C-9C6A-016B339C8E22}"/>
              </a:ext>
            </a:extLst>
          </p:cNvPr>
          <p:cNvSpPr/>
          <p:nvPr/>
        </p:nvSpPr>
        <p:spPr>
          <a:xfrm>
            <a:off x="4356992" y="2154062"/>
            <a:ext cx="639556"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The provided text appears to be a bar chart or a probability distribution, showing the likelihood of certain words appearing in a given context.&#10;&#10;AI-generated content may be incorrect.">
            <a:extLst>
              <a:ext uri="{FF2B5EF4-FFF2-40B4-BE49-F238E27FC236}">
                <a16:creationId xmlns:a16="http://schemas.microsoft.com/office/drawing/2014/main" id="{092219B4-E11B-8100-8974-261E02B6AEED}"/>
              </a:ext>
            </a:extLst>
          </p:cNvPr>
          <p:cNvPicPr>
            <a:picLocks noChangeAspect="1"/>
          </p:cNvPicPr>
          <p:nvPr/>
        </p:nvPicPr>
        <p:blipFill>
          <a:blip r:embed="rId3"/>
          <a:stretch>
            <a:fillRect/>
          </a:stretch>
        </p:blipFill>
        <p:spPr>
          <a:xfrm>
            <a:off x="5070439" y="1379609"/>
            <a:ext cx="3063517" cy="1841369"/>
          </a:xfrm>
          <a:prstGeom prst="rect">
            <a:avLst/>
          </a:prstGeom>
        </p:spPr>
      </p:pic>
      <p:grpSp>
        <p:nvGrpSpPr>
          <p:cNvPr id="54" name="Group 53">
            <a:extLst>
              <a:ext uri="{FF2B5EF4-FFF2-40B4-BE49-F238E27FC236}">
                <a16:creationId xmlns:a16="http://schemas.microsoft.com/office/drawing/2014/main" id="{BB3B0C99-482B-66EF-E4E2-308F349ED3FF}"/>
              </a:ext>
            </a:extLst>
          </p:cNvPr>
          <p:cNvGrpSpPr/>
          <p:nvPr/>
        </p:nvGrpSpPr>
        <p:grpSpPr>
          <a:xfrm>
            <a:off x="8199673" y="1981415"/>
            <a:ext cx="1951687" cy="584775"/>
            <a:chOff x="8199673" y="1981415"/>
            <a:chExt cx="1951687" cy="584775"/>
          </a:xfrm>
        </p:grpSpPr>
        <p:sp>
          <p:nvSpPr>
            <p:cNvPr id="16" name="TextBox 15">
              <a:extLst>
                <a:ext uri="{FF2B5EF4-FFF2-40B4-BE49-F238E27FC236}">
                  <a16:creationId xmlns:a16="http://schemas.microsoft.com/office/drawing/2014/main" id="{4061FCAC-3F80-810F-4DD0-E2604D117963}"/>
                </a:ext>
              </a:extLst>
            </p:cNvPr>
            <p:cNvSpPr txBox="1"/>
            <p:nvPr/>
          </p:nvSpPr>
          <p:spPr>
            <a:xfrm>
              <a:off x="8904946" y="1981415"/>
              <a:ext cx="1246414" cy="584775"/>
            </a:xfrm>
            <a:prstGeom prst="rect">
              <a:avLst/>
            </a:prstGeom>
            <a:noFill/>
          </p:spPr>
          <p:txBody>
            <a:bodyPr wrap="square" rtlCol="0">
              <a:spAutoFit/>
            </a:bodyPr>
            <a:lstStyle/>
            <a:p>
              <a:r>
                <a:rPr lang="en-GB" sz="3200" dirty="0"/>
                <a:t>“mat”</a:t>
              </a:r>
            </a:p>
          </p:txBody>
        </p:sp>
        <p:sp>
          <p:nvSpPr>
            <p:cNvPr id="23" name="Arrow: Right 22">
              <a:extLst>
                <a:ext uri="{FF2B5EF4-FFF2-40B4-BE49-F238E27FC236}">
                  <a16:creationId xmlns:a16="http://schemas.microsoft.com/office/drawing/2014/main" id="{C92282E4-2800-0825-92B2-E8813C8106D3}"/>
                </a:ext>
              </a:extLst>
            </p:cNvPr>
            <p:cNvSpPr/>
            <p:nvPr/>
          </p:nvSpPr>
          <p:spPr>
            <a:xfrm>
              <a:off x="8199673" y="2137732"/>
              <a:ext cx="639556"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7" name="Group 56">
            <a:extLst>
              <a:ext uri="{FF2B5EF4-FFF2-40B4-BE49-F238E27FC236}">
                <a16:creationId xmlns:a16="http://schemas.microsoft.com/office/drawing/2014/main" id="{749626B5-802D-1752-05F6-4B258D483B82}"/>
              </a:ext>
            </a:extLst>
          </p:cNvPr>
          <p:cNvGrpSpPr/>
          <p:nvPr/>
        </p:nvGrpSpPr>
        <p:grpSpPr>
          <a:xfrm>
            <a:off x="3006122" y="3804625"/>
            <a:ext cx="9098798" cy="1841370"/>
            <a:chOff x="3006122" y="3804625"/>
            <a:chExt cx="9098798" cy="1841370"/>
          </a:xfrm>
        </p:grpSpPr>
        <p:grpSp>
          <p:nvGrpSpPr>
            <p:cNvPr id="49" name="Group 48">
              <a:extLst>
                <a:ext uri="{FF2B5EF4-FFF2-40B4-BE49-F238E27FC236}">
                  <a16:creationId xmlns:a16="http://schemas.microsoft.com/office/drawing/2014/main" id="{2EF0662F-80ED-E1C6-2806-C079940BC198}"/>
                </a:ext>
              </a:extLst>
            </p:cNvPr>
            <p:cNvGrpSpPr/>
            <p:nvPr/>
          </p:nvGrpSpPr>
          <p:grpSpPr>
            <a:xfrm>
              <a:off x="3006122" y="3804625"/>
              <a:ext cx="9098798" cy="1841370"/>
              <a:chOff x="3006122" y="3804625"/>
              <a:chExt cx="9098798" cy="1841370"/>
            </a:xfrm>
          </p:grpSpPr>
          <p:sp>
            <p:nvSpPr>
              <p:cNvPr id="19" name="Arrow: Right 18">
                <a:extLst>
                  <a:ext uri="{FF2B5EF4-FFF2-40B4-BE49-F238E27FC236}">
                    <a16:creationId xmlns:a16="http://schemas.microsoft.com/office/drawing/2014/main" id="{2B256FF6-A5BB-02FC-DCBD-3842F3D91E33}"/>
                  </a:ext>
                </a:extLst>
              </p:cNvPr>
              <p:cNvSpPr/>
              <p:nvPr/>
            </p:nvSpPr>
            <p:spPr>
              <a:xfrm>
                <a:off x="3006122" y="4610809"/>
                <a:ext cx="471862"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D8182A26-C73F-A5CA-CED6-F1BC72F96F9E}"/>
                  </a:ext>
                </a:extLst>
              </p:cNvPr>
              <p:cNvSpPr/>
              <p:nvPr/>
            </p:nvSpPr>
            <p:spPr>
              <a:xfrm>
                <a:off x="3524858" y="4031692"/>
                <a:ext cx="1656729" cy="1432342"/>
              </a:xfrm>
              <a:prstGeom prst="roundRect">
                <a:avLst/>
              </a:prstGeom>
              <a:noFill/>
              <a:ln w="349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tx1"/>
                    </a:solidFill>
                  </a:rPr>
                  <a:t>Transformer Model</a:t>
                </a:r>
              </a:p>
            </p:txBody>
          </p:sp>
          <p:sp>
            <p:nvSpPr>
              <p:cNvPr id="21" name="Arrow: Right 20">
                <a:extLst>
                  <a:ext uri="{FF2B5EF4-FFF2-40B4-BE49-F238E27FC236}">
                    <a16:creationId xmlns:a16="http://schemas.microsoft.com/office/drawing/2014/main" id="{5353C8BF-C644-B9BA-D8C3-06089EA3AAF6}"/>
                  </a:ext>
                </a:extLst>
              </p:cNvPr>
              <p:cNvSpPr/>
              <p:nvPr/>
            </p:nvSpPr>
            <p:spPr>
              <a:xfrm>
                <a:off x="5236015" y="4589239"/>
                <a:ext cx="413669"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5" name="Content Placeholder 4">
                <a:extLst>
                  <a:ext uri="{FF2B5EF4-FFF2-40B4-BE49-F238E27FC236}">
                    <a16:creationId xmlns:a16="http://schemas.microsoft.com/office/drawing/2014/main" id="{3BB0CB69-5DDE-4EF9-B7CF-3A1150930791}"/>
                  </a:ext>
                </a:extLst>
              </p:cNvPr>
              <p:cNvGraphicFramePr>
                <a:graphicFrameLocks/>
              </p:cNvGraphicFramePr>
              <p:nvPr/>
            </p:nvGraphicFramePr>
            <p:xfrm>
              <a:off x="5698706" y="3973992"/>
              <a:ext cx="2890160" cy="1524000"/>
            </p:xfrm>
            <a:graphic>
              <a:graphicData uri="http://schemas.openxmlformats.org/drawingml/2006/table">
                <a:tbl>
                  <a:tblPr firstRow="1">
                    <a:tableStyleId>{5C22544A-7EE6-4342-B048-85BDC9FD1C3A}</a:tableStyleId>
                  </a:tblPr>
                  <a:tblGrid>
                    <a:gridCol w="578032">
                      <a:extLst>
                        <a:ext uri="{9D8B030D-6E8A-4147-A177-3AD203B41FA5}">
                          <a16:colId xmlns:a16="http://schemas.microsoft.com/office/drawing/2014/main" val="116916505"/>
                        </a:ext>
                      </a:extLst>
                    </a:gridCol>
                    <a:gridCol w="578032">
                      <a:extLst>
                        <a:ext uri="{9D8B030D-6E8A-4147-A177-3AD203B41FA5}">
                          <a16:colId xmlns:a16="http://schemas.microsoft.com/office/drawing/2014/main" val="858692082"/>
                        </a:ext>
                      </a:extLst>
                    </a:gridCol>
                    <a:gridCol w="578032">
                      <a:extLst>
                        <a:ext uri="{9D8B030D-6E8A-4147-A177-3AD203B41FA5}">
                          <a16:colId xmlns:a16="http://schemas.microsoft.com/office/drawing/2014/main" val="1217996601"/>
                        </a:ext>
                      </a:extLst>
                    </a:gridCol>
                    <a:gridCol w="578032">
                      <a:extLst>
                        <a:ext uri="{9D8B030D-6E8A-4147-A177-3AD203B41FA5}">
                          <a16:colId xmlns:a16="http://schemas.microsoft.com/office/drawing/2014/main" val="1242521241"/>
                        </a:ext>
                      </a:extLst>
                    </a:gridCol>
                    <a:gridCol w="578032">
                      <a:extLst>
                        <a:ext uri="{9D8B030D-6E8A-4147-A177-3AD203B41FA5}">
                          <a16:colId xmlns:a16="http://schemas.microsoft.com/office/drawing/2014/main" val="3847871238"/>
                        </a:ext>
                      </a:extLst>
                    </a:gridCol>
                  </a:tblGrid>
                  <a:tr h="256622">
                    <a:tc>
                      <a:txBody>
                        <a:bodyPr/>
                        <a:lstStyle/>
                        <a:p>
                          <a:r>
                            <a:rPr lang="en-GB" sz="1400" dirty="0"/>
                            <a:t>cat</a:t>
                          </a:r>
                        </a:p>
                      </a:txBody>
                      <a:tcPr/>
                    </a:tc>
                    <a:tc>
                      <a:txBody>
                        <a:bodyPr/>
                        <a:lstStyle/>
                        <a:p>
                          <a:r>
                            <a:rPr lang="en-GB" sz="1400" dirty="0"/>
                            <a:t>sat</a:t>
                          </a:r>
                        </a:p>
                      </a:txBody>
                      <a:tcPr/>
                    </a:tc>
                    <a:tc>
                      <a:txBody>
                        <a:bodyPr/>
                        <a:lstStyle/>
                        <a:p>
                          <a:r>
                            <a:rPr lang="en-GB" sz="1400" dirty="0"/>
                            <a:t>on</a:t>
                          </a:r>
                        </a:p>
                      </a:txBody>
                      <a:tcPr/>
                    </a:tc>
                    <a:tc>
                      <a:txBody>
                        <a:bodyPr/>
                        <a:lstStyle/>
                        <a:p>
                          <a:r>
                            <a:rPr lang="en-GB" sz="1400" dirty="0"/>
                            <a:t>the</a:t>
                          </a:r>
                        </a:p>
                      </a:txBody>
                      <a:tcPr/>
                    </a:tc>
                    <a:tc>
                      <a:txBody>
                        <a:bodyPr/>
                        <a:lstStyle/>
                        <a:p>
                          <a:r>
                            <a:rPr lang="en-GB" sz="1400" dirty="0"/>
                            <a:t>mat</a:t>
                          </a:r>
                        </a:p>
                      </a:txBody>
                      <a:tcPr/>
                    </a:tc>
                    <a:extLst>
                      <a:ext uri="{0D108BD9-81ED-4DB2-BD59-A6C34878D82A}">
                        <a16:rowId xmlns:a16="http://schemas.microsoft.com/office/drawing/2014/main" val="696599091"/>
                      </a:ext>
                    </a:extLst>
                  </a:tr>
                  <a:tr h="256622">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lumMod val="50000"/>
                          </a:schemeClr>
                        </a:solidFill>
                      </a:tcPr>
                    </a:tc>
                    <a:extLst>
                      <a:ext uri="{0D108BD9-81ED-4DB2-BD59-A6C34878D82A}">
                        <a16:rowId xmlns:a16="http://schemas.microsoft.com/office/drawing/2014/main" val="1533931161"/>
                      </a:ext>
                    </a:extLst>
                  </a:tr>
                  <a:tr h="256622">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solidFill>
                      </a:tcPr>
                    </a:tc>
                    <a:tc>
                      <a:txBody>
                        <a:bodyPr/>
                        <a:lstStyle/>
                        <a:p>
                          <a:endParaRPr lang="en-GB" sz="1400"/>
                        </a:p>
                      </a:txBody>
                      <a:tcPr>
                        <a:solidFill>
                          <a:schemeClr val="accent5">
                            <a:lumMod val="50000"/>
                          </a:schemeClr>
                        </a:solidFill>
                      </a:tcPr>
                    </a:tc>
                    <a:extLst>
                      <a:ext uri="{0D108BD9-81ED-4DB2-BD59-A6C34878D82A}">
                        <a16:rowId xmlns:a16="http://schemas.microsoft.com/office/drawing/2014/main" val="1732967676"/>
                      </a:ext>
                    </a:extLst>
                  </a:tr>
                  <a:tr h="25662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a:p>
                      </a:txBody>
                      <a:tcPr>
                        <a:solidFill>
                          <a:schemeClr val="accent5">
                            <a:lumMod val="50000"/>
                          </a:schemeClr>
                        </a:solidFill>
                      </a:tcPr>
                    </a:tc>
                    <a:extLst>
                      <a:ext uri="{0D108BD9-81ED-4DB2-BD59-A6C34878D82A}">
                        <a16:rowId xmlns:a16="http://schemas.microsoft.com/office/drawing/2014/main" val="3626587743"/>
                      </a:ext>
                    </a:extLst>
                  </a:tr>
                  <a:tr h="256622">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solidFill>
                      </a:tcPr>
                    </a:tc>
                    <a:tc>
                      <a:txBody>
                        <a:bodyPr/>
                        <a:lstStyle/>
                        <a:p>
                          <a:endParaRPr lang="en-GB" sz="1400" dirty="0"/>
                        </a:p>
                      </a:txBody>
                      <a:tcPr>
                        <a:solidFill>
                          <a:schemeClr val="accent5">
                            <a:lumMod val="50000"/>
                          </a:schemeClr>
                        </a:solidFill>
                      </a:tcPr>
                    </a:tc>
                    <a:extLst>
                      <a:ext uri="{0D108BD9-81ED-4DB2-BD59-A6C34878D82A}">
                        <a16:rowId xmlns:a16="http://schemas.microsoft.com/office/drawing/2014/main" val="2234228111"/>
                      </a:ext>
                    </a:extLst>
                  </a:tr>
                </a:tbl>
              </a:graphicData>
            </a:graphic>
          </p:graphicFrame>
          <p:pic>
            <p:nvPicPr>
              <p:cNvPr id="27" name="Picture 26" descr="mat&#10;&#10;AI-generated content may be incorrect.">
                <a:extLst>
                  <a:ext uri="{FF2B5EF4-FFF2-40B4-BE49-F238E27FC236}">
                    <a16:creationId xmlns:a16="http://schemas.microsoft.com/office/drawing/2014/main" id="{1419F5E9-BB1C-8A0C-5158-3C40671EDA5F}"/>
                  </a:ext>
                </a:extLst>
              </p:cNvPr>
              <p:cNvPicPr>
                <a:picLocks noChangeAspect="1"/>
              </p:cNvPicPr>
              <p:nvPr/>
            </p:nvPicPr>
            <p:blipFill>
              <a:blip r:embed="rId4"/>
              <a:stretch>
                <a:fillRect/>
              </a:stretch>
            </p:blipFill>
            <p:spPr>
              <a:xfrm>
                <a:off x="9041403" y="3804625"/>
                <a:ext cx="3063517" cy="1841370"/>
              </a:xfrm>
              <a:prstGeom prst="rect">
                <a:avLst/>
              </a:prstGeom>
            </p:spPr>
          </p:pic>
        </p:grpSp>
        <p:sp>
          <p:nvSpPr>
            <p:cNvPr id="28" name="Arrow: Right 27">
              <a:extLst>
                <a:ext uri="{FF2B5EF4-FFF2-40B4-BE49-F238E27FC236}">
                  <a16:creationId xmlns:a16="http://schemas.microsoft.com/office/drawing/2014/main" id="{C2C03F7D-3D74-9DD7-FFAF-3DD66E812C26}"/>
                </a:ext>
              </a:extLst>
            </p:cNvPr>
            <p:cNvSpPr/>
            <p:nvPr/>
          </p:nvSpPr>
          <p:spPr>
            <a:xfrm>
              <a:off x="8599723" y="4594680"/>
              <a:ext cx="413669" cy="2721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 name="Group 54">
            <a:extLst>
              <a:ext uri="{FF2B5EF4-FFF2-40B4-BE49-F238E27FC236}">
                <a16:creationId xmlns:a16="http://schemas.microsoft.com/office/drawing/2014/main" id="{ACF6764A-9752-5F2D-1F25-5F305E137D48}"/>
              </a:ext>
            </a:extLst>
          </p:cNvPr>
          <p:cNvGrpSpPr/>
          <p:nvPr/>
        </p:nvGrpSpPr>
        <p:grpSpPr>
          <a:xfrm>
            <a:off x="87080" y="2566190"/>
            <a:ext cx="9442555" cy="2942691"/>
            <a:chOff x="87080" y="2566190"/>
            <a:chExt cx="9442555" cy="2942691"/>
          </a:xfrm>
        </p:grpSpPr>
        <p:graphicFrame>
          <p:nvGraphicFramePr>
            <p:cNvPr id="24" name="Content Placeholder 4">
              <a:extLst>
                <a:ext uri="{FF2B5EF4-FFF2-40B4-BE49-F238E27FC236}">
                  <a16:creationId xmlns:a16="http://schemas.microsoft.com/office/drawing/2014/main" id="{FF2EE7B0-7B3B-1264-50F1-33119A84278E}"/>
                </a:ext>
              </a:extLst>
            </p:cNvPr>
            <p:cNvGraphicFramePr>
              <a:graphicFrameLocks/>
            </p:cNvGraphicFramePr>
            <p:nvPr/>
          </p:nvGraphicFramePr>
          <p:xfrm>
            <a:off x="87080" y="3984881"/>
            <a:ext cx="2890160" cy="1524000"/>
          </p:xfrm>
          <a:graphic>
            <a:graphicData uri="http://schemas.openxmlformats.org/drawingml/2006/table">
              <a:tbl>
                <a:tblPr firstRow="1">
                  <a:tableStyleId>{5C22544A-7EE6-4342-B048-85BDC9FD1C3A}</a:tableStyleId>
                </a:tblPr>
                <a:tblGrid>
                  <a:gridCol w="578032">
                    <a:extLst>
                      <a:ext uri="{9D8B030D-6E8A-4147-A177-3AD203B41FA5}">
                        <a16:colId xmlns:a16="http://schemas.microsoft.com/office/drawing/2014/main" val="116916505"/>
                      </a:ext>
                    </a:extLst>
                  </a:gridCol>
                  <a:gridCol w="578032">
                    <a:extLst>
                      <a:ext uri="{9D8B030D-6E8A-4147-A177-3AD203B41FA5}">
                        <a16:colId xmlns:a16="http://schemas.microsoft.com/office/drawing/2014/main" val="858692082"/>
                      </a:ext>
                    </a:extLst>
                  </a:gridCol>
                  <a:gridCol w="578032">
                    <a:extLst>
                      <a:ext uri="{9D8B030D-6E8A-4147-A177-3AD203B41FA5}">
                        <a16:colId xmlns:a16="http://schemas.microsoft.com/office/drawing/2014/main" val="1217996601"/>
                      </a:ext>
                    </a:extLst>
                  </a:gridCol>
                  <a:gridCol w="578032">
                    <a:extLst>
                      <a:ext uri="{9D8B030D-6E8A-4147-A177-3AD203B41FA5}">
                        <a16:colId xmlns:a16="http://schemas.microsoft.com/office/drawing/2014/main" val="1242521241"/>
                      </a:ext>
                    </a:extLst>
                  </a:gridCol>
                  <a:gridCol w="578032">
                    <a:extLst>
                      <a:ext uri="{9D8B030D-6E8A-4147-A177-3AD203B41FA5}">
                        <a16:colId xmlns:a16="http://schemas.microsoft.com/office/drawing/2014/main" val="3847871238"/>
                      </a:ext>
                    </a:extLst>
                  </a:gridCol>
                </a:tblGrid>
                <a:tr h="256622">
                  <a:tc>
                    <a:txBody>
                      <a:bodyPr/>
                      <a:lstStyle/>
                      <a:p>
                        <a:r>
                          <a:rPr lang="en-GB" sz="1400" dirty="0"/>
                          <a:t>cat</a:t>
                        </a:r>
                      </a:p>
                    </a:txBody>
                    <a:tcPr/>
                  </a:tc>
                  <a:tc>
                    <a:txBody>
                      <a:bodyPr/>
                      <a:lstStyle/>
                      <a:p>
                        <a:r>
                          <a:rPr lang="en-GB" sz="1400" dirty="0"/>
                          <a:t>sat</a:t>
                        </a:r>
                      </a:p>
                    </a:txBody>
                    <a:tcPr/>
                  </a:tc>
                  <a:tc>
                    <a:txBody>
                      <a:bodyPr/>
                      <a:lstStyle/>
                      <a:p>
                        <a:r>
                          <a:rPr lang="en-GB" sz="1400" dirty="0"/>
                          <a:t>on</a:t>
                        </a:r>
                      </a:p>
                    </a:txBody>
                    <a:tcPr/>
                  </a:tc>
                  <a:tc>
                    <a:txBody>
                      <a:bodyPr/>
                      <a:lstStyle/>
                      <a:p>
                        <a:r>
                          <a:rPr lang="en-GB" sz="1400" dirty="0"/>
                          <a:t>the</a:t>
                        </a:r>
                      </a:p>
                    </a:txBody>
                    <a:tcPr/>
                  </a:tc>
                  <a:tc>
                    <a:txBody>
                      <a:bodyPr/>
                      <a:lstStyle/>
                      <a:p>
                        <a:r>
                          <a:rPr lang="en-GB" sz="1400" dirty="0"/>
                          <a:t>mat</a:t>
                        </a:r>
                      </a:p>
                    </a:txBody>
                    <a:tcPr/>
                  </a:tc>
                  <a:extLst>
                    <a:ext uri="{0D108BD9-81ED-4DB2-BD59-A6C34878D82A}">
                      <a16:rowId xmlns:a16="http://schemas.microsoft.com/office/drawing/2014/main" val="696599091"/>
                    </a:ext>
                  </a:extLst>
                </a:tr>
                <a:tr h="256622">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extLst>
                    <a:ext uri="{0D108BD9-81ED-4DB2-BD59-A6C34878D82A}">
                      <a16:rowId xmlns:a16="http://schemas.microsoft.com/office/drawing/2014/main" val="1533931161"/>
                    </a:ext>
                  </a:extLst>
                </a:tr>
                <a:tr h="256622">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extLst>
                    <a:ext uri="{0D108BD9-81ED-4DB2-BD59-A6C34878D82A}">
                      <a16:rowId xmlns:a16="http://schemas.microsoft.com/office/drawing/2014/main" val="1732967676"/>
                    </a:ext>
                  </a:extLst>
                </a:tr>
                <a:tr h="256622">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a:p>
                    </a:txBody>
                    <a:tcPr>
                      <a:solidFill>
                        <a:schemeClr val="tx2">
                          <a:lumMod val="25000"/>
                          <a:lumOff val="75000"/>
                        </a:schemeClr>
                      </a:solidFill>
                    </a:tcPr>
                  </a:tc>
                  <a:extLst>
                    <a:ext uri="{0D108BD9-81ED-4DB2-BD59-A6C34878D82A}">
                      <a16:rowId xmlns:a16="http://schemas.microsoft.com/office/drawing/2014/main" val="3626587743"/>
                    </a:ext>
                  </a:extLst>
                </a:tr>
                <a:tr h="256622">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tc>
                    <a:txBody>
                      <a:bodyPr/>
                      <a:lstStyle/>
                      <a:p>
                        <a:endParaRPr lang="en-GB" sz="14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grpSp>
          <p:nvGrpSpPr>
            <p:cNvPr id="48" name="Group 47">
              <a:extLst>
                <a:ext uri="{FF2B5EF4-FFF2-40B4-BE49-F238E27FC236}">
                  <a16:creationId xmlns:a16="http://schemas.microsoft.com/office/drawing/2014/main" id="{F2E50EDE-C46E-F110-8B6E-E6E650A6E55B}"/>
                </a:ext>
              </a:extLst>
            </p:cNvPr>
            <p:cNvGrpSpPr/>
            <p:nvPr/>
          </p:nvGrpSpPr>
          <p:grpSpPr>
            <a:xfrm>
              <a:off x="2502568" y="2566190"/>
              <a:ext cx="7027067" cy="1338918"/>
              <a:chOff x="2502568" y="2566190"/>
              <a:chExt cx="7027067" cy="1338918"/>
            </a:xfrm>
          </p:grpSpPr>
          <p:sp>
            <p:nvSpPr>
              <p:cNvPr id="40" name="Arrow: Bent-Up 39">
                <a:extLst>
                  <a:ext uri="{FF2B5EF4-FFF2-40B4-BE49-F238E27FC236}">
                    <a16:creationId xmlns:a16="http://schemas.microsoft.com/office/drawing/2014/main" id="{94A5250E-34D7-604C-58CB-D3DFF5EC999A}"/>
                  </a:ext>
                </a:extLst>
              </p:cNvPr>
              <p:cNvSpPr/>
              <p:nvPr/>
            </p:nvSpPr>
            <p:spPr>
              <a:xfrm rot="10800000">
                <a:off x="2502568" y="3539983"/>
                <a:ext cx="7025585" cy="3651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A4A3F847-3350-2117-BD76-69F7213D4C01}"/>
                  </a:ext>
                </a:extLst>
              </p:cNvPr>
              <p:cNvSpPr/>
              <p:nvPr/>
            </p:nvSpPr>
            <p:spPr>
              <a:xfrm>
                <a:off x="9440186" y="2566190"/>
                <a:ext cx="89449" cy="1065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6" name="Group 55">
            <a:extLst>
              <a:ext uri="{FF2B5EF4-FFF2-40B4-BE49-F238E27FC236}">
                <a16:creationId xmlns:a16="http://schemas.microsoft.com/office/drawing/2014/main" id="{27978083-15A0-1D34-7160-7E071E41D6CB}"/>
              </a:ext>
            </a:extLst>
          </p:cNvPr>
          <p:cNvGrpSpPr/>
          <p:nvPr/>
        </p:nvGrpSpPr>
        <p:grpSpPr>
          <a:xfrm>
            <a:off x="5181587" y="5875470"/>
            <a:ext cx="5610569" cy="663442"/>
            <a:chOff x="5181587" y="5875470"/>
            <a:chExt cx="5610569" cy="663442"/>
          </a:xfrm>
        </p:grpSpPr>
        <p:sp>
          <p:nvSpPr>
            <p:cNvPr id="52" name="Arrow: Bent-Up 51">
              <a:extLst>
                <a:ext uri="{FF2B5EF4-FFF2-40B4-BE49-F238E27FC236}">
                  <a16:creationId xmlns:a16="http://schemas.microsoft.com/office/drawing/2014/main" id="{43F33957-8BD7-AA74-0B23-D7586865E553}"/>
                </a:ext>
              </a:extLst>
            </p:cNvPr>
            <p:cNvSpPr/>
            <p:nvPr/>
          </p:nvSpPr>
          <p:spPr>
            <a:xfrm rot="16200000" flipH="1">
              <a:off x="8566117" y="4130311"/>
              <a:ext cx="480880" cy="3971198"/>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TextBox 52">
              <a:extLst>
                <a:ext uri="{FF2B5EF4-FFF2-40B4-BE49-F238E27FC236}">
                  <a16:creationId xmlns:a16="http://schemas.microsoft.com/office/drawing/2014/main" id="{3E57EE49-41CD-65F8-B7BB-729301B702BB}"/>
                </a:ext>
              </a:extLst>
            </p:cNvPr>
            <p:cNvSpPr txBox="1"/>
            <p:nvPr/>
          </p:nvSpPr>
          <p:spPr>
            <a:xfrm>
              <a:off x="5181587" y="5954137"/>
              <a:ext cx="1398589" cy="584775"/>
            </a:xfrm>
            <a:prstGeom prst="rect">
              <a:avLst/>
            </a:prstGeom>
            <a:noFill/>
          </p:spPr>
          <p:txBody>
            <a:bodyPr wrap="square" rtlCol="0">
              <a:spAutoFit/>
            </a:bodyPr>
            <a:lstStyle/>
            <a:p>
              <a:pPr algn="ctr"/>
              <a:r>
                <a:rPr lang="en-GB" sz="3200" dirty="0"/>
                <a:t>&lt;</a:t>
              </a:r>
              <a:r>
                <a:rPr lang="en-GB" sz="3200" dirty="0" err="1"/>
                <a:t>eos</a:t>
              </a:r>
              <a:r>
                <a:rPr lang="en-GB" sz="3200" dirty="0"/>
                <a:t>&gt;</a:t>
              </a:r>
            </a:p>
          </p:txBody>
        </p:sp>
      </p:grpSp>
    </p:spTree>
    <p:extLst>
      <p:ext uri="{BB962C8B-B14F-4D97-AF65-F5344CB8AC3E}">
        <p14:creationId xmlns:p14="http://schemas.microsoft.com/office/powerpoint/2010/main" val="408184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3CD4-9893-A456-38E3-E668C2F12825}"/>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D0C6B262-101A-5533-FA47-E6500E3E6150}"/>
              </a:ext>
            </a:extLst>
          </p:cNvPr>
          <p:cNvSpPr>
            <a:spLocks noGrp="1"/>
          </p:cNvSpPr>
          <p:nvPr>
            <p:ph type="sldNum" sz="quarter" idx="12"/>
          </p:nvPr>
        </p:nvSpPr>
        <p:spPr/>
        <p:txBody>
          <a:bodyPr/>
          <a:lstStyle/>
          <a:p>
            <a:fld id="{13DE89AE-BBCC-45F3-BDAA-E98C74995322}" type="slidenum">
              <a:rPr lang="en-GB" smtClean="0"/>
              <a:t>42</a:t>
            </a:fld>
            <a:endParaRPr lang="en-GB"/>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F0DAB25-CE05-D02B-114D-7FD65040D941}"/>
                  </a:ext>
                </a:extLst>
              </p:cNvPr>
              <p:cNvSpPr txBox="1"/>
              <p:nvPr/>
            </p:nvSpPr>
            <p:spPr>
              <a:xfrm>
                <a:off x="3147553" y="1893858"/>
                <a:ext cx="4998919" cy="1158459"/>
              </a:xfrm>
              <a:prstGeom prst="rect">
                <a:avLst/>
              </a:prstGeom>
              <a:noFill/>
            </p:spPr>
            <p:txBody>
              <a:bodyPr wrap="square" lIns="0" tIns="0" rIns="0" bIns="0" rtlCol="0">
                <a:spAutoFit/>
              </a:bodyPr>
              <a:lstStyle/>
              <a:p>
                <a:pPr/>
                <a14:m>
                  <m:oMathPara xmlns:m="http://schemas.openxmlformats.org/officeDocument/2006/math">
                    <m:o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𝐴</m:t>
                          </m:r>
                        </m:e>
                        <m:sub>
                          <m:r>
                            <a:rPr lang="en-GB" sz="2400" b="0" i="1" smtClean="0">
                              <a:latin typeface="Cambria Math" panose="02040503050406030204" pitchFamily="18" charset="0"/>
                            </a:rPr>
                            <m:t>𝑛</m:t>
                          </m:r>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Sub>
                      <m:r>
                        <a:rPr lang="en-GB" sz="2400" b="0" i="1" smtClean="0">
                          <a:latin typeface="Cambria Math" panose="02040503050406030204" pitchFamily="18" charset="0"/>
                        </a:rPr>
                        <m:t>= </m:t>
                      </m:r>
                      <m:f>
                        <m:fPr>
                          <m:ctrlPr>
                            <a:rPr lang="en-GB" sz="2400" b="0" i="0" smtClean="0">
                              <a:latin typeface="Cambria Math" panose="02040503050406030204" pitchFamily="18" charset="0"/>
                            </a:rPr>
                          </m:ctrlPr>
                        </m:fPr>
                        <m:num>
                          <m:r>
                            <m:rPr>
                              <m:nor/>
                            </m:rPr>
                            <a:rPr lang="en-GB" sz="2400" b="0" i="0" smtClean="0">
                              <a:latin typeface="Cambria Math" panose="02040503050406030204" pitchFamily="18" charset="0"/>
                            </a:rPr>
                            <m:t>exp</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bar>
                                    <m:barPr>
                                      <m:pos m:val="bot"/>
                                      <m:ctrlPr>
                                        <a:rPr lang="en-GB" sz="2400" i="0">
                                          <a:latin typeface="Cambria Math" panose="02040503050406030204" pitchFamily="18" charset="0"/>
                                        </a:rPr>
                                      </m:ctrlPr>
                                    </m:barPr>
                                    <m:e>
                                      <m:r>
                                        <m:rPr>
                                          <m:nor/>
                                        </m:rPr>
                                        <a:rPr lang="en-GB" sz="2400" i="0">
                                          <a:latin typeface="Cambria Math" panose="02040503050406030204" pitchFamily="18" charset="0"/>
                                        </a:rPr>
                                        <m:t>query</m:t>
                                      </m:r>
                                    </m:e>
                                  </m:bar>
                                </m:e>
                                <m:sub>
                                  <m:r>
                                    <a:rPr lang="en-GB" sz="2400" i="1">
                                      <a:latin typeface="Cambria Math" panose="02040503050406030204" pitchFamily="18" charset="0"/>
                                    </a:rPr>
                                    <m:t>𝑛</m:t>
                                  </m:r>
                                </m:sub>
                              </m:sSub>
                              <m:r>
                                <a:rPr lang="en-GB" sz="2400" i="1">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bar>
                                    <m:barPr>
                                      <m:pos m:val="bot"/>
                                      <m:ctrlPr>
                                        <a:rPr lang="en-GB" sz="2400" i="0">
                                          <a:latin typeface="Cambria Math" panose="02040503050406030204" pitchFamily="18" charset="0"/>
                                          <a:ea typeface="Cambria Math" panose="02040503050406030204" pitchFamily="18" charset="0"/>
                                        </a:rPr>
                                      </m:ctrlPr>
                                    </m:barPr>
                                    <m:e>
                                      <m:r>
                                        <m:rPr>
                                          <m:nor/>
                                        </m:rPr>
                                        <a:rPr lang="en-GB" sz="2400" i="0">
                                          <a:latin typeface="Cambria Math" panose="02040503050406030204" pitchFamily="18" charset="0"/>
                                          <a:ea typeface="Cambria Math" panose="02040503050406030204" pitchFamily="18" charset="0"/>
                                        </a:rPr>
                                        <m:t>key</m:t>
                                      </m:r>
                                    </m:e>
                                  </m:bar>
                                </m:e>
                                <m:sub>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𝑛</m:t>
                                      </m:r>
                                    </m:e>
                                    <m:sup>
                                      <m:r>
                                        <a:rPr lang="en-GB" sz="2400" i="1">
                                          <a:latin typeface="Cambria Math" panose="02040503050406030204" pitchFamily="18" charset="0"/>
                                          <a:ea typeface="Cambria Math" panose="02040503050406030204" pitchFamily="18" charset="0"/>
                                        </a:rPr>
                                        <m:t>′</m:t>
                                      </m:r>
                                    </m:sup>
                                  </m:sSup>
                                </m:sub>
                              </m:sSub>
                              <m:r>
                                <m:rPr>
                                  <m:nor/>
                                </m:rPr>
                                <a:rPr lang="en-GB" sz="2400" i="0" dirty="0"/>
                                <m:t> </m:t>
                              </m:r>
                            </m:e>
                          </m:d>
                        </m:num>
                        <m:den>
                          <m:nary>
                            <m:naryPr>
                              <m:chr m:val="∑"/>
                              <m:supHide m:val="on"/>
                              <m:ctrlPr>
                                <a:rPr lang="en-GB" sz="2400" b="0" i="1" smtClean="0">
                                  <a:latin typeface="Cambria Math" panose="02040503050406030204" pitchFamily="18" charset="0"/>
                                </a:rPr>
                              </m:ctrlPr>
                            </m:naryPr>
                            <m:sub>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𝑛</m:t>
                                  </m:r>
                                </m:e>
                                <m:sup>
                                  <m:r>
                                    <a:rPr lang="en-GB" sz="2400" b="0" i="1" smtClean="0">
                                      <a:latin typeface="Cambria Math" panose="02040503050406030204" pitchFamily="18" charset="0"/>
                                    </a:rPr>
                                    <m:t>′′</m:t>
                                  </m:r>
                                </m:sup>
                              </m:sSup>
                            </m:sub>
                            <m:sup/>
                            <m:e>
                              <m:r>
                                <m:rPr>
                                  <m:nor/>
                                </m:rPr>
                                <a:rPr lang="en-GB" sz="2400" b="0" i="0" smtClean="0">
                                  <a:latin typeface="Cambria Math" panose="02040503050406030204" pitchFamily="18" charset="0"/>
                                </a:rPr>
                                <m:t>exp</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bar>
                                        <m:barPr>
                                          <m:pos m:val="bot"/>
                                          <m:ctrlPr>
                                            <a:rPr lang="en-GB" sz="2400" i="0">
                                              <a:latin typeface="Cambria Math" panose="02040503050406030204" pitchFamily="18" charset="0"/>
                                            </a:rPr>
                                          </m:ctrlPr>
                                        </m:barPr>
                                        <m:e>
                                          <m:r>
                                            <m:rPr>
                                              <m:nor/>
                                            </m:rPr>
                                            <a:rPr lang="en-GB" sz="2400" i="0">
                                              <a:latin typeface="Cambria Math" panose="02040503050406030204" pitchFamily="18" charset="0"/>
                                            </a:rPr>
                                            <m:t>query</m:t>
                                          </m:r>
                                        </m:e>
                                      </m:bar>
                                    </m:e>
                                    <m:sub>
                                      <m:r>
                                        <a:rPr lang="en-GB" sz="2400" i="1">
                                          <a:latin typeface="Cambria Math" panose="02040503050406030204" pitchFamily="18" charset="0"/>
                                        </a:rPr>
                                        <m:t>𝑛</m:t>
                                      </m:r>
                                    </m:sub>
                                  </m:sSub>
                                  <m:r>
                                    <a:rPr lang="en-GB" sz="2400" i="1">
                                      <a:latin typeface="Cambria Math" panose="02040503050406030204" pitchFamily="18" charset="0"/>
                                      <a:ea typeface="Cambria Math" panose="02040503050406030204" pitchFamily="18" charset="0"/>
                                    </a:rPr>
                                    <m:t>∙</m:t>
                                  </m:r>
                                  <m:sSub>
                                    <m:sSubPr>
                                      <m:ctrlPr>
                                        <a:rPr lang="en-GB" sz="2400" i="1">
                                          <a:latin typeface="Cambria Math" panose="02040503050406030204" pitchFamily="18" charset="0"/>
                                          <a:ea typeface="Cambria Math" panose="02040503050406030204" pitchFamily="18" charset="0"/>
                                        </a:rPr>
                                      </m:ctrlPr>
                                    </m:sSubPr>
                                    <m:e>
                                      <m:bar>
                                        <m:barPr>
                                          <m:pos m:val="bot"/>
                                          <m:ctrlPr>
                                            <a:rPr lang="en-GB" sz="2400" i="0">
                                              <a:latin typeface="Cambria Math" panose="02040503050406030204" pitchFamily="18" charset="0"/>
                                              <a:ea typeface="Cambria Math" panose="02040503050406030204" pitchFamily="18" charset="0"/>
                                            </a:rPr>
                                          </m:ctrlPr>
                                        </m:barPr>
                                        <m:e>
                                          <m:r>
                                            <m:rPr>
                                              <m:nor/>
                                            </m:rPr>
                                            <a:rPr lang="en-GB" sz="2400" i="0">
                                              <a:latin typeface="Cambria Math" panose="02040503050406030204" pitchFamily="18" charset="0"/>
                                              <a:ea typeface="Cambria Math" panose="02040503050406030204" pitchFamily="18" charset="0"/>
                                            </a:rPr>
                                            <m:t>key</m:t>
                                          </m:r>
                                        </m:e>
                                      </m:bar>
                                    </m:e>
                                    <m:sub>
                                      <m:sSup>
                                        <m:sSupPr>
                                          <m:ctrlPr>
                                            <a:rPr lang="en-GB" sz="2400" i="1">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𝑛</m:t>
                                          </m:r>
                                        </m:e>
                                        <m:sup>
                                          <m:r>
                                            <a:rPr lang="en-GB" sz="2400" i="1">
                                              <a:latin typeface="Cambria Math" panose="02040503050406030204" pitchFamily="18" charset="0"/>
                                              <a:ea typeface="Cambria Math" panose="02040503050406030204" pitchFamily="18" charset="0"/>
                                            </a:rPr>
                                            <m:t>′′</m:t>
                                          </m:r>
                                        </m:sup>
                                      </m:sSup>
                                    </m:sub>
                                  </m:sSub>
                                  <m:r>
                                    <m:rPr>
                                      <m:nor/>
                                    </m:rPr>
                                    <a:rPr lang="en-GB" sz="2400" i="0" dirty="0"/>
                                    <m:t> </m:t>
                                  </m:r>
                                </m:e>
                              </m:d>
                            </m:e>
                          </m:nary>
                        </m:den>
                      </m:f>
                    </m:oMath>
                  </m:oMathPara>
                </a14:m>
                <a:endParaRPr lang="en-GB" sz="2400" dirty="0"/>
              </a:p>
            </p:txBody>
          </p:sp>
        </mc:Choice>
        <mc:Fallback xmlns="">
          <p:sp>
            <p:nvSpPr>
              <p:cNvPr id="3" name="TextBox 2">
                <a:extLst>
                  <a:ext uri="{FF2B5EF4-FFF2-40B4-BE49-F238E27FC236}">
                    <a16:creationId xmlns:a16="http://schemas.microsoft.com/office/drawing/2014/main" id="{9F0DAB25-CE05-D02B-114D-7FD65040D941}"/>
                  </a:ext>
                </a:extLst>
              </p:cNvPr>
              <p:cNvSpPr txBox="1">
                <a:spLocks noRot="1" noChangeAspect="1" noMove="1" noResize="1" noEditPoints="1" noAdjustHandles="1" noChangeArrowheads="1" noChangeShapeType="1" noTextEdit="1"/>
              </p:cNvSpPr>
              <p:nvPr/>
            </p:nvSpPr>
            <p:spPr>
              <a:xfrm>
                <a:off x="3147553" y="1893858"/>
                <a:ext cx="4998919" cy="1158459"/>
              </a:xfrm>
              <a:prstGeom prst="rect">
                <a:avLst/>
              </a:prstGeom>
              <a:blipFill>
                <a:blip r:embed="rId3"/>
                <a:stretch>
                  <a:fillRect/>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55FB809D-8FF0-3ECA-94F6-EA65F5D5250B}"/>
              </a:ext>
            </a:extLst>
          </p:cNvPr>
          <p:cNvSpPr txBox="1"/>
          <p:nvPr/>
        </p:nvSpPr>
        <p:spPr>
          <a:xfrm>
            <a:off x="909204" y="1241714"/>
            <a:ext cx="8993331"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a:t>Let’s look at our formula for the attention probabilities</a:t>
            </a:r>
          </a:p>
        </p:txBody>
      </p:sp>
      <p:grpSp>
        <p:nvGrpSpPr>
          <p:cNvPr id="18" name="Group 17">
            <a:extLst>
              <a:ext uri="{FF2B5EF4-FFF2-40B4-BE49-F238E27FC236}">
                <a16:creationId xmlns:a16="http://schemas.microsoft.com/office/drawing/2014/main" id="{B72E7AB5-5E54-E17F-9AA7-044B59E8BB8B}"/>
              </a:ext>
            </a:extLst>
          </p:cNvPr>
          <p:cNvGrpSpPr/>
          <p:nvPr/>
        </p:nvGrpSpPr>
        <p:grpSpPr>
          <a:xfrm>
            <a:off x="3114151" y="3419439"/>
            <a:ext cx="5019595" cy="2122814"/>
            <a:chOff x="438470" y="3242797"/>
            <a:chExt cx="5019595" cy="2122814"/>
          </a:xfrm>
        </p:grpSpPr>
        <mc:AlternateContent xmlns:mc="http://schemas.openxmlformats.org/markup-compatibility/2006" xmlns:a14="http://schemas.microsoft.com/office/drawing/2010/main">
          <mc:Choice Requires="a14">
            <p:graphicFrame>
              <p:nvGraphicFramePr>
                <p:cNvPr id="8" name="Content Placeholder 4">
                  <a:extLst>
                    <a:ext uri="{FF2B5EF4-FFF2-40B4-BE49-F238E27FC236}">
                      <a16:creationId xmlns:a16="http://schemas.microsoft.com/office/drawing/2014/main" id="{1BD34177-69B4-6AAF-FC69-6A9C8E7309A0}"/>
                    </a:ext>
                  </a:extLst>
                </p:cNvPr>
                <p:cNvGraphicFramePr>
                  <a:graphicFrameLocks/>
                </p:cNvGraphicFramePr>
                <p:nvPr/>
              </p:nvGraphicFramePr>
              <p:xfrm>
                <a:off x="438470" y="3242797"/>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8" name="Content Placeholder 4">
                  <a:extLst>
                    <a:ext uri="{FF2B5EF4-FFF2-40B4-BE49-F238E27FC236}">
                      <a16:creationId xmlns:a16="http://schemas.microsoft.com/office/drawing/2014/main" id="{1BD34177-69B4-6AAF-FC69-6A9C8E7309A0}"/>
                    </a:ext>
                  </a:extLst>
                </p:cNvPr>
                <p:cNvGraphicFramePr>
                  <a:graphicFrameLocks/>
                </p:cNvGraphicFramePr>
                <p:nvPr>
                  <p:extLst>
                    <p:ext uri="{D42A27DB-BD31-4B8C-83A1-F6EECF244321}">
                      <p14:modId xmlns:p14="http://schemas.microsoft.com/office/powerpoint/2010/main" val="3986113453"/>
                    </p:ext>
                  </p:extLst>
                </p:nvPr>
              </p:nvGraphicFramePr>
              <p:xfrm>
                <a:off x="438470" y="3242797"/>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Content Placeholder 4">
                  <a:extLst>
                    <a:ext uri="{FF2B5EF4-FFF2-40B4-BE49-F238E27FC236}">
                      <a16:creationId xmlns:a16="http://schemas.microsoft.com/office/drawing/2014/main" id="{911E3766-871A-AE40-017C-8D972F7A9F19}"/>
                    </a:ext>
                  </a:extLst>
                </p:cNvPr>
                <p:cNvGraphicFramePr>
                  <a:graphicFrameLocks/>
                </p:cNvGraphicFramePr>
                <p:nvPr/>
              </p:nvGraphicFramePr>
              <p:xfrm>
                <a:off x="3396430" y="3242797"/>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sat</a:t>
                            </a:r>
                          </a:p>
                        </a:txBody>
                        <a:tcPr/>
                      </a:tc>
                      <a:tc>
                        <a:txBody>
                          <a:bodyPr/>
                          <a:lstStyle/>
                          <a:p>
                            <a:r>
                              <a:rPr lang="en-GB" sz="1200" dirty="0"/>
                              <a:t>cat</a:t>
                            </a:r>
                          </a:p>
                        </a:txBody>
                        <a:tcPr/>
                      </a:tc>
                      <a:tc>
                        <a:txBody>
                          <a:bodyPr/>
                          <a:lstStyle/>
                          <a:p>
                            <a:r>
                              <a:rPr lang="en-GB" sz="1200" dirty="0"/>
                              <a:t>the</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1" name="Content Placeholder 4">
                  <a:extLst>
                    <a:ext uri="{FF2B5EF4-FFF2-40B4-BE49-F238E27FC236}">
                      <a16:creationId xmlns:a16="http://schemas.microsoft.com/office/drawing/2014/main" id="{911E3766-871A-AE40-017C-8D972F7A9F19}"/>
                    </a:ext>
                  </a:extLst>
                </p:cNvPr>
                <p:cNvGraphicFramePr>
                  <a:graphicFrameLocks/>
                </p:cNvGraphicFramePr>
                <p:nvPr>
                  <p:extLst>
                    <p:ext uri="{D42A27DB-BD31-4B8C-83A1-F6EECF244321}">
                      <p14:modId xmlns:p14="http://schemas.microsoft.com/office/powerpoint/2010/main" val="4207905710"/>
                    </p:ext>
                  </p:extLst>
                </p:nvPr>
              </p:nvGraphicFramePr>
              <p:xfrm>
                <a:off x="3396430" y="3242797"/>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sat</a:t>
                            </a:r>
                          </a:p>
                        </a:txBody>
                        <a:tcPr/>
                      </a:tc>
                      <a:tc>
                        <a:txBody>
                          <a:bodyPr/>
                          <a:lstStyle/>
                          <a:p>
                            <a:r>
                              <a:rPr lang="en-GB" sz="1200" dirty="0"/>
                              <a:t>cat</a:t>
                            </a:r>
                          </a:p>
                        </a:txBody>
                        <a:tcPr/>
                      </a:tc>
                      <a:tc>
                        <a:txBody>
                          <a:bodyPr/>
                          <a:lstStyle/>
                          <a:p>
                            <a:r>
                              <a:rPr lang="en-GB" sz="1200" dirty="0"/>
                              <a:t>the</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p:cxnSp>
          <p:nvCxnSpPr>
            <p:cNvPr id="12" name="Straight Arrow Connector 11">
              <a:extLst>
                <a:ext uri="{FF2B5EF4-FFF2-40B4-BE49-F238E27FC236}">
                  <a16:creationId xmlns:a16="http://schemas.microsoft.com/office/drawing/2014/main" id="{D8F9E938-BC88-736F-5AE2-158D657D551A}"/>
                </a:ext>
              </a:extLst>
            </p:cNvPr>
            <p:cNvCxnSpPr>
              <a:cxnSpLocks/>
            </p:cNvCxnSpPr>
            <p:nvPr/>
          </p:nvCxnSpPr>
          <p:spPr>
            <a:xfrm>
              <a:off x="2769305" y="3958973"/>
              <a:ext cx="429940" cy="709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D99466-ECD3-2CA6-C40A-E2F1864569FB}"/>
                    </a:ext>
                  </a:extLst>
                </p:cNvPr>
                <p:cNvSpPr txBox="1"/>
                <p:nvPr/>
              </p:nvSpPr>
              <p:spPr>
                <a:xfrm>
                  <a:off x="1469287" y="4872719"/>
                  <a:ext cx="3233930" cy="492892"/>
                </a:xfrm>
                <a:prstGeom prst="rect">
                  <a:avLst/>
                </a:prstGeom>
                <a:noFill/>
              </p:spPr>
              <p:txBody>
                <a:bodyPr wrap="square" rtlCol="0">
                  <a:spAutoFit/>
                </a:bodyPr>
                <a:lstStyle/>
                <a:p>
                  <a:r>
                    <a:rPr lang="en-GB" sz="2400" dirty="0"/>
                    <a:t>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𝐴</m:t>
                          </m:r>
                        </m:e>
                        <m:sub>
                          <m:r>
                            <m:rPr>
                              <m:nor/>
                            </m:rPr>
                            <a:rPr lang="en-GB" sz="2400" b="0" i="0" smtClean="0">
                              <a:latin typeface="Cambria Math" panose="02040503050406030204" pitchFamily="18" charset="0"/>
                            </a:rPr>
                            <m:t>on,sat</m:t>
                          </m:r>
                        </m:sub>
                      </m:sSub>
                      <m:r>
                        <a:rPr lang="en-GB" sz="2400" b="0" i="1" smtClean="0">
                          <a:latin typeface="Cambria Math" panose="02040503050406030204" pitchFamily="18" charset="0"/>
                        </a:rPr>
                        <m:t> </m:t>
                      </m:r>
                    </m:oMath>
                  </a14:m>
                  <a:r>
                    <a:rPr lang="en-GB" sz="2400" dirty="0"/>
                    <a:t>is unchanged</a:t>
                  </a:r>
                </a:p>
              </p:txBody>
            </p:sp>
          </mc:Choice>
          <mc:Fallback xmlns="">
            <p:sp>
              <p:nvSpPr>
                <p:cNvPr id="14" name="TextBox 13">
                  <a:extLst>
                    <a:ext uri="{FF2B5EF4-FFF2-40B4-BE49-F238E27FC236}">
                      <a16:creationId xmlns:a16="http://schemas.microsoft.com/office/drawing/2014/main" id="{75D99466-ECD3-2CA6-C40A-E2F1864569FB}"/>
                    </a:ext>
                  </a:extLst>
                </p:cNvPr>
                <p:cNvSpPr txBox="1">
                  <a:spLocks noRot="1" noChangeAspect="1" noMove="1" noResize="1" noEditPoints="1" noAdjustHandles="1" noChangeArrowheads="1" noChangeShapeType="1" noTextEdit="1"/>
                </p:cNvSpPr>
                <p:nvPr/>
              </p:nvSpPr>
              <p:spPr>
                <a:xfrm>
                  <a:off x="1469287" y="4872719"/>
                  <a:ext cx="3233930" cy="492892"/>
                </a:xfrm>
                <a:prstGeom prst="rect">
                  <a:avLst/>
                </a:prstGeom>
                <a:blipFill>
                  <a:blip r:embed="rId4"/>
                  <a:stretch>
                    <a:fillRect t="-7407" b="-23457"/>
                  </a:stretch>
                </a:blipFill>
              </p:spPr>
              <p:txBody>
                <a:bodyPr/>
                <a:lstStyle/>
                <a:p>
                  <a:r>
                    <a:rPr lang="en-GB">
                      <a:noFill/>
                    </a:rPr>
                    <a:t> </a:t>
                  </a:r>
                </a:p>
              </p:txBody>
            </p:sp>
          </mc:Fallback>
        </mc:AlternateContent>
      </p:grpSp>
      <p:sp>
        <p:nvSpPr>
          <p:cNvPr id="19" name="TextBox 18">
            <a:extLst>
              <a:ext uri="{FF2B5EF4-FFF2-40B4-BE49-F238E27FC236}">
                <a16:creationId xmlns:a16="http://schemas.microsoft.com/office/drawing/2014/main" id="{BDD34434-5FAB-67FF-F248-D55C5810400C}"/>
              </a:ext>
            </a:extLst>
          </p:cNvPr>
          <p:cNvSpPr txBox="1"/>
          <p:nvPr/>
        </p:nvSpPr>
        <p:spPr>
          <a:xfrm>
            <a:off x="726498" y="5744017"/>
            <a:ext cx="10739004" cy="830997"/>
          </a:xfrm>
          <a:prstGeom prst="rect">
            <a:avLst/>
          </a:prstGeom>
          <a:noFill/>
        </p:spPr>
        <p:txBody>
          <a:bodyPr wrap="square" rtlCol="0">
            <a:spAutoFit/>
          </a:bodyPr>
          <a:lstStyle/>
          <a:p>
            <a:r>
              <a:rPr lang="en-GB" sz="2400" dirty="0"/>
              <a:t>The input embeddings, and hence the context embeddings don’t take into account the position of the token in the context (other than through masking) !!</a:t>
            </a:r>
          </a:p>
        </p:txBody>
      </p:sp>
    </p:spTree>
    <p:extLst>
      <p:ext uri="{BB962C8B-B14F-4D97-AF65-F5344CB8AC3E}">
        <p14:creationId xmlns:p14="http://schemas.microsoft.com/office/powerpoint/2010/main" val="304730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95837-77BE-E21C-631E-48074C2D9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D938A-7010-1F8A-F05E-CDDE91602B1E}"/>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DC10A053-E408-E4B9-4306-692672AF4F9F}"/>
              </a:ext>
            </a:extLst>
          </p:cNvPr>
          <p:cNvSpPr>
            <a:spLocks noGrp="1"/>
          </p:cNvSpPr>
          <p:nvPr>
            <p:ph type="sldNum" sz="quarter" idx="12"/>
          </p:nvPr>
        </p:nvSpPr>
        <p:spPr/>
        <p:txBody>
          <a:bodyPr/>
          <a:lstStyle/>
          <a:p>
            <a:fld id="{13DE89AE-BBCC-45F3-BDAA-E98C74995322}" type="slidenum">
              <a:rPr lang="en-GB" smtClean="0"/>
              <a:t>43</a:t>
            </a:fld>
            <a:endParaRPr lang="en-GB"/>
          </a:p>
        </p:txBody>
      </p:sp>
      <p:sp>
        <p:nvSpPr>
          <p:cNvPr id="7" name="TextBox 6">
            <a:extLst>
              <a:ext uri="{FF2B5EF4-FFF2-40B4-BE49-F238E27FC236}">
                <a16:creationId xmlns:a16="http://schemas.microsoft.com/office/drawing/2014/main" id="{D430944F-B9FD-0BBD-75F1-08838C93FC23}"/>
              </a:ext>
            </a:extLst>
          </p:cNvPr>
          <p:cNvSpPr txBox="1"/>
          <p:nvPr/>
        </p:nvSpPr>
        <p:spPr>
          <a:xfrm>
            <a:off x="909204" y="1241714"/>
            <a:ext cx="8993331"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a:t>We solve by adding position dependent vectors to the input</a:t>
            </a:r>
          </a:p>
        </p:txBody>
      </p:sp>
      <p:grpSp>
        <p:nvGrpSpPr>
          <p:cNvPr id="74" name="Group 73">
            <a:extLst>
              <a:ext uri="{FF2B5EF4-FFF2-40B4-BE49-F238E27FC236}">
                <a16:creationId xmlns:a16="http://schemas.microsoft.com/office/drawing/2014/main" id="{3BD71E48-8129-FBC8-4667-987CBA9B76EA}"/>
              </a:ext>
            </a:extLst>
          </p:cNvPr>
          <p:cNvGrpSpPr/>
          <p:nvPr/>
        </p:nvGrpSpPr>
        <p:grpSpPr>
          <a:xfrm>
            <a:off x="1549901" y="1828024"/>
            <a:ext cx="7698763" cy="1761962"/>
            <a:chOff x="725146" y="2085010"/>
            <a:chExt cx="7698763" cy="1761962"/>
          </a:xfrm>
        </p:grpSpPr>
        <p:grpSp>
          <p:nvGrpSpPr>
            <p:cNvPr id="32" name="Group 31">
              <a:extLst>
                <a:ext uri="{FF2B5EF4-FFF2-40B4-BE49-F238E27FC236}">
                  <a16:creationId xmlns:a16="http://schemas.microsoft.com/office/drawing/2014/main" id="{B5A88FF2-3D4C-D187-0FF8-87C9C51879AE}"/>
                </a:ext>
              </a:extLst>
            </p:cNvPr>
            <p:cNvGrpSpPr/>
            <p:nvPr/>
          </p:nvGrpSpPr>
          <p:grpSpPr>
            <a:xfrm>
              <a:off x="725146" y="2085010"/>
              <a:ext cx="3351154" cy="1758349"/>
              <a:chOff x="363196" y="4088084"/>
              <a:chExt cx="3351154" cy="1758349"/>
            </a:xfrm>
          </p:grpSpPr>
          <p:grpSp>
            <p:nvGrpSpPr>
              <p:cNvPr id="21" name="Group 20">
                <a:extLst>
                  <a:ext uri="{FF2B5EF4-FFF2-40B4-BE49-F238E27FC236}">
                    <a16:creationId xmlns:a16="http://schemas.microsoft.com/office/drawing/2014/main" id="{7011FE1E-E574-CD8A-4BFE-CD44FE424BBC}"/>
                  </a:ext>
                </a:extLst>
              </p:cNvPr>
              <p:cNvGrpSpPr/>
              <p:nvPr/>
            </p:nvGrpSpPr>
            <p:grpSpPr>
              <a:xfrm>
                <a:off x="363196" y="4097411"/>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7CD9C7AF-96BB-BDD1-BCA7-0296786BF5A9}"/>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 name="Content Placeholder 4">
                      <a:extLst>
                        <a:ext uri="{FF2B5EF4-FFF2-40B4-BE49-F238E27FC236}">
                          <a16:creationId xmlns:a16="http://schemas.microsoft.com/office/drawing/2014/main" id="{7CD9C7AF-96BB-BDD1-BCA7-0296786BF5A9}"/>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94C6E77-B8D4-9DD2-D68D-EB24D4A22E30}"/>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16" name="TextBox 15">
                      <a:extLst>
                        <a:ext uri="{FF2B5EF4-FFF2-40B4-BE49-F238E27FC236}">
                          <a16:creationId xmlns:a16="http://schemas.microsoft.com/office/drawing/2014/main" id="{894C6E77-B8D4-9DD2-D68D-EB24D4A22E30}"/>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3"/>
                      <a:stretch>
                        <a:fillRect l="-10870" r="-9783" b="-6522"/>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EF0B0E1B-6A79-4818-D1E0-9BA48F68119E}"/>
                  </a:ext>
                </a:extLst>
              </p:cNvPr>
              <p:cNvGrpSpPr/>
              <p:nvPr/>
            </p:nvGrpSpPr>
            <p:grpSpPr>
              <a:xfrm>
                <a:off x="1066645" y="4098847"/>
                <a:ext cx="557140" cy="1747417"/>
                <a:chOff x="1311315" y="4098847"/>
                <a:chExt cx="557140" cy="1747417"/>
              </a:xfrm>
            </p:grpSpPr>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B64B9AFD-AB9A-3EFF-B975-E51E5809F12E}"/>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9" name="Content Placeholder 4">
                      <a:extLst>
                        <a:ext uri="{FF2B5EF4-FFF2-40B4-BE49-F238E27FC236}">
                          <a16:creationId xmlns:a16="http://schemas.microsoft.com/office/drawing/2014/main" id="{B64B9AFD-AB9A-3EFF-B975-E51E5809F12E}"/>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D27F18-1577-53B3-6B89-D225526819DC}"/>
                        </a:ext>
                      </a:extLst>
                    </p:cNvPr>
                    <p:cNvSpPr txBox="1"/>
                    <p:nvPr/>
                  </p:nvSpPr>
                  <p:spPr>
                    <a:xfrm>
                      <a:off x="1311315" y="409884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17" name="TextBox 16">
                      <a:extLst>
                        <a:ext uri="{FF2B5EF4-FFF2-40B4-BE49-F238E27FC236}">
                          <a16:creationId xmlns:a16="http://schemas.microsoft.com/office/drawing/2014/main" id="{1ED27F18-1577-53B3-6B89-D225526819DC}"/>
                        </a:ext>
                      </a:extLst>
                    </p:cNvPr>
                    <p:cNvSpPr txBox="1">
                      <a:spLocks noRot="1" noChangeAspect="1" noMove="1" noResize="1" noEditPoints="1" noAdjustHandles="1" noChangeArrowheads="1" noChangeShapeType="1" noTextEdit="1"/>
                    </p:cNvSpPr>
                    <p:nvPr/>
                  </p:nvSpPr>
                  <p:spPr>
                    <a:xfrm>
                      <a:off x="1311315" y="4098847"/>
                      <a:ext cx="557140" cy="276999"/>
                    </a:xfrm>
                    <a:prstGeom prst="rect">
                      <a:avLst/>
                    </a:prstGeom>
                    <a:blipFill>
                      <a:blip r:embed="rId4"/>
                      <a:stretch>
                        <a:fillRect l="-10989" r="-9890" b="-8889"/>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31C92630-01C9-1834-31FB-9F9B169DA272}"/>
                  </a:ext>
                </a:extLst>
              </p:cNvPr>
              <p:cNvGrpSpPr/>
              <p:nvPr/>
            </p:nvGrpSpPr>
            <p:grpSpPr>
              <a:xfrm>
                <a:off x="1751393" y="4088084"/>
                <a:ext cx="557140" cy="1758349"/>
                <a:chOff x="1817745" y="4088084"/>
                <a:chExt cx="557140" cy="1758349"/>
              </a:xfrm>
            </p:grpSpPr>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9B433813-B278-BF48-BF88-A604ADFDF49E}"/>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0" name="Content Placeholder 4">
                      <a:extLst>
                        <a:ext uri="{FF2B5EF4-FFF2-40B4-BE49-F238E27FC236}">
                          <a16:creationId xmlns:a16="http://schemas.microsoft.com/office/drawing/2014/main" id="{9B433813-B278-BF48-BF88-A604ADFDF49E}"/>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601A802-35DB-8722-A2CE-B4E57889E526}"/>
                        </a:ext>
                      </a:extLst>
                    </p:cNvPr>
                    <p:cNvSpPr txBox="1"/>
                    <p:nvPr/>
                  </p:nvSpPr>
                  <p:spPr>
                    <a:xfrm>
                      <a:off x="1817745" y="408808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23" name="TextBox 22">
                      <a:extLst>
                        <a:ext uri="{FF2B5EF4-FFF2-40B4-BE49-F238E27FC236}">
                          <a16:creationId xmlns:a16="http://schemas.microsoft.com/office/drawing/2014/main" id="{7601A802-35DB-8722-A2CE-B4E57889E526}"/>
                        </a:ext>
                      </a:extLst>
                    </p:cNvPr>
                    <p:cNvSpPr txBox="1">
                      <a:spLocks noRot="1" noChangeAspect="1" noMove="1" noResize="1" noEditPoints="1" noAdjustHandles="1" noChangeArrowheads="1" noChangeShapeType="1" noTextEdit="1"/>
                    </p:cNvSpPr>
                    <p:nvPr/>
                  </p:nvSpPr>
                  <p:spPr>
                    <a:xfrm>
                      <a:off x="1817745" y="4088084"/>
                      <a:ext cx="557140" cy="276999"/>
                    </a:xfrm>
                    <a:prstGeom prst="rect">
                      <a:avLst/>
                    </a:prstGeom>
                    <a:blipFill>
                      <a:blip r:embed="rId5"/>
                      <a:stretch>
                        <a:fillRect l="-10989" r="-9890" b="-8889"/>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7BE50259-C667-A471-FA37-B8A2E93D0A2C}"/>
                  </a:ext>
                </a:extLst>
              </p:cNvPr>
              <p:cNvGrpSpPr/>
              <p:nvPr/>
            </p:nvGrpSpPr>
            <p:grpSpPr>
              <a:xfrm>
                <a:off x="2476077" y="4097417"/>
                <a:ext cx="557140" cy="1749016"/>
                <a:chOff x="2320571" y="4097417"/>
                <a:chExt cx="557140" cy="1749016"/>
              </a:xfrm>
            </p:grpSpPr>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17E1BED8-56F6-738F-7BFD-722627C3C098}"/>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3" name="Content Placeholder 4">
                      <a:extLst>
                        <a:ext uri="{FF2B5EF4-FFF2-40B4-BE49-F238E27FC236}">
                          <a16:creationId xmlns:a16="http://schemas.microsoft.com/office/drawing/2014/main" id="{17E1BED8-56F6-738F-7BFD-722627C3C098}"/>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C9442EF-0E36-FF49-F8E9-0761742CFA2A}"/>
                        </a:ext>
                      </a:extLst>
                    </p:cNvPr>
                    <p:cNvSpPr txBox="1"/>
                    <p:nvPr/>
                  </p:nvSpPr>
                  <p:spPr>
                    <a:xfrm>
                      <a:off x="2320571" y="409741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25" name="TextBox 24">
                      <a:extLst>
                        <a:ext uri="{FF2B5EF4-FFF2-40B4-BE49-F238E27FC236}">
                          <a16:creationId xmlns:a16="http://schemas.microsoft.com/office/drawing/2014/main" id="{7C9442EF-0E36-FF49-F8E9-0761742CFA2A}"/>
                        </a:ext>
                      </a:extLst>
                    </p:cNvPr>
                    <p:cNvSpPr txBox="1">
                      <a:spLocks noRot="1" noChangeAspect="1" noMove="1" noResize="1" noEditPoints="1" noAdjustHandles="1" noChangeArrowheads="1" noChangeShapeType="1" noTextEdit="1"/>
                    </p:cNvSpPr>
                    <p:nvPr/>
                  </p:nvSpPr>
                  <p:spPr>
                    <a:xfrm>
                      <a:off x="2320571" y="4097417"/>
                      <a:ext cx="557140" cy="276999"/>
                    </a:xfrm>
                    <a:prstGeom prst="rect">
                      <a:avLst/>
                    </a:prstGeom>
                    <a:blipFill>
                      <a:blip r:embed="rId6"/>
                      <a:stretch>
                        <a:fillRect l="-10989" r="-9890" b="-6522"/>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C1AA7A96-8611-217B-2DB3-A6AAEAB4DC56}"/>
                  </a:ext>
                </a:extLst>
              </p:cNvPr>
              <p:cNvGrpSpPr/>
              <p:nvPr/>
            </p:nvGrpSpPr>
            <p:grpSpPr>
              <a:xfrm>
                <a:off x="3157210" y="4098461"/>
                <a:ext cx="557140" cy="1747286"/>
                <a:chOff x="2931205" y="4098461"/>
                <a:chExt cx="557140" cy="1747286"/>
              </a:xfrm>
            </p:grpSpPr>
            <mc:AlternateContent xmlns:mc="http://schemas.openxmlformats.org/markup-compatibility/2006" xmlns:a14="http://schemas.microsoft.com/office/drawing/2010/main">
              <mc:Choice Requires="a14">
                <p:graphicFrame>
                  <p:nvGraphicFramePr>
                    <p:cNvPr id="15" name="Content Placeholder 4">
                      <a:extLst>
                        <a:ext uri="{FF2B5EF4-FFF2-40B4-BE49-F238E27FC236}">
                          <a16:creationId xmlns:a16="http://schemas.microsoft.com/office/drawing/2014/main" id="{F14F3024-82F6-148A-26CE-5514818498B2}"/>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5" name="Content Placeholder 4">
                      <a:extLst>
                        <a:ext uri="{FF2B5EF4-FFF2-40B4-BE49-F238E27FC236}">
                          <a16:creationId xmlns:a16="http://schemas.microsoft.com/office/drawing/2014/main" id="{F14F3024-82F6-148A-26CE-5514818498B2}"/>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93B242E-EA14-A9AC-472D-E6BD098D665D}"/>
                        </a:ext>
                      </a:extLst>
                    </p:cNvPr>
                    <p:cNvSpPr txBox="1"/>
                    <p:nvPr/>
                  </p:nvSpPr>
                  <p:spPr>
                    <a:xfrm>
                      <a:off x="2931205" y="409846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27" name="TextBox 26">
                      <a:extLst>
                        <a:ext uri="{FF2B5EF4-FFF2-40B4-BE49-F238E27FC236}">
                          <a16:creationId xmlns:a16="http://schemas.microsoft.com/office/drawing/2014/main" id="{393B242E-EA14-A9AC-472D-E6BD098D665D}"/>
                        </a:ext>
                      </a:extLst>
                    </p:cNvPr>
                    <p:cNvSpPr txBox="1">
                      <a:spLocks noRot="1" noChangeAspect="1" noMove="1" noResize="1" noEditPoints="1" noAdjustHandles="1" noChangeArrowheads="1" noChangeShapeType="1" noTextEdit="1"/>
                    </p:cNvSpPr>
                    <p:nvPr/>
                  </p:nvSpPr>
                  <p:spPr>
                    <a:xfrm>
                      <a:off x="2931205" y="4098461"/>
                      <a:ext cx="557140" cy="276999"/>
                    </a:xfrm>
                    <a:prstGeom prst="rect">
                      <a:avLst/>
                    </a:prstGeom>
                    <a:blipFill>
                      <a:blip r:embed="rId7"/>
                      <a:stretch>
                        <a:fillRect l="-10989" r="-10989" b="-8889"/>
                      </a:stretch>
                    </a:blipFill>
                  </p:spPr>
                  <p:txBody>
                    <a:bodyPr/>
                    <a:lstStyle/>
                    <a:p>
                      <a:r>
                        <a:rPr lang="en-GB">
                          <a:noFill/>
                        </a:rPr>
                        <a:t> </a:t>
                      </a:r>
                    </a:p>
                  </p:txBody>
                </p:sp>
              </mc:Fallback>
            </mc:AlternateContent>
          </p:grpSp>
        </p:grpSp>
        <p:grpSp>
          <p:nvGrpSpPr>
            <p:cNvPr id="61" name="Group 60">
              <a:extLst>
                <a:ext uri="{FF2B5EF4-FFF2-40B4-BE49-F238E27FC236}">
                  <a16:creationId xmlns:a16="http://schemas.microsoft.com/office/drawing/2014/main" id="{92C7FEAC-B8F9-7A03-2D00-23CBD4BC3F10}"/>
                </a:ext>
              </a:extLst>
            </p:cNvPr>
            <p:cNvGrpSpPr/>
            <p:nvPr/>
          </p:nvGrpSpPr>
          <p:grpSpPr>
            <a:xfrm>
              <a:off x="5297151" y="2089767"/>
              <a:ext cx="3126758" cy="1757205"/>
              <a:chOff x="5297151" y="2089767"/>
              <a:chExt cx="3126758" cy="1757205"/>
            </a:xfrm>
          </p:grpSpPr>
          <p:grpSp>
            <p:nvGrpSpPr>
              <p:cNvPr id="34" name="Group 33">
                <a:extLst>
                  <a:ext uri="{FF2B5EF4-FFF2-40B4-BE49-F238E27FC236}">
                    <a16:creationId xmlns:a16="http://schemas.microsoft.com/office/drawing/2014/main" id="{102B8449-96F5-6222-32F0-0CE167FCD6B2}"/>
                  </a:ext>
                </a:extLst>
              </p:cNvPr>
              <p:cNvGrpSpPr/>
              <p:nvPr/>
            </p:nvGrpSpPr>
            <p:grpSpPr>
              <a:xfrm>
                <a:off x="5297151" y="2099094"/>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47" name="Content Placeholder 4">
                      <a:extLst>
                        <a:ext uri="{FF2B5EF4-FFF2-40B4-BE49-F238E27FC236}">
                          <a16:creationId xmlns:a16="http://schemas.microsoft.com/office/drawing/2014/main" id="{900AEF3A-B5B4-50CD-6C90-4D33188116BC}"/>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(1)</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7" name="Content Placeholder 4">
                      <a:extLst>
                        <a:ext uri="{FF2B5EF4-FFF2-40B4-BE49-F238E27FC236}">
                          <a16:creationId xmlns:a16="http://schemas.microsoft.com/office/drawing/2014/main" id="{900AEF3A-B5B4-50CD-6C90-4D33188116BC}"/>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8"/>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33274D1-3BD0-BC2A-BD1C-9A4C1D7A2A27}"/>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48" name="TextBox 47">
                      <a:extLst>
                        <a:ext uri="{FF2B5EF4-FFF2-40B4-BE49-F238E27FC236}">
                          <a16:creationId xmlns:a16="http://schemas.microsoft.com/office/drawing/2014/main" id="{A33274D1-3BD0-BC2A-BD1C-9A4C1D7A2A27}"/>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9"/>
                      <a:stretch>
                        <a:fillRect l="-10870" r="-9783" b="-6522"/>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5AB31782-BC23-9B87-6199-F50BEA6D945E}"/>
                  </a:ext>
                </a:extLst>
              </p:cNvPr>
              <p:cNvGrpSpPr/>
              <p:nvPr/>
            </p:nvGrpSpPr>
            <p:grpSpPr>
              <a:xfrm>
                <a:off x="5919255" y="2100530"/>
                <a:ext cx="557140" cy="1746439"/>
                <a:chOff x="6000600" y="2100530"/>
                <a:chExt cx="557140" cy="1746439"/>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05A6E5F-91D0-2028-218E-3691F1EBC55C}"/>
                        </a:ext>
                      </a:extLst>
                    </p:cNvPr>
                    <p:cNvSpPr txBox="1"/>
                    <p:nvPr/>
                  </p:nvSpPr>
                  <p:spPr>
                    <a:xfrm>
                      <a:off x="6000600" y="210053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46" name="TextBox 45">
                      <a:extLst>
                        <a:ext uri="{FF2B5EF4-FFF2-40B4-BE49-F238E27FC236}">
                          <a16:creationId xmlns:a16="http://schemas.microsoft.com/office/drawing/2014/main" id="{D05A6E5F-91D0-2028-218E-3691F1EBC55C}"/>
                        </a:ext>
                      </a:extLst>
                    </p:cNvPr>
                    <p:cNvSpPr txBox="1">
                      <a:spLocks noRot="1" noChangeAspect="1" noMove="1" noResize="1" noEditPoints="1" noAdjustHandles="1" noChangeArrowheads="1" noChangeShapeType="1" noTextEdit="1"/>
                    </p:cNvSpPr>
                    <p:nvPr/>
                  </p:nvSpPr>
                  <p:spPr>
                    <a:xfrm>
                      <a:off x="6000600" y="2100530"/>
                      <a:ext cx="557140" cy="276999"/>
                    </a:xfrm>
                    <a:prstGeom prst="rect">
                      <a:avLst/>
                    </a:prstGeom>
                    <a:blipFill>
                      <a:blip r:embed="rId10"/>
                      <a:stretch>
                        <a:fillRect l="-10870" r="-9783"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9" name="Content Placeholder 4">
                      <a:extLst>
                        <a:ext uri="{FF2B5EF4-FFF2-40B4-BE49-F238E27FC236}">
                          <a16:creationId xmlns:a16="http://schemas.microsoft.com/office/drawing/2014/main" id="{64F5A1B2-0FA6-8936-880F-E749052C2AB6}"/>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(2)</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9" name="Content Placeholder 4">
                      <a:extLst>
                        <a:ext uri="{FF2B5EF4-FFF2-40B4-BE49-F238E27FC236}">
                          <a16:creationId xmlns:a16="http://schemas.microsoft.com/office/drawing/2014/main" id="{64F5A1B2-0FA6-8936-880F-E749052C2AB6}"/>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1"/>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4" name="Group 53">
                <a:extLst>
                  <a:ext uri="{FF2B5EF4-FFF2-40B4-BE49-F238E27FC236}">
                    <a16:creationId xmlns:a16="http://schemas.microsoft.com/office/drawing/2014/main" id="{4FF53A9F-7CD7-F40E-8D9B-8329FAD8800B}"/>
                  </a:ext>
                </a:extLst>
              </p:cNvPr>
              <p:cNvGrpSpPr/>
              <p:nvPr/>
            </p:nvGrpSpPr>
            <p:grpSpPr>
              <a:xfrm>
                <a:off x="6573148" y="2089767"/>
                <a:ext cx="557140" cy="1757205"/>
                <a:chOff x="6685348" y="2089767"/>
                <a:chExt cx="557140" cy="1757205"/>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A3954B1-DC41-E39D-98A2-7D00E94ED462}"/>
                        </a:ext>
                      </a:extLst>
                    </p:cNvPr>
                    <p:cNvSpPr txBox="1"/>
                    <p:nvPr/>
                  </p:nvSpPr>
                  <p:spPr>
                    <a:xfrm>
                      <a:off x="6685348" y="208976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44" name="TextBox 43">
                      <a:extLst>
                        <a:ext uri="{FF2B5EF4-FFF2-40B4-BE49-F238E27FC236}">
                          <a16:creationId xmlns:a16="http://schemas.microsoft.com/office/drawing/2014/main" id="{DA3954B1-DC41-E39D-98A2-7D00E94ED462}"/>
                        </a:ext>
                      </a:extLst>
                    </p:cNvPr>
                    <p:cNvSpPr txBox="1">
                      <a:spLocks noRot="1" noChangeAspect="1" noMove="1" noResize="1" noEditPoints="1" noAdjustHandles="1" noChangeArrowheads="1" noChangeShapeType="1" noTextEdit="1"/>
                    </p:cNvSpPr>
                    <p:nvPr/>
                  </p:nvSpPr>
                  <p:spPr>
                    <a:xfrm>
                      <a:off x="6685348" y="2089767"/>
                      <a:ext cx="557140" cy="276999"/>
                    </a:xfrm>
                    <a:prstGeom prst="rect">
                      <a:avLst/>
                    </a:prstGeom>
                    <a:blipFill>
                      <a:blip r:embed="rId12"/>
                      <a:stretch>
                        <a:fillRect l="-10989" r="-9890" b="-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0" name="Content Placeholder 4">
                      <a:extLst>
                        <a:ext uri="{FF2B5EF4-FFF2-40B4-BE49-F238E27FC236}">
                          <a16:creationId xmlns:a16="http://schemas.microsoft.com/office/drawing/2014/main" id="{C75F0AB6-E825-5F7B-7334-BA5DF5FD6862}"/>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(3)</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0" name="Content Placeholder 4">
                      <a:extLst>
                        <a:ext uri="{FF2B5EF4-FFF2-40B4-BE49-F238E27FC236}">
                          <a16:creationId xmlns:a16="http://schemas.microsoft.com/office/drawing/2014/main" id="{C75F0AB6-E825-5F7B-7334-BA5DF5FD6862}"/>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3"/>
                                <a:stretch>
                                  <a:fillRect l="-1587" t="-2128" r="-6349"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5" name="Group 54">
                <a:extLst>
                  <a:ext uri="{FF2B5EF4-FFF2-40B4-BE49-F238E27FC236}">
                    <a16:creationId xmlns:a16="http://schemas.microsoft.com/office/drawing/2014/main" id="{5085086C-7B22-A7B2-BA9C-39BA94082BC5}"/>
                  </a:ext>
                </a:extLst>
              </p:cNvPr>
              <p:cNvGrpSpPr/>
              <p:nvPr/>
            </p:nvGrpSpPr>
            <p:grpSpPr>
              <a:xfrm>
                <a:off x="7213684" y="2099100"/>
                <a:ext cx="557140" cy="1745066"/>
                <a:chOff x="7410032" y="2099100"/>
                <a:chExt cx="557140" cy="1745066"/>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3A1D7E3-8210-A9BB-6ADF-ECE74CE70F9D}"/>
                        </a:ext>
                      </a:extLst>
                    </p:cNvPr>
                    <p:cNvSpPr txBox="1"/>
                    <p:nvPr/>
                  </p:nvSpPr>
                  <p:spPr>
                    <a:xfrm>
                      <a:off x="7410032" y="209910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42" name="TextBox 41">
                      <a:extLst>
                        <a:ext uri="{FF2B5EF4-FFF2-40B4-BE49-F238E27FC236}">
                          <a16:creationId xmlns:a16="http://schemas.microsoft.com/office/drawing/2014/main" id="{A3A1D7E3-8210-A9BB-6ADF-ECE74CE70F9D}"/>
                        </a:ext>
                      </a:extLst>
                    </p:cNvPr>
                    <p:cNvSpPr txBox="1">
                      <a:spLocks noRot="1" noChangeAspect="1" noMove="1" noResize="1" noEditPoints="1" noAdjustHandles="1" noChangeArrowheads="1" noChangeShapeType="1" noTextEdit="1"/>
                    </p:cNvSpPr>
                    <p:nvPr/>
                  </p:nvSpPr>
                  <p:spPr>
                    <a:xfrm>
                      <a:off x="7410032" y="2099100"/>
                      <a:ext cx="557140" cy="276999"/>
                    </a:xfrm>
                    <a:prstGeom prst="rect">
                      <a:avLst/>
                    </a:prstGeom>
                    <a:blipFill>
                      <a:blip r:embed="rId14"/>
                      <a:stretch>
                        <a:fillRect l="-10989" r="-9890"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1" name="Content Placeholder 4">
                      <a:extLst>
                        <a:ext uri="{FF2B5EF4-FFF2-40B4-BE49-F238E27FC236}">
                          <a16:creationId xmlns:a16="http://schemas.microsoft.com/office/drawing/2014/main" id="{54FEF6B8-FFD3-0A18-D63A-970337656418}"/>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(4)</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1" name="Content Placeholder 4">
                      <a:extLst>
                        <a:ext uri="{FF2B5EF4-FFF2-40B4-BE49-F238E27FC236}">
                          <a16:creationId xmlns:a16="http://schemas.microsoft.com/office/drawing/2014/main" id="{54FEF6B8-FFD3-0A18-D63A-970337656418}"/>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5"/>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6" name="Group 55">
                <a:extLst>
                  <a:ext uri="{FF2B5EF4-FFF2-40B4-BE49-F238E27FC236}">
                    <a16:creationId xmlns:a16="http://schemas.microsoft.com/office/drawing/2014/main" id="{4E3E2318-B7F3-5CBC-31FC-843B05F15B1F}"/>
                  </a:ext>
                </a:extLst>
              </p:cNvPr>
              <p:cNvGrpSpPr/>
              <p:nvPr/>
            </p:nvGrpSpPr>
            <p:grpSpPr>
              <a:xfrm>
                <a:off x="7866769" y="2100144"/>
                <a:ext cx="557140" cy="1746825"/>
                <a:chOff x="8091165" y="2100144"/>
                <a:chExt cx="557140" cy="1746825"/>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38623C7-E9A3-5D9D-3E5A-9685B5856DC9}"/>
                        </a:ext>
                      </a:extLst>
                    </p:cNvPr>
                    <p:cNvSpPr txBox="1"/>
                    <p:nvPr/>
                  </p:nvSpPr>
                  <p:spPr>
                    <a:xfrm>
                      <a:off x="8091165" y="210014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40" name="TextBox 39">
                      <a:extLst>
                        <a:ext uri="{FF2B5EF4-FFF2-40B4-BE49-F238E27FC236}">
                          <a16:creationId xmlns:a16="http://schemas.microsoft.com/office/drawing/2014/main" id="{438623C7-E9A3-5D9D-3E5A-9685B5856DC9}"/>
                        </a:ext>
                      </a:extLst>
                    </p:cNvPr>
                    <p:cNvSpPr txBox="1">
                      <a:spLocks noRot="1" noChangeAspect="1" noMove="1" noResize="1" noEditPoints="1" noAdjustHandles="1" noChangeArrowheads="1" noChangeShapeType="1" noTextEdit="1"/>
                    </p:cNvSpPr>
                    <p:nvPr/>
                  </p:nvSpPr>
                  <p:spPr>
                    <a:xfrm>
                      <a:off x="8091165" y="2100144"/>
                      <a:ext cx="557140" cy="276999"/>
                    </a:xfrm>
                    <a:prstGeom prst="rect">
                      <a:avLst/>
                    </a:prstGeom>
                    <a:blipFill>
                      <a:blip r:embed="rId16"/>
                      <a:stretch>
                        <a:fillRect l="-10989" r="-10989"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2" name="Content Placeholder 4">
                      <a:extLst>
                        <a:ext uri="{FF2B5EF4-FFF2-40B4-BE49-F238E27FC236}">
                          <a16:creationId xmlns:a16="http://schemas.microsoft.com/office/drawing/2014/main" id="{3C221BFE-3E20-1F82-FEB6-0E1C68E4E4E1}"/>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(5)</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2" name="Content Placeholder 4">
                      <a:extLst>
                        <a:ext uri="{FF2B5EF4-FFF2-40B4-BE49-F238E27FC236}">
                          <a16:creationId xmlns:a16="http://schemas.microsoft.com/office/drawing/2014/main" id="{3C221BFE-3E20-1F82-FEB6-0E1C68E4E4E1}"/>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7"/>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grpSp>
      <p:sp>
        <p:nvSpPr>
          <p:cNvPr id="68" name="TextBox 67">
            <a:extLst>
              <a:ext uri="{FF2B5EF4-FFF2-40B4-BE49-F238E27FC236}">
                <a16:creationId xmlns:a16="http://schemas.microsoft.com/office/drawing/2014/main" id="{34102271-7CF4-9D02-9B2A-21EFCE3EDEB4}"/>
              </a:ext>
            </a:extLst>
          </p:cNvPr>
          <p:cNvSpPr txBox="1"/>
          <p:nvPr/>
        </p:nvSpPr>
        <p:spPr>
          <a:xfrm>
            <a:off x="5638800" y="2973294"/>
            <a:ext cx="65" cy="276999"/>
          </a:xfrm>
          <a:prstGeom prst="rect">
            <a:avLst/>
          </a:prstGeom>
          <a:noFill/>
        </p:spPr>
        <p:txBody>
          <a:bodyPr wrap="none" lIns="0" tIns="0" rIns="0" bIns="0" rtlCol="0">
            <a:spAutoFit/>
          </a:bodyPr>
          <a:lstStyle/>
          <a:p>
            <a:endParaRPr lang="en-GB" dirty="0"/>
          </a:p>
        </p:txBody>
      </p:sp>
      <p:grpSp>
        <p:nvGrpSpPr>
          <p:cNvPr id="11" name="Group 10">
            <a:extLst>
              <a:ext uri="{FF2B5EF4-FFF2-40B4-BE49-F238E27FC236}">
                <a16:creationId xmlns:a16="http://schemas.microsoft.com/office/drawing/2014/main" id="{0FDCA833-8549-5939-0B11-12CAD3870A22}"/>
              </a:ext>
            </a:extLst>
          </p:cNvPr>
          <p:cNvGrpSpPr/>
          <p:nvPr/>
        </p:nvGrpSpPr>
        <p:grpSpPr>
          <a:xfrm>
            <a:off x="1828471" y="3584296"/>
            <a:ext cx="4960812" cy="2480099"/>
            <a:chOff x="1828471" y="3584296"/>
            <a:chExt cx="4960812" cy="2480099"/>
          </a:xfrm>
        </p:grpSpPr>
        <p:grpSp>
          <p:nvGrpSpPr>
            <p:cNvPr id="75" name="Group 74">
              <a:extLst>
                <a:ext uri="{FF2B5EF4-FFF2-40B4-BE49-F238E27FC236}">
                  <a16:creationId xmlns:a16="http://schemas.microsoft.com/office/drawing/2014/main" id="{22D83A43-910A-329E-2C42-F13B0A56C2B9}"/>
                </a:ext>
              </a:extLst>
            </p:cNvPr>
            <p:cNvGrpSpPr/>
            <p:nvPr/>
          </p:nvGrpSpPr>
          <p:grpSpPr>
            <a:xfrm>
              <a:off x="4087327" y="4311831"/>
              <a:ext cx="2701956" cy="1752564"/>
              <a:chOff x="2089501" y="4392685"/>
              <a:chExt cx="2768066" cy="1731382"/>
            </a:xfrm>
          </p:grpSpPr>
          <p:grpSp>
            <p:nvGrpSpPr>
              <p:cNvPr id="64" name="Group 63">
                <a:extLst>
                  <a:ext uri="{FF2B5EF4-FFF2-40B4-BE49-F238E27FC236}">
                    <a16:creationId xmlns:a16="http://schemas.microsoft.com/office/drawing/2014/main" id="{97F63E4C-C418-130D-7677-895F3D4FC515}"/>
                  </a:ext>
                </a:extLst>
              </p:cNvPr>
              <p:cNvGrpSpPr/>
              <p:nvPr/>
            </p:nvGrpSpPr>
            <p:grpSpPr>
              <a:xfrm>
                <a:off x="2089501" y="4394521"/>
                <a:ext cx="570772" cy="1729546"/>
                <a:chOff x="877546" y="4511479"/>
                <a:chExt cx="570772" cy="1729546"/>
              </a:xfrm>
            </p:grpSpPr>
            <mc:AlternateContent xmlns:mc="http://schemas.openxmlformats.org/markup-compatibility/2006" xmlns:a14="http://schemas.microsoft.com/office/drawing/2010/main">
              <mc:Choice Requires="a14">
                <p:graphicFrame>
                  <p:nvGraphicFramePr>
                    <p:cNvPr id="62" name="Content Placeholder 4">
                      <a:extLst>
                        <a:ext uri="{FF2B5EF4-FFF2-40B4-BE49-F238E27FC236}">
                          <a16:creationId xmlns:a16="http://schemas.microsoft.com/office/drawing/2014/main" id="{F730ADE5-AD64-112A-9E41-8EC9ECCBAA4F}"/>
                        </a:ext>
                      </a:extLst>
                    </p:cNvPr>
                    <p:cNvGraphicFramePr>
                      <a:graphicFrameLocks/>
                    </p:cNvGraphicFramePr>
                    <p:nvPr/>
                  </p:nvGraphicFramePr>
                  <p:xfrm>
                    <a:off x="949953" y="4818909"/>
                    <a:ext cx="422416"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2" name="Content Placeholder 4">
                      <a:extLst>
                        <a:ext uri="{FF2B5EF4-FFF2-40B4-BE49-F238E27FC236}">
                          <a16:creationId xmlns:a16="http://schemas.microsoft.com/office/drawing/2014/main" id="{F730ADE5-AD64-112A-9E41-8EC9ECCBAA4F}"/>
                        </a:ext>
                      </a:extLst>
                    </p:cNvPr>
                    <p:cNvGraphicFramePr>
                      <a:graphicFrameLocks/>
                    </p:cNvGraphicFramePr>
                    <p:nvPr>
                      <p:extLst>
                        <p:ext uri="{D42A27DB-BD31-4B8C-83A1-F6EECF244321}">
                          <p14:modId xmlns:p14="http://schemas.microsoft.com/office/powerpoint/2010/main" val="2094375419"/>
                        </p:ext>
                      </p:extLst>
                    </p:nvPr>
                  </p:nvGraphicFramePr>
                  <p:xfrm>
                    <a:off x="949953" y="4818909"/>
                    <a:ext cx="422416"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DAE2A764-FDCC-2009-7195-A318426A8252}"/>
                        </a:ext>
                      </a:extLst>
                    </p:cNvPr>
                    <p:cNvSpPr txBox="1"/>
                    <p:nvPr/>
                  </p:nvSpPr>
                  <p:spPr>
                    <a:xfrm>
                      <a:off x="877546" y="4511479"/>
                      <a:ext cx="570772"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63" name="TextBox 62">
                      <a:extLst>
                        <a:ext uri="{FF2B5EF4-FFF2-40B4-BE49-F238E27FC236}">
                          <a16:creationId xmlns:a16="http://schemas.microsoft.com/office/drawing/2014/main" id="{DAE2A764-FDCC-2009-7195-A318426A8252}"/>
                        </a:ext>
                      </a:extLst>
                    </p:cNvPr>
                    <p:cNvSpPr txBox="1">
                      <a:spLocks noRot="1" noChangeAspect="1" noMove="1" noResize="1" noEditPoints="1" noAdjustHandles="1" noChangeArrowheads="1" noChangeShapeType="1" noTextEdit="1"/>
                    </p:cNvSpPr>
                    <p:nvPr/>
                  </p:nvSpPr>
                  <p:spPr>
                    <a:xfrm>
                      <a:off x="877546" y="4511479"/>
                      <a:ext cx="570772" cy="273651"/>
                    </a:xfrm>
                    <a:prstGeom prst="rect">
                      <a:avLst/>
                    </a:prstGeom>
                    <a:blipFill>
                      <a:blip r:embed="rId18"/>
                      <a:stretch>
                        <a:fillRect l="-10870" r="-9783" b="-8889"/>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B20CD701-1C7F-26AD-BDC9-5ABC57C022C7}"/>
                  </a:ext>
                </a:extLst>
              </p:cNvPr>
              <p:cNvGrpSpPr/>
              <p:nvPr/>
            </p:nvGrpSpPr>
            <p:grpSpPr>
              <a:xfrm>
                <a:off x="3004276" y="4393961"/>
                <a:ext cx="570772" cy="1729546"/>
                <a:chOff x="2972157" y="4393961"/>
                <a:chExt cx="570772" cy="1729546"/>
              </a:xfrm>
            </p:grpSpPr>
            <mc:AlternateContent xmlns:mc="http://schemas.openxmlformats.org/markup-compatibility/2006" xmlns:a14="http://schemas.microsoft.com/office/drawing/2010/main">
              <mc:Choice Requires="a14">
                <p:graphicFrame>
                  <p:nvGraphicFramePr>
                    <p:cNvPr id="65" name="Content Placeholder 4">
                      <a:extLst>
                        <a:ext uri="{FF2B5EF4-FFF2-40B4-BE49-F238E27FC236}">
                          <a16:creationId xmlns:a16="http://schemas.microsoft.com/office/drawing/2014/main" id="{56099372-FA6E-3BC3-A86C-A54F60230864}"/>
                        </a:ext>
                      </a:extLst>
                    </p:cNvPr>
                    <p:cNvGraphicFramePr>
                      <a:graphicFrameLocks/>
                    </p:cNvGraphicFramePr>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(1)</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65" name="Content Placeholder 4">
                      <a:extLst>
                        <a:ext uri="{FF2B5EF4-FFF2-40B4-BE49-F238E27FC236}">
                          <a16:creationId xmlns:a16="http://schemas.microsoft.com/office/drawing/2014/main" id="{56099372-FA6E-3BC3-A86C-A54F60230864}"/>
                        </a:ext>
                      </a:extLst>
                    </p:cNvPr>
                    <p:cNvGraphicFramePr>
                      <a:graphicFrameLocks/>
                    </p:cNvGraphicFramePr>
                    <p:nvPr>
                      <p:extLst>
                        <p:ext uri="{D42A27DB-BD31-4B8C-83A1-F6EECF244321}">
                          <p14:modId xmlns:p14="http://schemas.microsoft.com/office/powerpoint/2010/main" val="2473796762"/>
                        </p:ext>
                      </p:extLst>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9"/>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ED6D5970-0797-177B-0016-C7F297A572B3}"/>
                        </a:ext>
                      </a:extLst>
                    </p:cNvPr>
                    <p:cNvSpPr txBox="1"/>
                    <p:nvPr/>
                  </p:nvSpPr>
                  <p:spPr>
                    <a:xfrm>
                      <a:off x="2972157" y="4393961"/>
                      <a:ext cx="570772"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66" name="TextBox 65">
                      <a:extLst>
                        <a:ext uri="{FF2B5EF4-FFF2-40B4-BE49-F238E27FC236}">
                          <a16:creationId xmlns:a16="http://schemas.microsoft.com/office/drawing/2014/main" id="{ED6D5970-0797-177B-0016-C7F297A572B3}"/>
                        </a:ext>
                      </a:extLst>
                    </p:cNvPr>
                    <p:cNvSpPr txBox="1">
                      <a:spLocks noRot="1" noChangeAspect="1" noMove="1" noResize="1" noEditPoints="1" noAdjustHandles="1" noChangeArrowheads="1" noChangeShapeType="1" noTextEdit="1"/>
                    </p:cNvSpPr>
                    <p:nvPr/>
                  </p:nvSpPr>
                  <p:spPr>
                    <a:xfrm>
                      <a:off x="2972157" y="4393961"/>
                      <a:ext cx="570772" cy="273651"/>
                    </a:xfrm>
                    <a:prstGeom prst="rect">
                      <a:avLst/>
                    </a:prstGeom>
                    <a:blipFill>
                      <a:blip r:embed="rId20"/>
                      <a:stretch>
                        <a:fillRect l="-10989" r="-9890" b="-8889"/>
                      </a:stretch>
                    </a:blipFill>
                  </p:spPr>
                  <p:txBody>
                    <a:bodyPr/>
                    <a:lstStyle/>
                    <a:p>
                      <a:r>
                        <a:rPr lang="en-GB">
                          <a:noFill/>
                        </a:rPr>
                        <a:t> </a:t>
                      </a:r>
                    </a:p>
                  </p:txBody>
                </p:sp>
              </mc:Fallback>
            </mc:AlternateContent>
          </p:grpSp>
          <p:sp>
            <p:nvSpPr>
              <p:cNvPr id="69" name="TextBox 68">
                <a:extLst>
                  <a:ext uri="{FF2B5EF4-FFF2-40B4-BE49-F238E27FC236}">
                    <a16:creationId xmlns:a16="http://schemas.microsoft.com/office/drawing/2014/main" id="{2C83B5A4-3E92-AAF5-A23D-D38709935DCC}"/>
                  </a:ext>
                </a:extLst>
              </p:cNvPr>
              <p:cNvSpPr txBox="1"/>
              <p:nvPr/>
            </p:nvSpPr>
            <p:spPr>
              <a:xfrm>
                <a:off x="2617219" y="5019245"/>
                <a:ext cx="412328" cy="830997"/>
              </a:xfrm>
              <a:prstGeom prst="rect">
                <a:avLst/>
              </a:prstGeom>
              <a:noFill/>
            </p:spPr>
            <p:txBody>
              <a:bodyPr wrap="square" rtlCol="0">
                <a:spAutoFit/>
              </a:bodyPr>
              <a:lstStyle/>
              <a:p>
                <a:pPr algn="ctr"/>
                <a:r>
                  <a:rPr lang="en-GB" sz="4800" dirty="0"/>
                  <a:t>+</a:t>
                </a:r>
              </a:p>
            </p:txBody>
          </p:sp>
          <p:grpSp>
            <p:nvGrpSpPr>
              <p:cNvPr id="70" name="Group 69">
                <a:extLst>
                  <a:ext uri="{FF2B5EF4-FFF2-40B4-BE49-F238E27FC236}">
                    <a16:creationId xmlns:a16="http://schemas.microsoft.com/office/drawing/2014/main" id="{E9F83114-0219-E325-E71A-7BA77562F9FB}"/>
                  </a:ext>
                </a:extLst>
              </p:cNvPr>
              <p:cNvGrpSpPr/>
              <p:nvPr/>
            </p:nvGrpSpPr>
            <p:grpSpPr>
              <a:xfrm>
                <a:off x="3971469" y="4392685"/>
                <a:ext cx="886098" cy="1729546"/>
                <a:chOff x="949952" y="4511479"/>
                <a:chExt cx="794975" cy="1729546"/>
              </a:xfrm>
            </p:grpSpPr>
            <mc:AlternateContent xmlns:mc="http://schemas.openxmlformats.org/markup-compatibility/2006" xmlns:a14="http://schemas.microsoft.com/office/drawing/2010/main">
              <mc:Choice Requires="a14">
                <p:graphicFrame>
                  <p:nvGraphicFramePr>
                    <p:cNvPr id="71" name="Content Placeholder 4">
                      <a:extLst>
                        <a:ext uri="{FF2B5EF4-FFF2-40B4-BE49-F238E27FC236}">
                          <a16:creationId xmlns:a16="http://schemas.microsoft.com/office/drawing/2014/main" id="{BAC5CECF-2CFA-752C-68C0-160A74A5D209}"/>
                        </a:ext>
                      </a:extLst>
                    </p:cNvPr>
                    <p:cNvGraphicFramePr>
                      <a:graphicFrameLocks/>
                    </p:cNvGraphicFramePr>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the @ </a:t>
                                </a:r>
                                <a:r>
                                  <a:rPr lang="en-GB" sz="1200" dirty="0" err="1"/>
                                  <a:t>i</a:t>
                                </a:r>
                                <a:r>
                                  <a:rPr lang="en-GB" sz="1200" dirty="0"/>
                                  <a:t>=1</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Choice>
              <mc:Fallback xmlns="">
                <p:graphicFrame>
                  <p:nvGraphicFramePr>
                    <p:cNvPr id="71" name="Content Placeholder 4">
                      <a:extLst>
                        <a:ext uri="{FF2B5EF4-FFF2-40B4-BE49-F238E27FC236}">
                          <a16:creationId xmlns:a16="http://schemas.microsoft.com/office/drawing/2014/main" id="{BAC5CECF-2CFA-752C-68C0-160A74A5D209}"/>
                        </a:ext>
                      </a:extLst>
                    </p:cNvPr>
                    <p:cNvGraphicFramePr>
                      <a:graphicFrameLocks/>
                    </p:cNvGraphicFramePr>
                    <p:nvPr>
                      <p:extLst>
                        <p:ext uri="{D42A27DB-BD31-4B8C-83A1-F6EECF244321}">
                          <p14:modId xmlns:p14="http://schemas.microsoft.com/office/powerpoint/2010/main" val="4217679928"/>
                        </p:ext>
                      </p:extLst>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the @ </a:t>
                                </a:r>
                                <a:r>
                                  <a:rPr lang="en-GB" sz="1200" dirty="0" err="1"/>
                                  <a:t>i</a:t>
                                </a:r>
                                <a:r>
                                  <a:rPr lang="en-GB" sz="1200" dirty="0"/>
                                  <a:t>=1</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8F8D749-13BE-97C5-6162-209FF8069847}"/>
                        </a:ext>
                      </a:extLst>
                    </p:cNvPr>
                    <p:cNvSpPr txBox="1"/>
                    <p:nvPr/>
                  </p:nvSpPr>
                  <p:spPr>
                    <a:xfrm>
                      <a:off x="1055455" y="4511479"/>
                      <a:ext cx="512076"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72" name="TextBox 71">
                      <a:extLst>
                        <a:ext uri="{FF2B5EF4-FFF2-40B4-BE49-F238E27FC236}">
                          <a16:creationId xmlns:a16="http://schemas.microsoft.com/office/drawing/2014/main" id="{08F8D749-13BE-97C5-6162-209FF8069847}"/>
                        </a:ext>
                      </a:extLst>
                    </p:cNvPr>
                    <p:cNvSpPr txBox="1">
                      <a:spLocks noRot="1" noChangeAspect="1" noMove="1" noResize="1" noEditPoints="1" noAdjustHandles="1" noChangeArrowheads="1" noChangeShapeType="1" noTextEdit="1"/>
                    </p:cNvSpPr>
                    <p:nvPr/>
                  </p:nvSpPr>
                  <p:spPr>
                    <a:xfrm>
                      <a:off x="1055455" y="4511479"/>
                      <a:ext cx="512076" cy="273651"/>
                    </a:xfrm>
                    <a:prstGeom prst="rect">
                      <a:avLst/>
                    </a:prstGeom>
                    <a:blipFill>
                      <a:blip r:embed="rId21"/>
                      <a:stretch>
                        <a:fillRect l="-10989" r="-9890" b="-6522"/>
                      </a:stretch>
                    </a:blipFill>
                  </p:spPr>
                  <p:txBody>
                    <a:bodyPr/>
                    <a:lstStyle/>
                    <a:p>
                      <a:r>
                        <a:rPr lang="en-GB">
                          <a:noFill/>
                        </a:rPr>
                        <a:t> </a:t>
                      </a:r>
                    </a:p>
                  </p:txBody>
                </p:sp>
              </mc:Fallback>
            </mc:AlternateContent>
          </p:grpSp>
          <p:sp>
            <p:nvSpPr>
              <p:cNvPr id="73" name="TextBox 72">
                <a:extLst>
                  <a:ext uri="{FF2B5EF4-FFF2-40B4-BE49-F238E27FC236}">
                    <a16:creationId xmlns:a16="http://schemas.microsoft.com/office/drawing/2014/main" id="{FE74F49D-742C-1538-DF2D-9889D608BBEF}"/>
                  </a:ext>
                </a:extLst>
              </p:cNvPr>
              <p:cNvSpPr txBox="1"/>
              <p:nvPr/>
            </p:nvSpPr>
            <p:spPr>
              <a:xfrm>
                <a:off x="3515095" y="5006395"/>
                <a:ext cx="412328" cy="830997"/>
              </a:xfrm>
              <a:prstGeom prst="rect">
                <a:avLst/>
              </a:prstGeom>
              <a:noFill/>
            </p:spPr>
            <p:txBody>
              <a:bodyPr wrap="square" rtlCol="0">
                <a:spAutoFit/>
              </a:bodyPr>
              <a:lstStyle/>
              <a:p>
                <a:pPr algn="ctr"/>
                <a:r>
                  <a:rPr lang="en-GB" sz="4800" dirty="0"/>
                  <a:t>=</a:t>
                </a:r>
              </a:p>
            </p:txBody>
          </p:sp>
        </p:grpSp>
        <p:cxnSp>
          <p:nvCxnSpPr>
            <p:cNvPr id="77" name="Straight Arrow Connector 76">
              <a:extLst>
                <a:ext uri="{FF2B5EF4-FFF2-40B4-BE49-F238E27FC236}">
                  <a16:creationId xmlns:a16="http://schemas.microsoft.com/office/drawing/2014/main" id="{34E14A5C-9BD2-CD84-FB51-AB080504A645}"/>
                </a:ext>
              </a:extLst>
            </p:cNvPr>
            <p:cNvCxnSpPr>
              <a:cxnSpLocks/>
              <a:stCxn id="6" idx="2"/>
              <a:endCxn id="63" idx="1"/>
            </p:cNvCxnSpPr>
            <p:nvPr/>
          </p:nvCxnSpPr>
          <p:spPr>
            <a:xfrm>
              <a:off x="1828471" y="3584296"/>
              <a:ext cx="2258856" cy="867893"/>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D05BCC7C-D53B-6432-BD26-A5D2A634DE79}"/>
                </a:ext>
              </a:extLst>
            </p:cNvPr>
            <p:cNvCxnSpPr>
              <a:cxnSpLocks/>
              <a:stCxn id="47" idx="2"/>
              <a:endCxn id="66" idx="3"/>
            </p:cNvCxnSpPr>
            <p:nvPr/>
          </p:nvCxnSpPr>
          <p:spPr>
            <a:xfrm flipH="1">
              <a:off x="5537394" y="3589053"/>
              <a:ext cx="843927" cy="86257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7905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E2D15-1D96-6D2E-8AFF-EF0AA2A3B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DBE66-9DF0-8601-895D-6702BE9B0EE3}"/>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0FB61FF1-8F19-65C6-DF71-0F1492499D8A}"/>
              </a:ext>
            </a:extLst>
          </p:cNvPr>
          <p:cNvSpPr>
            <a:spLocks noGrp="1"/>
          </p:cNvSpPr>
          <p:nvPr>
            <p:ph type="sldNum" sz="quarter" idx="12"/>
          </p:nvPr>
        </p:nvSpPr>
        <p:spPr/>
        <p:txBody>
          <a:bodyPr/>
          <a:lstStyle/>
          <a:p>
            <a:fld id="{13DE89AE-BBCC-45F3-BDAA-E98C74995322}" type="slidenum">
              <a:rPr lang="en-GB" smtClean="0"/>
              <a:t>44</a:t>
            </a:fld>
            <a:endParaRPr lang="en-GB"/>
          </a:p>
        </p:txBody>
      </p:sp>
      <p:sp>
        <p:nvSpPr>
          <p:cNvPr id="7" name="TextBox 6">
            <a:extLst>
              <a:ext uri="{FF2B5EF4-FFF2-40B4-BE49-F238E27FC236}">
                <a16:creationId xmlns:a16="http://schemas.microsoft.com/office/drawing/2014/main" id="{07C88D53-AD24-7109-D856-429F9A051B60}"/>
              </a:ext>
            </a:extLst>
          </p:cNvPr>
          <p:cNvSpPr txBox="1"/>
          <p:nvPr/>
        </p:nvSpPr>
        <p:spPr>
          <a:xfrm>
            <a:off x="909204" y="1241714"/>
            <a:ext cx="8993331"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a:t>We solve by adding position dependent vectors to the input</a:t>
            </a:r>
          </a:p>
        </p:txBody>
      </p:sp>
      <p:grpSp>
        <p:nvGrpSpPr>
          <p:cNvPr id="74" name="Group 73">
            <a:extLst>
              <a:ext uri="{FF2B5EF4-FFF2-40B4-BE49-F238E27FC236}">
                <a16:creationId xmlns:a16="http://schemas.microsoft.com/office/drawing/2014/main" id="{4C80E091-06A8-A6BB-FFA4-2548F45F3E33}"/>
              </a:ext>
            </a:extLst>
          </p:cNvPr>
          <p:cNvGrpSpPr/>
          <p:nvPr/>
        </p:nvGrpSpPr>
        <p:grpSpPr>
          <a:xfrm>
            <a:off x="1549901" y="1828024"/>
            <a:ext cx="7698763" cy="1761962"/>
            <a:chOff x="725146" y="2085010"/>
            <a:chExt cx="7698763" cy="1761962"/>
          </a:xfrm>
        </p:grpSpPr>
        <p:grpSp>
          <p:nvGrpSpPr>
            <p:cNvPr id="32" name="Group 31">
              <a:extLst>
                <a:ext uri="{FF2B5EF4-FFF2-40B4-BE49-F238E27FC236}">
                  <a16:creationId xmlns:a16="http://schemas.microsoft.com/office/drawing/2014/main" id="{516E5A99-C767-4138-0389-C7D7E14012D5}"/>
                </a:ext>
              </a:extLst>
            </p:cNvPr>
            <p:cNvGrpSpPr/>
            <p:nvPr/>
          </p:nvGrpSpPr>
          <p:grpSpPr>
            <a:xfrm>
              <a:off x="725146" y="2085010"/>
              <a:ext cx="3351154" cy="1758349"/>
              <a:chOff x="363196" y="4088084"/>
              <a:chExt cx="3351154" cy="1758349"/>
            </a:xfrm>
          </p:grpSpPr>
          <p:grpSp>
            <p:nvGrpSpPr>
              <p:cNvPr id="21" name="Group 20">
                <a:extLst>
                  <a:ext uri="{FF2B5EF4-FFF2-40B4-BE49-F238E27FC236}">
                    <a16:creationId xmlns:a16="http://schemas.microsoft.com/office/drawing/2014/main" id="{C6973F64-C111-85B3-3FBD-A0F3BFFD0528}"/>
                  </a:ext>
                </a:extLst>
              </p:cNvPr>
              <p:cNvGrpSpPr/>
              <p:nvPr/>
            </p:nvGrpSpPr>
            <p:grpSpPr>
              <a:xfrm>
                <a:off x="363196" y="4097411"/>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9A6918CE-47E4-8F7E-9E8D-F298B978DE9D}"/>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 name="Content Placeholder 4">
                      <a:extLst>
                        <a:ext uri="{FF2B5EF4-FFF2-40B4-BE49-F238E27FC236}">
                          <a16:creationId xmlns:a16="http://schemas.microsoft.com/office/drawing/2014/main" id="{9A6918CE-47E4-8F7E-9E8D-F298B978DE9D}"/>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EABE4AE-3506-17A9-AFE9-549E1F8C617C}"/>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16" name="TextBox 15">
                      <a:extLst>
                        <a:ext uri="{FF2B5EF4-FFF2-40B4-BE49-F238E27FC236}">
                          <a16:creationId xmlns:a16="http://schemas.microsoft.com/office/drawing/2014/main" id="{FEABE4AE-3506-17A9-AFE9-549E1F8C617C}"/>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2"/>
                      <a:stretch>
                        <a:fillRect l="-10870" r="-9783" b="-6522"/>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E04A4366-0100-C50B-6F7D-0450AB151920}"/>
                  </a:ext>
                </a:extLst>
              </p:cNvPr>
              <p:cNvGrpSpPr/>
              <p:nvPr/>
            </p:nvGrpSpPr>
            <p:grpSpPr>
              <a:xfrm>
                <a:off x="1066645" y="4098847"/>
                <a:ext cx="557140" cy="1747417"/>
                <a:chOff x="1311315" y="4098847"/>
                <a:chExt cx="557140" cy="1747417"/>
              </a:xfrm>
            </p:grpSpPr>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2D4B5C2E-B8E5-92C4-3B64-A3FA0746B24F}"/>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9" name="Content Placeholder 4">
                      <a:extLst>
                        <a:ext uri="{FF2B5EF4-FFF2-40B4-BE49-F238E27FC236}">
                          <a16:creationId xmlns:a16="http://schemas.microsoft.com/office/drawing/2014/main" id="{2D4B5C2E-B8E5-92C4-3B64-A3FA0746B24F}"/>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96131C4-56E1-41DD-F34F-E7150BE75900}"/>
                        </a:ext>
                      </a:extLst>
                    </p:cNvPr>
                    <p:cNvSpPr txBox="1"/>
                    <p:nvPr/>
                  </p:nvSpPr>
                  <p:spPr>
                    <a:xfrm>
                      <a:off x="1311315" y="409884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17" name="TextBox 16">
                      <a:extLst>
                        <a:ext uri="{FF2B5EF4-FFF2-40B4-BE49-F238E27FC236}">
                          <a16:creationId xmlns:a16="http://schemas.microsoft.com/office/drawing/2014/main" id="{A96131C4-56E1-41DD-F34F-E7150BE75900}"/>
                        </a:ext>
                      </a:extLst>
                    </p:cNvPr>
                    <p:cNvSpPr txBox="1">
                      <a:spLocks noRot="1" noChangeAspect="1" noMove="1" noResize="1" noEditPoints="1" noAdjustHandles="1" noChangeArrowheads="1" noChangeShapeType="1" noTextEdit="1"/>
                    </p:cNvSpPr>
                    <p:nvPr/>
                  </p:nvSpPr>
                  <p:spPr>
                    <a:xfrm>
                      <a:off x="1311315" y="4098847"/>
                      <a:ext cx="557140" cy="276999"/>
                    </a:xfrm>
                    <a:prstGeom prst="rect">
                      <a:avLst/>
                    </a:prstGeom>
                    <a:blipFill>
                      <a:blip r:embed="rId3"/>
                      <a:stretch>
                        <a:fillRect l="-10989" r="-9890" b="-8889"/>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2DFD1D90-144D-CBEB-8C24-A37FA66B0440}"/>
                  </a:ext>
                </a:extLst>
              </p:cNvPr>
              <p:cNvGrpSpPr/>
              <p:nvPr/>
            </p:nvGrpSpPr>
            <p:grpSpPr>
              <a:xfrm>
                <a:off x="1751393" y="4088084"/>
                <a:ext cx="557140" cy="1758349"/>
                <a:chOff x="1817745" y="4088084"/>
                <a:chExt cx="557140" cy="1758349"/>
              </a:xfrm>
            </p:grpSpPr>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A19B3E7B-75A6-C3A0-2A25-C90E5FEE246A}"/>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0" name="Content Placeholder 4">
                      <a:extLst>
                        <a:ext uri="{FF2B5EF4-FFF2-40B4-BE49-F238E27FC236}">
                          <a16:creationId xmlns:a16="http://schemas.microsoft.com/office/drawing/2014/main" id="{A19B3E7B-75A6-C3A0-2A25-C90E5FEE246A}"/>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9132143-E95E-262E-6751-C4FD75529DB6}"/>
                        </a:ext>
                      </a:extLst>
                    </p:cNvPr>
                    <p:cNvSpPr txBox="1"/>
                    <p:nvPr/>
                  </p:nvSpPr>
                  <p:spPr>
                    <a:xfrm>
                      <a:off x="1817745" y="408808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23" name="TextBox 22">
                      <a:extLst>
                        <a:ext uri="{FF2B5EF4-FFF2-40B4-BE49-F238E27FC236}">
                          <a16:creationId xmlns:a16="http://schemas.microsoft.com/office/drawing/2014/main" id="{89132143-E95E-262E-6751-C4FD75529DB6}"/>
                        </a:ext>
                      </a:extLst>
                    </p:cNvPr>
                    <p:cNvSpPr txBox="1">
                      <a:spLocks noRot="1" noChangeAspect="1" noMove="1" noResize="1" noEditPoints="1" noAdjustHandles="1" noChangeArrowheads="1" noChangeShapeType="1" noTextEdit="1"/>
                    </p:cNvSpPr>
                    <p:nvPr/>
                  </p:nvSpPr>
                  <p:spPr>
                    <a:xfrm>
                      <a:off x="1817745" y="4088084"/>
                      <a:ext cx="557140" cy="276999"/>
                    </a:xfrm>
                    <a:prstGeom prst="rect">
                      <a:avLst/>
                    </a:prstGeom>
                    <a:blipFill>
                      <a:blip r:embed="rId4"/>
                      <a:stretch>
                        <a:fillRect l="-10989" r="-9890" b="-8889"/>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3FC91322-60F8-4912-ED61-014E668A306A}"/>
                  </a:ext>
                </a:extLst>
              </p:cNvPr>
              <p:cNvGrpSpPr/>
              <p:nvPr/>
            </p:nvGrpSpPr>
            <p:grpSpPr>
              <a:xfrm>
                <a:off x="2476077" y="4097417"/>
                <a:ext cx="557140" cy="1749016"/>
                <a:chOff x="2320571" y="4097417"/>
                <a:chExt cx="557140" cy="1749016"/>
              </a:xfrm>
            </p:grpSpPr>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CEC34A21-6CC5-806E-6C2E-EB2C310A9195}"/>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3" name="Content Placeholder 4">
                      <a:extLst>
                        <a:ext uri="{FF2B5EF4-FFF2-40B4-BE49-F238E27FC236}">
                          <a16:creationId xmlns:a16="http://schemas.microsoft.com/office/drawing/2014/main" id="{CEC34A21-6CC5-806E-6C2E-EB2C310A9195}"/>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2C07F78-7A74-B8D2-1918-E93888426CE7}"/>
                        </a:ext>
                      </a:extLst>
                    </p:cNvPr>
                    <p:cNvSpPr txBox="1"/>
                    <p:nvPr/>
                  </p:nvSpPr>
                  <p:spPr>
                    <a:xfrm>
                      <a:off x="2320571" y="409741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25" name="TextBox 24">
                      <a:extLst>
                        <a:ext uri="{FF2B5EF4-FFF2-40B4-BE49-F238E27FC236}">
                          <a16:creationId xmlns:a16="http://schemas.microsoft.com/office/drawing/2014/main" id="{72C07F78-7A74-B8D2-1918-E93888426CE7}"/>
                        </a:ext>
                      </a:extLst>
                    </p:cNvPr>
                    <p:cNvSpPr txBox="1">
                      <a:spLocks noRot="1" noChangeAspect="1" noMove="1" noResize="1" noEditPoints="1" noAdjustHandles="1" noChangeArrowheads="1" noChangeShapeType="1" noTextEdit="1"/>
                    </p:cNvSpPr>
                    <p:nvPr/>
                  </p:nvSpPr>
                  <p:spPr>
                    <a:xfrm>
                      <a:off x="2320571" y="4097417"/>
                      <a:ext cx="557140" cy="276999"/>
                    </a:xfrm>
                    <a:prstGeom prst="rect">
                      <a:avLst/>
                    </a:prstGeom>
                    <a:blipFill>
                      <a:blip r:embed="rId5"/>
                      <a:stretch>
                        <a:fillRect l="-10989" r="-9890" b="-6522"/>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DD3E32BD-0EDF-4D7B-DFB0-30C1AEFEFBFA}"/>
                  </a:ext>
                </a:extLst>
              </p:cNvPr>
              <p:cNvGrpSpPr/>
              <p:nvPr/>
            </p:nvGrpSpPr>
            <p:grpSpPr>
              <a:xfrm>
                <a:off x="3157210" y="4098461"/>
                <a:ext cx="557140" cy="1747286"/>
                <a:chOff x="2931205" y="4098461"/>
                <a:chExt cx="557140" cy="1747286"/>
              </a:xfrm>
            </p:grpSpPr>
            <mc:AlternateContent xmlns:mc="http://schemas.openxmlformats.org/markup-compatibility/2006" xmlns:a14="http://schemas.microsoft.com/office/drawing/2010/main">
              <mc:Choice Requires="a14">
                <p:graphicFrame>
                  <p:nvGraphicFramePr>
                    <p:cNvPr id="15" name="Content Placeholder 4">
                      <a:extLst>
                        <a:ext uri="{FF2B5EF4-FFF2-40B4-BE49-F238E27FC236}">
                          <a16:creationId xmlns:a16="http://schemas.microsoft.com/office/drawing/2014/main" id="{8A6C0814-7A9C-9AC5-45A3-7EB7C3CD5E25}"/>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5" name="Content Placeholder 4">
                      <a:extLst>
                        <a:ext uri="{FF2B5EF4-FFF2-40B4-BE49-F238E27FC236}">
                          <a16:creationId xmlns:a16="http://schemas.microsoft.com/office/drawing/2014/main" id="{8A6C0814-7A9C-9AC5-45A3-7EB7C3CD5E25}"/>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9308FDB-3363-80EA-DDA7-0316511C0F82}"/>
                        </a:ext>
                      </a:extLst>
                    </p:cNvPr>
                    <p:cNvSpPr txBox="1"/>
                    <p:nvPr/>
                  </p:nvSpPr>
                  <p:spPr>
                    <a:xfrm>
                      <a:off x="2931205" y="409846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27" name="TextBox 26">
                      <a:extLst>
                        <a:ext uri="{FF2B5EF4-FFF2-40B4-BE49-F238E27FC236}">
                          <a16:creationId xmlns:a16="http://schemas.microsoft.com/office/drawing/2014/main" id="{89308FDB-3363-80EA-DDA7-0316511C0F82}"/>
                        </a:ext>
                      </a:extLst>
                    </p:cNvPr>
                    <p:cNvSpPr txBox="1">
                      <a:spLocks noRot="1" noChangeAspect="1" noMove="1" noResize="1" noEditPoints="1" noAdjustHandles="1" noChangeArrowheads="1" noChangeShapeType="1" noTextEdit="1"/>
                    </p:cNvSpPr>
                    <p:nvPr/>
                  </p:nvSpPr>
                  <p:spPr>
                    <a:xfrm>
                      <a:off x="2931205" y="4098461"/>
                      <a:ext cx="557140" cy="276999"/>
                    </a:xfrm>
                    <a:prstGeom prst="rect">
                      <a:avLst/>
                    </a:prstGeom>
                    <a:blipFill>
                      <a:blip r:embed="rId6"/>
                      <a:stretch>
                        <a:fillRect l="-10989" r="-10989" b="-8889"/>
                      </a:stretch>
                    </a:blipFill>
                  </p:spPr>
                  <p:txBody>
                    <a:bodyPr/>
                    <a:lstStyle/>
                    <a:p>
                      <a:r>
                        <a:rPr lang="en-GB">
                          <a:noFill/>
                        </a:rPr>
                        <a:t> </a:t>
                      </a:r>
                    </a:p>
                  </p:txBody>
                </p:sp>
              </mc:Fallback>
            </mc:AlternateContent>
          </p:grpSp>
        </p:grpSp>
        <p:grpSp>
          <p:nvGrpSpPr>
            <p:cNvPr id="61" name="Group 60">
              <a:extLst>
                <a:ext uri="{FF2B5EF4-FFF2-40B4-BE49-F238E27FC236}">
                  <a16:creationId xmlns:a16="http://schemas.microsoft.com/office/drawing/2014/main" id="{F5091836-E894-5213-553E-A54FA1D40562}"/>
                </a:ext>
              </a:extLst>
            </p:cNvPr>
            <p:cNvGrpSpPr/>
            <p:nvPr/>
          </p:nvGrpSpPr>
          <p:grpSpPr>
            <a:xfrm>
              <a:off x="5297151" y="2089767"/>
              <a:ext cx="3126758" cy="1757205"/>
              <a:chOff x="5297151" y="2089767"/>
              <a:chExt cx="3126758" cy="1757205"/>
            </a:xfrm>
          </p:grpSpPr>
          <p:grpSp>
            <p:nvGrpSpPr>
              <p:cNvPr id="34" name="Group 33">
                <a:extLst>
                  <a:ext uri="{FF2B5EF4-FFF2-40B4-BE49-F238E27FC236}">
                    <a16:creationId xmlns:a16="http://schemas.microsoft.com/office/drawing/2014/main" id="{9897F36C-73C0-B2BF-3F51-4EF353B5E778}"/>
                  </a:ext>
                </a:extLst>
              </p:cNvPr>
              <p:cNvGrpSpPr/>
              <p:nvPr/>
            </p:nvGrpSpPr>
            <p:grpSpPr>
              <a:xfrm>
                <a:off x="5297151" y="2099094"/>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47" name="Content Placeholder 4">
                      <a:extLst>
                        <a:ext uri="{FF2B5EF4-FFF2-40B4-BE49-F238E27FC236}">
                          <a16:creationId xmlns:a16="http://schemas.microsoft.com/office/drawing/2014/main" id="{C84A0FBB-5018-C5F6-7AB2-52E0A1759612}"/>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(1)</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7" name="Content Placeholder 4">
                      <a:extLst>
                        <a:ext uri="{FF2B5EF4-FFF2-40B4-BE49-F238E27FC236}">
                          <a16:creationId xmlns:a16="http://schemas.microsoft.com/office/drawing/2014/main" id="{C84A0FBB-5018-C5F6-7AB2-52E0A1759612}"/>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7"/>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F0615ED-A05F-8990-07FA-C2CDC6D32AB3}"/>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48" name="TextBox 47">
                      <a:extLst>
                        <a:ext uri="{FF2B5EF4-FFF2-40B4-BE49-F238E27FC236}">
                          <a16:creationId xmlns:a16="http://schemas.microsoft.com/office/drawing/2014/main" id="{9F0615ED-A05F-8990-07FA-C2CDC6D32AB3}"/>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8"/>
                      <a:stretch>
                        <a:fillRect l="-10870" r="-9783" b="-6522"/>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ADE98A0A-8AC2-8291-ED50-D2E5027E1F66}"/>
                  </a:ext>
                </a:extLst>
              </p:cNvPr>
              <p:cNvGrpSpPr/>
              <p:nvPr/>
            </p:nvGrpSpPr>
            <p:grpSpPr>
              <a:xfrm>
                <a:off x="5919255" y="2100530"/>
                <a:ext cx="557140" cy="1746439"/>
                <a:chOff x="6000600" y="2100530"/>
                <a:chExt cx="557140" cy="1746439"/>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CCDF03B-A6AA-BD89-2DEF-3E08C97EBD85}"/>
                        </a:ext>
                      </a:extLst>
                    </p:cNvPr>
                    <p:cNvSpPr txBox="1"/>
                    <p:nvPr/>
                  </p:nvSpPr>
                  <p:spPr>
                    <a:xfrm>
                      <a:off x="6000600" y="210053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46" name="TextBox 45">
                      <a:extLst>
                        <a:ext uri="{FF2B5EF4-FFF2-40B4-BE49-F238E27FC236}">
                          <a16:creationId xmlns:a16="http://schemas.microsoft.com/office/drawing/2014/main" id="{7CCDF03B-A6AA-BD89-2DEF-3E08C97EBD85}"/>
                        </a:ext>
                      </a:extLst>
                    </p:cNvPr>
                    <p:cNvSpPr txBox="1">
                      <a:spLocks noRot="1" noChangeAspect="1" noMove="1" noResize="1" noEditPoints="1" noAdjustHandles="1" noChangeArrowheads="1" noChangeShapeType="1" noTextEdit="1"/>
                    </p:cNvSpPr>
                    <p:nvPr/>
                  </p:nvSpPr>
                  <p:spPr>
                    <a:xfrm>
                      <a:off x="6000600" y="2100530"/>
                      <a:ext cx="557140" cy="276999"/>
                    </a:xfrm>
                    <a:prstGeom prst="rect">
                      <a:avLst/>
                    </a:prstGeom>
                    <a:blipFill>
                      <a:blip r:embed="rId9"/>
                      <a:stretch>
                        <a:fillRect l="-10870" r="-9783"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9" name="Content Placeholder 4">
                      <a:extLst>
                        <a:ext uri="{FF2B5EF4-FFF2-40B4-BE49-F238E27FC236}">
                          <a16:creationId xmlns:a16="http://schemas.microsoft.com/office/drawing/2014/main" id="{4CF916E5-A091-40B5-C4A3-7B6BA998BFE4}"/>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(2)</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9" name="Content Placeholder 4">
                      <a:extLst>
                        <a:ext uri="{FF2B5EF4-FFF2-40B4-BE49-F238E27FC236}">
                          <a16:creationId xmlns:a16="http://schemas.microsoft.com/office/drawing/2014/main" id="{4CF916E5-A091-40B5-C4A3-7B6BA998BFE4}"/>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0"/>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4" name="Group 53">
                <a:extLst>
                  <a:ext uri="{FF2B5EF4-FFF2-40B4-BE49-F238E27FC236}">
                    <a16:creationId xmlns:a16="http://schemas.microsoft.com/office/drawing/2014/main" id="{40AD5A5D-1652-47A2-796C-636715DB2DE9}"/>
                  </a:ext>
                </a:extLst>
              </p:cNvPr>
              <p:cNvGrpSpPr/>
              <p:nvPr/>
            </p:nvGrpSpPr>
            <p:grpSpPr>
              <a:xfrm>
                <a:off x="6573148" y="2089767"/>
                <a:ext cx="557140" cy="1757205"/>
                <a:chOff x="6685348" y="2089767"/>
                <a:chExt cx="557140" cy="1757205"/>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E55D3F-F646-27C9-3455-3EC933867000}"/>
                        </a:ext>
                      </a:extLst>
                    </p:cNvPr>
                    <p:cNvSpPr txBox="1"/>
                    <p:nvPr/>
                  </p:nvSpPr>
                  <p:spPr>
                    <a:xfrm>
                      <a:off x="6685348" y="208976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44" name="TextBox 43">
                      <a:extLst>
                        <a:ext uri="{FF2B5EF4-FFF2-40B4-BE49-F238E27FC236}">
                          <a16:creationId xmlns:a16="http://schemas.microsoft.com/office/drawing/2014/main" id="{BEE55D3F-F646-27C9-3455-3EC933867000}"/>
                        </a:ext>
                      </a:extLst>
                    </p:cNvPr>
                    <p:cNvSpPr txBox="1">
                      <a:spLocks noRot="1" noChangeAspect="1" noMove="1" noResize="1" noEditPoints="1" noAdjustHandles="1" noChangeArrowheads="1" noChangeShapeType="1" noTextEdit="1"/>
                    </p:cNvSpPr>
                    <p:nvPr/>
                  </p:nvSpPr>
                  <p:spPr>
                    <a:xfrm>
                      <a:off x="6685348" y="2089767"/>
                      <a:ext cx="557140" cy="276999"/>
                    </a:xfrm>
                    <a:prstGeom prst="rect">
                      <a:avLst/>
                    </a:prstGeom>
                    <a:blipFill>
                      <a:blip r:embed="rId11"/>
                      <a:stretch>
                        <a:fillRect l="-10989" r="-9890" b="-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0" name="Content Placeholder 4">
                      <a:extLst>
                        <a:ext uri="{FF2B5EF4-FFF2-40B4-BE49-F238E27FC236}">
                          <a16:creationId xmlns:a16="http://schemas.microsoft.com/office/drawing/2014/main" id="{7BF3E5C2-15AB-1F0A-D004-69B2946F589B}"/>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(3)</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0" name="Content Placeholder 4">
                      <a:extLst>
                        <a:ext uri="{FF2B5EF4-FFF2-40B4-BE49-F238E27FC236}">
                          <a16:creationId xmlns:a16="http://schemas.microsoft.com/office/drawing/2014/main" id="{7BF3E5C2-15AB-1F0A-D004-69B2946F589B}"/>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2"/>
                                <a:stretch>
                                  <a:fillRect l="-1587" t="-2128" r="-6349"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5" name="Group 54">
                <a:extLst>
                  <a:ext uri="{FF2B5EF4-FFF2-40B4-BE49-F238E27FC236}">
                    <a16:creationId xmlns:a16="http://schemas.microsoft.com/office/drawing/2014/main" id="{65943A14-ABED-185F-B432-60F87B90C72E}"/>
                  </a:ext>
                </a:extLst>
              </p:cNvPr>
              <p:cNvGrpSpPr/>
              <p:nvPr/>
            </p:nvGrpSpPr>
            <p:grpSpPr>
              <a:xfrm>
                <a:off x="7213684" y="2099100"/>
                <a:ext cx="557140" cy="1745066"/>
                <a:chOff x="7410032" y="2099100"/>
                <a:chExt cx="557140" cy="1745066"/>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C1DF3B6-EFDF-AC62-4D84-FA3263EF8072}"/>
                        </a:ext>
                      </a:extLst>
                    </p:cNvPr>
                    <p:cNvSpPr txBox="1"/>
                    <p:nvPr/>
                  </p:nvSpPr>
                  <p:spPr>
                    <a:xfrm>
                      <a:off x="7410032" y="209910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42" name="TextBox 41">
                      <a:extLst>
                        <a:ext uri="{FF2B5EF4-FFF2-40B4-BE49-F238E27FC236}">
                          <a16:creationId xmlns:a16="http://schemas.microsoft.com/office/drawing/2014/main" id="{FC1DF3B6-EFDF-AC62-4D84-FA3263EF8072}"/>
                        </a:ext>
                      </a:extLst>
                    </p:cNvPr>
                    <p:cNvSpPr txBox="1">
                      <a:spLocks noRot="1" noChangeAspect="1" noMove="1" noResize="1" noEditPoints="1" noAdjustHandles="1" noChangeArrowheads="1" noChangeShapeType="1" noTextEdit="1"/>
                    </p:cNvSpPr>
                    <p:nvPr/>
                  </p:nvSpPr>
                  <p:spPr>
                    <a:xfrm>
                      <a:off x="7410032" y="2099100"/>
                      <a:ext cx="557140" cy="276999"/>
                    </a:xfrm>
                    <a:prstGeom prst="rect">
                      <a:avLst/>
                    </a:prstGeom>
                    <a:blipFill>
                      <a:blip r:embed="rId13"/>
                      <a:stretch>
                        <a:fillRect l="-10989" r="-9890"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1" name="Content Placeholder 4">
                      <a:extLst>
                        <a:ext uri="{FF2B5EF4-FFF2-40B4-BE49-F238E27FC236}">
                          <a16:creationId xmlns:a16="http://schemas.microsoft.com/office/drawing/2014/main" id="{B351DAA1-BE40-AD28-C620-44B05E305B9B}"/>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(4)</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1" name="Content Placeholder 4">
                      <a:extLst>
                        <a:ext uri="{FF2B5EF4-FFF2-40B4-BE49-F238E27FC236}">
                          <a16:creationId xmlns:a16="http://schemas.microsoft.com/office/drawing/2014/main" id="{B351DAA1-BE40-AD28-C620-44B05E305B9B}"/>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4"/>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6" name="Group 55">
                <a:extLst>
                  <a:ext uri="{FF2B5EF4-FFF2-40B4-BE49-F238E27FC236}">
                    <a16:creationId xmlns:a16="http://schemas.microsoft.com/office/drawing/2014/main" id="{3FE649F4-8026-D4AC-87C1-F2A687FD30FC}"/>
                  </a:ext>
                </a:extLst>
              </p:cNvPr>
              <p:cNvGrpSpPr/>
              <p:nvPr/>
            </p:nvGrpSpPr>
            <p:grpSpPr>
              <a:xfrm>
                <a:off x="7866769" y="2100144"/>
                <a:ext cx="557140" cy="1746825"/>
                <a:chOff x="8091165" y="2100144"/>
                <a:chExt cx="557140" cy="1746825"/>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BC8571C-E40F-ACDE-A49D-B4A41EEA4565}"/>
                        </a:ext>
                      </a:extLst>
                    </p:cNvPr>
                    <p:cNvSpPr txBox="1"/>
                    <p:nvPr/>
                  </p:nvSpPr>
                  <p:spPr>
                    <a:xfrm>
                      <a:off x="8091165" y="210014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40" name="TextBox 39">
                      <a:extLst>
                        <a:ext uri="{FF2B5EF4-FFF2-40B4-BE49-F238E27FC236}">
                          <a16:creationId xmlns:a16="http://schemas.microsoft.com/office/drawing/2014/main" id="{2BC8571C-E40F-ACDE-A49D-B4A41EEA4565}"/>
                        </a:ext>
                      </a:extLst>
                    </p:cNvPr>
                    <p:cNvSpPr txBox="1">
                      <a:spLocks noRot="1" noChangeAspect="1" noMove="1" noResize="1" noEditPoints="1" noAdjustHandles="1" noChangeArrowheads="1" noChangeShapeType="1" noTextEdit="1"/>
                    </p:cNvSpPr>
                    <p:nvPr/>
                  </p:nvSpPr>
                  <p:spPr>
                    <a:xfrm>
                      <a:off x="8091165" y="2100144"/>
                      <a:ext cx="557140" cy="276999"/>
                    </a:xfrm>
                    <a:prstGeom prst="rect">
                      <a:avLst/>
                    </a:prstGeom>
                    <a:blipFill>
                      <a:blip r:embed="rId15"/>
                      <a:stretch>
                        <a:fillRect l="-10989" r="-10989"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2" name="Content Placeholder 4">
                      <a:extLst>
                        <a:ext uri="{FF2B5EF4-FFF2-40B4-BE49-F238E27FC236}">
                          <a16:creationId xmlns:a16="http://schemas.microsoft.com/office/drawing/2014/main" id="{E469FA81-B71B-110A-FF9A-777C23852E00}"/>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(5)</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2" name="Content Placeholder 4">
                      <a:extLst>
                        <a:ext uri="{FF2B5EF4-FFF2-40B4-BE49-F238E27FC236}">
                          <a16:creationId xmlns:a16="http://schemas.microsoft.com/office/drawing/2014/main" id="{E469FA81-B71B-110A-FF9A-777C23852E00}"/>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6"/>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grpSp>
      <p:sp>
        <p:nvSpPr>
          <p:cNvPr id="68" name="TextBox 67">
            <a:extLst>
              <a:ext uri="{FF2B5EF4-FFF2-40B4-BE49-F238E27FC236}">
                <a16:creationId xmlns:a16="http://schemas.microsoft.com/office/drawing/2014/main" id="{1434F77F-1D68-5805-C307-D401C53D137C}"/>
              </a:ext>
            </a:extLst>
          </p:cNvPr>
          <p:cNvSpPr txBox="1"/>
          <p:nvPr/>
        </p:nvSpPr>
        <p:spPr>
          <a:xfrm>
            <a:off x="5638800" y="2973294"/>
            <a:ext cx="65" cy="276999"/>
          </a:xfrm>
          <a:prstGeom prst="rect">
            <a:avLst/>
          </a:prstGeom>
          <a:noFill/>
        </p:spPr>
        <p:txBody>
          <a:bodyPr wrap="none" lIns="0" tIns="0" rIns="0" bIns="0" rtlCol="0">
            <a:spAutoFit/>
          </a:bodyPr>
          <a:lstStyle/>
          <a:p>
            <a:endParaRPr lang="en-GB" dirty="0"/>
          </a:p>
        </p:txBody>
      </p:sp>
      <p:grpSp>
        <p:nvGrpSpPr>
          <p:cNvPr id="8" name="Group 7">
            <a:extLst>
              <a:ext uri="{FF2B5EF4-FFF2-40B4-BE49-F238E27FC236}">
                <a16:creationId xmlns:a16="http://schemas.microsoft.com/office/drawing/2014/main" id="{4CD7D611-5E93-158D-DCD5-624F00CCE6B3}"/>
              </a:ext>
            </a:extLst>
          </p:cNvPr>
          <p:cNvGrpSpPr/>
          <p:nvPr/>
        </p:nvGrpSpPr>
        <p:grpSpPr>
          <a:xfrm>
            <a:off x="2531057" y="3586204"/>
            <a:ext cx="4499130" cy="2478191"/>
            <a:chOff x="2531057" y="3586204"/>
            <a:chExt cx="4499130" cy="2478191"/>
          </a:xfrm>
        </p:grpSpPr>
        <p:grpSp>
          <p:nvGrpSpPr>
            <p:cNvPr id="75" name="Group 74">
              <a:extLst>
                <a:ext uri="{FF2B5EF4-FFF2-40B4-BE49-F238E27FC236}">
                  <a16:creationId xmlns:a16="http://schemas.microsoft.com/office/drawing/2014/main" id="{CA0F4BA2-AA4F-E264-3AEA-2E9F91F32DB4}"/>
                </a:ext>
              </a:extLst>
            </p:cNvPr>
            <p:cNvGrpSpPr/>
            <p:nvPr/>
          </p:nvGrpSpPr>
          <p:grpSpPr>
            <a:xfrm>
              <a:off x="4087327" y="4311831"/>
              <a:ext cx="2701956" cy="1752564"/>
              <a:chOff x="2089501" y="4392685"/>
              <a:chExt cx="2768066" cy="1731382"/>
            </a:xfrm>
          </p:grpSpPr>
          <p:grpSp>
            <p:nvGrpSpPr>
              <p:cNvPr id="64" name="Group 63">
                <a:extLst>
                  <a:ext uri="{FF2B5EF4-FFF2-40B4-BE49-F238E27FC236}">
                    <a16:creationId xmlns:a16="http://schemas.microsoft.com/office/drawing/2014/main" id="{13BF1373-0DD1-9824-73E8-1A936CF2F812}"/>
                  </a:ext>
                </a:extLst>
              </p:cNvPr>
              <p:cNvGrpSpPr/>
              <p:nvPr/>
            </p:nvGrpSpPr>
            <p:grpSpPr>
              <a:xfrm>
                <a:off x="2089501" y="4394521"/>
                <a:ext cx="557140" cy="1729546"/>
                <a:chOff x="877546" y="4511479"/>
                <a:chExt cx="557140" cy="1729546"/>
              </a:xfrm>
            </p:grpSpPr>
            <mc:AlternateContent xmlns:mc="http://schemas.openxmlformats.org/markup-compatibility/2006" xmlns:a14="http://schemas.microsoft.com/office/drawing/2010/main">
              <mc:Choice Requires="a14">
                <p:graphicFrame>
                  <p:nvGraphicFramePr>
                    <p:cNvPr id="62" name="Content Placeholder 4">
                      <a:extLst>
                        <a:ext uri="{FF2B5EF4-FFF2-40B4-BE49-F238E27FC236}">
                          <a16:creationId xmlns:a16="http://schemas.microsoft.com/office/drawing/2014/main" id="{5AFD5208-0CE5-72A9-D1D0-E8C7D18D58E2}"/>
                        </a:ext>
                      </a:extLst>
                    </p:cNvPr>
                    <p:cNvGraphicFramePr>
                      <a:graphicFrameLocks/>
                    </p:cNvGraphicFramePr>
                    <p:nvPr/>
                  </p:nvGraphicFramePr>
                  <p:xfrm>
                    <a:off x="949953" y="4818909"/>
                    <a:ext cx="422415"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2" name="Content Placeholder 4">
                      <a:extLst>
                        <a:ext uri="{FF2B5EF4-FFF2-40B4-BE49-F238E27FC236}">
                          <a16:creationId xmlns:a16="http://schemas.microsoft.com/office/drawing/2014/main" id="{5AFD5208-0CE5-72A9-D1D0-E8C7D18D58E2}"/>
                        </a:ext>
                      </a:extLst>
                    </p:cNvPr>
                    <p:cNvGraphicFramePr>
                      <a:graphicFrameLocks/>
                    </p:cNvGraphicFramePr>
                    <p:nvPr>
                      <p:extLst>
                        <p:ext uri="{D42A27DB-BD31-4B8C-83A1-F6EECF244321}">
                          <p14:modId xmlns:p14="http://schemas.microsoft.com/office/powerpoint/2010/main" val="1555207113"/>
                        </p:ext>
                      </p:extLst>
                    </p:nvPr>
                  </p:nvGraphicFramePr>
                  <p:xfrm>
                    <a:off x="949953" y="4818909"/>
                    <a:ext cx="422415"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0EAD2FB-25CF-2CEC-AAFF-19E169411313}"/>
                        </a:ext>
                      </a:extLst>
                    </p:cNvPr>
                    <p:cNvSpPr txBox="1"/>
                    <p:nvPr/>
                  </p:nvSpPr>
                  <p:spPr>
                    <a:xfrm>
                      <a:off x="877546" y="4511479"/>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63" name="TextBox 62">
                      <a:extLst>
                        <a:ext uri="{FF2B5EF4-FFF2-40B4-BE49-F238E27FC236}">
                          <a16:creationId xmlns:a16="http://schemas.microsoft.com/office/drawing/2014/main" id="{10EAD2FB-25CF-2CEC-AAFF-19E169411313}"/>
                        </a:ext>
                      </a:extLst>
                    </p:cNvPr>
                    <p:cNvSpPr txBox="1">
                      <a:spLocks noRot="1" noChangeAspect="1" noMove="1" noResize="1" noEditPoints="1" noAdjustHandles="1" noChangeArrowheads="1" noChangeShapeType="1" noTextEdit="1"/>
                    </p:cNvSpPr>
                    <p:nvPr/>
                  </p:nvSpPr>
                  <p:spPr>
                    <a:xfrm>
                      <a:off x="877546" y="4511479"/>
                      <a:ext cx="557140" cy="276999"/>
                    </a:xfrm>
                    <a:prstGeom prst="rect">
                      <a:avLst/>
                    </a:prstGeom>
                    <a:blipFill>
                      <a:blip r:embed="rId17"/>
                      <a:stretch>
                        <a:fillRect l="-12222" r="-11111" b="-6522"/>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2CD3FA13-D0DD-B5CD-06ED-A8B7D4AE407D}"/>
                  </a:ext>
                </a:extLst>
              </p:cNvPr>
              <p:cNvGrpSpPr/>
              <p:nvPr/>
            </p:nvGrpSpPr>
            <p:grpSpPr>
              <a:xfrm>
                <a:off x="3004276" y="4393961"/>
                <a:ext cx="557140" cy="1729546"/>
                <a:chOff x="2972157" y="4393961"/>
                <a:chExt cx="557140" cy="1729546"/>
              </a:xfrm>
            </p:grpSpPr>
            <mc:AlternateContent xmlns:mc="http://schemas.openxmlformats.org/markup-compatibility/2006" xmlns:a14="http://schemas.microsoft.com/office/drawing/2010/main">
              <mc:Choice Requires="a14">
                <p:graphicFrame>
                  <p:nvGraphicFramePr>
                    <p:cNvPr id="65" name="Content Placeholder 4">
                      <a:extLst>
                        <a:ext uri="{FF2B5EF4-FFF2-40B4-BE49-F238E27FC236}">
                          <a16:creationId xmlns:a16="http://schemas.microsoft.com/office/drawing/2014/main" id="{E4E42D30-40D4-E297-AE8D-4AD031C0B6DA}"/>
                        </a:ext>
                      </a:extLst>
                    </p:cNvPr>
                    <p:cNvGraphicFramePr>
                      <a:graphicFrameLocks/>
                    </p:cNvGraphicFramePr>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(2)</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65" name="Content Placeholder 4">
                      <a:extLst>
                        <a:ext uri="{FF2B5EF4-FFF2-40B4-BE49-F238E27FC236}">
                          <a16:creationId xmlns:a16="http://schemas.microsoft.com/office/drawing/2014/main" id="{E4E42D30-40D4-E297-AE8D-4AD031C0B6DA}"/>
                        </a:ext>
                      </a:extLst>
                    </p:cNvPr>
                    <p:cNvGraphicFramePr>
                      <a:graphicFrameLocks/>
                    </p:cNvGraphicFramePr>
                    <p:nvPr>
                      <p:extLst>
                        <p:ext uri="{D42A27DB-BD31-4B8C-83A1-F6EECF244321}">
                          <p14:modId xmlns:p14="http://schemas.microsoft.com/office/powerpoint/2010/main" val="1436228409"/>
                        </p:ext>
                      </p:extLst>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8"/>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72A89940-4E31-74FB-A6F0-9DDF94B98632}"/>
                        </a:ext>
                      </a:extLst>
                    </p:cNvPr>
                    <p:cNvSpPr txBox="1"/>
                    <p:nvPr/>
                  </p:nvSpPr>
                  <p:spPr>
                    <a:xfrm>
                      <a:off x="2972157" y="439396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66" name="TextBox 65">
                      <a:extLst>
                        <a:ext uri="{FF2B5EF4-FFF2-40B4-BE49-F238E27FC236}">
                          <a16:creationId xmlns:a16="http://schemas.microsoft.com/office/drawing/2014/main" id="{72A89940-4E31-74FB-A6F0-9DDF94B98632}"/>
                        </a:ext>
                      </a:extLst>
                    </p:cNvPr>
                    <p:cNvSpPr txBox="1">
                      <a:spLocks noRot="1" noChangeAspect="1" noMove="1" noResize="1" noEditPoints="1" noAdjustHandles="1" noChangeArrowheads="1" noChangeShapeType="1" noTextEdit="1"/>
                    </p:cNvSpPr>
                    <p:nvPr/>
                  </p:nvSpPr>
                  <p:spPr>
                    <a:xfrm>
                      <a:off x="2972157" y="4393961"/>
                      <a:ext cx="557140" cy="276999"/>
                    </a:xfrm>
                    <a:prstGeom prst="rect">
                      <a:avLst/>
                    </a:prstGeom>
                    <a:blipFill>
                      <a:blip r:embed="rId19"/>
                      <a:stretch>
                        <a:fillRect l="-12360" r="-11236" b="-6522"/>
                      </a:stretch>
                    </a:blipFill>
                  </p:spPr>
                  <p:txBody>
                    <a:bodyPr/>
                    <a:lstStyle/>
                    <a:p>
                      <a:r>
                        <a:rPr lang="en-GB">
                          <a:noFill/>
                        </a:rPr>
                        <a:t> </a:t>
                      </a:r>
                    </a:p>
                  </p:txBody>
                </p:sp>
              </mc:Fallback>
            </mc:AlternateContent>
          </p:grpSp>
          <p:sp>
            <p:nvSpPr>
              <p:cNvPr id="69" name="TextBox 68">
                <a:extLst>
                  <a:ext uri="{FF2B5EF4-FFF2-40B4-BE49-F238E27FC236}">
                    <a16:creationId xmlns:a16="http://schemas.microsoft.com/office/drawing/2014/main" id="{A1000CD4-E6C4-8A2A-145B-963E8207F905}"/>
                  </a:ext>
                </a:extLst>
              </p:cNvPr>
              <p:cNvSpPr txBox="1"/>
              <p:nvPr/>
            </p:nvSpPr>
            <p:spPr>
              <a:xfrm>
                <a:off x="2617219" y="5019245"/>
                <a:ext cx="412328" cy="830997"/>
              </a:xfrm>
              <a:prstGeom prst="rect">
                <a:avLst/>
              </a:prstGeom>
              <a:noFill/>
            </p:spPr>
            <p:txBody>
              <a:bodyPr wrap="square" rtlCol="0">
                <a:spAutoFit/>
              </a:bodyPr>
              <a:lstStyle/>
              <a:p>
                <a:pPr algn="ctr"/>
                <a:r>
                  <a:rPr lang="en-GB" sz="4800" dirty="0"/>
                  <a:t>+</a:t>
                </a:r>
              </a:p>
            </p:txBody>
          </p:sp>
          <p:grpSp>
            <p:nvGrpSpPr>
              <p:cNvPr id="70" name="Group 69">
                <a:extLst>
                  <a:ext uri="{FF2B5EF4-FFF2-40B4-BE49-F238E27FC236}">
                    <a16:creationId xmlns:a16="http://schemas.microsoft.com/office/drawing/2014/main" id="{C6A0090A-2CDC-2CB4-D3F3-D11D84B880CF}"/>
                  </a:ext>
                </a:extLst>
              </p:cNvPr>
              <p:cNvGrpSpPr/>
              <p:nvPr/>
            </p:nvGrpSpPr>
            <p:grpSpPr>
              <a:xfrm>
                <a:off x="3971469" y="4392685"/>
                <a:ext cx="886098" cy="1729546"/>
                <a:chOff x="949952" y="4511479"/>
                <a:chExt cx="794975" cy="1729546"/>
              </a:xfrm>
            </p:grpSpPr>
            <mc:AlternateContent xmlns:mc="http://schemas.openxmlformats.org/markup-compatibility/2006" xmlns:a14="http://schemas.microsoft.com/office/drawing/2010/main">
              <mc:Choice Requires="a14">
                <p:graphicFrame>
                  <p:nvGraphicFramePr>
                    <p:cNvPr id="71" name="Content Placeholder 4">
                      <a:extLst>
                        <a:ext uri="{FF2B5EF4-FFF2-40B4-BE49-F238E27FC236}">
                          <a16:creationId xmlns:a16="http://schemas.microsoft.com/office/drawing/2014/main" id="{2E48E9B8-BDC2-086D-EB60-C45371D50837}"/>
                        </a:ext>
                      </a:extLst>
                    </p:cNvPr>
                    <p:cNvGraphicFramePr>
                      <a:graphicFrameLocks/>
                    </p:cNvGraphicFramePr>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cat @ </a:t>
                                </a:r>
                                <a:r>
                                  <a:rPr lang="en-GB" sz="1200" dirty="0" err="1"/>
                                  <a:t>i</a:t>
                                </a:r>
                                <a:r>
                                  <a:rPr lang="en-GB" sz="1200" dirty="0"/>
                                  <a:t>=2</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Choice>
              <mc:Fallback xmlns="">
                <p:graphicFrame>
                  <p:nvGraphicFramePr>
                    <p:cNvPr id="71" name="Content Placeholder 4">
                      <a:extLst>
                        <a:ext uri="{FF2B5EF4-FFF2-40B4-BE49-F238E27FC236}">
                          <a16:creationId xmlns:a16="http://schemas.microsoft.com/office/drawing/2014/main" id="{2E48E9B8-BDC2-086D-EB60-C45371D50837}"/>
                        </a:ext>
                      </a:extLst>
                    </p:cNvPr>
                    <p:cNvGraphicFramePr>
                      <a:graphicFrameLocks/>
                    </p:cNvGraphicFramePr>
                    <p:nvPr>
                      <p:extLst>
                        <p:ext uri="{D42A27DB-BD31-4B8C-83A1-F6EECF244321}">
                          <p14:modId xmlns:p14="http://schemas.microsoft.com/office/powerpoint/2010/main" val="1418455993"/>
                        </p:ext>
                      </p:extLst>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cat @ </a:t>
                                </a:r>
                                <a:r>
                                  <a:rPr lang="en-GB" sz="1200" dirty="0" err="1"/>
                                  <a:t>i</a:t>
                                </a:r>
                                <a:r>
                                  <a:rPr lang="en-GB" sz="1200" dirty="0"/>
                                  <a:t>=2</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D1EEBAB-E35E-6E22-4DDE-102C4DDBCDFC}"/>
                        </a:ext>
                      </a:extLst>
                    </p:cNvPr>
                    <p:cNvSpPr txBox="1"/>
                    <p:nvPr/>
                  </p:nvSpPr>
                  <p:spPr>
                    <a:xfrm>
                      <a:off x="1055455" y="4511479"/>
                      <a:ext cx="499846"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72" name="TextBox 71">
                      <a:extLst>
                        <a:ext uri="{FF2B5EF4-FFF2-40B4-BE49-F238E27FC236}">
                          <a16:creationId xmlns:a16="http://schemas.microsoft.com/office/drawing/2014/main" id="{3D1EEBAB-E35E-6E22-4DDE-102C4DDBCDFC}"/>
                        </a:ext>
                      </a:extLst>
                    </p:cNvPr>
                    <p:cNvSpPr txBox="1">
                      <a:spLocks noRot="1" noChangeAspect="1" noMove="1" noResize="1" noEditPoints="1" noAdjustHandles="1" noChangeArrowheads="1" noChangeShapeType="1" noTextEdit="1"/>
                    </p:cNvSpPr>
                    <p:nvPr/>
                  </p:nvSpPr>
                  <p:spPr>
                    <a:xfrm>
                      <a:off x="1055455" y="4511479"/>
                      <a:ext cx="499846" cy="276999"/>
                    </a:xfrm>
                    <a:prstGeom prst="rect">
                      <a:avLst/>
                    </a:prstGeom>
                    <a:blipFill>
                      <a:blip r:embed="rId20"/>
                      <a:stretch>
                        <a:fillRect l="-12360" r="-11236" b="-6522"/>
                      </a:stretch>
                    </a:blipFill>
                  </p:spPr>
                  <p:txBody>
                    <a:bodyPr/>
                    <a:lstStyle/>
                    <a:p>
                      <a:r>
                        <a:rPr lang="en-GB">
                          <a:noFill/>
                        </a:rPr>
                        <a:t> </a:t>
                      </a:r>
                    </a:p>
                  </p:txBody>
                </p:sp>
              </mc:Fallback>
            </mc:AlternateContent>
          </p:grpSp>
          <p:sp>
            <p:nvSpPr>
              <p:cNvPr id="73" name="TextBox 72">
                <a:extLst>
                  <a:ext uri="{FF2B5EF4-FFF2-40B4-BE49-F238E27FC236}">
                    <a16:creationId xmlns:a16="http://schemas.microsoft.com/office/drawing/2014/main" id="{F6FD63AD-E900-9C9C-5B46-4CE93605326C}"/>
                  </a:ext>
                </a:extLst>
              </p:cNvPr>
              <p:cNvSpPr txBox="1"/>
              <p:nvPr/>
            </p:nvSpPr>
            <p:spPr>
              <a:xfrm>
                <a:off x="3515095" y="5006395"/>
                <a:ext cx="412328" cy="830997"/>
              </a:xfrm>
              <a:prstGeom prst="rect">
                <a:avLst/>
              </a:prstGeom>
              <a:noFill/>
            </p:spPr>
            <p:txBody>
              <a:bodyPr wrap="square" rtlCol="0">
                <a:spAutoFit/>
              </a:bodyPr>
              <a:lstStyle/>
              <a:p>
                <a:pPr algn="ctr"/>
                <a:r>
                  <a:rPr lang="en-GB" sz="4800" dirty="0"/>
                  <a:t>=</a:t>
                </a:r>
              </a:p>
            </p:txBody>
          </p:sp>
        </p:grpSp>
        <p:cxnSp>
          <p:nvCxnSpPr>
            <p:cNvPr id="77" name="Straight Arrow Connector 76">
              <a:extLst>
                <a:ext uri="{FF2B5EF4-FFF2-40B4-BE49-F238E27FC236}">
                  <a16:creationId xmlns:a16="http://schemas.microsoft.com/office/drawing/2014/main" id="{BD96882A-5D73-9EAF-9F56-5073C4F3B2C9}"/>
                </a:ext>
              </a:extLst>
            </p:cNvPr>
            <p:cNvCxnSpPr>
              <a:cxnSpLocks/>
              <a:stCxn id="9" idx="2"/>
              <a:endCxn id="63" idx="1"/>
            </p:cNvCxnSpPr>
            <p:nvPr/>
          </p:nvCxnSpPr>
          <p:spPr>
            <a:xfrm>
              <a:off x="2531057" y="3586204"/>
              <a:ext cx="1556270" cy="867679"/>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332831A7-D2C9-2349-C089-9AC7677EA498}"/>
                </a:ext>
              </a:extLst>
            </p:cNvPr>
            <p:cNvCxnSpPr>
              <a:cxnSpLocks/>
              <a:stCxn id="49" idx="2"/>
              <a:endCxn id="66" idx="3"/>
            </p:cNvCxnSpPr>
            <p:nvPr/>
          </p:nvCxnSpPr>
          <p:spPr>
            <a:xfrm flipH="1">
              <a:off x="5524088" y="3589983"/>
              <a:ext cx="1506099" cy="863334"/>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6570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8C26-635A-71B2-D34A-28CD5AC7B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E07A8-6B41-E462-1577-EE6E41246DF9}"/>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08280A71-4974-2446-8C3B-1FAAC0DD7CF1}"/>
              </a:ext>
            </a:extLst>
          </p:cNvPr>
          <p:cNvSpPr>
            <a:spLocks noGrp="1"/>
          </p:cNvSpPr>
          <p:nvPr>
            <p:ph type="sldNum" sz="quarter" idx="12"/>
          </p:nvPr>
        </p:nvSpPr>
        <p:spPr/>
        <p:txBody>
          <a:bodyPr/>
          <a:lstStyle/>
          <a:p>
            <a:fld id="{13DE89AE-BBCC-45F3-BDAA-E98C74995322}" type="slidenum">
              <a:rPr lang="en-GB" smtClean="0"/>
              <a:t>45</a:t>
            </a:fld>
            <a:endParaRPr lang="en-GB"/>
          </a:p>
        </p:txBody>
      </p:sp>
      <p:sp>
        <p:nvSpPr>
          <p:cNvPr id="7" name="TextBox 6">
            <a:extLst>
              <a:ext uri="{FF2B5EF4-FFF2-40B4-BE49-F238E27FC236}">
                <a16:creationId xmlns:a16="http://schemas.microsoft.com/office/drawing/2014/main" id="{C943B4B8-1355-B766-6377-E0C5A2E36102}"/>
              </a:ext>
            </a:extLst>
          </p:cNvPr>
          <p:cNvSpPr txBox="1"/>
          <p:nvPr/>
        </p:nvSpPr>
        <p:spPr>
          <a:xfrm>
            <a:off x="909204" y="1241714"/>
            <a:ext cx="8993331"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a:t>We solve by adding position dependent vectors to the input</a:t>
            </a:r>
          </a:p>
        </p:txBody>
      </p:sp>
      <p:grpSp>
        <p:nvGrpSpPr>
          <p:cNvPr id="74" name="Group 73">
            <a:extLst>
              <a:ext uri="{FF2B5EF4-FFF2-40B4-BE49-F238E27FC236}">
                <a16:creationId xmlns:a16="http://schemas.microsoft.com/office/drawing/2014/main" id="{BC7EA2D8-DF2E-7F73-F2B0-AB857830DCA6}"/>
              </a:ext>
            </a:extLst>
          </p:cNvPr>
          <p:cNvGrpSpPr/>
          <p:nvPr/>
        </p:nvGrpSpPr>
        <p:grpSpPr>
          <a:xfrm>
            <a:off x="1549901" y="1828024"/>
            <a:ext cx="7698763" cy="1761962"/>
            <a:chOff x="725146" y="2085010"/>
            <a:chExt cx="7698763" cy="1761962"/>
          </a:xfrm>
        </p:grpSpPr>
        <p:grpSp>
          <p:nvGrpSpPr>
            <p:cNvPr id="32" name="Group 31">
              <a:extLst>
                <a:ext uri="{FF2B5EF4-FFF2-40B4-BE49-F238E27FC236}">
                  <a16:creationId xmlns:a16="http://schemas.microsoft.com/office/drawing/2014/main" id="{E21EBB3A-4B05-C401-7243-A6ABB60ADBC1}"/>
                </a:ext>
              </a:extLst>
            </p:cNvPr>
            <p:cNvGrpSpPr/>
            <p:nvPr/>
          </p:nvGrpSpPr>
          <p:grpSpPr>
            <a:xfrm>
              <a:off x="725146" y="2085010"/>
              <a:ext cx="3351154" cy="1758349"/>
              <a:chOff x="363196" y="4088084"/>
              <a:chExt cx="3351154" cy="1758349"/>
            </a:xfrm>
          </p:grpSpPr>
          <p:grpSp>
            <p:nvGrpSpPr>
              <p:cNvPr id="21" name="Group 20">
                <a:extLst>
                  <a:ext uri="{FF2B5EF4-FFF2-40B4-BE49-F238E27FC236}">
                    <a16:creationId xmlns:a16="http://schemas.microsoft.com/office/drawing/2014/main" id="{BA2479FE-6FFC-C041-47BE-1D4591B352F6}"/>
                  </a:ext>
                </a:extLst>
              </p:cNvPr>
              <p:cNvGrpSpPr/>
              <p:nvPr/>
            </p:nvGrpSpPr>
            <p:grpSpPr>
              <a:xfrm>
                <a:off x="363196" y="4097411"/>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78BF9578-4255-0473-1C4D-A1FF10592EBD}"/>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 name="Content Placeholder 4">
                      <a:extLst>
                        <a:ext uri="{FF2B5EF4-FFF2-40B4-BE49-F238E27FC236}">
                          <a16:creationId xmlns:a16="http://schemas.microsoft.com/office/drawing/2014/main" id="{78BF9578-4255-0473-1C4D-A1FF10592EBD}"/>
                        </a:ext>
                      </a:extLst>
                    </p:cNvPr>
                    <p:cNvGraphicFramePr>
                      <a:graphicFrameLocks/>
                    </p:cNvGraphicFramePr>
                    <p:nvPr/>
                  </p:nvGraphicFramePr>
                  <p:xfrm>
                    <a:off x="842001" y="4404841"/>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E43DFC2-87E2-495D-FA75-81F9A2283D14}"/>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16" name="TextBox 15">
                      <a:extLst>
                        <a:ext uri="{FF2B5EF4-FFF2-40B4-BE49-F238E27FC236}">
                          <a16:creationId xmlns:a16="http://schemas.microsoft.com/office/drawing/2014/main" id="{8E43DFC2-87E2-495D-FA75-81F9A2283D14}"/>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3"/>
                      <a:stretch>
                        <a:fillRect l="-10870" r="-9783" b="-6522"/>
                      </a:stretch>
                    </a:blipFill>
                  </p:spPr>
                  <p:txBody>
                    <a:bodyPr/>
                    <a:lstStyle/>
                    <a:p>
                      <a:r>
                        <a:rPr lang="en-GB">
                          <a:noFill/>
                        </a:rPr>
                        <a:t> </a:t>
                      </a:r>
                    </a:p>
                  </p:txBody>
                </p:sp>
              </mc:Fallback>
            </mc:AlternateContent>
          </p:grpSp>
          <p:grpSp>
            <p:nvGrpSpPr>
              <p:cNvPr id="22" name="Group 21">
                <a:extLst>
                  <a:ext uri="{FF2B5EF4-FFF2-40B4-BE49-F238E27FC236}">
                    <a16:creationId xmlns:a16="http://schemas.microsoft.com/office/drawing/2014/main" id="{2DE361A9-5412-C615-3D96-2503493F9AE0}"/>
                  </a:ext>
                </a:extLst>
              </p:cNvPr>
              <p:cNvGrpSpPr/>
              <p:nvPr/>
            </p:nvGrpSpPr>
            <p:grpSpPr>
              <a:xfrm>
                <a:off x="1066645" y="4098847"/>
                <a:ext cx="557140" cy="1747417"/>
                <a:chOff x="1311315" y="4098847"/>
                <a:chExt cx="557140" cy="1747417"/>
              </a:xfrm>
            </p:grpSpPr>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E965FDEC-F35F-09CA-B2AF-8C7F5ABDA190}"/>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9" name="Content Placeholder 4">
                      <a:extLst>
                        <a:ext uri="{FF2B5EF4-FFF2-40B4-BE49-F238E27FC236}">
                          <a16:creationId xmlns:a16="http://schemas.microsoft.com/office/drawing/2014/main" id="{E965FDEC-F35F-09CA-B2AF-8C7F5ABDA190}"/>
                        </a:ext>
                      </a:extLst>
                    </p:cNvPr>
                    <p:cNvGraphicFramePr>
                      <a:graphicFrameLocks/>
                    </p:cNvGraphicFramePr>
                    <p:nvPr/>
                  </p:nvGraphicFramePr>
                  <p:xfrm>
                    <a:off x="1382859" y="4406749"/>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cat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2916959-4D64-8A43-4E95-B676E47FDEEB}"/>
                        </a:ext>
                      </a:extLst>
                    </p:cNvPr>
                    <p:cNvSpPr txBox="1"/>
                    <p:nvPr/>
                  </p:nvSpPr>
                  <p:spPr>
                    <a:xfrm>
                      <a:off x="1311315" y="409884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17" name="TextBox 16">
                      <a:extLst>
                        <a:ext uri="{FF2B5EF4-FFF2-40B4-BE49-F238E27FC236}">
                          <a16:creationId xmlns:a16="http://schemas.microsoft.com/office/drawing/2014/main" id="{E2916959-4D64-8A43-4E95-B676E47FDEEB}"/>
                        </a:ext>
                      </a:extLst>
                    </p:cNvPr>
                    <p:cNvSpPr txBox="1">
                      <a:spLocks noRot="1" noChangeAspect="1" noMove="1" noResize="1" noEditPoints="1" noAdjustHandles="1" noChangeArrowheads="1" noChangeShapeType="1" noTextEdit="1"/>
                    </p:cNvSpPr>
                    <p:nvPr/>
                  </p:nvSpPr>
                  <p:spPr>
                    <a:xfrm>
                      <a:off x="1311315" y="4098847"/>
                      <a:ext cx="557140" cy="276999"/>
                    </a:xfrm>
                    <a:prstGeom prst="rect">
                      <a:avLst/>
                    </a:prstGeom>
                    <a:blipFill>
                      <a:blip r:embed="rId4"/>
                      <a:stretch>
                        <a:fillRect l="-10989" r="-9890" b="-8889"/>
                      </a:stretch>
                    </a:blipFill>
                  </p:spPr>
                  <p:txBody>
                    <a:bodyPr/>
                    <a:lstStyle/>
                    <a:p>
                      <a:r>
                        <a:rPr lang="en-GB">
                          <a:noFill/>
                        </a:rPr>
                        <a:t> </a:t>
                      </a:r>
                    </a:p>
                  </p:txBody>
                </p:sp>
              </mc:Fallback>
            </mc:AlternateContent>
          </p:grpSp>
          <p:grpSp>
            <p:nvGrpSpPr>
              <p:cNvPr id="24" name="Group 23">
                <a:extLst>
                  <a:ext uri="{FF2B5EF4-FFF2-40B4-BE49-F238E27FC236}">
                    <a16:creationId xmlns:a16="http://schemas.microsoft.com/office/drawing/2014/main" id="{C408A76B-2DD3-F6CC-AE3E-5BB0E8F08B85}"/>
                  </a:ext>
                </a:extLst>
              </p:cNvPr>
              <p:cNvGrpSpPr/>
              <p:nvPr/>
            </p:nvGrpSpPr>
            <p:grpSpPr>
              <a:xfrm>
                <a:off x="1751393" y="4088084"/>
                <a:ext cx="557140" cy="1758349"/>
                <a:chOff x="1817745" y="4088084"/>
                <a:chExt cx="557140" cy="1758349"/>
              </a:xfrm>
            </p:grpSpPr>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2CE30CE9-817C-F0F2-781F-43338BC76055}"/>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0" name="Content Placeholder 4">
                      <a:extLst>
                        <a:ext uri="{FF2B5EF4-FFF2-40B4-BE49-F238E27FC236}">
                          <a16:creationId xmlns:a16="http://schemas.microsoft.com/office/drawing/2014/main" id="{2CE30CE9-817C-F0F2-781F-43338BC76055}"/>
                        </a:ext>
                      </a:extLst>
                    </p:cNvPr>
                    <p:cNvGraphicFramePr>
                      <a:graphicFrameLocks/>
                    </p:cNvGraphicFramePr>
                    <p:nvPr/>
                  </p:nvGraphicFramePr>
                  <p:xfrm>
                    <a:off x="1899549"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sat</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038E590-8BE6-3138-F155-687D9820C576}"/>
                        </a:ext>
                      </a:extLst>
                    </p:cNvPr>
                    <p:cNvSpPr txBox="1"/>
                    <p:nvPr/>
                  </p:nvSpPr>
                  <p:spPr>
                    <a:xfrm>
                      <a:off x="1817745" y="408808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23" name="TextBox 22">
                      <a:extLst>
                        <a:ext uri="{FF2B5EF4-FFF2-40B4-BE49-F238E27FC236}">
                          <a16:creationId xmlns:a16="http://schemas.microsoft.com/office/drawing/2014/main" id="{1038E590-8BE6-3138-F155-687D9820C576}"/>
                        </a:ext>
                      </a:extLst>
                    </p:cNvPr>
                    <p:cNvSpPr txBox="1">
                      <a:spLocks noRot="1" noChangeAspect="1" noMove="1" noResize="1" noEditPoints="1" noAdjustHandles="1" noChangeArrowheads="1" noChangeShapeType="1" noTextEdit="1"/>
                    </p:cNvSpPr>
                    <p:nvPr/>
                  </p:nvSpPr>
                  <p:spPr>
                    <a:xfrm>
                      <a:off x="1817745" y="4088084"/>
                      <a:ext cx="557140" cy="276999"/>
                    </a:xfrm>
                    <a:prstGeom prst="rect">
                      <a:avLst/>
                    </a:prstGeom>
                    <a:blipFill>
                      <a:blip r:embed="rId5"/>
                      <a:stretch>
                        <a:fillRect l="-10989" r="-9890" b="-8889"/>
                      </a:stretch>
                    </a:blipFill>
                  </p:spPr>
                  <p:txBody>
                    <a:bodyPr/>
                    <a:lstStyle/>
                    <a:p>
                      <a:r>
                        <a:rPr lang="en-GB">
                          <a:noFill/>
                        </a:rPr>
                        <a:t> </a:t>
                      </a:r>
                    </a:p>
                  </p:txBody>
                </p:sp>
              </mc:Fallback>
            </mc:AlternateContent>
          </p:grpSp>
          <p:grpSp>
            <p:nvGrpSpPr>
              <p:cNvPr id="26" name="Group 25">
                <a:extLst>
                  <a:ext uri="{FF2B5EF4-FFF2-40B4-BE49-F238E27FC236}">
                    <a16:creationId xmlns:a16="http://schemas.microsoft.com/office/drawing/2014/main" id="{7EF1B9A6-AE57-E012-CD98-A2F3FD9EF75F}"/>
                  </a:ext>
                </a:extLst>
              </p:cNvPr>
              <p:cNvGrpSpPr/>
              <p:nvPr/>
            </p:nvGrpSpPr>
            <p:grpSpPr>
              <a:xfrm>
                <a:off x="2476077" y="4097417"/>
                <a:ext cx="557140" cy="1749016"/>
                <a:chOff x="2320571" y="4097417"/>
                <a:chExt cx="557140" cy="1749016"/>
              </a:xfrm>
            </p:grpSpPr>
            <mc:AlternateContent xmlns:mc="http://schemas.openxmlformats.org/markup-compatibility/2006" xmlns:a14="http://schemas.microsoft.com/office/drawing/2010/main">
              <mc:Choice Requires="a14">
                <p:graphicFrame>
                  <p:nvGraphicFramePr>
                    <p:cNvPr id="13" name="Content Placeholder 4">
                      <a:extLst>
                        <a:ext uri="{FF2B5EF4-FFF2-40B4-BE49-F238E27FC236}">
                          <a16:creationId xmlns:a16="http://schemas.microsoft.com/office/drawing/2014/main" id="{7841F21E-77F3-94F6-7E56-CD348666B896}"/>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3" name="Content Placeholder 4">
                      <a:extLst>
                        <a:ext uri="{FF2B5EF4-FFF2-40B4-BE49-F238E27FC236}">
                          <a16:creationId xmlns:a16="http://schemas.microsoft.com/office/drawing/2014/main" id="{7841F21E-77F3-94F6-7E56-CD348666B896}"/>
                        </a:ext>
                      </a:extLst>
                    </p:cNvPr>
                    <p:cNvGraphicFramePr>
                      <a:graphicFrameLocks/>
                    </p:cNvGraphicFramePr>
                    <p:nvPr/>
                  </p:nvGraphicFramePr>
                  <p:xfrm>
                    <a:off x="2377084" y="4406918"/>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on</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C48CBC5-49E7-F4A2-A651-A2D4C319DA82}"/>
                        </a:ext>
                      </a:extLst>
                    </p:cNvPr>
                    <p:cNvSpPr txBox="1"/>
                    <p:nvPr/>
                  </p:nvSpPr>
                  <p:spPr>
                    <a:xfrm>
                      <a:off x="2320571" y="409741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25" name="TextBox 24">
                      <a:extLst>
                        <a:ext uri="{FF2B5EF4-FFF2-40B4-BE49-F238E27FC236}">
                          <a16:creationId xmlns:a16="http://schemas.microsoft.com/office/drawing/2014/main" id="{3C48CBC5-49E7-F4A2-A651-A2D4C319DA82}"/>
                        </a:ext>
                      </a:extLst>
                    </p:cNvPr>
                    <p:cNvSpPr txBox="1">
                      <a:spLocks noRot="1" noChangeAspect="1" noMove="1" noResize="1" noEditPoints="1" noAdjustHandles="1" noChangeArrowheads="1" noChangeShapeType="1" noTextEdit="1"/>
                    </p:cNvSpPr>
                    <p:nvPr/>
                  </p:nvSpPr>
                  <p:spPr>
                    <a:xfrm>
                      <a:off x="2320571" y="4097417"/>
                      <a:ext cx="557140" cy="276999"/>
                    </a:xfrm>
                    <a:prstGeom prst="rect">
                      <a:avLst/>
                    </a:prstGeom>
                    <a:blipFill>
                      <a:blip r:embed="rId6"/>
                      <a:stretch>
                        <a:fillRect l="-10989" r="-9890" b="-6522"/>
                      </a:stretch>
                    </a:blipFill>
                  </p:spPr>
                  <p:txBody>
                    <a:bodyPr/>
                    <a:lstStyle/>
                    <a:p>
                      <a:r>
                        <a:rPr lang="en-GB">
                          <a:noFill/>
                        </a:rPr>
                        <a:t> </a:t>
                      </a:r>
                    </a:p>
                  </p:txBody>
                </p:sp>
              </mc:Fallback>
            </mc:AlternateContent>
          </p:grpSp>
          <p:grpSp>
            <p:nvGrpSpPr>
              <p:cNvPr id="28" name="Group 27">
                <a:extLst>
                  <a:ext uri="{FF2B5EF4-FFF2-40B4-BE49-F238E27FC236}">
                    <a16:creationId xmlns:a16="http://schemas.microsoft.com/office/drawing/2014/main" id="{0CC2F8A7-1ED4-6B51-2E42-078D9B0DC450}"/>
                  </a:ext>
                </a:extLst>
              </p:cNvPr>
              <p:cNvGrpSpPr/>
              <p:nvPr/>
            </p:nvGrpSpPr>
            <p:grpSpPr>
              <a:xfrm>
                <a:off x="3157210" y="4098461"/>
                <a:ext cx="557140" cy="1747286"/>
                <a:chOff x="2931205" y="4098461"/>
                <a:chExt cx="557140" cy="1747286"/>
              </a:xfrm>
            </p:grpSpPr>
            <mc:AlternateContent xmlns:mc="http://schemas.openxmlformats.org/markup-compatibility/2006" xmlns:a14="http://schemas.microsoft.com/office/drawing/2010/main">
              <mc:Choice Requires="a14">
                <p:graphicFrame>
                  <p:nvGraphicFramePr>
                    <p:cNvPr id="15" name="Content Placeholder 4">
                      <a:extLst>
                        <a:ext uri="{FF2B5EF4-FFF2-40B4-BE49-F238E27FC236}">
                          <a16:creationId xmlns:a16="http://schemas.microsoft.com/office/drawing/2014/main" id="{FCE83739-08EB-938F-EA9C-A271E483890C}"/>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15" name="Content Placeholder 4">
                      <a:extLst>
                        <a:ext uri="{FF2B5EF4-FFF2-40B4-BE49-F238E27FC236}">
                          <a16:creationId xmlns:a16="http://schemas.microsoft.com/office/drawing/2014/main" id="{FCE83739-08EB-938F-EA9C-A271E483890C}"/>
                        </a:ext>
                      </a:extLst>
                    </p:cNvPr>
                    <p:cNvGraphicFramePr>
                      <a:graphicFrameLocks/>
                    </p:cNvGraphicFramePr>
                    <p:nvPr/>
                  </p:nvGraphicFramePr>
                  <p:xfrm>
                    <a:off x="2996847" y="4406232"/>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6278187-8292-C0FE-9C2E-0B92804D5D1C}"/>
                        </a:ext>
                      </a:extLst>
                    </p:cNvPr>
                    <p:cNvSpPr txBox="1"/>
                    <p:nvPr/>
                  </p:nvSpPr>
                  <p:spPr>
                    <a:xfrm>
                      <a:off x="2931205" y="409846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27" name="TextBox 26">
                      <a:extLst>
                        <a:ext uri="{FF2B5EF4-FFF2-40B4-BE49-F238E27FC236}">
                          <a16:creationId xmlns:a16="http://schemas.microsoft.com/office/drawing/2014/main" id="{C6278187-8292-C0FE-9C2E-0B92804D5D1C}"/>
                        </a:ext>
                      </a:extLst>
                    </p:cNvPr>
                    <p:cNvSpPr txBox="1">
                      <a:spLocks noRot="1" noChangeAspect="1" noMove="1" noResize="1" noEditPoints="1" noAdjustHandles="1" noChangeArrowheads="1" noChangeShapeType="1" noTextEdit="1"/>
                    </p:cNvSpPr>
                    <p:nvPr/>
                  </p:nvSpPr>
                  <p:spPr>
                    <a:xfrm>
                      <a:off x="2931205" y="4098461"/>
                      <a:ext cx="557140" cy="276999"/>
                    </a:xfrm>
                    <a:prstGeom prst="rect">
                      <a:avLst/>
                    </a:prstGeom>
                    <a:blipFill>
                      <a:blip r:embed="rId7"/>
                      <a:stretch>
                        <a:fillRect l="-10989" r="-10989" b="-8889"/>
                      </a:stretch>
                    </a:blipFill>
                  </p:spPr>
                  <p:txBody>
                    <a:bodyPr/>
                    <a:lstStyle/>
                    <a:p>
                      <a:r>
                        <a:rPr lang="en-GB">
                          <a:noFill/>
                        </a:rPr>
                        <a:t> </a:t>
                      </a:r>
                    </a:p>
                  </p:txBody>
                </p:sp>
              </mc:Fallback>
            </mc:AlternateContent>
          </p:grpSp>
        </p:grpSp>
        <p:grpSp>
          <p:nvGrpSpPr>
            <p:cNvPr id="61" name="Group 60">
              <a:extLst>
                <a:ext uri="{FF2B5EF4-FFF2-40B4-BE49-F238E27FC236}">
                  <a16:creationId xmlns:a16="http://schemas.microsoft.com/office/drawing/2014/main" id="{CD6C8EC8-54D6-C3A1-D5B9-C4ECC0F347E8}"/>
                </a:ext>
              </a:extLst>
            </p:cNvPr>
            <p:cNvGrpSpPr/>
            <p:nvPr/>
          </p:nvGrpSpPr>
          <p:grpSpPr>
            <a:xfrm>
              <a:off x="5297151" y="2089767"/>
              <a:ext cx="3126758" cy="1757205"/>
              <a:chOff x="5297151" y="2089767"/>
              <a:chExt cx="3126758" cy="1757205"/>
            </a:xfrm>
          </p:grpSpPr>
          <p:grpSp>
            <p:nvGrpSpPr>
              <p:cNvPr id="34" name="Group 33">
                <a:extLst>
                  <a:ext uri="{FF2B5EF4-FFF2-40B4-BE49-F238E27FC236}">
                    <a16:creationId xmlns:a16="http://schemas.microsoft.com/office/drawing/2014/main" id="{526F53A8-4580-7D48-1F37-C8174F68CD8D}"/>
                  </a:ext>
                </a:extLst>
              </p:cNvPr>
              <p:cNvGrpSpPr/>
              <p:nvPr/>
            </p:nvGrpSpPr>
            <p:grpSpPr>
              <a:xfrm>
                <a:off x="5297151" y="2099094"/>
                <a:ext cx="557140" cy="1746945"/>
                <a:chOff x="769594" y="4097411"/>
                <a:chExt cx="557140" cy="1746945"/>
              </a:xfrm>
            </p:grpSpPr>
            <mc:AlternateContent xmlns:mc="http://schemas.openxmlformats.org/markup-compatibility/2006" xmlns:a14="http://schemas.microsoft.com/office/drawing/2010/main">
              <mc:Choice Requires="a14">
                <p:graphicFrame>
                  <p:nvGraphicFramePr>
                    <p:cNvPr id="47" name="Content Placeholder 4">
                      <a:extLst>
                        <a:ext uri="{FF2B5EF4-FFF2-40B4-BE49-F238E27FC236}">
                          <a16:creationId xmlns:a16="http://schemas.microsoft.com/office/drawing/2014/main" id="{02D9E575-DE17-FD0D-A765-1A4446D4B010}"/>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(1)</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7" name="Content Placeholder 4">
                      <a:extLst>
                        <a:ext uri="{FF2B5EF4-FFF2-40B4-BE49-F238E27FC236}">
                          <a16:creationId xmlns:a16="http://schemas.microsoft.com/office/drawing/2014/main" id="{02D9E575-DE17-FD0D-A765-1A4446D4B010}"/>
                        </a:ext>
                      </a:extLst>
                    </p:cNvPr>
                    <p:cNvGraphicFramePr>
                      <a:graphicFrameLocks/>
                    </p:cNvGraphicFramePr>
                    <p:nvPr/>
                  </p:nvGraphicFramePr>
                  <p:xfrm>
                    <a:off x="842001" y="440484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8"/>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356D015-9AA6-A95A-4766-57EF53F3C328}"/>
                        </a:ext>
                      </a:extLst>
                    </p:cNvPr>
                    <p:cNvSpPr txBox="1"/>
                    <p:nvPr/>
                  </p:nvSpPr>
                  <p:spPr>
                    <a:xfrm>
                      <a:off x="769594" y="4097411"/>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=1</m:t>
                            </m:r>
                          </m:oMath>
                        </m:oMathPara>
                      </a14:m>
                      <a:endParaRPr lang="en-GB" dirty="0"/>
                    </a:p>
                  </p:txBody>
                </p:sp>
              </mc:Choice>
              <mc:Fallback xmlns="">
                <p:sp>
                  <p:nvSpPr>
                    <p:cNvPr id="48" name="TextBox 47">
                      <a:extLst>
                        <a:ext uri="{FF2B5EF4-FFF2-40B4-BE49-F238E27FC236}">
                          <a16:creationId xmlns:a16="http://schemas.microsoft.com/office/drawing/2014/main" id="{1356D015-9AA6-A95A-4766-57EF53F3C328}"/>
                        </a:ext>
                      </a:extLst>
                    </p:cNvPr>
                    <p:cNvSpPr txBox="1">
                      <a:spLocks noRot="1" noChangeAspect="1" noMove="1" noResize="1" noEditPoints="1" noAdjustHandles="1" noChangeArrowheads="1" noChangeShapeType="1" noTextEdit="1"/>
                    </p:cNvSpPr>
                    <p:nvPr/>
                  </p:nvSpPr>
                  <p:spPr>
                    <a:xfrm>
                      <a:off x="769594" y="4097411"/>
                      <a:ext cx="557140" cy="276999"/>
                    </a:xfrm>
                    <a:prstGeom prst="rect">
                      <a:avLst/>
                    </a:prstGeom>
                    <a:blipFill>
                      <a:blip r:embed="rId9"/>
                      <a:stretch>
                        <a:fillRect l="-10870" r="-9783" b="-6522"/>
                      </a:stretch>
                    </a:blipFill>
                  </p:spPr>
                  <p:txBody>
                    <a:bodyPr/>
                    <a:lstStyle/>
                    <a:p>
                      <a:r>
                        <a:rPr lang="en-GB">
                          <a:noFill/>
                        </a:rPr>
                        <a:t> </a:t>
                      </a:r>
                    </a:p>
                  </p:txBody>
                </p:sp>
              </mc:Fallback>
            </mc:AlternateContent>
          </p:grpSp>
          <p:grpSp>
            <p:nvGrpSpPr>
              <p:cNvPr id="53" name="Group 52">
                <a:extLst>
                  <a:ext uri="{FF2B5EF4-FFF2-40B4-BE49-F238E27FC236}">
                    <a16:creationId xmlns:a16="http://schemas.microsoft.com/office/drawing/2014/main" id="{824A2D1A-05A2-6A6D-196C-673A4EC7D70C}"/>
                  </a:ext>
                </a:extLst>
              </p:cNvPr>
              <p:cNvGrpSpPr/>
              <p:nvPr/>
            </p:nvGrpSpPr>
            <p:grpSpPr>
              <a:xfrm>
                <a:off x="5919255" y="2100530"/>
                <a:ext cx="557140" cy="1746439"/>
                <a:chOff x="6000600" y="2100530"/>
                <a:chExt cx="557140" cy="1746439"/>
              </a:xfrm>
            </p:grpSpPr>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16F9274-EDE6-D69F-60E6-0DAAC96C3E47}"/>
                        </a:ext>
                      </a:extLst>
                    </p:cNvPr>
                    <p:cNvSpPr txBox="1"/>
                    <p:nvPr/>
                  </p:nvSpPr>
                  <p:spPr>
                    <a:xfrm>
                      <a:off x="6000600" y="210053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=2</m:t>
                            </m:r>
                          </m:oMath>
                        </m:oMathPara>
                      </a14:m>
                      <a:endParaRPr lang="en-GB" dirty="0"/>
                    </a:p>
                  </p:txBody>
                </p:sp>
              </mc:Choice>
              <mc:Fallback xmlns="">
                <p:sp>
                  <p:nvSpPr>
                    <p:cNvPr id="46" name="TextBox 45">
                      <a:extLst>
                        <a:ext uri="{FF2B5EF4-FFF2-40B4-BE49-F238E27FC236}">
                          <a16:creationId xmlns:a16="http://schemas.microsoft.com/office/drawing/2014/main" id="{016F9274-EDE6-D69F-60E6-0DAAC96C3E47}"/>
                        </a:ext>
                      </a:extLst>
                    </p:cNvPr>
                    <p:cNvSpPr txBox="1">
                      <a:spLocks noRot="1" noChangeAspect="1" noMove="1" noResize="1" noEditPoints="1" noAdjustHandles="1" noChangeArrowheads="1" noChangeShapeType="1" noTextEdit="1"/>
                    </p:cNvSpPr>
                    <p:nvPr/>
                  </p:nvSpPr>
                  <p:spPr>
                    <a:xfrm>
                      <a:off x="6000600" y="2100530"/>
                      <a:ext cx="557140" cy="276999"/>
                    </a:xfrm>
                    <a:prstGeom prst="rect">
                      <a:avLst/>
                    </a:prstGeom>
                    <a:blipFill>
                      <a:blip r:embed="rId10"/>
                      <a:stretch>
                        <a:fillRect l="-10870" r="-9783"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9" name="Content Placeholder 4">
                      <a:extLst>
                        <a:ext uri="{FF2B5EF4-FFF2-40B4-BE49-F238E27FC236}">
                          <a16:creationId xmlns:a16="http://schemas.microsoft.com/office/drawing/2014/main" id="{87CB6C90-F769-1FA0-743D-D2C36B3C419C}"/>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(2)</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49" name="Content Placeholder 4">
                      <a:extLst>
                        <a:ext uri="{FF2B5EF4-FFF2-40B4-BE49-F238E27FC236}">
                          <a16:creationId xmlns:a16="http://schemas.microsoft.com/office/drawing/2014/main" id="{87CB6C90-F769-1FA0-743D-D2C36B3C419C}"/>
                        </a:ext>
                      </a:extLst>
                    </p:cNvPr>
                    <p:cNvGraphicFramePr>
                      <a:graphicFrameLocks/>
                    </p:cNvGraphicFramePr>
                    <p:nvPr/>
                  </p:nvGraphicFramePr>
                  <p:xfrm>
                    <a:off x="6099769"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1"/>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4" name="Group 53">
                <a:extLst>
                  <a:ext uri="{FF2B5EF4-FFF2-40B4-BE49-F238E27FC236}">
                    <a16:creationId xmlns:a16="http://schemas.microsoft.com/office/drawing/2014/main" id="{8508E9B9-417F-E44E-5279-6550CB27E399}"/>
                  </a:ext>
                </a:extLst>
              </p:cNvPr>
              <p:cNvGrpSpPr/>
              <p:nvPr/>
            </p:nvGrpSpPr>
            <p:grpSpPr>
              <a:xfrm>
                <a:off x="6573148" y="2089767"/>
                <a:ext cx="557140" cy="1757205"/>
                <a:chOff x="6685348" y="2089767"/>
                <a:chExt cx="557140" cy="1757205"/>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5123B71-032B-994E-6E35-A3A5701AF951}"/>
                        </a:ext>
                      </a:extLst>
                    </p:cNvPr>
                    <p:cNvSpPr txBox="1"/>
                    <p:nvPr/>
                  </p:nvSpPr>
                  <p:spPr>
                    <a:xfrm>
                      <a:off x="6685348" y="2089767"/>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=3</m:t>
                            </m:r>
                          </m:oMath>
                        </m:oMathPara>
                      </a14:m>
                      <a:endParaRPr lang="en-GB" dirty="0"/>
                    </a:p>
                  </p:txBody>
                </p:sp>
              </mc:Choice>
              <mc:Fallback xmlns="">
                <p:sp>
                  <p:nvSpPr>
                    <p:cNvPr id="44" name="TextBox 43">
                      <a:extLst>
                        <a:ext uri="{FF2B5EF4-FFF2-40B4-BE49-F238E27FC236}">
                          <a16:creationId xmlns:a16="http://schemas.microsoft.com/office/drawing/2014/main" id="{B5123B71-032B-994E-6E35-A3A5701AF951}"/>
                        </a:ext>
                      </a:extLst>
                    </p:cNvPr>
                    <p:cNvSpPr txBox="1">
                      <a:spLocks noRot="1" noChangeAspect="1" noMove="1" noResize="1" noEditPoints="1" noAdjustHandles="1" noChangeArrowheads="1" noChangeShapeType="1" noTextEdit="1"/>
                    </p:cNvSpPr>
                    <p:nvPr/>
                  </p:nvSpPr>
                  <p:spPr>
                    <a:xfrm>
                      <a:off x="6685348" y="2089767"/>
                      <a:ext cx="557140" cy="276999"/>
                    </a:xfrm>
                    <a:prstGeom prst="rect">
                      <a:avLst/>
                    </a:prstGeom>
                    <a:blipFill>
                      <a:blip r:embed="rId12"/>
                      <a:stretch>
                        <a:fillRect l="-10989" r="-9890" b="-88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0" name="Content Placeholder 4">
                      <a:extLst>
                        <a:ext uri="{FF2B5EF4-FFF2-40B4-BE49-F238E27FC236}">
                          <a16:creationId xmlns:a16="http://schemas.microsoft.com/office/drawing/2014/main" id="{3BBBB3AD-7AF7-6778-2E74-1F7A3CFF83F7}"/>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(3)</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0" name="Content Placeholder 4">
                      <a:extLst>
                        <a:ext uri="{FF2B5EF4-FFF2-40B4-BE49-F238E27FC236}">
                          <a16:creationId xmlns:a16="http://schemas.microsoft.com/office/drawing/2014/main" id="{3BBBB3AD-7AF7-6778-2E74-1F7A3CFF83F7}"/>
                        </a:ext>
                      </a:extLst>
                    </p:cNvPr>
                    <p:cNvGraphicFramePr>
                      <a:graphicFrameLocks/>
                    </p:cNvGraphicFramePr>
                    <p:nvPr/>
                  </p:nvGraphicFramePr>
                  <p:xfrm>
                    <a:off x="6772947" y="2407457"/>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3"/>
                                <a:stretch>
                                  <a:fillRect l="-1587" t="-2128" r="-6349"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5" name="Group 54">
                <a:extLst>
                  <a:ext uri="{FF2B5EF4-FFF2-40B4-BE49-F238E27FC236}">
                    <a16:creationId xmlns:a16="http://schemas.microsoft.com/office/drawing/2014/main" id="{6EC6B5F4-EFC7-5C0B-5ABF-4C2D0ACD96EA}"/>
                  </a:ext>
                </a:extLst>
              </p:cNvPr>
              <p:cNvGrpSpPr/>
              <p:nvPr/>
            </p:nvGrpSpPr>
            <p:grpSpPr>
              <a:xfrm>
                <a:off x="7213684" y="2099100"/>
                <a:ext cx="557140" cy="1745066"/>
                <a:chOff x="7410032" y="2099100"/>
                <a:chExt cx="557140" cy="1745066"/>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68229C3-CEE6-99BE-13D5-82222C7A5903}"/>
                        </a:ext>
                      </a:extLst>
                    </p:cNvPr>
                    <p:cNvSpPr txBox="1"/>
                    <p:nvPr/>
                  </p:nvSpPr>
                  <p:spPr>
                    <a:xfrm>
                      <a:off x="7410032" y="2099100"/>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=4</m:t>
                            </m:r>
                          </m:oMath>
                        </m:oMathPara>
                      </a14:m>
                      <a:endParaRPr lang="en-GB" dirty="0"/>
                    </a:p>
                  </p:txBody>
                </p:sp>
              </mc:Choice>
              <mc:Fallback xmlns="">
                <p:sp>
                  <p:nvSpPr>
                    <p:cNvPr id="42" name="TextBox 41">
                      <a:extLst>
                        <a:ext uri="{FF2B5EF4-FFF2-40B4-BE49-F238E27FC236}">
                          <a16:creationId xmlns:a16="http://schemas.microsoft.com/office/drawing/2014/main" id="{868229C3-CEE6-99BE-13D5-82222C7A5903}"/>
                        </a:ext>
                      </a:extLst>
                    </p:cNvPr>
                    <p:cNvSpPr txBox="1">
                      <a:spLocks noRot="1" noChangeAspect="1" noMove="1" noResize="1" noEditPoints="1" noAdjustHandles="1" noChangeArrowheads="1" noChangeShapeType="1" noTextEdit="1"/>
                    </p:cNvSpPr>
                    <p:nvPr/>
                  </p:nvSpPr>
                  <p:spPr>
                    <a:xfrm>
                      <a:off x="7410032" y="2099100"/>
                      <a:ext cx="557140" cy="276999"/>
                    </a:xfrm>
                    <a:prstGeom prst="rect">
                      <a:avLst/>
                    </a:prstGeom>
                    <a:blipFill>
                      <a:blip r:embed="rId14"/>
                      <a:stretch>
                        <a:fillRect l="-10989" r="-9890"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1" name="Content Placeholder 4">
                      <a:extLst>
                        <a:ext uri="{FF2B5EF4-FFF2-40B4-BE49-F238E27FC236}">
                          <a16:creationId xmlns:a16="http://schemas.microsoft.com/office/drawing/2014/main" id="{1EB7D120-2F7A-C067-A29E-9E828EA7F223}"/>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(4)</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1" name="Content Placeholder 4">
                      <a:extLst>
                        <a:ext uri="{FF2B5EF4-FFF2-40B4-BE49-F238E27FC236}">
                          <a16:creationId xmlns:a16="http://schemas.microsoft.com/office/drawing/2014/main" id="{1EB7D120-2F7A-C067-A29E-9E828EA7F223}"/>
                        </a:ext>
                      </a:extLst>
                    </p:cNvPr>
                    <p:cNvGraphicFramePr>
                      <a:graphicFrameLocks/>
                    </p:cNvGraphicFramePr>
                    <p:nvPr/>
                  </p:nvGraphicFramePr>
                  <p:xfrm>
                    <a:off x="7505023" y="2404651"/>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5"/>
                                <a:stretch>
                                  <a:fillRect l="-1613" t="-2128" r="-6452"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nvGrpSpPr>
              <p:cNvPr id="56" name="Group 55">
                <a:extLst>
                  <a:ext uri="{FF2B5EF4-FFF2-40B4-BE49-F238E27FC236}">
                    <a16:creationId xmlns:a16="http://schemas.microsoft.com/office/drawing/2014/main" id="{348808CE-0782-9322-48EF-6EE84E158DB4}"/>
                  </a:ext>
                </a:extLst>
              </p:cNvPr>
              <p:cNvGrpSpPr/>
              <p:nvPr/>
            </p:nvGrpSpPr>
            <p:grpSpPr>
              <a:xfrm>
                <a:off x="7866769" y="2100144"/>
                <a:ext cx="557140" cy="1746825"/>
                <a:chOff x="8091165" y="2100144"/>
                <a:chExt cx="557140" cy="1746825"/>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CA14048-8818-5514-8FDD-30FED4667BCE}"/>
                        </a:ext>
                      </a:extLst>
                    </p:cNvPr>
                    <p:cNvSpPr txBox="1"/>
                    <p:nvPr/>
                  </p:nvSpPr>
                  <p:spPr>
                    <a:xfrm>
                      <a:off x="8091165" y="2100144"/>
                      <a:ext cx="557140" cy="276999"/>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40" name="TextBox 39">
                      <a:extLst>
                        <a:ext uri="{FF2B5EF4-FFF2-40B4-BE49-F238E27FC236}">
                          <a16:creationId xmlns:a16="http://schemas.microsoft.com/office/drawing/2014/main" id="{7CA14048-8818-5514-8FDD-30FED4667BCE}"/>
                        </a:ext>
                      </a:extLst>
                    </p:cNvPr>
                    <p:cNvSpPr txBox="1">
                      <a:spLocks noRot="1" noChangeAspect="1" noMove="1" noResize="1" noEditPoints="1" noAdjustHandles="1" noChangeArrowheads="1" noChangeShapeType="1" noTextEdit="1"/>
                    </p:cNvSpPr>
                    <p:nvPr/>
                  </p:nvSpPr>
                  <p:spPr>
                    <a:xfrm>
                      <a:off x="8091165" y="2100144"/>
                      <a:ext cx="557140" cy="276999"/>
                    </a:xfrm>
                    <a:prstGeom prst="rect">
                      <a:avLst/>
                    </a:prstGeom>
                    <a:blipFill>
                      <a:blip r:embed="rId16"/>
                      <a:stretch>
                        <a:fillRect l="-10989" r="-10989" b="-65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2" name="Content Placeholder 4">
                      <a:extLst>
                        <a:ext uri="{FF2B5EF4-FFF2-40B4-BE49-F238E27FC236}">
                          <a16:creationId xmlns:a16="http://schemas.microsoft.com/office/drawing/2014/main" id="{5FCDD802-1168-C76F-BE49-FD22386A7C89}"/>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(5)</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52" name="Content Placeholder 4">
                      <a:extLst>
                        <a:ext uri="{FF2B5EF4-FFF2-40B4-BE49-F238E27FC236}">
                          <a16:creationId xmlns:a16="http://schemas.microsoft.com/office/drawing/2014/main" id="{5FCDD802-1168-C76F-BE49-FD22386A7C89}"/>
                        </a:ext>
                      </a:extLst>
                    </p:cNvPr>
                    <p:cNvGraphicFramePr>
                      <a:graphicFrameLocks/>
                    </p:cNvGraphicFramePr>
                    <p:nvPr/>
                  </p:nvGraphicFramePr>
                  <p:xfrm>
                    <a:off x="8181008" y="2407454"/>
                    <a:ext cx="374017" cy="1439515"/>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7"/>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p:grpSp>
        </p:grpSp>
      </p:grpSp>
      <p:sp>
        <p:nvSpPr>
          <p:cNvPr id="68" name="TextBox 67">
            <a:extLst>
              <a:ext uri="{FF2B5EF4-FFF2-40B4-BE49-F238E27FC236}">
                <a16:creationId xmlns:a16="http://schemas.microsoft.com/office/drawing/2014/main" id="{5B934835-3CE7-2289-C193-F68088970E69}"/>
              </a:ext>
            </a:extLst>
          </p:cNvPr>
          <p:cNvSpPr txBox="1"/>
          <p:nvPr/>
        </p:nvSpPr>
        <p:spPr>
          <a:xfrm>
            <a:off x="5638800" y="2973294"/>
            <a:ext cx="65" cy="276999"/>
          </a:xfrm>
          <a:prstGeom prst="rect">
            <a:avLst/>
          </a:prstGeom>
          <a:noFill/>
        </p:spPr>
        <p:txBody>
          <a:bodyPr wrap="none" lIns="0" tIns="0" rIns="0" bIns="0" rtlCol="0">
            <a:spAutoFit/>
          </a:bodyPr>
          <a:lstStyle/>
          <a:p>
            <a:endParaRPr lang="en-GB" dirty="0"/>
          </a:p>
        </p:txBody>
      </p:sp>
      <p:grpSp>
        <p:nvGrpSpPr>
          <p:cNvPr id="12" name="Group 11">
            <a:extLst>
              <a:ext uri="{FF2B5EF4-FFF2-40B4-BE49-F238E27FC236}">
                <a16:creationId xmlns:a16="http://schemas.microsoft.com/office/drawing/2014/main" id="{1007E7FF-242F-E1C8-E1F4-8E7FA4889980}"/>
              </a:ext>
            </a:extLst>
          </p:cNvPr>
          <p:cNvGrpSpPr/>
          <p:nvPr/>
        </p:nvGrpSpPr>
        <p:grpSpPr>
          <a:xfrm>
            <a:off x="4087327" y="3585687"/>
            <a:ext cx="4881048" cy="2478708"/>
            <a:chOff x="4087327" y="3585687"/>
            <a:chExt cx="4881048" cy="2478708"/>
          </a:xfrm>
        </p:grpSpPr>
        <p:grpSp>
          <p:nvGrpSpPr>
            <p:cNvPr id="75" name="Group 74">
              <a:extLst>
                <a:ext uri="{FF2B5EF4-FFF2-40B4-BE49-F238E27FC236}">
                  <a16:creationId xmlns:a16="http://schemas.microsoft.com/office/drawing/2014/main" id="{0EE6C2C4-16B9-BE11-B399-58E3D5B16925}"/>
                </a:ext>
              </a:extLst>
            </p:cNvPr>
            <p:cNvGrpSpPr/>
            <p:nvPr/>
          </p:nvGrpSpPr>
          <p:grpSpPr>
            <a:xfrm>
              <a:off x="4087327" y="4311831"/>
              <a:ext cx="2701956" cy="1752564"/>
              <a:chOff x="2089501" y="4392685"/>
              <a:chExt cx="2768066" cy="1731382"/>
            </a:xfrm>
          </p:grpSpPr>
          <p:grpSp>
            <p:nvGrpSpPr>
              <p:cNvPr id="64" name="Group 63">
                <a:extLst>
                  <a:ext uri="{FF2B5EF4-FFF2-40B4-BE49-F238E27FC236}">
                    <a16:creationId xmlns:a16="http://schemas.microsoft.com/office/drawing/2014/main" id="{29C5AD19-112D-2178-26B7-1CCD19FBF2BB}"/>
                  </a:ext>
                </a:extLst>
              </p:cNvPr>
              <p:cNvGrpSpPr/>
              <p:nvPr/>
            </p:nvGrpSpPr>
            <p:grpSpPr>
              <a:xfrm>
                <a:off x="2089501" y="4394521"/>
                <a:ext cx="570772" cy="1729546"/>
                <a:chOff x="877546" y="4511479"/>
                <a:chExt cx="570772" cy="1729546"/>
              </a:xfrm>
            </p:grpSpPr>
            <mc:AlternateContent xmlns:mc="http://schemas.openxmlformats.org/markup-compatibility/2006" xmlns:a14="http://schemas.microsoft.com/office/drawing/2010/main">
              <mc:Choice Requires="a14">
                <p:graphicFrame>
                  <p:nvGraphicFramePr>
                    <p:cNvPr id="62" name="Content Placeholder 4">
                      <a:extLst>
                        <a:ext uri="{FF2B5EF4-FFF2-40B4-BE49-F238E27FC236}">
                          <a16:creationId xmlns:a16="http://schemas.microsoft.com/office/drawing/2014/main" id="{0E0B1C41-A837-4E0B-5046-EFB10410EA12}"/>
                        </a:ext>
                      </a:extLst>
                    </p:cNvPr>
                    <p:cNvGraphicFramePr>
                      <a:graphicFrameLocks/>
                    </p:cNvGraphicFramePr>
                    <p:nvPr/>
                  </p:nvGraphicFramePr>
                  <p:xfrm>
                    <a:off x="949953" y="4818909"/>
                    <a:ext cx="422416"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Choice>
              <mc:Fallback xmlns="">
                <p:graphicFrame>
                  <p:nvGraphicFramePr>
                    <p:cNvPr id="62" name="Content Placeholder 4">
                      <a:extLst>
                        <a:ext uri="{FF2B5EF4-FFF2-40B4-BE49-F238E27FC236}">
                          <a16:creationId xmlns:a16="http://schemas.microsoft.com/office/drawing/2014/main" id="{0E0B1C41-A837-4E0B-5046-EFB10410EA12}"/>
                        </a:ext>
                      </a:extLst>
                    </p:cNvPr>
                    <p:cNvGraphicFramePr>
                      <a:graphicFrameLocks/>
                    </p:cNvGraphicFramePr>
                    <p:nvPr>
                      <p:extLst>
                        <p:ext uri="{D42A27DB-BD31-4B8C-83A1-F6EECF244321}">
                          <p14:modId xmlns:p14="http://schemas.microsoft.com/office/powerpoint/2010/main" val="1518207712"/>
                        </p:ext>
                      </p:extLst>
                    </p:nvPr>
                  </p:nvGraphicFramePr>
                  <p:xfrm>
                    <a:off x="949953" y="4818909"/>
                    <a:ext cx="422416" cy="1422116"/>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CFB3681-4350-1777-A3CE-C3F2C458C26C}"/>
                        </a:ext>
                      </a:extLst>
                    </p:cNvPr>
                    <p:cNvSpPr txBox="1"/>
                    <p:nvPr/>
                  </p:nvSpPr>
                  <p:spPr>
                    <a:xfrm>
                      <a:off x="877546" y="4511479"/>
                      <a:ext cx="570772"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63" name="TextBox 62">
                      <a:extLst>
                        <a:ext uri="{FF2B5EF4-FFF2-40B4-BE49-F238E27FC236}">
                          <a16:creationId xmlns:a16="http://schemas.microsoft.com/office/drawing/2014/main" id="{ECFB3681-4350-1777-A3CE-C3F2C458C26C}"/>
                        </a:ext>
                      </a:extLst>
                    </p:cNvPr>
                    <p:cNvSpPr txBox="1">
                      <a:spLocks noRot="1" noChangeAspect="1" noMove="1" noResize="1" noEditPoints="1" noAdjustHandles="1" noChangeArrowheads="1" noChangeShapeType="1" noTextEdit="1"/>
                    </p:cNvSpPr>
                    <p:nvPr/>
                  </p:nvSpPr>
                  <p:spPr>
                    <a:xfrm>
                      <a:off x="877546" y="4511479"/>
                      <a:ext cx="570772" cy="273651"/>
                    </a:xfrm>
                    <a:prstGeom prst="rect">
                      <a:avLst/>
                    </a:prstGeom>
                    <a:blipFill>
                      <a:blip r:embed="rId18"/>
                      <a:stretch>
                        <a:fillRect l="-10870" r="-9783" b="-8889"/>
                      </a:stretch>
                    </a:blipFill>
                  </p:spPr>
                  <p:txBody>
                    <a:bodyPr/>
                    <a:lstStyle/>
                    <a:p>
                      <a:r>
                        <a:rPr lang="en-GB">
                          <a:noFill/>
                        </a:rPr>
                        <a:t> </a:t>
                      </a:r>
                    </a:p>
                  </p:txBody>
                </p:sp>
              </mc:Fallback>
            </mc:AlternateContent>
          </p:grpSp>
          <p:grpSp>
            <p:nvGrpSpPr>
              <p:cNvPr id="67" name="Group 66">
                <a:extLst>
                  <a:ext uri="{FF2B5EF4-FFF2-40B4-BE49-F238E27FC236}">
                    <a16:creationId xmlns:a16="http://schemas.microsoft.com/office/drawing/2014/main" id="{8755D62D-D848-0B51-3610-A2AE857D02B8}"/>
                  </a:ext>
                </a:extLst>
              </p:cNvPr>
              <p:cNvGrpSpPr/>
              <p:nvPr/>
            </p:nvGrpSpPr>
            <p:grpSpPr>
              <a:xfrm>
                <a:off x="3004276" y="4393961"/>
                <a:ext cx="570772" cy="1729546"/>
                <a:chOff x="2972157" y="4393961"/>
                <a:chExt cx="570772" cy="1729546"/>
              </a:xfrm>
            </p:grpSpPr>
            <mc:AlternateContent xmlns:mc="http://schemas.openxmlformats.org/markup-compatibility/2006" xmlns:a14="http://schemas.microsoft.com/office/drawing/2010/main">
              <mc:Choice Requires="a14">
                <p:graphicFrame>
                  <p:nvGraphicFramePr>
                    <p:cNvPr id="65" name="Content Placeholder 4">
                      <a:extLst>
                        <a:ext uri="{FF2B5EF4-FFF2-40B4-BE49-F238E27FC236}">
                          <a16:creationId xmlns:a16="http://schemas.microsoft.com/office/drawing/2014/main" id="{48137DA8-B6B7-4BE8-9745-D329222A8B83}"/>
                        </a:ext>
                      </a:extLst>
                    </p:cNvPr>
                    <p:cNvGraphicFramePr>
                      <a:graphicFrameLocks/>
                    </p:cNvGraphicFramePr>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pPr algn="ctr"/>
                                <a14:m>
                                  <m:oMathPara xmlns:m="http://schemas.openxmlformats.org/officeDocument/2006/math">
                                    <m:oMathParaPr>
                                      <m:jc m:val="center"/>
                                    </m:oMathParaPr>
                                    <m:oMath>
                                      <m:r>
                                        <a:rPr lang="en-GB" sz="1200" b="0" i="1" smtClean="0">
                                          <a:latin typeface="Cambria Math" panose="02040503050406030204" pitchFamily="18" charset="0"/>
                                        </a:rPr>
                                        <m:t>𝑝</m:t>
                                      </m:r>
                                      <m:r>
                                        <a:rPr lang="en-GB" sz="1200" b="0" i="1" smtClean="0">
                                          <a:latin typeface="Cambria Math" panose="02040503050406030204" pitchFamily="18" charset="0"/>
                                        </a:rPr>
                                        <m:t>(5)</m:t>
                                      </m:r>
                                    </m:oMath>
                                  </m:oMathPara>
                                </a14:m>
                                <a:endParaRPr lang="en-GB" sz="1200" b="0" dirty="0"/>
                              </a:p>
                            </a:txBody>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Choice>
              <mc:Fallback xmlns="">
                <p:graphicFrame>
                  <p:nvGraphicFramePr>
                    <p:cNvPr id="65" name="Content Placeholder 4">
                      <a:extLst>
                        <a:ext uri="{FF2B5EF4-FFF2-40B4-BE49-F238E27FC236}">
                          <a16:creationId xmlns:a16="http://schemas.microsoft.com/office/drawing/2014/main" id="{48137DA8-B6B7-4BE8-9745-D329222A8B83}"/>
                        </a:ext>
                      </a:extLst>
                    </p:cNvPr>
                    <p:cNvGraphicFramePr>
                      <a:graphicFrameLocks/>
                    </p:cNvGraphicFramePr>
                    <p:nvPr>
                      <p:extLst>
                        <p:ext uri="{D42A27DB-BD31-4B8C-83A1-F6EECF244321}">
                          <p14:modId xmlns:p14="http://schemas.microsoft.com/office/powerpoint/2010/main" val="1141777756"/>
                        </p:ext>
                      </p:extLst>
                    </p:nvPr>
                  </p:nvGraphicFramePr>
                  <p:xfrm>
                    <a:off x="3044564" y="4701391"/>
                    <a:ext cx="383168" cy="1422116"/>
                  </p:xfrm>
                  <a:graphic>
                    <a:graphicData uri="http://schemas.openxmlformats.org/drawingml/2006/table">
                      <a:tbl>
                        <a:tblPr firstRow="1">
                          <a:tableStyleId>{5C22544A-7EE6-4342-B048-85BDC9FD1C3A}</a:tableStyleId>
                        </a:tblPr>
                        <a:tblGrid>
                          <a:gridCol w="374017">
                            <a:extLst>
                              <a:ext uri="{9D8B030D-6E8A-4147-A177-3AD203B41FA5}">
                                <a16:colId xmlns:a16="http://schemas.microsoft.com/office/drawing/2014/main" val="116916505"/>
                              </a:ext>
                            </a:extLst>
                          </a:gridCol>
                        </a:tblGrid>
                        <a:tr h="287903">
                          <a:tc>
                            <a:txBody>
                              <a:bodyPr/>
                              <a:lstStyle/>
                              <a:p>
                                <a:endParaRPr lang="en-US"/>
                              </a:p>
                            </a:txBody>
                            <a:tcPr>
                              <a:blipFill>
                                <a:blip r:embed="rId19"/>
                                <a:stretch>
                                  <a:fillRect l="-1613" t="-2128" r="-8065" b="-408511"/>
                                </a:stretch>
                              </a:blipFill>
                            </a:tcPr>
                          </a:tc>
                          <a:extLst>
                            <a:ext uri="{0D108BD9-81ED-4DB2-BD59-A6C34878D82A}">
                              <a16:rowId xmlns:a16="http://schemas.microsoft.com/office/drawing/2014/main" val="69659909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533931161"/>
                            </a:ext>
                          </a:extLst>
                        </a:tr>
                        <a:tr h="287903">
                          <a:tc>
                            <a:txBody>
                              <a:bodyPr/>
                              <a:lstStyle/>
                              <a:p>
                                <a:pPr algn="ctr"/>
                                <a:endParaRPr lang="en-GB" sz="1200" dirty="0">
                                  <a:solidFill>
                                    <a:srgbClr val="FFC000"/>
                                  </a:solidFill>
                                </a:endParaRPr>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solidFill>
                                    <a:srgbClr val="FFC000"/>
                                  </a:solidFill>
                                </a:endParaRPr>
                              </a:p>
                            </a:txBody>
                            <a:tcPr>
                              <a:solidFill>
                                <a:srgbClr val="FFC0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C6BA2C4-23B1-25A7-D681-CF816779E547}"/>
                        </a:ext>
                      </a:extLst>
                    </p:cNvPr>
                    <p:cNvSpPr txBox="1"/>
                    <p:nvPr/>
                  </p:nvSpPr>
                  <p:spPr>
                    <a:xfrm>
                      <a:off x="2972157" y="4393961"/>
                      <a:ext cx="570772"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66" name="TextBox 65">
                      <a:extLst>
                        <a:ext uri="{FF2B5EF4-FFF2-40B4-BE49-F238E27FC236}">
                          <a16:creationId xmlns:a16="http://schemas.microsoft.com/office/drawing/2014/main" id="{3C6BA2C4-23B1-25A7-D681-CF816779E547}"/>
                        </a:ext>
                      </a:extLst>
                    </p:cNvPr>
                    <p:cNvSpPr txBox="1">
                      <a:spLocks noRot="1" noChangeAspect="1" noMove="1" noResize="1" noEditPoints="1" noAdjustHandles="1" noChangeArrowheads="1" noChangeShapeType="1" noTextEdit="1"/>
                    </p:cNvSpPr>
                    <p:nvPr/>
                  </p:nvSpPr>
                  <p:spPr>
                    <a:xfrm>
                      <a:off x="2972157" y="4393961"/>
                      <a:ext cx="570772" cy="273651"/>
                    </a:xfrm>
                    <a:prstGeom prst="rect">
                      <a:avLst/>
                    </a:prstGeom>
                    <a:blipFill>
                      <a:blip r:embed="rId20"/>
                      <a:stretch>
                        <a:fillRect l="-10989" r="-10989" b="-8889"/>
                      </a:stretch>
                    </a:blipFill>
                  </p:spPr>
                  <p:txBody>
                    <a:bodyPr/>
                    <a:lstStyle/>
                    <a:p>
                      <a:r>
                        <a:rPr lang="en-GB">
                          <a:noFill/>
                        </a:rPr>
                        <a:t> </a:t>
                      </a:r>
                    </a:p>
                  </p:txBody>
                </p:sp>
              </mc:Fallback>
            </mc:AlternateContent>
          </p:grpSp>
          <p:sp>
            <p:nvSpPr>
              <p:cNvPr id="69" name="TextBox 68">
                <a:extLst>
                  <a:ext uri="{FF2B5EF4-FFF2-40B4-BE49-F238E27FC236}">
                    <a16:creationId xmlns:a16="http://schemas.microsoft.com/office/drawing/2014/main" id="{F2587E6F-85B6-4482-B04B-3BB774BA7797}"/>
                  </a:ext>
                </a:extLst>
              </p:cNvPr>
              <p:cNvSpPr txBox="1"/>
              <p:nvPr/>
            </p:nvSpPr>
            <p:spPr>
              <a:xfrm>
                <a:off x="2617219" y="5019245"/>
                <a:ext cx="412328" cy="830997"/>
              </a:xfrm>
              <a:prstGeom prst="rect">
                <a:avLst/>
              </a:prstGeom>
              <a:noFill/>
            </p:spPr>
            <p:txBody>
              <a:bodyPr wrap="square" rtlCol="0">
                <a:spAutoFit/>
              </a:bodyPr>
              <a:lstStyle/>
              <a:p>
                <a:pPr algn="ctr"/>
                <a:r>
                  <a:rPr lang="en-GB" sz="4800" dirty="0"/>
                  <a:t>+</a:t>
                </a:r>
              </a:p>
            </p:txBody>
          </p:sp>
          <p:grpSp>
            <p:nvGrpSpPr>
              <p:cNvPr id="70" name="Group 69">
                <a:extLst>
                  <a:ext uri="{FF2B5EF4-FFF2-40B4-BE49-F238E27FC236}">
                    <a16:creationId xmlns:a16="http://schemas.microsoft.com/office/drawing/2014/main" id="{9FE09EAD-3A40-9C77-C25B-B05B696D2463}"/>
                  </a:ext>
                </a:extLst>
              </p:cNvPr>
              <p:cNvGrpSpPr/>
              <p:nvPr/>
            </p:nvGrpSpPr>
            <p:grpSpPr>
              <a:xfrm>
                <a:off x="3971469" y="4392685"/>
                <a:ext cx="886098" cy="1729546"/>
                <a:chOff x="949952" y="4511479"/>
                <a:chExt cx="794975" cy="1729546"/>
              </a:xfrm>
            </p:grpSpPr>
            <mc:AlternateContent xmlns:mc="http://schemas.openxmlformats.org/markup-compatibility/2006" xmlns:a14="http://schemas.microsoft.com/office/drawing/2010/main">
              <mc:Choice Requires="a14">
                <p:graphicFrame>
                  <p:nvGraphicFramePr>
                    <p:cNvPr id="71" name="Content Placeholder 4">
                      <a:extLst>
                        <a:ext uri="{FF2B5EF4-FFF2-40B4-BE49-F238E27FC236}">
                          <a16:creationId xmlns:a16="http://schemas.microsoft.com/office/drawing/2014/main" id="{3B71226A-A4AA-D72E-F026-D57EC698B8CC}"/>
                        </a:ext>
                      </a:extLst>
                    </p:cNvPr>
                    <p:cNvGraphicFramePr>
                      <a:graphicFrameLocks/>
                    </p:cNvGraphicFramePr>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the @ </a:t>
                                </a:r>
                                <a:r>
                                  <a:rPr lang="en-GB" sz="1200" dirty="0" err="1"/>
                                  <a:t>i</a:t>
                                </a:r>
                                <a:r>
                                  <a:rPr lang="en-GB" sz="1200" dirty="0"/>
                                  <a:t>=5</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Choice>
              <mc:Fallback xmlns="">
                <p:graphicFrame>
                  <p:nvGraphicFramePr>
                    <p:cNvPr id="71" name="Content Placeholder 4">
                      <a:extLst>
                        <a:ext uri="{FF2B5EF4-FFF2-40B4-BE49-F238E27FC236}">
                          <a16:creationId xmlns:a16="http://schemas.microsoft.com/office/drawing/2014/main" id="{3B71226A-A4AA-D72E-F026-D57EC698B8CC}"/>
                        </a:ext>
                      </a:extLst>
                    </p:cNvPr>
                    <p:cNvGraphicFramePr>
                      <a:graphicFrameLocks/>
                    </p:cNvGraphicFramePr>
                    <p:nvPr>
                      <p:extLst>
                        <p:ext uri="{D42A27DB-BD31-4B8C-83A1-F6EECF244321}">
                          <p14:modId xmlns:p14="http://schemas.microsoft.com/office/powerpoint/2010/main" val="1603056882"/>
                        </p:ext>
                      </p:extLst>
                    </p:nvPr>
                  </p:nvGraphicFramePr>
                  <p:xfrm>
                    <a:off x="949952" y="4818909"/>
                    <a:ext cx="794975" cy="1422116"/>
                  </p:xfrm>
                  <a:graphic>
                    <a:graphicData uri="http://schemas.openxmlformats.org/drawingml/2006/table">
                      <a:tbl>
                        <a:tblPr firstRow="1">
                          <a:tableStyleId>{5C22544A-7EE6-4342-B048-85BDC9FD1C3A}</a:tableStyleId>
                        </a:tblPr>
                        <a:tblGrid>
                          <a:gridCol w="864935">
                            <a:extLst>
                              <a:ext uri="{9D8B030D-6E8A-4147-A177-3AD203B41FA5}">
                                <a16:colId xmlns:a16="http://schemas.microsoft.com/office/drawing/2014/main" val="116916505"/>
                              </a:ext>
                            </a:extLst>
                          </a:gridCol>
                        </a:tblGrid>
                        <a:tr h="287903">
                          <a:tc>
                            <a:txBody>
                              <a:bodyPr/>
                              <a:lstStyle/>
                              <a:p>
                                <a:pPr algn="ctr"/>
                                <a:r>
                                  <a:rPr lang="en-GB" sz="1200" dirty="0"/>
                                  <a:t>the @ </a:t>
                                </a:r>
                                <a:r>
                                  <a:rPr lang="en-GB" sz="1200" dirty="0" err="1"/>
                                  <a:t>i</a:t>
                                </a:r>
                                <a:r>
                                  <a:rPr lang="en-GB" sz="1200" dirty="0"/>
                                  <a:t>=5</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CCCC00"/>
                              </a:solidFill>
                            </a:tcPr>
                          </a:tc>
                          <a:extLst>
                            <a:ext uri="{0D108BD9-81ED-4DB2-BD59-A6C34878D82A}">
                              <a16:rowId xmlns:a16="http://schemas.microsoft.com/office/drawing/2014/main" val="2234228111"/>
                            </a:ext>
                          </a:extLst>
                        </a:tr>
                      </a:tbl>
                    </a:graphicData>
                  </a:graphic>
                </p:graphicFrame>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F3B241E-0A5E-2E5C-971A-23514179D19D}"/>
                        </a:ext>
                      </a:extLst>
                    </p:cNvPr>
                    <p:cNvSpPr txBox="1"/>
                    <p:nvPr/>
                  </p:nvSpPr>
                  <p:spPr>
                    <a:xfrm>
                      <a:off x="1055455" y="4511479"/>
                      <a:ext cx="512076" cy="273651"/>
                    </a:xfrm>
                    <a:prstGeom prst="rect">
                      <a:avLst/>
                    </a:prstGeom>
                    <a:noFill/>
                  </p:spPr>
                  <p:txBody>
                    <a:bodyPr wrap="none" lIns="0" tIns="0" rIns="0" bIns="0" rtlCol="0">
                      <a:spAutoFit/>
                    </a:bodyPr>
                    <a:lstStyle/>
                    <a:p>
                      <a:pPr/>
                      <a14:m>
                        <m:oMathPara xmlns:m="http://schemas.openxmlformats.org/officeDocument/2006/math">
                          <m:oMath>
                            <m:r>
                              <a:rPr lang="en-GB" b="0" i="1" smtClean="0">
                                <a:latin typeface="Cambria Math" panose="02040503050406030204" pitchFamily="18" charset="0"/>
                              </a:rPr>
                              <m:t>𝑖</m:t>
                            </m:r>
                            <m:r>
                              <a:rPr lang="en-GB" b="0" i="1" smtClean="0">
                                <a:latin typeface="Cambria Math" panose="02040503050406030204" pitchFamily="18" charset="0"/>
                              </a:rPr>
                              <m:t>=5</m:t>
                            </m:r>
                          </m:oMath>
                        </m:oMathPara>
                      </a14:m>
                      <a:endParaRPr lang="en-GB" dirty="0"/>
                    </a:p>
                  </p:txBody>
                </p:sp>
              </mc:Choice>
              <mc:Fallback xmlns="">
                <p:sp>
                  <p:nvSpPr>
                    <p:cNvPr id="72" name="TextBox 71">
                      <a:extLst>
                        <a:ext uri="{FF2B5EF4-FFF2-40B4-BE49-F238E27FC236}">
                          <a16:creationId xmlns:a16="http://schemas.microsoft.com/office/drawing/2014/main" id="{CF3B241E-0A5E-2E5C-971A-23514179D19D}"/>
                        </a:ext>
                      </a:extLst>
                    </p:cNvPr>
                    <p:cNvSpPr txBox="1">
                      <a:spLocks noRot="1" noChangeAspect="1" noMove="1" noResize="1" noEditPoints="1" noAdjustHandles="1" noChangeArrowheads="1" noChangeShapeType="1" noTextEdit="1"/>
                    </p:cNvSpPr>
                    <p:nvPr/>
                  </p:nvSpPr>
                  <p:spPr>
                    <a:xfrm>
                      <a:off x="1055455" y="4511479"/>
                      <a:ext cx="512076" cy="273651"/>
                    </a:xfrm>
                    <a:prstGeom prst="rect">
                      <a:avLst/>
                    </a:prstGeom>
                    <a:blipFill>
                      <a:blip r:embed="rId21"/>
                      <a:stretch>
                        <a:fillRect l="-10989" r="-10989" b="-6522"/>
                      </a:stretch>
                    </a:blipFill>
                  </p:spPr>
                  <p:txBody>
                    <a:bodyPr/>
                    <a:lstStyle/>
                    <a:p>
                      <a:r>
                        <a:rPr lang="en-GB">
                          <a:noFill/>
                        </a:rPr>
                        <a:t> </a:t>
                      </a:r>
                    </a:p>
                  </p:txBody>
                </p:sp>
              </mc:Fallback>
            </mc:AlternateContent>
          </p:grpSp>
          <p:sp>
            <p:nvSpPr>
              <p:cNvPr id="73" name="TextBox 72">
                <a:extLst>
                  <a:ext uri="{FF2B5EF4-FFF2-40B4-BE49-F238E27FC236}">
                    <a16:creationId xmlns:a16="http://schemas.microsoft.com/office/drawing/2014/main" id="{C09F20CE-8385-90D1-8035-00207041001B}"/>
                  </a:ext>
                </a:extLst>
              </p:cNvPr>
              <p:cNvSpPr txBox="1"/>
              <p:nvPr/>
            </p:nvSpPr>
            <p:spPr>
              <a:xfrm>
                <a:off x="3515095" y="5006395"/>
                <a:ext cx="412328" cy="830997"/>
              </a:xfrm>
              <a:prstGeom prst="rect">
                <a:avLst/>
              </a:prstGeom>
              <a:noFill/>
            </p:spPr>
            <p:txBody>
              <a:bodyPr wrap="square" rtlCol="0">
                <a:spAutoFit/>
              </a:bodyPr>
              <a:lstStyle/>
              <a:p>
                <a:pPr algn="ctr"/>
                <a:r>
                  <a:rPr lang="en-GB" sz="4800" dirty="0"/>
                  <a:t>=</a:t>
                </a:r>
              </a:p>
            </p:txBody>
          </p:sp>
        </p:grpSp>
        <p:cxnSp>
          <p:nvCxnSpPr>
            <p:cNvPr id="77" name="Straight Arrow Connector 76">
              <a:extLst>
                <a:ext uri="{FF2B5EF4-FFF2-40B4-BE49-F238E27FC236}">
                  <a16:creationId xmlns:a16="http://schemas.microsoft.com/office/drawing/2014/main" id="{37B76A41-0689-D9EF-1D9B-52B96C15F94F}"/>
                </a:ext>
              </a:extLst>
            </p:cNvPr>
            <p:cNvCxnSpPr>
              <a:cxnSpLocks/>
              <a:stCxn id="15" idx="2"/>
              <a:endCxn id="63" idx="0"/>
            </p:cNvCxnSpPr>
            <p:nvPr/>
          </p:nvCxnSpPr>
          <p:spPr>
            <a:xfrm flipH="1">
              <a:off x="4365897" y="3585687"/>
              <a:ext cx="249823" cy="728002"/>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D72EF824-5E16-E304-2B44-8AC61D9F57D5}"/>
                </a:ext>
              </a:extLst>
            </p:cNvPr>
            <p:cNvCxnSpPr>
              <a:cxnSpLocks/>
              <a:stCxn id="52" idx="2"/>
              <a:endCxn id="66" idx="3"/>
            </p:cNvCxnSpPr>
            <p:nvPr/>
          </p:nvCxnSpPr>
          <p:spPr>
            <a:xfrm flipH="1">
              <a:off x="5537394" y="3589983"/>
              <a:ext cx="3430981" cy="86164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01152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7515C-5F5B-83D4-F112-E9E892617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BC083-91FF-C5EE-55B4-06F5676B226B}"/>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BA2D2BC5-BDAB-6622-C2E1-B3167E27F3CC}"/>
              </a:ext>
            </a:extLst>
          </p:cNvPr>
          <p:cNvSpPr>
            <a:spLocks noGrp="1"/>
          </p:cNvSpPr>
          <p:nvPr>
            <p:ph type="sldNum" sz="quarter" idx="12"/>
          </p:nvPr>
        </p:nvSpPr>
        <p:spPr/>
        <p:txBody>
          <a:bodyPr/>
          <a:lstStyle/>
          <a:p>
            <a:fld id="{13DE89AE-BBCC-45F3-BDAA-E98C74995322}" type="slidenum">
              <a:rPr lang="en-GB" smtClean="0"/>
              <a:t>46</a:t>
            </a:fld>
            <a:endParaRPr lang="en-GB"/>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C9FE25B-3D79-7685-021D-0AE8CD6FB25F}"/>
                  </a:ext>
                </a:extLst>
              </p:cNvPr>
              <p:cNvSpPr txBox="1"/>
              <p:nvPr/>
            </p:nvSpPr>
            <p:spPr>
              <a:xfrm>
                <a:off x="909205" y="1241714"/>
                <a:ext cx="4729212" cy="2305759"/>
              </a:xfrm>
              <a:prstGeom prst="rect">
                <a:avLst/>
              </a:prstGeom>
              <a:noFill/>
            </p:spPr>
            <p:txBody>
              <a:bodyPr wrap="square" rtlCol="0">
                <a:spAutoFit/>
              </a:bodyPr>
              <a:lstStyle/>
              <a:p>
                <a:pPr marL="285750" indent="-285750">
                  <a:buFont typeface="Arial" panose="020B0604020202020204" pitchFamily="34" charset="0"/>
                  <a:buChar char="•"/>
                </a:pPr>
                <a:r>
                  <a:rPr lang="en-GB" sz="2400" dirty="0"/>
                  <a:t>Example functions</a:t>
                </a:r>
              </a:p>
              <a:p>
                <a:pPr marL="285750" indent="-285750">
                  <a:buFont typeface="Arial" panose="020B0604020202020204" pitchFamily="34" charset="0"/>
                  <a:buChar char="•"/>
                </a:pPr>
                <a:endParaRPr lang="en-GB" sz="2400" dirty="0"/>
              </a:p>
              <a:p>
                <a:pPr marL="742950" lvl="1" indent="-285750">
                  <a:buFont typeface="Arial" panose="020B0604020202020204" pitchFamily="34" charset="0"/>
                  <a:buChar char="•"/>
                </a:pP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2</m:t>
                        </m:r>
                        <m:r>
                          <a:rPr lang="en-GB" sz="2400" b="0" i="1" smtClean="0">
                            <a:latin typeface="Cambria Math" panose="02040503050406030204" pitchFamily="18" charset="0"/>
                          </a:rPr>
                          <m:t>𝑗</m:t>
                        </m:r>
                      </m:sub>
                    </m:sSub>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r>
                      <a:rPr lang="en-GB" sz="2400" b="0" i="1" smtClean="0">
                        <a:latin typeface="Cambria Math" panose="02040503050406030204" pitchFamily="18" charset="0"/>
                      </a:rPr>
                      <m:t>= </m:t>
                    </m:r>
                    <m:func>
                      <m:funcPr>
                        <m:ctrlPr>
                          <a:rPr lang="en-GB" sz="2400" b="0" i="0" smtClean="0">
                            <a:latin typeface="Cambria Math" panose="02040503050406030204" pitchFamily="18" charset="0"/>
                          </a:rPr>
                        </m:ctrlPr>
                      </m:funcPr>
                      <m:fName>
                        <m:r>
                          <m:rPr>
                            <m:sty m:val="p"/>
                          </m:rPr>
                          <a:rPr lang="en-GB" sz="2400" b="0" i="0" smtClean="0">
                            <a:latin typeface="Cambria Math" panose="02040503050406030204" pitchFamily="18" charset="0"/>
                          </a:rPr>
                          <m:t>sin</m:t>
                        </m:r>
                      </m:fName>
                      <m:e>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𝑖</m:t>
                                </m:r>
                              </m:num>
                              <m:den>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10000</m:t>
                                    </m:r>
                                  </m:e>
                                  <m:sup>
                                    <m:f>
                                      <m:fPr>
                                        <m:type m:val="lin"/>
                                        <m:ctrlPr>
                                          <a:rPr lang="en-GB" sz="2400" b="0" i="1" smtClean="0">
                                            <a:latin typeface="Cambria Math" panose="02040503050406030204" pitchFamily="18" charset="0"/>
                                          </a:rPr>
                                        </m:ctrlPr>
                                      </m:fPr>
                                      <m:num>
                                        <m:r>
                                          <a:rPr lang="en-GB" sz="2400" b="0" i="1" smtClean="0">
                                            <a:latin typeface="Cambria Math" panose="02040503050406030204" pitchFamily="18" charset="0"/>
                                          </a:rPr>
                                          <m:t>2</m:t>
                                        </m:r>
                                        <m:r>
                                          <a:rPr lang="en-GB" sz="2400" b="0" i="1" smtClean="0">
                                            <a:latin typeface="Cambria Math" panose="02040503050406030204" pitchFamily="18" charset="0"/>
                                          </a:rPr>
                                          <m:t>𝑗</m:t>
                                        </m:r>
                                      </m:num>
                                      <m:den>
                                        <m:r>
                                          <a:rPr lang="en-GB" sz="2400" b="0" i="1" smtClean="0">
                                            <a:latin typeface="Cambria Math" panose="02040503050406030204" pitchFamily="18" charset="0"/>
                                          </a:rPr>
                                          <m:t>𝑑</m:t>
                                        </m:r>
                                      </m:den>
                                    </m:f>
                                  </m:sup>
                                </m:sSup>
                              </m:den>
                            </m:f>
                          </m:e>
                        </m:d>
                      </m:e>
                    </m:func>
                  </m:oMath>
                </a14:m>
                <a:endParaRPr lang="en-GB" sz="2400" dirty="0"/>
              </a:p>
              <a:p>
                <a:pPr lvl="1"/>
                <a:endParaRPr lang="en-GB" sz="2400" dirty="0"/>
              </a:p>
              <a:p>
                <a:pPr marL="742950" lvl="1" indent="-285750">
                  <a:buFont typeface="Arial" panose="020B0604020202020204" pitchFamily="34" charset="0"/>
                  <a:buChar char="•"/>
                </a:pP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𝑝</m:t>
                        </m:r>
                      </m:e>
                      <m:sub>
                        <m:r>
                          <a:rPr lang="en-GB" sz="2400" b="0" i="1" smtClean="0">
                            <a:latin typeface="Cambria Math" panose="02040503050406030204" pitchFamily="18" charset="0"/>
                          </a:rPr>
                          <m:t>2</m:t>
                        </m:r>
                        <m:r>
                          <a:rPr lang="en-GB" sz="2400" b="0" i="1" smtClean="0">
                            <a:latin typeface="Cambria Math" panose="02040503050406030204" pitchFamily="18" charset="0"/>
                          </a:rPr>
                          <m:t>𝑗</m:t>
                        </m:r>
                        <m:r>
                          <a:rPr lang="en-GB" sz="2400" b="0" i="1" smtClean="0">
                            <a:latin typeface="Cambria Math" panose="02040503050406030204" pitchFamily="18" charset="0"/>
                          </a:rPr>
                          <m:t>+1</m:t>
                        </m:r>
                      </m:sub>
                    </m:sSub>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𝑖</m:t>
                        </m:r>
                      </m:e>
                    </m:d>
                    <m:r>
                      <a:rPr lang="en-GB" sz="2400" b="0" i="1" smtClean="0">
                        <a:latin typeface="Cambria Math" panose="02040503050406030204" pitchFamily="18" charset="0"/>
                      </a:rPr>
                      <m:t>= </m:t>
                    </m:r>
                    <m:func>
                      <m:funcPr>
                        <m:ctrlPr>
                          <a:rPr lang="en-GB" sz="2400" b="0" i="0" smtClean="0">
                            <a:latin typeface="Cambria Math" panose="02040503050406030204" pitchFamily="18" charset="0"/>
                          </a:rPr>
                        </m:ctrlPr>
                      </m:funcPr>
                      <m:fName>
                        <m:r>
                          <m:rPr>
                            <m:sty m:val="p"/>
                          </m:rPr>
                          <a:rPr lang="en-GB" sz="2400" b="0" i="0" smtClean="0">
                            <a:latin typeface="Cambria Math" panose="02040503050406030204" pitchFamily="18" charset="0"/>
                          </a:rPr>
                          <m:t>cos</m:t>
                        </m:r>
                      </m:fName>
                      <m:e>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𝑖</m:t>
                                </m:r>
                              </m:num>
                              <m:den>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10000</m:t>
                                    </m:r>
                                  </m:e>
                                  <m:sup>
                                    <m:f>
                                      <m:fPr>
                                        <m:type m:val="lin"/>
                                        <m:ctrlPr>
                                          <a:rPr lang="en-GB" sz="2400" b="0" i="1" smtClean="0">
                                            <a:latin typeface="Cambria Math" panose="02040503050406030204" pitchFamily="18" charset="0"/>
                                          </a:rPr>
                                        </m:ctrlPr>
                                      </m:fPr>
                                      <m:num>
                                        <m:r>
                                          <a:rPr lang="en-GB" sz="2400" b="0" i="1" smtClean="0">
                                            <a:latin typeface="Cambria Math" panose="02040503050406030204" pitchFamily="18" charset="0"/>
                                          </a:rPr>
                                          <m:t>2</m:t>
                                        </m:r>
                                        <m:r>
                                          <a:rPr lang="en-GB" sz="2400" b="0" i="1" smtClean="0">
                                            <a:latin typeface="Cambria Math" panose="02040503050406030204" pitchFamily="18" charset="0"/>
                                          </a:rPr>
                                          <m:t>𝑗</m:t>
                                        </m:r>
                                      </m:num>
                                      <m:den>
                                        <m:r>
                                          <a:rPr lang="en-GB" sz="2400" b="0" i="1" smtClean="0">
                                            <a:latin typeface="Cambria Math" panose="02040503050406030204" pitchFamily="18" charset="0"/>
                                          </a:rPr>
                                          <m:t>𝑑</m:t>
                                        </m:r>
                                      </m:den>
                                    </m:f>
                                  </m:sup>
                                </m:sSup>
                              </m:den>
                            </m:f>
                          </m:e>
                        </m:d>
                      </m:e>
                    </m:func>
                  </m:oMath>
                </a14:m>
                <a:endParaRPr lang="en-GB" sz="2400" dirty="0"/>
              </a:p>
            </p:txBody>
          </p:sp>
        </mc:Choice>
        <mc:Fallback xmlns="">
          <p:sp>
            <p:nvSpPr>
              <p:cNvPr id="7" name="TextBox 6">
                <a:extLst>
                  <a:ext uri="{FF2B5EF4-FFF2-40B4-BE49-F238E27FC236}">
                    <a16:creationId xmlns:a16="http://schemas.microsoft.com/office/drawing/2014/main" id="{7C9FE25B-3D79-7685-021D-0AE8CD6FB25F}"/>
                  </a:ext>
                </a:extLst>
              </p:cNvPr>
              <p:cNvSpPr txBox="1">
                <a:spLocks noRot="1" noChangeAspect="1" noMove="1" noResize="1" noEditPoints="1" noAdjustHandles="1" noChangeArrowheads="1" noChangeShapeType="1" noTextEdit="1"/>
              </p:cNvSpPr>
              <p:nvPr/>
            </p:nvSpPr>
            <p:spPr>
              <a:xfrm>
                <a:off x="909205" y="1241714"/>
                <a:ext cx="4729212" cy="2305759"/>
              </a:xfrm>
              <a:prstGeom prst="rect">
                <a:avLst/>
              </a:prstGeom>
              <a:blipFill>
                <a:blip r:embed="rId3"/>
                <a:stretch>
                  <a:fillRect l="-1675" t="-2116"/>
                </a:stretch>
              </a:blipFill>
            </p:spPr>
            <p:txBody>
              <a:bodyPr/>
              <a:lstStyle/>
              <a:p>
                <a:r>
                  <a:rPr lang="en-GB">
                    <a:noFill/>
                  </a:rPr>
                  <a:t> </a:t>
                </a:r>
              </a:p>
            </p:txBody>
          </p:sp>
        </mc:Fallback>
      </mc:AlternateContent>
      <p:sp>
        <p:nvSpPr>
          <p:cNvPr id="68" name="TextBox 67">
            <a:extLst>
              <a:ext uri="{FF2B5EF4-FFF2-40B4-BE49-F238E27FC236}">
                <a16:creationId xmlns:a16="http://schemas.microsoft.com/office/drawing/2014/main" id="{CC05865C-D5A0-F2FF-5455-837FBA0AF748}"/>
              </a:ext>
            </a:extLst>
          </p:cNvPr>
          <p:cNvSpPr txBox="1"/>
          <p:nvPr/>
        </p:nvSpPr>
        <p:spPr>
          <a:xfrm>
            <a:off x="5638800" y="2973294"/>
            <a:ext cx="65" cy="276999"/>
          </a:xfrm>
          <a:prstGeom prst="rect">
            <a:avLst/>
          </a:prstGeom>
          <a:noFill/>
        </p:spPr>
        <p:txBody>
          <a:bodyPr wrap="none" lIns="0" tIns="0" rIns="0" bIns="0" rtlCol="0">
            <a:spAutoFit/>
          </a:bodyPr>
          <a:lstStyle/>
          <a:p>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FA1C108-0CD6-40B1-F9D1-83286200A9EE}"/>
                  </a:ext>
                </a:extLst>
              </p:cNvPr>
              <p:cNvSpPr txBox="1"/>
              <p:nvPr/>
            </p:nvSpPr>
            <p:spPr>
              <a:xfrm>
                <a:off x="5278582" y="2444088"/>
                <a:ext cx="2743135" cy="461665"/>
              </a:xfrm>
              <a:prstGeom prst="rect">
                <a:avLst/>
              </a:prstGeom>
              <a:noFill/>
            </p:spPr>
            <p:txBody>
              <a:bodyPr wrap="square" rtlCol="0">
                <a:spAutoFit/>
              </a:bodyPr>
              <a:lstStyle/>
              <a:p>
                <a:pPr/>
                <a14:m>
                  <m:oMathPara xmlns:m="http://schemas.openxmlformats.org/officeDocument/2006/math">
                    <m:oMath>
                      <m:r>
                        <a:rPr lang="en-GB" sz="2400" b="0" i="1" smtClean="0">
                          <a:latin typeface="Cambria Math" panose="02040503050406030204" pitchFamily="18" charset="0"/>
                        </a:rPr>
                        <m:t>𝑗</m:t>
                      </m:r>
                      <m:r>
                        <a:rPr lang="en-GB" sz="2400" b="0" i="1" smtClean="0">
                          <a:latin typeface="Cambria Math" panose="02040503050406030204" pitchFamily="18" charset="0"/>
                        </a:rPr>
                        <m:t>=1,2,…,</m:t>
                      </m:r>
                      <m:d>
                        <m:dPr>
                          <m:begChr m:val="⌊"/>
                          <m:endChr m:val="⌋"/>
                          <m:ctrlPr>
                            <a:rPr lang="en-GB" sz="2400" b="0" i="1" smtClean="0">
                              <a:latin typeface="Cambria Math" panose="02040503050406030204" pitchFamily="18" charset="0"/>
                            </a:rPr>
                          </m:ctrlPr>
                        </m:dPr>
                        <m:e>
                          <m:r>
                            <a:rPr lang="en-GB" sz="2400" b="0" i="1" smtClean="0">
                              <a:latin typeface="Cambria Math" panose="02040503050406030204" pitchFamily="18" charset="0"/>
                            </a:rPr>
                            <m:t>𝑑</m:t>
                          </m:r>
                          <m:r>
                            <a:rPr lang="en-GB" sz="2400" b="0" i="1" smtClean="0">
                              <a:latin typeface="Cambria Math" panose="02040503050406030204" pitchFamily="18" charset="0"/>
                            </a:rPr>
                            <m:t>/2</m:t>
                          </m:r>
                        </m:e>
                      </m:d>
                    </m:oMath>
                  </m:oMathPara>
                </a14:m>
                <a:endParaRPr lang="en-GB" sz="2400" dirty="0"/>
              </a:p>
            </p:txBody>
          </p:sp>
        </mc:Choice>
        <mc:Fallback xmlns="">
          <p:sp>
            <p:nvSpPr>
              <p:cNvPr id="3" name="TextBox 2">
                <a:extLst>
                  <a:ext uri="{FF2B5EF4-FFF2-40B4-BE49-F238E27FC236}">
                    <a16:creationId xmlns:a16="http://schemas.microsoft.com/office/drawing/2014/main" id="{6FA1C108-0CD6-40B1-F9D1-83286200A9EE}"/>
                  </a:ext>
                </a:extLst>
              </p:cNvPr>
              <p:cNvSpPr txBox="1">
                <a:spLocks noRot="1" noChangeAspect="1" noMove="1" noResize="1" noEditPoints="1" noAdjustHandles="1" noChangeArrowheads="1" noChangeShapeType="1" noTextEdit="1"/>
              </p:cNvSpPr>
              <p:nvPr/>
            </p:nvSpPr>
            <p:spPr>
              <a:xfrm>
                <a:off x="5278582" y="2444088"/>
                <a:ext cx="2743135" cy="461665"/>
              </a:xfrm>
              <a:prstGeom prst="rect">
                <a:avLst/>
              </a:prstGeom>
              <a:blipFill>
                <a:blip r:embed="rId4"/>
                <a:stretch>
                  <a:fillRect b="-15789"/>
                </a:stretch>
              </a:blipFill>
            </p:spPr>
            <p:txBody>
              <a:bodyPr/>
              <a:lstStyle/>
              <a:p>
                <a:r>
                  <a:rPr lang="en-GB">
                    <a:noFill/>
                  </a:rPr>
                  <a:t> </a:t>
                </a:r>
              </a:p>
            </p:txBody>
          </p:sp>
        </mc:Fallback>
      </mc:AlternateContent>
    </p:spTree>
    <p:extLst>
      <p:ext uri="{BB962C8B-B14F-4D97-AF65-F5344CB8AC3E}">
        <p14:creationId xmlns:p14="http://schemas.microsoft.com/office/powerpoint/2010/main" val="33730065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3821-AF06-43B4-DB0B-5736918DB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69A2A-D420-4680-AB62-C95B754419BC}"/>
              </a:ext>
            </a:extLst>
          </p:cNvPr>
          <p:cNvSpPr>
            <a:spLocks noGrp="1"/>
          </p:cNvSpPr>
          <p:nvPr>
            <p:ph type="title"/>
          </p:nvPr>
        </p:nvSpPr>
        <p:spPr>
          <a:xfrm>
            <a:off x="838200" y="365125"/>
            <a:ext cx="10515600" cy="741507"/>
          </a:xfrm>
        </p:spPr>
        <p:txBody>
          <a:bodyPr/>
          <a:lstStyle/>
          <a:p>
            <a:r>
              <a:rPr lang="en-GB" dirty="0"/>
              <a:t>Positional encoding</a:t>
            </a:r>
          </a:p>
        </p:txBody>
      </p:sp>
      <p:sp>
        <p:nvSpPr>
          <p:cNvPr id="4" name="Slide Number Placeholder 3">
            <a:extLst>
              <a:ext uri="{FF2B5EF4-FFF2-40B4-BE49-F238E27FC236}">
                <a16:creationId xmlns:a16="http://schemas.microsoft.com/office/drawing/2014/main" id="{4287F932-82C6-6FD4-5FAE-D491CCAFC614}"/>
              </a:ext>
            </a:extLst>
          </p:cNvPr>
          <p:cNvSpPr>
            <a:spLocks noGrp="1"/>
          </p:cNvSpPr>
          <p:nvPr>
            <p:ph type="sldNum" sz="quarter" idx="12"/>
          </p:nvPr>
        </p:nvSpPr>
        <p:spPr/>
        <p:txBody>
          <a:bodyPr/>
          <a:lstStyle/>
          <a:p>
            <a:fld id="{13DE89AE-BBCC-45F3-BDAA-E98C74995322}" type="slidenum">
              <a:rPr lang="en-GB" smtClean="0"/>
              <a:t>47</a:t>
            </a:fld>
            <a:endParaRPr lang="en-GB"/>
          </a:p>
        </p:txBody>
      </p:sp>
      <p:sp>
        <p:nvSpPr>
          <p:cNvPr id="7" name="TextBox 6">
            <a:extLst>
              <a:ext uri="{FF2B5EF4-FFF2-40B4-BE49-F238E27FC236}">
                <a16:creationId xmlns:a16="http://schemas.microsoft.com/office/drawing/2014/main" id="{203AFDAA-305A-5793-755B-E1BA2CFEA433}"/>
              </a:ext>
            </a:extLst>
          </p:cNvPr>
          <p:cNvSpPr txBox="1"/>
          <p:nvPr/>
        </p:nvSpPr>
        <p:spPr>
          <a:xfrm>
            <a:off x="909204" y="1241714"/>
            <a:ext cx="8993331" cy="461665"/>
          </a:xfrm>
          <a:prstGeom prst="rect">
            <a:avLst/>
          </a:prstGeom>
          <a:noFill/>
        </p:spPr>
        <p:txBody>
          <a:bodyPr wrap="square" rtlCol="0">
            <a:spAutoFit/>
          </a:bodyPr>
          <a:lstStyle/>
          <a:p>
            <a:pPr marL="285750" indent="-285750">
              <a:buFont typeface="Arial" panose="020B0604020202020204" pitchFamily="34" charset="0"/>
              <a:buChar char="•"/>
            </a:pPr>
            <a:r>
              <a:rPr lang="en-GB" sz="2400" dirty="0"/>
              <a:t>Putting it all together (finally!)</a:t>
            </a:r>
          </a:p>
        </p:txBody>
      </p:sp>
      <p:sp>
        <p:nvSpPr>
          <p:cNvPr id="68" name="TextBox 67">
            <a:extLst>
              <a:ext uri="{FF2B5EF4-FFF2-40B4-BE49-F238E27FC236}">
                <a16:creationId xmlns:a16="http://schemas.microsoft.com/office/drawing/2014/main" id="{BD79E5A3-5E5E-045D-616E-6C1DC114D945}"/>
              </a:ext>
            </a:extLst>
          </p:cNvPr>
          <p:cNvSpPr txBox="1"/>
          <p:nvPr/>
        </p:nvSpPr>
        <p:spPr>
          <a:xfrm>
            <a:off x="5638800" y="2973294"/>
            <a:ext cx="65" cy="276999"/>
          </a:xfrm>
          <a:prstGeom prst="rect">
            <a:avLst/>
          </a:prstGeom>
          <a:noFill/>
        </p:spPr>
        <p:txBody>
          <a:bodyPr wrap="none" lIns="0" tIns="0" rIns="0" bIns="0" rtlCol="0">
            <a:spAutoFit/>
          </a:bodyPr>
          <a:lstStyle/>
          <a:p>
            <a:endParaRPr lang="en-GB" dirty="0"/>
          </a:p>
        </p:txBody>
      </p:sp>
      <p:grpSp>
        <p:nvGrpSpPr>
          <p:cNvPr id="5" name="Group 4">
            <a:extLst>
              <a:ext uri="{FF2B5EF4-FFF2-40B4-BE49-F238E27FC236}">
                <a16:creationId xmlns:a16="http://schemas.microsoft.com/office/drawing/2014/main" id="{57CFED48-6239-40B7-FA3C-ABD29A195CEF}"/>
              </a:ext>
            </a:extLst>
          </p:cNvPr>
          <p:cNvGrpSpPr/>
          <p:nvPr/>
        </p:nvGrpSpPr>
        <p:grpSpPr>
          <a:xfrm>
            <a:off x="54006" y="2364385"/>
            <a:ext cx="2061635" cy="2032177"/>
            <a:chOff x="89547" y="2013510"/>
            <a:chExt cx="2061635" cy="2032177"/>
          </a:xfrm>
        </p:grpSpPr>
        <p:sp>
          <p:nvSpPr>
            <p:cNvPr id="37" name="TextBox 36">
              <a:extLst>
                <a:ext uri="{FF2B5EF4-FFF2-40B4-BE49-F238E27FC236}">
                  <a16:creationId xmlns:a16="http://schemas.microsoft.com/office/drawing/2014/main" id="{E0C2F9FF-2B33-C708-4D6C-6148852B5370}"/>
                </a:ext>
              </a:extLst>
            </p:cNvPr>
            <p:cNvSpPr txBox="1"/>
            <p:nvPr/>
          </p:nvSpPr>
          <p:spPr>
            <a:xfrm>
              <a:off x="287706" y="2013510"/>
              <a:ext cx="1524032" cy="369332"/>
            </a:xfrm>
            <a:prstGeom prst="rect">
              <a:avLst/>
            </a:prstGeom>
            <a:noFill/>
          </p:spPr>
          <p:txBody>
            <a:bodyPr wrap="square" rtlCol="0">
              <a:spAutoFit/>
            </a:bodyPr>
            <a:lstStyle/>
            <a:p>
              <a:pPr algn="ctr"/>
              <a:r>
                <a:rPr lang="en-GB" dirty="0"/>
                <a:t>Input embeddings</a:t>
              </a:r>
            </a:p>
          </p:txBody>
        </p:sp>
        <p:graphicFrame>
          <p:nvGraphicFramePr>
            <p:cNvPr id="38" name="Content Placeholder 4">
              <a:extLst>
                <a:ext uri="{FF2B5EF4-FFF2-40B4-BE49-F238E27FC236}">
                  <a16:creationId xmlns:a16="http://schemas.microsoft.com/office/drawing/2014/main" id="{A0F3D90B-FE8B-81EC-C61E-C29C0076188D}"/>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grpSp>
      <p:grpSp>
        <p:nvGrpSpPr>
          <p:cNvPr id="6" name="Group 5">
            <a:extLst>
              <a:ext uri="{FF2B5EF4-FFF2-40B4-BE49-F238E27FC236}">
                <a16:creationId xmlns:a16="http://schemas.microsoft.com/office/drawing/2014/main" id="{07B07CB5-DEC8-F2E5-3E2B-741825493281}"/>
              </a:ext>
            </a:extLst>
          </p:cNvPr>
          <p:cNvGrpSpPr/>
          <p:nvPr/>
        </p:nvGrpSpPr>
        <p:grpSpPr>
          <a:xfrm>
            <a:off x="10089114" y="2367928"/>
            <a:ext cx="2061635" cy="2032177"/>
            <a:chOff x="89547" y="2013510"/>
            <a:chExt cx="2061635" cy="2032177"/>
          </a:xfrm>
        </p:grpSpPr>
        <p:sp>
          <p:nvSpPr>
            <p:cNvPr id="35" name="TextBox 34">
              <a:extLst>
                <a:ext uri="{FF2B5EF4-FFF2-40B4-BE49-F238E27FC236}">
                  <a16:creationId xmlns:a16="http://schemas.microsoft.com/office/drawing/2014/main" id="{1ACE8EF3-327D-C723-18F4-9028FEC7EA35}"/>
                </a:ext>
              </a:extLst>
            </p:cNvPr>
            <p:cNvSpPr txBox="1"/>
            <p:nvPr/>
          </p:nvSpPr>
          <p:spPr>
            <a:xfrm>
              <a:off x="287706" y="2013510"/>
              <a:ext cx="1524032" cy="646331"/>
            </a:xfrm>
            <a:prstGeom prst="rect">
              <a:avLst/>
            </a:prstGeom>
            <a:noFill/>
          </p:spPr>
          <p:txBody>
            <a:bodyPr wrap="square" rtlCol="0">
              <a:spAutoFit/>
            </a:bodyPr>
            <a:lstStyle/>
            <a:p>
              <a:pPr algn="ctr"/>
              <a:r>
                <a:rPr lang="en-GB" dirty="0"/>
                <a:t>Output embeddings</a:t>
              </a:r>
            </a:p>
          </p:txBody>
        </p:sp>
        <p:graphicFrame>
          <p:nvGraphicFramePr>
            <p:cNvPr id="36" name="Content Placeholder 4">
              <a:extLst>
                <a:ext uri="{FF2B5EF4-FFF2-40B4-BE49-F238E27FC236}">
                  <a16:creationId xmlns:a16="http://schemas.microsoft.com/office/drawing/2014/main" id="{913C4022-0B69-D011-12A9-EB5BD9C7A155}"/>
                </a:ext>
              </a:extLst>
            </p:cNvPr>
            <p:cNvGraphicFramePr>
              <a:graphicFrameLocks/>
            </p:cNvGraphicFramePr>
            <p:nvPr/>
          </p:nvGraphicFramePr>
          <p:xfrm>
            <a:off x="89547" y="2606172"/>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a:t>the</a:t>
                        </a:r>
                      </a:p>
                    </a:txBody>
                    <a:tcPr/>
                  </a:tc>
                  <a:tc>
                    <a:txBody>
                      <a:bodyPr/>
                      <a:lstStyle/>
                      <a:p>
                        <a:r>
                          <a:rPr lang="en-GB" sz="1200" dirty="0"/>
                          <a:t>cat</a:t>
                        </a:r>
                      </a:p>
                    </a:txBody>
                    <a:tcPr/>
                  </a:tc>
                  <a:tc>
                    <a:txBody>
                      <a:bodyPr/>
                      <a:lstStyle/>
                      <a:p>
                        <a:r>
                          <a:rPr lang="en-GB" sz="1200" dirty="0"/>
                          <a:t>sat</a:t>
                        </a:r>
                      </a:p>
                    </a:txBody>
                    <a:tcPr/>
                  </a:tc>
                  <a:tc>
                    <a:txBody>
                      <a:bodyPr/>
                      <a:lstStyle/>
                      <a:p>
                        <a:r>
                          <a:rPr lang="en-GB" sz="1200" dirty="0"/>
                          <a:t>on</a:t>
                        </a:r>
                      </a:p>
                    </a:txBody>
                    <a:tcPr/>
                  </a:tc>
                  <a:tc>
                    <a:txBody>
                      <a:bodyPr/>
                      <a:lstStyle/>
                      <a:p>
                        <a:r>
                          <a:rPr lang="en-GB" sz="1200" dirty="0"/>
                          <a:t>the</a:t>
                        </a:r>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tc>
                    <a:txBody>
                      <a:bodyPr/>
                      <a:lstStyle/>
                      <a:p>
                        <a:endParaRPr lang="en-GB" sz="1200" dirty="0"/>
                      </a:p>
                    </a:txBody>
                    <a:tcPr>
                      <a:solidFill>
                        <a:schemeClr val="accent5"/>
                      </a:solidFill>
                    </a:tcPr>
                  </a:tc>
                  <a:extLst>
                    <a:ext uri="{0D108BD9-81ED-4DB2-BD59-A6C34878D82A}">
                      <a16:rowId xmlns:a16="http://schemas.microsoft.com/office/drawing/2014/main" val="2234228111"/>
                    </a:ext>
                  </a:extLst>
                </a:tr>
              </a:tbl>
            </a:graphicData>
          </a:graphic>
        </p:graphicFrame>
      </p:grpSp>
      <p:grpSp>
        <p:nvGrpSpPr>
          <p:cNvPr id="39" name="Group 38">
            <a:extLst>
              <a:ext uri="{FF2B5EF4-FFF2-40B4-BE49-F238E27FC236}">
                <a16:creationId xmlns:a16="http://schemas.microsoft.com/office/drawing/2014/main" id="{372EFF00-DB6E-E9D5-60EC-064C3EEA636D}"/>
              </a:ext>
            </a:extLst>
          </p:cNvPr>
          <p:cNvGrpSpPr/>
          <p:nvPr/>
        </p:nvGrpSpPr>
        <p:grpSpPr>
          <a:xfrm>
            <a:off x="2105669" y="2801056"/>
            <a:ext cx="7666799" cy="1741970"/>
            <a:chOff x="2105669" y="2805818"/>
            <a:chExt cx="7666799" cy="1741970"/>
          </a:xfrm>
        </p:grpSpPr>
        <p:cxnSp>
          <p:nvCxnSpPr>
            <p:cNvPr id="11" name="Straight Arrow Connector 10">
              <a:extLst>
                <a:ext uri="{FF2B5EF4-FFF2-40B4-BE49-F238E27FC236}">
                  <a16:creationId xmlns:a16="http://schemas.microsoft.com/office/drawing/2014/main" id="{C0ED708D-09B6-445B-7E2F-6EC0962B126A}"/>
                </a:ext>
              </a:extLst>
            </p:cNvPr>
            <p:cNvCxnSpPr>
              <a:cxnSpLocks/>
            </p:cNvCxnSpPr>
            <p:nvPr/>
          </p:nvCxnSpPr>
          <p:spPr>
            <a:xfrm>
              <a:off x="2105669" y="3669713"/>
              <a:ext cx="429940" cy="709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08C0B1FE-ABCB-5EF5-9AB9-33DE7D47C138}"/>
                </a:ext>
              </a:extLst>
            </p:cNvPr>
            <p:cNvGrpSpPr/>
            <p:nvPr/>
          </p:nvGrpSpPr>
          <p:grpSpPr>
            <a:xfrm>
              <a:off x="3030243" y="2812908"/>
              <a:ext cx="887819" cy="1727791"/>
              <a:chOff x="3697272" y="2812908"/>
              <a:chExt cx="1249325" cy="1727791"/>
            </a:xfrm>
          </p:grpSpPr>
          <p:sp>
            <p:nvSpPr>
              <p:cNvPr id="33" name="Rectangle: Rounded Corners 32">
                <a:extLst>
                  <a:ext uri="{FF2B5EF4-FFF2-40B4-BE49-F238E27FC236}">
                    <a16:creationId xmlns:a16="http://schemas.microsoft.com/office/drawing/2014/main" id="{EF864853-DCDF-6BA6-19C3-8CE682A58B57}"/>
                  </a:ext>
                </a:extLst>
              </p:cNvPr>
              <p:cNvSpPr/>
              <p:nvPr/>
            </p:nvSpPr>
            <p:spPr>
              <a:xfrm>
                <a:off x="3697272"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A92F4B53-013E-9976-B908-FE42769E604A}"/>
                  </a:ext>
                </a:extLst>
              </p:cNvPr>
              <p:cNvSpPr txBox="1"/>
              <p:nvPr/>
            </p:nvSpPr>
            <p:spPr>
              <a:xfrm>
                <a:off x="4030884"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13" name="Group 12">
              <a:extLst>
                <a:ext uri="{FF2B5EF4-FFF2-40B4-BE49-F238E27FC236}">
                  <a16:creationId xmlns:a16="http://schemas.microsoft.com/office/drawing/2014/main" id="{48747314-B2C9-89C3-6A79-CDA04ED4BE9F}"/>
                </a:ext>
              </a:extLst>
            </p:cNvPr>
            <p:cNvGrpSpPr/>
            <p:nvPr/>
          </p:nvGrpSpPr>
          <p:grpSpPr>
            <a:xfrm>
              <a:off x="4202436" y="2805818"/>
              <a:ext cx="887820" cy="1727791"/>
              <a:chOff x="3583735" y="2812908"/>
              <a:chExt cx="1249324" cy="1727791"/>
            </a:xfrm>
          </p:grpSpPr>
          <p:sp>
            <p:nvSpPr>
              <p:cNvPr id="31" name="Rectangle: Rounded Corners 30">
                <a:extLst>
                  <a:ext uri="{FF2B5EF4-FFF2-40B4-BE49-F238E27FC236}">
                    <a16:creationId xmlns:a16="http://schemas.microsoft.com/office/drawing/2014/main" id="{85A5497D-35C8-49A1-3AE2-8372E4276CEB}"/>
                  </a:ext>
                </a:extLst>
              </p:cNvPr>
              <p:cNvSpPr/>
              <p:nvPr/>
            </p:nvSpPr>
            <p:spPr>
              <a:xfrm>
                <a:off x="3583735" y="2812908"/>
                <a:ext cx="1249324"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1D468C3C-C3C3-855A-15D3-AC24DC3C8D10}"/>
                  </a:ext>
                </a:extLst>
              </p:cNvPr>
              <p:cNvSpPr txBox="1"/>
              <p:nvPr/>
            </p:nvSpPr>
            <p:spPr>
              <a:xfrm>
                <a:off x="3900508"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14" name="Group 13">
              <a:extLst>
                <a:ext uri="{FF2B5EF4-FFF2-40B4-BE49-F238E27FC236}">
                  <a16:creationId xmlns:a16="http://schemas.microsoft.com/office/drawing/2014/main" id="{554773FD-8323-447C-C590-A863F69F8C91}"/>
                </a:ext>
              </a:extLst>
            </p:cNvPr>
            <p:cNvGrpSpPr/>
            <p:nvPr/>
          </p:nvGrpSpPr>
          <p:grpSpPr>
            <a:xfrm>
              <a:off x="5378487" y="2811135"/>
              <a:ext cx="887819" cy="1727791"/>
              <a:chOff x="3476500" y="2812908"/>
              <a:chExt cx="1249325" cy="1727791"/>
            </a:xfrm>
          </p:grpSpPr>
          <p:sp>
            <p:nvSpPr>
              <p:cNvPr id="29" name="Rectangle: Rounded Corners 28">
                <a:extLst>
                  <a:ext uri="{FF2B5EF4-FFF2-40B4-BE49-F238E27FC236}">
                    <a16:creationId xmlns:a16="http://schemas.microsoft.com/office/drawing/2014/main" id="{B045403E-58BD-BADF-6133-DB981690B554}"/>
                  </a:ext>
                </a:extLst>
              </p:cNvPr>
              <p:cNvSpPr/>
              <p:nvPr/>
            </p:nvSpPr>
            <p:spPr>
              <a:xfrm>
                <a:off x="3476500"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0F446365-8266-105E-2BAB-6C27C6DF4370}"/>
                  </a:ext>
                </a:extLst>
              </p:cNvPr>
              <p:cNvSpPr txBox="1"/>
              <p:nvPr/>
            </p:nvSpPr>
            <p:spPr>
              <a:xfrm>
                <a:off x="3810112" y="2964678"/>
                <a:ext cx="800219" cy="1431884"/>
              </a:xfrm>
              <a:prstGeom prst="rect">
                <a:avLst/>
              </a:prstGeom>
              <a:noFill/>
            </p:spPr>
            <p:txBody>
              <a:bodyPr vert="vert" wrap="square" rtlCol="0">
                <a:spAutoFit/>
              </a:bodyPr>
              <a:lstStyle/>
              <a:p>
                <a:pPr algn="ctr"/>
                <a:r>
                  <a:rPr lang="en-GB" sz="2000" dirty="0"/>
                  <a:t>Transformer Block</a:t>
                </a:r>
              </a:p>
            </p:txBody>
          </p:sp>
        </p:grpSp>
        <p:grpSp>
          <p:nvGrpSpPr>
            <p:cNvPr id="15" name="Group 14">
              <a:extLst>
                <a:ext uri="{FF2B5EF4-FFF2-40B4-BE49-F238E27FC236}">
                  <a16:creationId xmlns:a16="http://schemas.microsoft.com/office/drawing/2014/main" id="{D7428ACD-9326-439F-3FBB-CE40E880F458}"/>
                </a:ext>
              </a:extLst>
            </p:cNvPr>
            <p:cNvGrpSpPr/>
            <p:nvPr/>
          </p:nvGrpSpPr>
          <p:grpSpPr>
            <a:xfrm>
              <a:off x="6546877" y="2816451"/>
              <a:ext cx="887820" cy="1727791"/>
              <a:chOff x="3351561" y="2812908"/>
              <a:chExt cx="1249325" cy="1727791"/>
            </a:xfrm>
          </p:grpSpPr>
          <p:sp>
            <p:nvSpPr>
              <p:cNvPr id="27" name="Rectangle: Rounded Corners 26">
                <a:extLst>
                  <a:ext uri="{FF2B5EF4-FFF2-40B4-BE49-F238E27FC236}">
                    <a16:creationId xmlns:a16="http://schemas.microsoft.com/office/drawing/2014/main" id="{078B31A4-D9D8-2EC9-1129-800F8C8A60C2}"/>
                  </a:ext>
                </a:extLst>
              </p:cNvPr>
              <p:cNvSpPr/>
              <p:nvPr/>
            </p:nvSpPr>
            <p:spPr>
              <a:xfrm>
                <a:off x="3351561"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033A5E44-6818-6C1A-5FD0-080B24EDAC20}"/>
                  </a:ext>
                </a:extLst>
              </p:cNvPr>
              <p:cNvSpPr txBox="1"/>
              <p:nvPr/>
            </p:nvSpPr>
            <p:spPr>
              <a:xfrm>
                <a:off x="3685178" y="2964678"/>
                <a:ext cx="800218" cy="1431884"/>
              </a:xfrm>
              <a:prstGeom prst="rect">
                <a:avLst/>
              </a:prstGeom>
              <a:noFill/>
            </p:spPr>
            <p:txBody>
              <a:bodyPr vert="vert" wrap="square" rtlCol="0">
                <a:spAutoFit/>
              </a:bodyPr>
              <a:lstStyle/>
              <a:p>
                <a:pPr algn="ctr"/>
                <a:r>
                  <a:rPr lang="en-GB" sz="2000" dirty="0"/>
                  <a:t>Transformer Block</a:t>
                </a:r>
              </a:p>
            </p:txBody>
          </p:sp>
        </p:grpSp>
        <p:grpSp>
          <p:nvGrpSpPr>
            <p:cNvPr id="16" name="Group 15">
              <a:extLst>
                <a:ext uri="{FF2B5EF4-FFF2-40B4-BE49-F238E27FC236}">
                  <a16:creationId xmlns:a16="http://schemas.microsoft.com/office/drawing/2014/main" id="{67241B44-70DD-A1A4-CC73-17DC2971F7AF}"/>
                </a:ext>
              </a:extLst>
            </p:cNvPr>
            <p:cNvGrpSpPr/>
            <p:nvPr/>
          </p:nvGrpSpPr>
          <p:grpSpPr>
            <a:xfrm>
              <a:off x="7725961" y="2816453"/>
              <a:ext cx="887819" cy="1727791"/>
              <a:chOff x="3245431" y="2812908"/>
              <a:chExt cx="1249325" cy="1727791"/>
            </a:xfrm>
          </p:grpSpPr>
          <p:sp>
            <p:nvSpPr>
              <p:cNvPr id="25" name="Rectangle: Rounded Corners 24">
                <a:extLst>
                  <a:ext uri="{FF2B5EF4-FFF2-40B4-BE49-F238E27FC236}">
                    <a16:creationId xmlns:a16="http://schemas.microsoft.com/office/drawing/2014/main" id="{5153A968-F77A-4F9C-6F13-B7B05547B7EA}"/>
                  </a:ext>
                </a:extLst>
              </p:cNvPr>
              <p:cNvSpPr/>
              <p:nvPr/>
            </p:nvSpPr>
            <p:spPr>
              <a:xfrm>
                <a:off x="3245431"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1A3B5C07-97CE-E6D3-30D9-9C75699C65A6}"/>
                  </a:ext>
                </a:extLst>
              </p:cNvPr>
              <p:cNvSpPr txBox="1"/>
              <p:nvPr/>
            </p:nvSpPr>
            <p:spPr>
              <a:xfrm>
                <a:off x="3579043" y="2964678"/>
                <a:ext cx="800219" cy="1431884"/>
              </a:xfrm>
              <a:prstGeom prst="rect">
                <a:avLst/>
              </a:prstGeom>
              <a:noFill/>
            </p:spPr>
            <p:txBody>
              <a:bodyPr vert="vert" wrap="square" rtlCol="0">
                <a:spAutoFit/>
              </a:bodyPr>
              <a:lstStyle/>
              <a:p>
                <a:pPr algn="ctr"/>
                <a:r>
                  <a:rPr lang="en-GB" sz="2000" dirty="0"/>
                  <a:t>Transformer Block</a:t>
                </a:r>
              </a:p>
            </p:txBody>
          </p:sp>
        </p:grpSp>
        <p:cxnSp>
          <p:nvCxnSpPr>
            <p:cNvPr id="17" name="Straight Arrow Connector 16">
              <a:extLst>
                <a:ext uri="{FF2B5EF4-FFF2-40B4-BE49-F238E27FC236}">
                  <a16:creationId xmlns:a16="http://schemas.microsoft.com/office/drawing/2014/main" id="{22A9434E-1281-970B-2350-C5715F27E3B1}"/>
                </a:ext>
              </a:extLst>
            </p:cNvPr>
            <p:cNvCxnSpPr>
              <a:cxnSpLocks/>
            </p:cNvCxnSpPr>
            <p:nvPr/>
          </p:nvCxnSpPr>
          <p:spPr>
            <a:xfrm>
              <a:off x="3927102" y="3671486"/>
              <a:ext cx="276638" cy="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grpSp>
          <p:nvGrpSpPr>
            <p:cNvPr id="21" name="Group 20">
              <a:extLst>
                <a:ext uri="{FF2B5EF4-FFF2-40B4-BE49-F238E27FC236}">
                  <a16:creationId xmlns:a16="http://schemas.microsoft.com/office/drawing/2014/main" id="{B63B2784-CBED-13FE-FA73-059324376901}"/>
                </a:ext>
              </a:extLst>
            </p:cNvPr>
            <p:cNvGrpSpPr/>
            <p:nvPr/>
          </p:nvGrpSpPr>
          <p:grpSpPr>
            <a:xfrm>
              <a:off x="8884649" y="2819997"/>
              <a:ext cx="887819" cy="1727791"/>
              <a:chOff x="3126199" y="2812908"/>
              <a:chExt cx="1249325" cy="1727791"/>
            </a:xfrm>
          </p:grpSpPr>
          <p:sp>
            <p:nvSpPr>
              <p:cNvPr id="23" name="Rectangle: Rounded Corners 22">
                <a:extLst>
                  <a:ext uri="{FF2B5EF4-FFF2-40B4-BE49-F238E27FC236}">
                    <a16:creationId xmlns:a16="http://schemas.microsoft.com/office/drawing/2014/main" id="{C61413E9-0E55-245C-7CAD-6CE125C8250A}"/>
                  </a:ext>
                </a:extLst>
              </p:cNvPr>
              <p:cNvSpPr/>
              <p:nvPr/>
            </p:nvSpPr>
            <p:spPr>
              <a:xfrm>
                <a:off x="3126199" y="2812908"/>
                <a:ext cx="1249325" cy="1727791"/>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4C6CF291-DA6C-878B-772D-748E8A97CC2C}"/>
                  </a:ext>
                </a:extLst>
              </p:cNvPr>
              <p:cNvSpPr txBox="1"/>
              <p:nvPr/>
            </p:nvSpPr>
            <p:spPr>
              <a:xfrm>
                <a:off x="3459812" y="2964678"/>
                <a:ext cx="800219" cy="1431884"/>
              </a:xfrm>
              <a:prstGeom prst="rect">
                <a:avLst/>
              </a:prstGeom>
              <a:noFill/>
            </p:spPr>
            <p:txBody>
              <a:bodyPr vert="vert" wrap="square" rtlCol="0">
                <a:spAutoFit/>
              </a:bodyPr>
              <a:lstStyle/>
              <a:p>
                <a:pPr algn="ctr"/>
                <a:r>
                  <a:rPr lang="en-GB" sz="2000" dirty="0"/>
                  <a:t>Transformer Block</a:t>
                </a:r>
              </a:p>
            </p:txBody>
          </p:sp>
        </p:grpSp>
      </p:grpSp>
      <p:cxnSp>
        <p:nvCxnSpPr>
          <p:cNvPr id="10" name="Straight Arrow Connector 9">
            <a:extLst>
              <a:ext uri="{FF2B5EF4-FFF2-40B4-BE49-F238E27FC236}">
                <a16:creationId xmlns:a16="http://schemas.microsoft.com/office/drawing/2014/main" id="{7A52DD83-8E5A-47A3-3798-9BC537D2CF58}"/>
              </a:ext>
            </a:extLst>
          </p:cNvPr>
          <p:cNvCxnSpPr>
            <a:cxnSpLocks/>
          </p:cNvCxnSpPr>
          <p:nvPr/>
        </p:nvCxnSpPr>
        <p:spPr>
          <a:xfrm flipV="1">
            <a:off x="9764247" y="3661953"/>
            <a:ext cx="326339" cy="4018"/>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E0149CAD-8D38-1522-6F96-020E0EF6E304}"/>
              </a:ext>
            </a:extLst>
          </p:cNvPr>
          <p:cNvGrpSpPr/>
          <p:nvPr/>
        </p:nvGrpSpPr>
        <p:grpSpPr>
          <a:xfrm>
            <a:off x="51020" y="4692216"/>
            <a:ext cx="2061635" cy="2032177"/>
            <a:chOff x="51020" y="4692216"/>
            <a:chExt cx="2061635" cy="2032177"/>
          </a:xfrm>
        </p:grpSpPr>
        <p:sp>
          <p:nvSpPr>
            <p:cNvPr id="41" name="TextBox 40">
              <a:extLst>
                <a:ext uri="{FF2B5EF4-FFF2-40B4-BE49-F238E27FC236}">
                  <a16:creationId xmlns:a16="http://schemas.microsoft.com/office/drawing/2014/main" id="{9040BB08-BE1B-C009-B248-F8C0AF86107C}"/>
                </a:ext>
              </a:extLst>
            </p:cNvPr>
            <p:cNvSpPr txBox="1"/>
            <p:nvPr/>
          </p:nvSpPr>
          <p:spPr>
            <a:xfrm>
              <a:off x="249179" y="4692216"/>
              <a:ext cx="1524032" cy="646331"/>
            </a:xfrm>
            <a:prstGeom prst="rect">
              <a:avLst/>
            </a:prstGeom>
            <a:noFill/>
          </p:spPr>
          <p:txBody>
            <a:bodyPr wrap="square" rtlCol="0">
              <a:spAutoFit/>
            </a:bodyPr>
            <a:lstStyle/>
            <a:p>
              <a:pPr algn="ctr"/>
              <a:r>
                <a:rPr lang="en-GB" dirty="0"/>
                <a:t>Position encodings</a:t>
              </a:r>
            </a:p>
          </p:txBody>
        </p:sp>
        <p:graphicFrame>
          <p:nvGraphicFramePr>
            <p:cNvPr id="42" name="Content Placeholder 4">
              <a:extLst>
                <a:ext uri="{FF2B5EF4-FFF2-40B4-BE49-F238E27FC236}">
                  <a16:creationId xmlns:a16="http://schemas.microsoft.com/office/drawing/2014/main" id="{8CC5CC18-3493-8476-1C15-363AC800A05C}"/>
                </a:ext>
              </a:extLst>
            </p:cNvPr>
            <p:cNvGraphicFramePr>
              <a:graphicFrameLocks/>
            </p:cNvGraphicFramePr>
            <p:nvPr/>
          </p:nvGraphicFramePr>
          <p:xfrm>
            <a:off x="51020" y="5284878"/>
            <a:ext cx="2061635"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gridCol w="412327">
                    <a:extLst>
                      <a:ext uri="{9D8B030D-6E8A-4147-A177-3AD203B41FA5}">
                        <a16:colId xmlns:a16="http://schemas.microsoft.com/office/drawing/2014/main" val="858692082"/>
                      </a:ext>
                    </a:extLst>
                  </a:gridCol>
                  <a:gridCol w="412327">
                    <a:extLst>
                      <a:ext uri="{9D8B030D-6E8A-4147-A177-3AD203B41FA5}">
                        <a16:colId xmlns:a16="http://schemas.microsoft.com/office/drawing/2014/main" val="1217996601"/>
                      </a:ext>
                    </a:extLst>
                  </a:gridCol>
                  <a:gridCol w="412327">
                    <a:extLst>
                      <a:ext uri="{9D8B030D-6E8A-4147-A177-3AD203B41FA5}">
                        <a16:colId xmlns:a16="http://schemas.microsoft.com/office/drawing/2014/main" val="1242521241"/>
                      </a:ext>
                    </a:extLst>
                  </a:gridCol>
                  <a:gridCol w="412327">
                    <a:extLst>
                      <a:ext uri="{9D8B030D-6E8A-4147-A177-3AD203B41FA5}">
                        <a16:colId xmlns:a16="http://schemas.microsoft.com/office/drawing/2014/main" val="3847871238"/>
                      </a:ext>
                    </a:extLst>
                  </a:gridCol>
                </a:tblGrid>
                <a:tr h="287903">
                  <a:tc>
                    <a:txBody>
                      <a:bodyPr/>
                      <a:lstStyle/>
                      <a:p>
                        <a:r>
                          <a:rPr lang="en-GB" sz="1200" dirty="0" err="1"/>
                          <a:t>i</a:t>
                        </a:r>
                        <a:r>
                          <a:rPr lang="en-GB" sz="1200" dirty="0"/>
                          <a:t>=1</a:t>
                        </a:r>
                      </a:p>
                    </a:txBody>
                    <a:tcPr/>
                  </a:tc>
                  <a:tc>
                    <a:txBody>
                      <a:bodyPr/>
                      <a:lstStyle/>
                      <a:p>
                        <a:r>
                          <a:rPr lang="en-GB" sz="1200" dirty="0" err="1"/>
                          <a:t>i</a:t>
                        </a:r>
                        <a:r>
                          <a:rPr lang="en-GB" sz="1200" dirty="0"/>
                          <a:t>=2</a:t>
                        </a:r>
                      </a:p>
                    </a:txBody>
                    <a:tcPr/>
                  </a:tc>
                  <a:tc>
                    <a:txBody>
                      <a:bodyPr/>
                      <a:lstStyle/>
                      <a:p>
                        <a:r>
                          <a:rPr lang="en-GB" sz="1200" dirty="0" err="1"/>
                          <a:t>i</a:t>
                        </a:r>
                        <a:r>
                          <a:rPr lang="en-GB" sz="1200" dirty="0"/>
                          <a:t>=3</a:t>
                        </a:r>
                      </a:p>
                    </a:txBody>
                    <a:tcPr/>
                  </a:tc>
                  <a:tc>
                    <a:txBody>
                      <a:bodyPr/>
                      <a:lstStyle/>
                      <a:p>
                        <a:r>
                          <a:rPr lang="en-GB" sz="1200" dirty="0" err="1"/>
                          <a:t>i</a:t>
                        </a:r>
                        <a:r>
                          <a:rPr lang="en-GB" sz="1200" dirty="0"/>
                          <a:t>=4</a:t>
                        </a:r>
                      </a:p>
                    </a:txBody>
                    <a:tcPr/>
                  </a:tc>
                  <a:tc>
                    <a:txBody>
                      <a:bodyPr/>
                      <a:lstStyle/>
                      <a:p>
                        <a:r>
                          <a:rPr lang="en-GB" sz="1200" dirty="0" err="1"/>
                          <a:t>i</a:t>
                        </a:r>
                        <a:r>
                          <a:rPr lang="en-GB" sz="1200" dirty="0"/>
                          <a:t>=5</a:t>
                        </a:r>
                      </a:p>
                    </a:txBody>
                    <a:tcPr/>
                  </a:tc>
                  <a:extLst>
                    <a:ext uri="{0D108BD9-81ED-4DB2-BD59-A6C34878D82A}">
                      <a16:rowId xmlns:a16="http://schemas.microsoft.com/office/drawing/2014/main" val="696599091"/>
                    </a:ext>
                  </a:extLst>
                </a:tr>
                <a:tr h="287903">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extLst>
                    <a:ext uri="{0D108BD9-81ED-4DB2-BD59-A6C34878D82A}">
                      <a16:rowId xmlns:a16="http://schemas.microsoft.com/office/drawing/2014/main" val="1533931161"/>
                    </a:ext>
                  </a:extLst>
                </a:tr>
                <a:tr h="287903">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extLst>
                    <a:ext uri="{0D108BD9-81ED-4DB2-BD59-A6C34878D82A}">
                      <a16:rowId xmlns:a16="http://schemas.microsoft.com/office/drawing/2014/main" val="1732967676"/>
                    </a:ext>
                  </a:extLst>
                </a:tr>
                <a:tr h="287903">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extLst>
                    <a:ext uri="{0D108BD9-81ED-4DB2-BD59-A6C34878D82A}">
                      <a16:rowId xmlns:a16="http://schemas.microsoft.com/office/drawing/2014/main" val="3626587743"/>
                    </a:ext>
                  </a:extLst>
                </a:tr>
                <a:tr h="287903">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tc>
                    <a:txBody>
                      <a:bodyPr/>
                      <a:lstStyle/>
                      <a:p>
                        <a:endParaRPr lang="en-GB" sz="1200" dirty="0"/>
                      </a:p>
                    </a:txBody>
                    <a:tcPr>
                      <a:solidFill>
                        <a:srgbClr val="FFC000"/>
                      </a:solidFill>
                    </a:tcPr>
                  </a:tc>
                  <a:extLst>
                    <a:ext uri="{0D108BD9-81ED-4DB2-BD59-A6C34878D82A}">
                      <a16:rowId xmlns:a16="http://schemas.microsoft.com/office/drawing/2014/main" val="2234228111"/>
                    </a:ext>
                  </a:extLst>
                </a:tr>
              </a:tbl>
            </a:graphicData>
          </a:graphic>
        </p:graphicFrame>
      </p:grpSp>
      <p:sp>
        <p:nvSpPr>
          <p:cNvPr id="44" name="Flowchart: Or 43">
            <a:extLst>
              <a:ext uri="{FF2B5EF4-FFF2-40B4-BE49-F238E27FC236}">
                <a16:creationId xmlns:a16="http://schemas.microsoft.com/office/drawing/2014/main" id="{AD306987-C0E4-4133-D438-2F3DFBDB774E}"/>
              </a:ext>
            </a:extLst>
          </p:cNvPr>
          <p:cNvSpPr/>
          <p:nvPr/>
        </p:nvSpPr>
        <p:spPr>
          <a:xfrm>
            <a:off x="2320045" y="3472382"/>
            <a:ext cx="418353" cy="394445"/>
          </a:xfrm>
          <a:prstGeom prst="flowChartOr">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5" name="Straight Arrow Connector 44">
            <a:extLst>
              <a:ext uri="{FF2B5EF4-FFF2-40B4-BE49-F238E27FC236}">
                <a16:creationId xmlns:a16="http://schemas.microsoft.com/office/drawing/2014/main" id="{FDBCED73-6005-5C42-8DCF-62E98B1386A2}"/>
              </a:ext>
            </a:extLst>
          </p:cNvPr>
          <p:cNvCxnSpPr>
            <a:cxnSpLocks/>
          </p:cNvCxnSpPr>
          <p:nvPr/>
        </p:nvCxnSpPr>
        <p:spPr>
          <a:xfrm>
            <a:off x="2608325" y="3670401"/>
            <a:ext cx="429940" cy="7090"/>
          </a:xfrm>
          <a:prstGeom prst="straightConnector1">
            <a:avLst/>
          </a:prstGeom>
          <a:ln w="317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1432E2D5-F93D-76E1-3AE3-997FDCC2ED6A}"/>
              </a:ext>
            </a:extLst>
          </p:cNvPr>
          <p:cNvCxnSpPr>
            <a:cxnSpLocks/>
          </p:cNvCxnSpPr>
          <p:nvPr/>
        </p:nvCxnSpPr>
        <p:spPr>
          <a:xfrm>
            <a:off x="5090967" y="3665871"/>
            <a:ext cx="276638" cy="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60809C6E-2ED3-7E64-D3A0-E5E0952D48A3}"/>
              </a:ext>
            </a:extLst>
          </p:cNvPr>
          <p:cNvCxnSpPr>
            <a:cxnSpLocks/>
          </p:cNvCxnSpPr>
          <p:nvPr/>
        </p:nvCxnSpPr>
        <p:spPr>
          <a:xfrm>
            <a:off x="6268450" y="3665018"/>
            <a:ext cx="276638" cy="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1E735B94-CB24-4655-E574-3CCCEC66088C}"/>
              </a:ext>
            </a:extLst>
          </p:cNvPr>
          <p:cNvCxnSpPr>
            <a:cxnSpLocks/>
          </p:cNvCxnSpPr>
          <p:nvPr/>
        </p:nvCxnSpPr>
        <p:spPr>
          <a:xfrm>
            <a:off x="7435719" y="3664162"/>
            <a:ext cx="276638" cy="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F413140-4D27-6C09-45DA-F0A657712584}"/>
              </a:ext>
            </a:extLst>
          </p:cNvPr>
          <p:cNvCxnSpPr>
            <a:cxnSpLocks/>
          </p:cNvCxnSpPr>
          <p:nvPr/>
        </p:nvCxnSpPr>
        <p:spPr>
          <a:xfrm>
            <a:off x="8620014" y="3665010"/>
            <a:ext cx="276638" cy="0"/>
          </a:xfrm>
          <a:prstGeom prst="straightConnector1">
            <a:avLst/>
          </a:prstGeom>
          <a:ln w="31750">
            <a:solidFill>
              <a:schemeClr val="tx1"/>
            </a:solidFill>
            <a:tailEnd type="none" w="lg" len="lg"/>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BA63CF45-94CE-606C-1BCE-0BC3B85E6866}"/>
              </a:ext>
            </a:extLst>
          </p:cNvPr>
          <p:cNvCxnSpPr>
            <a:cxnSpLocks/>
            <a:stCxn id="42" idx="3"/>
            <a:endCxn id="44" idx="4"/>
          </p:cNvCxnSpPr>
          <p:nvPr/>
        </p:nvCxnSpPr>
        <p:spPr>
          <a:xfrm flipV="1">
            <a:off x="2112655" y="3866827"/>
            <a:ext cx="416567" cy="2137808"/>
          </a:xfrm>
          <a:prstGeom prst="bentConnector2">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157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04884508-5CBA-8B00-DE66-94617D4ED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9DF67E-A879-FEA1-1AEE-012FF7A16A16}"/>
              </a:ext>
            </a:extLst>
          </p:cNvPr>
          <p:cNvSpPr>
            <a:spLocks noGrp="1"/>
          </p:cNvSpPr>
          <p:nvPr>
            <p:ph type="title"/>
          </p:nvPr>
        </p:nvSpPr>
        <p:spPr/>
        <p:txBody>
          <a:bodyPr/>
          <a:lstStyle/>
          <a:p>
            <a:r>
              <a:rPr lang="en-GB" dirty="0">
                <a:solidFill>
                  <a:schemeClr val="bg1"/>
                </a:solidFill>
              </a:rPr>
              <a:t>Different types of transformers</a:t>
            </a:r>
          </a:p>
        </p:txBody>
      </p:sp>
      <p:sp>
        <p:nvSpPr>
          <p:cNvPr id="3" name="Text Placeholder 2">
            <a:extLst>
              <a:ext uri="{FF2B5EF4-FFF2-40B4-BE49-F238E27FC236}">
                <a16:creationId xmlns:a16="http://schemas.microsoft.com/office/drawing/2014/main" id="{E96B63DC-CCAD-9D5E-5D0C-40B35078CE17}"/>
              </a:ext>
            </a:extLst>
          </p:cNvPr>
          <p:cNvSpPr>
            <a:spLocks noGrp="1"/>
          </p:cNvSpPr>
          <p:nvPr>
            <p:ph type="body" idx="1"/>
          </p:nvPr>
        </p:nvSpPr>
        <p:spPr/>
        <p:txBody>
          <a:bodyPr/>
          <a:lstStyle/>
          <a:p>
            <a:r>
              <a:rPr lang="en-GB" dirty="0">
                <a:solidFill>
                  <a:schemeClr val="bg1"/>
                </a:solidFill>
              </a:rPr>
              <a:t>Encoders, Decoders, Cross-attention</a:t>
            </a:r>
          </a:p>
        </p:txBody>
      </p:sp>
      <p:sp>
        <p:nvSpPr>
          <p:cNvPr id="4" name="Slide Number Placeholder 3">
            <a:extLst>
              <a:ext uri="{FF2B5EF4-FFF2-40B4-BE49-F238E27FC236}">
                <a16:creationId xmlns:a16="http://schemas.microsoft.com/office/drawing/2014/main" id="{7CA37D3B-528A-63E6-09AA-808A7F2CA7CA}"/>
              </a:ext>
            </a:extLst>
          </p:cNvPr>
          <p:cNvSpPr>
            <a:spLocks noGrp="1"/>
          </p:cNvSpPr>
          <p:nvPr>
            <p:ph type="sldNum" sz="quarter" idx="12"/>
          </p:nvPr>
        </p:nvSpPr>
        <p:spPr/>
        <p:txBody>
          <a:bodyPr/>
          <a:lstStyle/>
          <a:p>
            <a:fld id="{13DE89AE-BBCC-45F3-BDAA-E98C74995322}" type="slidenum">
              <a:rPr lang="en-GB" smtClean="0"/>
              <a:t>48</a:t>
            </a:fld>
            <a:endParaRPr lang="en-GB"/>
          </a:p>
        </p:txBody>
      </p:sp>
    </p:spTree>
    <p:extLst>
      <p:ext uri="{BB962C8B-B14F-4D97-AF65-F5344CB8AC3E}">
        <p14:creationId xmlns:p14="http://schemas.microsoft.com/office/powerpoint/2010/main" val="2718060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16A1-E4BE-44F5-F7E5-2CCB7CF75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7A0F2-4B4B-61F4-834A-B62BC0025C1A}"/>
              </a:ext>
            </a:extLst>
          </p:cNvPr>
          <p:cNvSpPr>
            <a:spLocks noGrp="1"/>
          </p:cNvSpPr>
          <p:nvPr>
            <p:ph type="title"/>
          </p:nvPr>
        </p:nvSpPr>
        <p:spPr/>
        <p:txBody>
          <a:bodyPr/>
          <a:lstStyle/>
          <a:p>
            <a:r>
              <a:rPr lang="en-GB" dirty="0"/>
              <a:t>Different types of transformers</a:t>
            </a:r>
          </a:p>
        </p:txBody>
      </p:sp>
      <p:sp>
        <p:nvSpPr>
          <p:cNvPr id="3" name="Content Placeholder 2">
            <a:extLst>
              <a:ext uri="{FF2B5EF4-FFF2-40B4-BE49-F238E27FC236}">
                <a16:creationId xmlns:a16="http://schemas.microsoft.com/office/drawing/2014/main" id="{16DD82B5-B20E-E908-1B8D-6FB90DACA99F}"/>
              </a:ext>
            </a:extLst>
          </p:cNvPr>
          <p:cNvSpPr>
            <a:spLocks noGrp="1"/>
          </p:cNvSpPr>
          <p:nvPr>
            <p:ph idx="1"/>
          </p:nvPr>
        </p:nvSpPr>
        <p:spPr>
          <a:xfrm>
            <a:off x="380321" y="1740477"/>
            <a:ext cx="11616765" cy="4327814"/>
          </a:xfrm>
        </p:spPr>
        <p:txBody>
          <a:bodyPr>
            <a:normAutofit/>
          </a:bodyPr>
          <a:lstStyle/>
          <a:p>
            <a:r>
              <a:rPr lang="en-GB" dirty="0"/>
              <a:t>What we covered was embedding vector </a:t>
            </a:r>
            <a:r>
              <a:rPr lang="en-GB" dirty="0">
                <a:sym typeface="Symbol" panose="05050102010706020507" pitchFamily="18" charset="2"/>
              </a:rPr>
              <a:t> token (word)</a:t>
            </a:r>
          </a:p>
          <a:p>
            <a:endParaRPr lang="en-GB" dirty="0">
              <a:sym typeface="Symbol" panose="05050102010706020507" pitchFamily="18" charset="2"/>
            </a:endParaRPr>
          </a:p>
          <a:p>
            <a:endParaRPr lang="en-GB" dirty="0">
              <a:sym typeface="Symbol" panose="05050102010706020507" pitchFamily="18" charset="2"/>
            </a:endParaRPr>
          </a:p>
          <a:p>
            <a:endParaRPr lang="en-GB" dirty="0">
              <a:sym typeface="Symbol" panose="05050102010706020507" pitchFamily="18" charset="2"/>
            </a:endParaRPr>
          </a:p>
          <a:p>
            <a:endParaRPr lang="en-GB" dirty="0">
              <a:sym typeface="Symbol" panose="05050102010706020507" pitchFamily="18" charset="2"/>
            </a:endParaRPr>
          </a:p>
          <a:p>
            <a:r>
              <a:rPr lang="en-GB" dirty="0">
                <a:sym typeface="Symbol" panose="05050102010706020507" pitchFamily="18" charset="2"/>
              </a:rPr>
              <a:t>We ‘decoded’ the embedding vector</a:t>
            </a:r>
          </a:p>
          <a:p>
            <a:endParaRPr lang="en-GB" dirty="0">
              <a:sym typeface="Symbol" panose="05050102010706020507" pitchFamily="18" charset="2"/>
            </a:endParaRPr>
          </a:p>
          <a:p>
            <a:r>
              <a:rPr lang="en-GB" dirty="0">
                <a:sym typeface="Symbol" panose="05050102010706020507" pitchFamily="18" charset="2"/>
              </a:rPr>
              <a:t>ChatGPT, Claude, etc are known as ‘decoder-only’ models</a:t>
            </a:r>
          </a:p>
          <a:p>
            <a:pPr marL="0" indent="0">
              <a:buNone/>
            </a:pPr>
            <a:endParaRPr lang="en-GB" dirty="0">
              <a:sym typeface="Symbol" panose="05050102010706020507" pitchFamily="18" charset="2"/>
            </a:endParaRPr>
          </a:p>
          <a:p>
            <a:endParaRPr lang="en-GB" dirty="0"/>
          </a:p>
        </p:txBody>
      </p:sp>
      <p:sp>
        <p:nvSpPr>
          <p:cNvPr id="4" name="Slide Number Placeholder 3">
            <a:extLst>
              <a:ext uri="{FF2B5EF4-FFF2-40B4-BE49-F238E27FC236}">
                <a16:creationId xmlns:a16="http://schemas.microsoft.com/office/drawing/2014/main" id="{36528359-F599-4E4E-5CFA-A02375C9D410}"/>
              </a:ext>
            </a:extLst>
          </p:cNvPr>
          <p:cNvSpPr>
            <a:spLocks noGrp="1"/>
          </p:cNvSpPr>
          <p:nvPr>
            <p:ph type="sldNum" sz="quarter" idx="12"/>
          </p:nvPr>
        </p:nvSpPr>
        <p:spPr/>
        <p:txBody>
          <a:bodyPr/>
          <a:lstStyle/>
          <a:p>
            <a:fld id="{13DE89AE-BBCC-45F3-BDAA-E98C74995322}" type="slidenum">
              <a:rPr lang="en-GB" smtClean="0"/>
              <a:t>49</a:t>
            </a:fld>
            <a:endParaRPr lang="en-GB"/>
          </a:p>
        </p:txBody>
      </p:sp>
      <p:grpSp>
        <p:nvGrpSpPr>
          <p:cNvPr id="10" name="Group 9">
            <a:extLst>
              <a:ext uri="{FF2B5EF4-FFF2-40B4-BE49-F238E27FC236}">
                <a16:creationId xmlns:a16="http://schemas.microsoft.com/office/drawing/2014/main" id="{549E785B-99B1-81EB-57F5-A7AD9F3E186A}"/>
              </a:ext>
            </a:extLst>
          </p:cNvPr>
          <p:cNvGrpSpPr/>
          <p:nvPr/>
        </p:nvGrpSpPr>
        <p:grpSpPr>
          <a:xfrm>
            <a:off x="4181022" y="2464869"/>
            <a:ext cx="2589436" cy="1439515"/>
            <a:chOff x="4229717" y="4624880"/>
            <a:chExt cx="2589436" cy="1439515"/>
          </a:xfrm>
        </p:grpSpPr>
        <p:graphicFrame>
          <p:nvGraphicFramePr>
            <p:cNvPr id="7" name="Content Placeholder 4">
              <a:extLst>
                <a:ext uri="{FF2B5EF4-FFF2-40B4-BE49-F238E27FC236}">
                  <a16:creationId xmlns:a16="http://schemas.microsoft.com/office/drawing/2014/main" id="{A3462D6A-AD95-BD13-DB6F-93284E2E1C5D}"/>
                </a:ext>
              </a:extLst>
            </p:cNvPr>
            <p:cNvGraphicFramePr>
              <a:graphicFrameLocks/>
            </p:cNvGraphicFramePr>
            <p:nvPr>
              <p:extLst>
                <p:ext uri="{D42A27DB-BD31-4B8C-83A1-F6EECF244321}">
                  <p14:modId xmlns:p14="http://schemas.microsoft.com/office/powerpoint/2010/main" val="2945851141"/>
                </p:ext>
              </p:extLst>
            </p:nvPr>
          </p:nvGraphicFramePr>
          <p:xfrm>
            <a:off x="4229717" y="4624880"/>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endParaRPr lang="en-GB" sz="1200" dirty="0"/>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tx2">
                          <a:lumMod val="25000"/>
                          <a:lumOff val="75000"/>
                        </a:schemeClr>
                      </a:solidFill>
                    </a:tcPr>
                  </a:tc>
                  <a:extLst>
                    <a:ext uri="{0D108BD9-81ED-4DB2-BD59-A6C34878D82A}">
                      <a16:rowId xmlns:a16="http://schemas.microsoft.com/office/drawing/2014/main" val="2234228111"/>
                    </a:ext>
                  </a:extLst>
                </a:tr>
              </a:tbl>
            </a:graphicData>
          </a:graphic>
        </p:graphicFrame>
        <p:sp>
          <p:nvSpPr>
            <p:cNvPr id="8" name="Arrow: Right 7">
              <a:extLst>
                <a:ext uri="{FF2B5EF4-FFF2-40B4-BE49-F238E27FC236}">
                  <a16:creationId xmlns:a16="http://schemas.microsoft.com/office/drawing/2014/main" id="{94FF9B00-48F1-F2DB-CA9A-151164147D47}"/>
                </a:ext>
              </a:extLst>
            </p:cNvPr>
            <p:cNvSpPr/>
            <p:nvPr/>
          </p:nvSpPr>
          <p:spPr>
            <a:xfrm>
              <a:off x="4846918" y="5229412"/>
              <a:ext cx="609600" cy="185270"/>
            </a:xfrm>
            <a:prstGeom prst="rightArrow">
              <a:avLst/>
            </a:prstGeom>
            <a:solidFill>
              <a:schemeClr val="tx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BEA0616-2F3D-B21E-E3DF-22EEE6374529}"/>
                </a:ext>
              </a:extLst>
            </p:cNvPr>
            <p:cNvSpPr txBox="1"/>
            <p:nvPr/>
          </p:nvSpPr>
          <p:spPr>
            <a:xfrm>
              <a:off x="5528235" y="4937024"/>
              <a:ext cx="1290918" cy="584775"/>
            </a:xfrm>
            <a:prstGeom prst="rect">
              <a:avLst/>
            </a:prstGeom>
            <a:noFill/>
          </p:spPr>
          <p:txBody>
            <a:bodyPr wrap="square" rtlCol="0">
              <a:spAutoFit/>
            </a:bodyPr>
            <a:lstStyle/>
            <a:p>
              <a:pPr algn="ctr"/>
              <a:r>
                <a:rPr lang="en-GB" sz="3200" dirty="0"/>
                <a:t>“mat”</a:t>
              </a:r>
            </a:p>
          </p:txBody>
        </p:sp>
      </p:grpSp>
    </p:spTree>
    <p:extLst>
      <p:ext uri="{BB962C8B-B14F-4D97-AF65-F5344CB8AC3E}">
        <p14:creationId xmlns:p14="http://schemas.microsoft.com/office/powerpoint/2010/main" val="98050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ED2F8-8DDD-0DA6-AF0D-59FCFB7CB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69998-3B66-7CC3-D7B4-56C47F9390C2}"/>
              </a:ext>
            </a:extLst>
          </p:cNvPr>
          <p:cNvSpPr>
            <a:spLocks noGrp="1"/>
          </p:cNvSpPr>
          <p:nvPr>
            <p:ph type="title"/>
          </p:nvPr>
        </p:nvSpPr>
        <p:spPr>
          <a:xfrm>
            <a:off x="838200" y="365126"/>
            <a:ext cx="10515600" cy="843742"/>
          </a:xfrm>
        </p:spPr>
        <p:txBody>
          <a:bodyPr/>
          <a:lstStyle/>
          <a:p>
            <a:r>
              <a:rPr lang="en-GB" dirty="0"/>
              <a:t>Different types of transformers</a:t>
            </a:r>
          </a:p>
        </p:txBody>
      </p:sp>
      <p:sp>
        <p:nvSpPr>
          <p:cNvPr id="3" name="Content Placeholder 2">
            <a:extLst>
              <a:ext uri="{FF2B5EF4-FFF2-40B4-BE49-F238E27FC236}">
                <a16:creationId xmlns:a16="http://schemas.microsoft.com/office/drawing/2014/main" id="{BE2F861A-526F-BF47-4167-9C63827E25CB}"/>
              </a:ext>
            </a:extLst>
          </p:cNvPr>
          <p:cNvSpPr>
            <a:spLocks noGrp="1"/>
          </p:cNvSpPr>
          <p:nvPr>
            <p:ph idx="1"/>
          </p:nvPr>
        </p:nvSpPr>
        <p:spPr>
          <a:xfrm>
            <a:off x="270434" y="1335558"/>
            <a:ext cx="11616765" cy="584775"/>
          </a:xfrm>
        </p:spPr>
        <p:txBody>
          <a:bodyPr>
            <a:normAutofit/>
          </a:bodyPr>
          <a:lstStyle/>
          <a:p>
            <a:r>
              <a:rPr lang="en-GB" dirty="0"/>
              <a:t>We also have encoders:  token </a:t>
            </a:r>
            <a:r>
              <a:rPr lang="en-GB" dirty="0">
                <a:sym typeface="Symbol" panose="05050102010706020507" pitchFamily="18" charset="2"/>
              </a:rPr>
              <a:t> context embedding vector</a:t>
            </a:r>
          </a:p>
          <a:p>
            <a:pPr marL="0" indent="0">
              <a:buNone/>
            </a:pPr>
            <a:endParaRPr lang="en-GB" dirty="0"/>
          </a:p>
        </p:txBody>
      </p:sp>
      <p:sp>
        <p:nvSpPr>
          <p:cNvPr id="4" name="Slide Number Placeholder 3">
            <a:extLst>
              <a:ext uri="{FF2B5EF4-FFF2-40B4-BE49-F238E27FC236}">
                <a16:creationId xmlns:a16="http://schemas.microsoft.com/office/drawing/2014/main" id="{B5067367-67C7-7C7D-518F-3CBFBEA7C4A8}"/>
              </a:ext>
            </a:extLst>
          </p:cNvPr>
          <p:cNvSpPr>
            <a:spLocks noGrp="1"/>
          </p:cNvSpPr>
          <p:nvPr>
            <p:ph type="sldNum" sz="quarter" idx="12"/>
          </p:nvPr>
        </p:nvSpPr>
        <p:spPr/>
        <p:txBody>
          <a:bodyPr/>
          <a:lstStyle/>
          <a:p>
            <a:fld id="{13DE89AE-BBCC-45F3-BDAA-E98C74995322}" type="slidenum">
              <a:rPr lang="en-GB" smtClean="0"/>
              <a:t>50</a:t>
            </a:fld>
            <a:endParaRPr lang="en-GB"/>
          </a:p>
        </p:txBody>
      </p:sp>
      <p:grpSp>
        <p:nvGrpSpPr>
          <p:cNvPr id="5" name="Group 4">
            <a:extLst>
              <a:ext uri="{FF2B5EF4-FFF2-40B4-BE49-F238E27FC236}">
                <a16:creationId xmlns:a16="http://schemas.microsoft.com/office/drawing/2014/main" id="{062D559A-B8AF-EA2C-8988-958944B86AA2}"/>
              </a:ext>
            </a:extLst>
          </p:cNvPr>
          <p:cNvGrpSpPr/>
          <p:nvPr/>
        </p:nvGrpSpPr>
        <p:grpSpPr>
          <a:xfrm>
            <a:off x="4173871" y="1869645"/>
            <a:ext cx="2394906" cy="1439515"/>
            <a:chOff x="3647945" y="2576987"/>
            <a:chExt cx="2394906" cy="1439515"/>
          </a:xfrm>
        </p:grpSpPr>
        <p:graphicFrame>
          <p:nvGraphicFramePr>
            <p:cNvPr id="7" name="Content Placeholder 4">
              <a:extLst>
                <a:ext uri="{FF2B5EF4-FFF2-40B4-BE49-F238E27FC236}">
                  <a16:creationId xmlns:a16="http://schemas.microsoft.com/office/drawing/2014/main" id="{042D9F3E-8680-A3C7-696B-5009DC8C5730}"/>
                </a:ext>
              </a:extLst>
            </p:cNvPr>
            <p:cNvGraphicFramePr>
              <a:graphicFrameLocks/>
            </p:cNvGraphicFramePr>
            <p:nvPr>
              <p:extLst>
                <p:ext uri="{D42A27DB-BD31-4B8C-83A1-F6EECF244321}">
                  <p14:modId xmlns:p14="http://schemas.microsoft.com/office/powerpoint/2010/main" val="1843976630"/>
                </p:ext>
              </p:extLst>
            </p:nvPr>
          </p:nvGraphicFramePr>
          <p:xfrm>
            <a:off x="5630524" y="2576987"/>
            <a:ext cx="412327" cy="1439515"/>
          </p:xfrm>
          <a:graphic>
            <a:graphicData uri="http://schemas.openxmlformats.org/drawingml/2006/table">
              <a:tbl>
                <a:tblPr firstRow="1">
                  <a:tableStyleId>{5C22544A-7EE6-4342-B048-85BDC9FD1C3A}</a:tableStyleId>
                </a:tblPr>
                <a:tblGrid>
                  <a:gridCol w="412327">
                    <a:extLst>
                      <a:ext uri="{9D8B030D-6E8A-4147-A177-3AD203B41FA5}">
                        <a16:colId xmlns:a16="http://schemas.microsoft.com/office/drawing/2014/main" val="116916505"/>
                      </a:ext>
                    </a:extLst>
                  </a:gridCol>
                </a:tblGrid>
                <a:tr h="287903">
                  <a:tc>
                    <a:txBody>
                      <a:bodyPr/>
                      <a:lstStyle/>
                      <a:p>
                        <a:endParaRPr lang="en-GB" sz="1200" dirty="0"/>
                      </a:p>
                    </a:txBody>
                    <a:tcPr/>
                  </a:tc>
                  <a:extLst>
                    <a:ext uri="{0D108BD9-81ED-4DB2-BD59-A6C34878D82A}">
                      <a16:rowId xmlns:a16="http://schemas.microsoft.com/office/drawing/2014/main" val="696599091"/>
                    </a:ext>
                  </a:extLst>
                </a:tr>
                <a:tr h="287903">
                  <a:tc>
                    <a:txBody>
                      <a:bodyPr/>
                      <a:lstStyle/>
                      <a:p>
                        <a:endParaRPr lang="en-GB" sz="1200" dirty="0"/>
                      </a:p>
                    </a:txBody>
                    <a:tcPr>
                      <a:solidFill>
                        <a:schemeClr val="accent5"/>
                      </a:solidFill>
                    </a:tcPr>
                  </a:tc>
                  <a:extLst>
                    <a:ext uri="{0D108BD9-81ED-4DB2-BD59-A6C34878D82A}">
                      <a16:rowId xmlns:a16="http://schemas.microsoft.com/office/drawing/2014/main" val="1533931161"/>
                    </a:ext>
                  </a:extLst>
                </a:tr>
                <a:tr h="287903">
                  <a:tc>
                    <a:txBody>
                      <a:bodyPr/>
                      <a:lstStyle/>
                      <a:p>
                        <a:endParaRPr lang="en-GB" sz="1200" dirty="0"/>
                      </a:p>
                    </a:txBody>
                    <a:tcPr>
                      <a:solidFill>
                        <a:schemeClr val="accent5"/>
                      </a:solidFill>
                    </a:tcPr>
                  </a:tc>
                  <a:extLst>
                    <a:ext uri="{0D108BD9-81ED-4DB2-BD59-A6C34878D82A}">
                      <a16:rowId xmlns:a16="http://schemas.microsoft.com/office/drawing/2014/main" val="1732967676"/>
                    </a:ext>
                  </a:extLst>
                </a:tr>
                <a:tr h="287903">
                  <a:tc>
                    <a:txBody>
                      <a:bodyPr/>
                      <a:lstStyle/>
                      <a:p>
                        <a:endParaRPr lang="en-GB" sz="1200" dirty="0"/>
                      </a:p>
                    </a:txBody>
                    <a:tcPr>
                      <a:solidFill>
                        <a:schemeClr val="accent5"/>
                      </a:solidFill>
                    </a:tcPr>
                  </a:tc>
                  <a:extLst>
                    <a:ext uri="{0D108BD9-81ED-4DB2-BD59-A6C34878D82A}">
                      <a16:rowId xmlns:a16="http://schemas.microsoft.com/office/drawing/2014/main" val="3626587743"/>
                    </a:ext>
                  </a:extLst>
                </a:tr>
                <a:tr h="287903">
                  <a:tc>
                    <a:txBody>
                      <a:bodyPr/>
                      <a:lstStyle/>
                      <a:p>
                        <a:endParaRPr lang="en-GB" sz="1200" dirty="0"/>
                      </a:p>
                    </a:txBody>
                    <a:tcPr>
                      <a:solidFill>
                        <a:schemeClr val="accent5"/>
                      </a:solidFill>
                    </a:tcPr>
                  </a:tc>
                  <a:extLst>
                    <a:ext uri="{0D108BD9-81ED-4DB2-BD59-A6C34878D82A}">
                      <a16:rowId xmlns:a16="http://schemas.microsoft.com/office/drawing/2014/main" val="2234228111"/>
                    </a:ext>
                  </a:extLst>
                </a:tr>
              </a:tbl>
            </a:graphicData>
          </a:graphic>
        </p:graphicFrame>
        <p:sp>
          <p:nvSpPr>
            <p:cNvPr id="8" name="Arrow: Right 7">
              <a:extLst>
                <a:ext uri="{FF2B5EF4-FFF2-40B4-BE49-F238E27FC236}">
                  <a16:creationId xmlns:a16="http://schemas.microsoft.com/office/drawing/2014/main" id="{B076E112-CEF3-39AB-EEA5-D2379262FA9A}"/>
                </a:ext>
              </a:extLst>
            </p:cNvPr>
            <p:cNvSpPr/>
            <p:nvPr/>
          </p:nvSpPr>
          <p:spPr>
            <a:xfrm>
              <a:off x="4897037" y="3181519"/>
              <a:ext cx="609600" cy="185270"/>
            </a:xfrm>
            <a:prstGeom prst="rightArrow">
              <a:avLst/>
            </a:prstGeom>
            <a:solidFill>
              <a:schemeClr val="tx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3CDE8837-7F0B-2218-68CB-230229D86922}"/>
                </a:ext>
              </a:extLst>
            </p:cNvPr>
            <p:cNvSpPr txBox="1"/>
            <p:nvPr/>
          </p:nvSpPr>
          <p:spPr>
            <a:xfrm>
              <a:off x="3647945" y="2936939"/>
              <a:ext cx="1290918" cy="584775"/>
            </a:xfrm>
            <a:prstGeom prst="rect">
              <a:avLst/>
            </a:prstGeom>
            <a:noFill/>
          </p:spPr>
          <p:txBody>
            <a:bodyPr wrap="square" rtlCol="0">
              <a:spAutoFit/>
            </a:bodyPr>
            <a:lstStyle/>
            <a:p>
              <a:pPr algn="ctr"/>
              <a:r>
                <a:rPr lang="en-GB" sz="3200" dirty="0"/>
                <a:t>“mat”</a:t>
              </a:r>
            </a:p>
          </p:txBody>
        </p:sp>
      </p:grpSp>
      <p:sp>
        <p:nvSpPr>
          <p:cNvPr id="6" name="Content Placeholder 2">
            <a:extLst>
              <a:ext uri="{FF2B5EF4-FFF2-40B4-BE49-F238E27FC236}">
                <a16:creationId xmlns:a16="http://schemas.microsoft.com/office/drawing/2014/main" id="{05E83F15-515D-60A2-A8FB-C87E06559DC5}"/>
              </a:ext>
            </a:extLst>
          </p:cNvPr>
          <p:cNvSpPr txBox="1">
            <a:spLocks/>
          </p:cNvSpPr>
          <p:nvPr/>
        </p:nvSpPr>
        <p:spPr>
          <a:xfrm>
            <a:off x="297328" y="3466177"/>
            <a:ext cx="11616765" cy="18648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ym typeface="Symbol" panose="05050102010706020507" pitchFamily="18" charset="2"/>
              </a:rPr>
              <a:t>Encoders are useful where we have all the tokens (no prediction), we just need to map them to appropriate vectors</a:t>
            </a:r>
          </a:p>
          <a:p>
            <a:endParaRPr lang="en-GB" dirty="0">
              <a:sym typeface="Symbol" panose="05050102010706020507" pitchFamily="18" charset="2"/>
            </a:endParaRPr>
          </a:p>
          <a:p>
            <a:pPr lvl="1"/>
            <a:r>
              <a:rPr lang="en-GB" dirty="0">
                <a:sym typeface="Symbol" panose="05050102010706020507" pitchFamily="18" charset="2"/>
              </a:rPr>
              <a:t>E.g.               “the cat is on the table”        “le chat est sur la table”</a:t>
            </a:r>
          </a:p>
          <a:p>
            <a:endParaRPr lang="en-GB" dirty="0">
              <a:sym typeface="Symbol" panose="05050102010706020507" pitchFamily="18" charset="2"/>
            </a:endParaRPr>
          </a:p>
          <a:p>
            <a:endParaRPr lang="en-GB" dirty="0">
              <a:sym typeface="Symbol" panose="05050102010706020507" pitchFamily="18" charset="2"/>
            </a:endParaRPr>
          </a:p>
          <a:p>
            <a:pPr marL="0" indent="0">
              <a:buFont typeface="Arial" panose="020B0604020202020204" pitchFamily="34" charset="0"/>
              <a:buNone/>
            </a:pPr>
            <a:endParaRPr lang="en-GB" dirty="0"/>
          </a:p>
        </p:txBody>
      </p:sp>
      <p:grpSp>
        <p:nvGrpSpPr>
          <p:cNvPr id="25" name="Group 24">
            <a:extLst>
              <a:ext uri="{FF2B5EF4-FFF2-40B4-BE49-F238E27FC236}">
                <a16:creationId xmlns:a16="http://schemas.microsoft.com/office/drawing/2014/main" id="{68244B7D-38AC-5EFB-8BC7-FAB6BCF08C5A}"/>
              </a:ext>
            </a:extLst>
          </p:cNvPr>
          <p:cNvGrpSpPr/>
          <p:nvPr/>
        </p:nvGrpSpPr>
        <p:grpSpPr>
          <a:xfrm>
            <a:off x="2448512" y="5144843"/>
            <a:ext cx="6777375" cy="955966"/>
            <a:chOff x="2448512" y="5144843"/>
            <a:chExt cx="6777375" cy="955966"/>
          </a:xfrm>
        </p:grpSpPr>
        <p:grpSp>
          <p:nvGrpSpPr>
            <p:cNvPr id="21" name="Group 20">
              <a:extLst>
                <a:ext uri="{FF2B5EF4-FFF2-40B4-BE49-F238E27FC236}">
                  <a16:creationId xmlns:a16="http://schemas.microsoft.com/office/drawing/2014/main" id="{CCC7B5BC-35D2-0044-A103-B70DBFBEE261}"/>
                </a:ext>
              </a:extLst>
            </p:cNvPr>
            <p:cNvGrpSpPr/>
            <p:nvPr/>
          </p:nvGrpSpPr>
          <p:grpSpPr>
            <a:xfrm>
              <a:off x="2448512" y="5144845"/>
              <a:ext cx="3450718" cy="955964"/>
              <a:chOff x="2145555" y="5211520"/>
              <a:chExt cx="3450718" cy="955964"/>
            </a:xfrm>
          </p:grpSpPr>
          <p:cxnSp>
            <p:nvCxnSpPr>
              <p:cNvPr id="12" name="Straight Arrow Connector 11">
                <a:extLst>
                  <a:ext uri="{FF2B5EF4-FFF2-40B4-BE49-F238E27FC236}">
                    <a16:creationId xmlns:a16="http://schemas.microsoft.com/office/drawing/2014/main" id="{3FBC054E-5AB9-EB0D-F79C-558DBF6A3DD7}"/>
                  </a:ext>
                </a:extLst>
              </p:cNvPr>
              <p:cNvCxnSpPr>
                <a:cxnSpLocks/>
              </p:cNvCxnSpPr>
              <p:nvPr/>
            </p:nvCxnSpPr>
            <p:spPr>
              <a:xfrm flipV="1">
                <a:off x="385409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083FD2D-DBF8-70A9-4993-913A4BB6BCB8}"/>
                  </a:ext>
                </a:extLst>
              </p:cNvPr>
              <p:cNvSpPr txBox="1"/>
              <p:nvPr/>
            </p:nvSpPr>
            <p:spPr>
              <a:xfrm>
                <a:off x="2145555" y="5798152"/>
                <a:ext cx="3450718" cy="369332"/>
              </a:xfrm>
              <a:prstGeom prst="rect">
                <a:avLst/>
              </a:prstGeom>
              <a:noFill/>
              <a:ln w="22225">
                <a:solidFill>
                  <a:schemeClr val="tx1"/>
                </a:solidFill>
              </a:ln>
            </p:spPr>
            <p:txBody>
              <a:bodyPr wrap="square" rtlCol="0">
                <a:spAutoFit/>
              </a:bodyPr>
              <a:lstStyle/>
              <a:p>
                <a:r>
                  <a:rPr lang="en-GB" dirty="0"/>
                  <a:t>Encoder model, without masking</a:t>
                </a:r>
              </a:p>
            </p:txBody>
          </p:sp>
        </p:grpSp>
        <p:grpSp>
          <p:nvGrpSpPr>
            <p:cNvPr id="22" name="Group 21">
              <a:extLst>
                <a:ext uri="{FF2B5EF4-FFF2-40B4-BE49-F238E27FC236}">
                  <a16:creationId xmlns:a16="http://schemas.microsoft.com/office/drawing/2014/main" id="{627301B5-9C37-F072-722B-DD05ADCEA7E4}"/>
                </a:ext>
              </a:extLst>
            </p:cNvPr>
            <p:cNvGrpSpPr/>
            <p:nvPr/>
          </p:nvGrpSpPr>
          <p:grpSpPr>
            <a:xfrm>
              <a:off x="6106122" y="5144843"/>
              <a:ext cx="3119765" cy="955964"/>
              <a:chOff x="2145555" y="5211520"/>
              <a:chExt cx="3119765" cy="955964"/>
            </a:xfrm>
          </p:grpSpPr>
          <p:cxnSp>
            <p:nvCxnSpPr>
              <p:cNvPr id="23" name="Straight Arrow Connector 22">
                <a:extLst>
                  <a:ext uri="{FF2B5EF4-FFF2-40B4-BE49-F238E27FC236}">
                    <a16:creationId xmlns:a16="http://schemas.microsoft.com/office/drawing/2014/main" id="{CE377929-7C4A-E6EA-17C3-206C79A6B633}"/>
                  </a:ext>
                </a:extLst>
              </p:cNvPr>
              <p:cNvCxnSpPr>
                <a:cxnSpLocks/>
              </p:cNvCxnSpPr>
              <p:nvPr/>
            </p:nvCxnSpPr>
            <p:spPr>
              <a:xfrm flipV="1">
                <a:off x="371761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08304AA-3AD9-43B1-9680-CBB4DD27EFB8}"/>
                  </a:ext>
                </a:extLst>
              </p:cNvPr>
              <p:cNvSpPr txBox="1"/>
              <p:nvPr/>
            </p:nvSpPr>
            <p:spPr>
              <a:xfrm>
                <a:off x="2145555" y="5798152"/>
                <a:ext cx="3119765" cy="369332"/>
              </a:xfrm>
              <a:prstGeom prst="rect">
                <a:avLst/>
              </a:prstGeom>
              <a:noFill/>
              <a:ln w="22225">
                <a:solidFill>
                  <a:schemeClr val="tx1"/>
                </a:solidFill>
              </a:ln>
            </p:spPr>
            <p:txBody>
              <a:bodyPr wrap="square" rtlCol="0">
                <a:spAutoFit/>
              </a:bodyPr>
              <a:lstStyle/>
              <a:p>
                <a:r>
                  <a:rPr lang="en-GB" dirty="0"/>
                  <a:t>Decoder model, with masking</a:t>
                </a:r>
              </a:p>
            </p:txBody>
          </p:sp>
        </p:grpSp>
      </p:grpSp>
    </p:spTree>
    <p:extLst>
      <p:ext uri="{BB962C8B-B14F-4D97-AF65-F5344CB8AC3E}">
        <p14:creationId xmlns:p14="http://schemas.microsoft.com/office/powerpoint/2010/main" val="423629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1FC8-2010-ED0E-8F27-89D6D4378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F97F6-F84B-B295-4259-879C3AE7DE5F}"/>
              </a:ext>
            </a:extLst>
          </p:cNvPr>
          <p:cNvSpPr>
            <a:spLocks noGrp="1"/>
          </p:cNvSpPr>
          <p:nvPr>
            <p:ph type="title"/>
          </p:nvPr>
        </p:nvSpPr>
        <p:spPr>
          <a:xfrm>
            <a:off x="838200" y="365126"/>
            <a:ext cx="10515600" cy="843742"/>
          </a:xfrm>
        </p:spPr>
        <p:txBody>
          <a:bodyPr/>
          <a:lstStyle/>
          <a:p>
            <a:r>
              <a:rPr lang="en-GB" dirty="0"/>
              <a:t>Different types of transformers</a:t>
            </a:r>
          </a:p>
        </p:txBody>
      </p:sp>
      <p:sp>
        <p:nvSpPr>
          <p:cNvPr id="4" name="Slide Number Placeholder 3">
            <a:extLst>
              <a:ext uri="{FF2B5EF4-FFF2-40B4-BE49-F238E27FC236}">
                <a16:creationId xmlns:a16="http://schemas.microsoft.com/office/drawing/2014/main" id="{14D01587-CF53-0CBA-61BF-A751439380F4}"/>
              </a:ext>
            </a:extLst>
          </p:cNvPr>
          <p:cNvSpPr>
            <a:spLocks noGrp="1"/>
          </p:cNvSpPr>
          <p:nvPr>
            <p:ph type="sldNum" sz="quarter" idx="12"/>
          </p:nvPr>
        </p:nvSpPr>
        <p:spPr/>
        <p:txBody>
          <a:bodyPr/>
          <a:lstStyle/>
          <a:p>
            <a:fld id="{13DE89AE-BBCC-45F3-BDAA-E98C74995322}" type="slidenum">
              <a:rPr lang="en-GB" smtClean="0"/>
              <a:t>51</a:t>
            </a:fld>
            <a:endParaRPr lang="en-GB"/>
          </a:p>
        </p:txBody>
      </p:sp>
      <p:grpSp>
        <p:nvGrpSpPr>
          <p:cNvPr id="5" name="Group 4">
            <a:extLst>
              <a:ext uri="{FF2B5EF4-FFF2-40B4-BE49-F238E27FC236}">
                <a16:creationId xmlns:a16="http://schemas.microsoft.com/office/drawing/2014/main" id="{EE79D399-D35C-8EBD-C932-6D4D9B076D7D}"/>
              </a:ext>
            </a:extLst>
          </p:cNvPr>
          <p:cNvGrpSpPr/>
          <p:nvPr/>
        </p:nvGrpSpPr>
        <p:grpSpPr>
          <a:xfrm>
            <a:off x="195746" y="2988116"/>
            <a:ext cx="7259731" cy="1381148"/>
            <a:chOff x="195746" y="2988116"/>
            <a:chExt cx="7259731" cy="1381148"/>
          </a:xfrm>
        </p:grpSpPr>
        <p:sp>
          <p:nvSpPr>
            <p:cNvPr id="6" name="Content Placeholder 2">
              <a:extLst>
                <a:ext uri="{FF2B5EF4-FFF2-40B4-BE49-F238E27FC236}">
                  <a16:creationId xmlns:a16="http://schemas.microsoft.com/office/drawing/2014/main" id="{DA841447-D252-B8BE-8747-8737E70D74DC}"/>
                </a:ext>
              </a:extLst>
            </p:cNvPr>
            <p:cNvSpPr txBox="1">
              <a:spLocks/>
            </p:cNvSpPr>
            <p:nvPr/>
          </p:nvSpPr>
          <p:spPr>
            <a:xfrm>
              <a:off x="195746" y="2988116"/>
              <a:ext cx="7259731" cy="5726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ym typeface="Symbol" panose="05050102010706020507" pitchFamily="18" charset="2"/>
                </a:rPr>
                <a:t>“the cat is on the table”        “le chat est sur la table”</a:t>
              </a:r>
            </a:p>
            <a:p>
              <a:endParaRPr lang="en-GB" dirty="0">
                <a:sym typeface="Symbol" panose="05050102010706020507" pitchFamily="18" charset="2"/>
              </a:endParaRPr>
            </a:p>
            <a:p>
              <a:endParaRPr lang="en-GB" dirty="0">
                <a:sym typeface="Symbol" panose="05050102010706020507" pitchFamily="18" charset="2"/>
              </a:endParaRPr>
            </a:p>
            <a:p>
              <a:pPr marL="0" indent="0">
                <a:buFont typeface="Arial" panose="020B0604020202020204" pitchFamily="34" charset="0"/>
                <a:buNone/>
              </a:pPr>
              <a:endParaRPr lang="en-GB" dirty="0"/>
            </a:p>
          </p:txBody>
        </p:sp>
        <p:grpSp>
          <p:nvGrpSpPr>
            <p:cNvPr id="25" name="Group 24">
              <a:extLst>
                <a:ext uri="{FF2B5EF4-FFF2-40B4-BE49-F238E27FC236}">
                  <a16:creationId xmlns:a16="http://schemas.microsoft.com/office/drawing/2014/main" id="{DD7A09DC-8F94-D382-2571-6835A51BEEFD}"/>
                </a:ext>
              </a:extLst>
            </p:cNvPr>
            <p:cNvGrpSpPr/>
            <p:nvPr/>
          </p:nvGrpSpPr>
          <p:grpSpPr>
            <a:xfrm>
              <a:off x="211755" y="3413298"/>
              <a:ext cx="6777375" cy="955966"/>
              <a:chOff x="2448512" y="5144843"/>
              <a:chExt cx="6777375" cy="955966"/>
            </a:xfrm>
          </p:grpSpPr>
          <p:grpSp>
            <p:nvGrpSpPr>
              <p:cNvPr id="21" name="Group 20">
                <a:extLst>
                  <a:ext uri="{FF2B5EF4-FFF2-40B4-BE49-F238E27FC236}">
                    <a16:creationId xmlns:a16="http://schemas.microsoft.com/office/drawing/2014/main" id="{0A411236-0EFA-FE75-284F-E4F2B90508B9}"/>
                  </a:ext>
                </a:extLst>
              </p:cNvPr>
              <p:cNvGrpSpPr/>
              <p:nvPr/>
            </p:nvGrpSpPr>
            <p:grpSpPr>
              <a:xfrm>
                <a:off x="2448512" y="5144845"/>
                <a:ext cx="3450718" cy="955964"/>
                <a:chOff x="2145555" y="5211520"/>
                <a:chExt cx="3450718" cy="955964"/>
              </a:xfrm>
            </p:grpSpPr>
            <p:cxnSp>
              <p:nvCxnSpPr>
                <p:cNvPr id="12" name="Straight Arrow Connector 11">
                  <a:extLst>
                    <a:ext uri="{FF2B5EF4-FFF2-40B4-BE49-F238E27FC236}">
                      <a16:creationId xmlns:a16="http://schemas.microsoft.com/office/drawing/2014/main" id="{0921229E-F711-9C38-22C7-78236F44053E}"/>
                    </a:ext>
                  </a:extLst>
                </p:cNvPr>
                <p:cNvCxnSpPr>
                  <a:cxnSpLocks/>
                </p:cNvCxnSpPr>
                <p:nvPr/>
              </p:nvCxnSpPr>
              <p:spPr>
                <a:xfrm flipV="1">
                  <a:off x="385409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C83BEA7-24F9-57C1-EE44-ED2034EDD7AD}"/>
                    </a:ext>
                  </a:extLst>
                </p:cNvPr>
                <p:cNvSpPr txBox="1"/>
                <p:nvPr/>
              </p:nvSpPr>
              <p:spPr>
                <a:xfrm>
                  <a:off x="2145555" y="5798152"/>
                  <a:ext cx="3450718" cy="369332"/>
                </a:xfrm>
                <a:prstGeom prst="rect">
                  <a:avLst/>
                </a:prstGeom>
                <a:noFill/>
                <a:ln w="22225">
                  <a:solidFill>
                    <a:schemeClr val="tx1"/>
                  </a:solidFill>
                </a:ln>
              </p:spPr>
              <p:txBody>
                <a:bodyPr wrap="square" rtlCol="0">
                  <a:spAutoFit/>
                </a:bodyPr>
                <a:lstStyle/>
                <a:p>
                  <a:r>
                    <a:rPr lang="en-GB" dirty="0"/>
                    <a:t>Encoder model, without masking</a:t>
                  </a:r>
                </a:p>
              </p:txBody>
            </p:sp>
          </p:grpSp>
          <p:grpSp>
            <p:nvGrpSpPr>
              <p:cNvPr id="22" name="Group 21">
                <a:extLst>
                  <a:ext uri="{FF2B5EF4-FFF2-40B4-BE49-F238E27FC236}">
                    <a16:creationId xmlns:a16="http://schemas.microsoft.com/office/drawing/2014/main" id="{9A0EFDFC-C683-D1B8-0B87-BAD64D6CFBC3}"/>
                  </a:ext>
                </a:extLst>
              </p:cNvPr>
              <p:cNvGrpSpPr/>
              <p:nvPr/>
            </p:nvGrpSpPr>
            <p:grpSpPr>
              <a:xfrm>
                <a:off x="6106122" y="5144843"/>
                <a:ext cx="3119765" cy="955964"/>
                <a:chOff x="2145555" y="5211520"/>
                <a:chExt cx="3119765" cy="955964"/>
              </a:xfrm>
            </p:grpSpPr>
            <p:cxnSp>
              <p:nvCxnSpPr>
                <p:cNvPr id="23" name="Straight Arrow Connector 22">
                  <a:extLst>
                    <a:ext uri="{FF2B5EF4-FFF2-40B4-BE49-F238E27FC236}">
                      <a16:creationId xmlns:a16="http://schemas.microsoft.com/office/drawing/2014/main" id="{D810DF15-2049-B355-19AC-4AC15E610015}"/>
                    </a:ext>
                  </a:extLst>
                </p:cNvPr>
                <p:cNvCxnSpPr>
                  <a:cxnSpLocks/>
                </p:cNvCxnSpPr>
                <p:nvPr/>
              </p:nvCxnSpPr>
              <p:spPr>
                <a:xfrm flipV="1">
                  <a:off x="371761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8CD5104-2E80-760A-9EB0-3D1422B716DE}"/>
                    </a:ext>
                  </a:extLst>
                </p:cNvPr>
                <p:cNvSpPr txBox="1"/>
                <p:nvPr/>
              </p:nvSpPr>
              <p:spPr>
                <a:xfrm>
                  <a:off x="2145555" y="5798152"/>
                  <a:ext cx="3119765" cy="369332"/>
                </a:xfrm>
                <a:prstGeom prst="rect">
                  <a:avLst/>
                </a:prstGeom>
                <a:noFill/>
                <a:ln w="22225">
                  <a:solidFill>
                    <a:schemeClr val="tx1"/>
                  </a:solidFill>
                </a:ln>
              </p:spPr>
              <p:txBody>
                <a:bodyPr wrap="square" rtlCol="0">
                  <a:spAutoFit/>
                </a:bodyPr>
                <a:lstStyle/>
                <a:p>
                  <a:r>
                    <a:rPr lang="en-GB" dirty="0"/>
                    <a:t>Decoder model, with masking</a:t>
                  </a:r>
                </a:p>
              </p:txBody>
            </p:sp>
          </p:grpSp>
        </p:grpSp>
      </p:grpSp>
      <p:grpSp>
        <p:nvGrpSpPr>
          <p:cNvPr id="13" name="Group 12">
            <a:extLst>
              <a:ext uri="{FF2B5EF4-FFF2-40B4-BE49-F238E27FC236}">
                <a16:creationId xmlns:a16="http://schemas.microsoft.com/office/drawing/2014/main" id="{CB0DAAF8-52DB-193E-AFB4-45EEF9E3C5E7}"/>
              </a:ext>
            </a:extLst>
          </p:cNvPr>
          <p:cNvGrpSpPr/>
          <p:nvPr/>
        </p:nvGrpSpPr>
        <p:grpSpPr>
          <a:xfrm>
            <a:off x="1255273" y="1566135"/>
            <a:ext cx="10261318" cy="4633415"/>
            <a:chOff x="1255273" y="1566135"/>
            <a:chExt cx="10261318" cy="4633415"/>
          </a:xfrm>
        </p:grpSpPr>
        <p:pic>
          <p:nvPicPr>
            <p:cNvPr id="15" name="Picture 14" descr="The image depicts a complex neural network architecture, showcasing various components such as probabilities, softmax, linear, add &amp; norm, feed, multi-head attention, and encoding, arranged in a sequential and interconnected manner.&#10;&#10;AI-generated content may be incorrect.">
              <a:extLst>
                <a:ext uri="{FF2B5EF4-FFF2-40B4-BE49-F238E27FC236}">
                  <a16:creationId xmlns:a16="http://schemas.microsoft.com/office/drawing/2014/main" id="{062C41BE-9139-4516-87E7-C1F4924854A6}"/>
                </a:ext>
              </a:extLst>
            </p:cNvPr>
            <p:cNvPicPr>
              <a:picLocks noChangeAspect="1"/>
            </p:cNvPicPr>
            <p:nvPr/>
          </p:nvPicPr>
          <p:blipFill>
            <a:blip r:embed="rId3">
              <a:extLst>
                <a:ext uri="{28A0092B-C50C-407E-A947-70E740481C1C}">
                  <a14:useLocalDpi xmlns:a14="http://schemas.microsoft.com/office/drawing/2010/main" val="0"/>
                </a:ext>
              </a:extLst>
            </a:blip>
            <a:srcRect l="4185" r="5191"/>
            <a:stretch>
              <a:fillRect/>
            </a:stretch>
          </p:blipFill>
          <p:spPr>
            <a:xfrm>
              <a:off x="8330830" y="1566135"/>
              <a:ext cx="3185761" cy="4633415"/>
            </a:xfrm>
            <a:prstGeom prst="rect">
              <a:avLst/>
            </a:prstGeom>
          </p:spPr>
        </p:pic>
        <p:sp>
          <p:nvSpPr>
            <p:cNvPr id="3" name="TextBox 2">
              <a:extLst>
                <a:ext uri="{FF2B5EF4-FFF2-40B4-BE49-F238E27FC236}">
                  <a16:creationId xmlns:a16="http://schemas.microsoft.com/office/drawing/2014/main" id="{B4F92BC4-C26B-B081-CBC0-93D0DD6F2D36}"/>
                </a:ext>
              </a:extLst>
            </p:cNvPr>
            <p:cNvSpPr txBox="1"/>
            <p:nvPr/>
          </p:nvSpPr>
          <p:spPr>
            <a:xfrm>
              <a:off x="1255273" y="1575272"/>
              <a:ext cx="8184868" cy="523220"/>
            </a:xfrm>
            <a:prstGeom prst="rect">
              <a:avLst/>
            </a:prstGeom>
            <a:noFill/>
          </p:spPr>
          <p:txBody>
            <a:bodyPr wrap="square" rtlCol="0">
              <a:spAutoFit/>
            </a:bodyPr>
            <a:lstStyle/>
            <a:p>
              <a:r>
                <a:rPr lang="en-GB" sz="2800" dirty="0"/>
                <a:t>‘Attention is all you need’, </a:t>
              </a:r>
              <a:r>
                <a:rPr lang="en-GB" dirty="0"/>
                <a:t>Vaswani </a:t>
              </a:r>
              <a:r>
                <a:rPr lang="en-GB" i="1" dirty="0"/>
                <a:t>et al</a:t>
              </a:r>
              <a:r>
                <a:rPr lang="en-GB" dirty="0"/>
                <a:t>, 2017 , </a:t>
              </a:r>
              <a:r>
                <a:rPr lang="en-GB" dirty="0">
                  <a:hlinkClick r:id="rId4"/>
                </a:rPr>
                <a:t>arXiv:1706.03762</a:t>
              </a:r>
              <a:endParaRPr lang="en-GB" dirty="0"/>
            </a:p>
          </p:txBody>
        </p:sp>
      </p:grpSp>
    </p:spTree>
    <p:extLst>
      <p:ext uri="{BB962C8B-B14F-4D97-AF65-F5344CB8AC3E}">
        <p14:creationId xmlns:p14="http://schemas.microsoft.com/office/powerpoint/2010/main" val="380666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C05F9-CB49-6A32-E67E-61414A10E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30F2B-5C93-3EE9-FDA5-21C7D73A2FD1}"/>
              </a:ext>
            </a:extLst>
          </p:cNvPr>
          <p:cNvSpPr>
            <a:spLocks noGrp="1"/>
          </p:cNvSpPr>
          <p:nvPr>
            <p:ph type="title"/>
          </p:nvPr>
        </p:nvSpPr>
        <p:spPr>
          <a:xfrm>
            <a:off x="838200" y="365126"/>
            <a:ext cx="10515600" cy="843742"/>
          </a:xfrm>
        </p:spPr>
        <p:txBody>
          <a:bodyPr/>
          <a:lstStyle/>
          <a:p>
            <a:r>
              <a:rPr lang="en-GB" dirty="0"/>
              <a:t>Different types of transformers</a:t>
            </a:r>
          </a:p>
        </p:txBody>
      </p:sp>
      <p:sp>
        <p:nvSpPr>
          <p:cNvPr id="4" name="Slide Number Placeholder 3">
            <a:extLst>
              <a:ext uri="{FF2B5EF4-FFF2-40B4-BE49-F238E27FC236}">
                <a16:creationId xmlns:a16="http://schemas.microsoft.com/office/drawing/2014/main" id="{7C2F686B-A0E1-283D-1367-F76AF7A196F8}"/>
              </a:ext>
            </a:extLst>
          </p:cNvPr>
          <p:cNvSpPr>
            <a:spLocks noGrp="1"/>
          </p:cNvSpPr>
          <p:nvPr>
            <p:ph type="sldNum" sz="quarter" idx="12"/>
          </p:nvPr>
        </p:nvSpPr>
        <p:spPr/>
        <p:txBody>
          <a:bodyPr/>
          <a:lstStyle/>
          <a:p>
            <a:fld id="{13DE89AE-BBCC-45F3-BDAA-E98C74995322}" type="slidenum">
              <a:rPr lang="en-GB" smtClean="0"/>
              <a:t>52</a:t>
            </a:fld>
            <a:endParaRPr lang="en-GB"/>
          </a:p>
        </p:txBody>
      </p:sp>
      <p:grpSp>
        <p:nvGrpSpPr>
          <p:cNvPr id="5" name="Group 4">
            <a:extLst>
              <a:ext uri="{FF2B5EF4-FFF2-40B4-BE49-F238E27FC236}">
                <a16:creationId xmlns:a16="http://schemas.microsoft.com/office/drawing/2014/main" id="{CC351FB4-7C2B-0F1B-B04B-6687C3BBC9BB}"/>
              </a:ext>
            </a:extLst>
          </p:cNvPr>
          <p:cNvGrpSpPr/>
          <p:nvPr/>
        </p:nvGrpSpPr>
        <p:grpSpPr>
          <a:xfrm>
            <a:off x="195746" y="2988116"/>
            <a:ext cx="7259731" cy="1381148"/>
            <a:chOff x="195746" y="2988116"/>
            <a:chExt cx="7259731" cy="1381148"/>
          </a:xfrm>
        </p:grpSpPr>
        <p:sp>
          <p:nvSpPr>
            <p:cNvPr id="6" name="Content Placeholder 2">
              <a:extLst>
                <a:ext uri="{FF2B5EF4-FFF2-40B4-BE49-F238E27FC236}">
                  <a16:creationId xmlns:a16="http://schemas.microsoft.com/office/drawing/2014/main" id="{D82F0DC7-32C6-8755-9AC9-DAC2A578FC18}"/>
                </a:ext>
              </a:extLst>
            </p:cNvPr>
            <p:cNvSpPr txBox="1">
              <a:spLocks/>
            </p:cNvSpPr>
            <p:nvPr/>
          </p:nvSpPr>
          <p:spPr>
            <a:xfrm>
              <a:off x="195746" y="2988116"/>
              <a:ext cx="7259731" cy="5726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ym typeface="Symbol" panose="05050102010706020507" pitchFamily="18" charset="2"/>
                </a:rPr>
                <a:t>“the cat is on the table”        “le chat est sur la table”</a:t>
              </a:r>
            </a:p>
            <a:p>
              <a:endParaRPr lang="en-GB" dirty="0">
                <a:sym typeface="Symbol" panose="05050102010706020507" pitchFamily="18" charset="2"/>
              </a:endParaRPr>
            </a:p>
            <a:p>
              <a:endParaRPr lang="en-GB" dirty="0">
                <a:sym typeface="Symbol" panose="05050102010706020507" pitchFamily="18" charset="2"/>
              </a:endParaRPr>
            </a:p>
            <a:p>
              <a:pPr marL="0" indent="0">
                <a:buFont typeface="Arial" panose="020B0604020202020204" pitchFamily="34" charset="0"/>
                <a:buNone/>
              </a:pPr>
              <a:endParaRPr lang="en-GB" dirty="0"/>
            </a:p>
          </p:txBody>
        </p:sp>
        <p:grpSp>
          <p:nvGrpSpPr>
            <p:cNvPr id="25" name="Group 24">
              <a:extLst>
                <a:ext uri="{FF2B5EF4-FFF2-40B4-BE49-F238E27FC236}">
                  <a16:creationId xmlns:a16="http://schemas.microsoft.com/office/drawing/2014/main" id="{65044EA1-FF3B-93CD-E3CE-E42E09B007A8}"/>
                </a:ext>
              </a:extLst>
            </p:cNvPr>
            <p:cNvGrpSpPr/>
            <p:nvPr/>
          </p:nvGrpSpPr>
          <p:grpSpPr>
            <a:xfrm>
              <a:off x="211755" y="3413298"/>
              <a:ext cx="6777375" cy="955966"/>
              <a:chOff x="2448512" y="5144843"/>
              <a:chExt cx="6777375" cy="955966"/>
            </a:xfrm>
          </p:grpSpPr>
          <p:grpSp>
            <p:nvGrpSpPr>
              <p:cNvPr id="21" name="Group 20">
                <a:extLst>
                  <a:ext uri="{FF2B5EF4-FFF2-40B4-BE49-F238E27FC236}">
                    <a16:creationId xmlns:a16="http://schemas.microsoft.com/office/drawing/2014/main" id="{8DBCB62D-96BF-A09B-C80C-B29E56DD13F4}"/>
                  </a:ext>
                </a:extLst>
              </p:cNvPr>
              <p:cNvGrpSpPr/>
              <p:nvPr/>
            </p:nvGrpSpPr>
            <p:grpSpPr>
              <a:xfrm>
                <a:off x="2448512" y="5144845"/>
                <a:ext cx="3450718" cy="955964"/>
                <a:chOff x="2145555" y="5211520"/>
                <a:chExt cx="3450718" cy="955964"/>
              </a:xfrm>
            </p:grpSpPr>
            <p:cxnSp>
              <p:nvCxnSpPr>
                <p:cNvPr id="12" name="Straight Arrow Connector 11">
                  <a:extLst>
                    <a:ext uri="{FF2B5EF4-FFF2-40B4-BE49-F238E27FC236}">
                      <a16:creationId xmlns:a16="http://schemas.microsoft.com/office/drawing/2014/main" id="{1645C5EE-D64F-8C3B-4779-9D64CF257D11}"/>
                    </a:ext>
                  </a:extLst>
                </p:cNvPr>
                <p:cNvCxnSpPr>
                  <a:cxnSpLocks/>
                </p:cNvCxnSpPr>
                <p:nvPr/>
              </p:nvCxnSpPr>
              <p:spPr>
                <a:xfrm flipV="1">
                  <a:off x="385409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3B59FEE-BCC8-53A9-5640-0F30F8F6F051}"/>
                    </a:ext>
                  </a:extLst>
                </p:cNvPr>
                <p:cNvSpPr txBox="1"/>
                <p:nvPr/>
              </p:nvSpPr>
              <p:spPr>
                <a:xfrm>
                  <a:off x="2145555" y="5798152"/>
                  <a:ext cx="3450718" cy="369332"/>
                </a:xfrm>
                <a:prstGeom prst="rect">
                  <a:avLst/>
                </a:prstGeom>
                <a:noFill/>
                <a:ln w="22225">
                  <a:solidFill>
                    <a:schemeClr val="tx1"/>
                  </a:solidFill>
                </a:ln>
              </p:spPr>
              <p:txBody>
                <a:bodyPr wrap="square" rtlCol="0">
                  <a:spAutoFit/>
                </a:bodyPr>
                <a:lstStyle/>
                <a:p>
                  <a:r>
                    <a:rPr lang="en-GB" dirty="0"/>
                    <a:t>Encoder model, without masking</a:t>
                  </a:r>
                </a:p>
              </p:txBody>
            </p:sp>
          </p:grpSp>
          <p:grpSp>
            <p:nvGrpSpPr>
              <p:cNvPr id="22" name="Group 21">
                <a:extLst>
                  <a:ext uri="{FF2B5EF4-FFF2-40B4-BE49-F238E27FC236}">
                    <a16:creationId xmlns:a16="http://schemas.microsoft.com/office/drawing/2014/main" id="{18123390-D0B5-5AC2-F621-CB44810A648A}"/>
                  </a:ext>
                </a:extLst>
              </p:cNvPr>
              <p:cNvGrpSpPr/>
              <p:nvPr/>
            </p:nvGrpSpPr>
            <p:grpSpPr>
              <a:xfrm>
                <a:off x="6106122" y="5144843"/>
                <a:ext cx="3119765" cy="955964"/>
                <a:chOff x="2145555" y="5211520"/>
                <a:chExt cx="3119765" cy="955964"/>
              </a:xfrm>
            </p:grpSpPr>
            <p:cxnSp>
              <p:nvCxnSpPr>
                <p:cNvPr id="23" name="Straight Arrow Connector 22">
                  <a:extLst>
                    <a:ext uri="{FF2B5EF4-FFF2-40B4-BE49-F238E27FC236}">
                      <a16:creationId xmlns:a16="http://schemas.microsoft.com/office/drawing/2014/main" id="{884B3623-33BE-608A-FF21-F8709B83E076}"/>
                    </a:ext>
                  </a:extLst>
                </p:cNvPr>
                <p:cNvCxnSpPr>
                  <a:cxnSpLocks/>
                </p:cNvCxnSpPr>
                <p:nvPr/>
              </p:nvCxnSpPr>
              <p:spPr>
                <a:xfrm flipV="1">
                  <a:off x="371761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54E4F67C-9F25-0FCF-4DD6-4D6979F6E383}"/>
                    </a:ext>
                  </a:extLst>
                </p:cNvPr>
                <p:cNvSpPr txBox="1"/>
                <p:nvPr/>
              </p:nvSpPr>
              <p:spPr>
                <a:xfrm>
                  <a:off x="2145555" y="5798152"/>
                  <a:ext cx="3119765" cy="369332"/>
                </a:xfrm>
                <a:prstGeom prst="rect">
                  <a:avLst/>
                </a:prstGeom>
                <a:noFill/>
                <a:ln w="22225">
                  <a:solidFill>
                    <a:schemeClr val="tx1"/>
                  </a:solidFill>
                </a:ln>
              </p:spPr>
              <p:txBody>
                <a:bodyPr wrap="square" rtlCol="0">
                  <a:spAutoFit/>
                </a:bodyPr>
                <a:lstStyle/>
                <a:p>
                  <a:r>
                    <a:rPr lang="en-GB" dirty="0"/>
                    <a:t>Decoder model, with masking</a:t>
                  </a:r>
                </a:p>
              </p:txBody>
            </p:sp>
          </p:grpSp>
        </p:grpSp>
      </p:grpSp>
      <p:pic>
        <p:nvPicPr>
          <p:cNvPr id="15" name="Picture 14" descr="The image depicts a complex neural network architecture, showcasing various components such as probabilities, softmax, linear, add &amp; norm, feed, multi-head attention, and encoding, arranged in a sequential and interconnected manner.&#10;&#10;AI-generated content may be incorrect.">
            <a:extLst>
              <a:ext uri="{FF2B5EF4-FFF2-40B4-BE49-F238E27FC236}">
                <a16:creationId xmlns:a16="http://schemas.microsoft.com/office/drawing/2014/main" id="{69A126D8-C9DC-B7C3-40A0-4A262E6D471D}"/>
              </a:ext>
            </a:extLst>
          </p:cNvPr>
          <p:cNvPicPr>
            <a:picLocks noChangeAspect="1"/>
          </p:cNvPicPr>
          <p:nvPr/>
        </p:nvPicPr>
        <p:blipFill>
          <a:blip r:embed="rId3">
            <a:extLst>
              <a:ext uri="{28A0092B-C50C-407E-A947-70E740481C1C}">
                <a14:useLocalDpi xmlns:a14="http://schemas.microsoft.com/office/drawing/2010/main" val="0"/>
              </a:ext>
            </a:extLst>
          </a:blip>
          <a:srcRect l="4185" r="5191"/>
          <a:stretch>
            <a:fillRect/>
          </a:stretch>
        </p:blipFill>
        <p:spPr>
          <a:xfrm>
            <a:off x="8330830" y="1566135"/>
            <a:ext cx="3185761" cy="4633415"/>
          </a:xfrm>
          <a:prstGeom prst="rect">
            <a:avLst/>
          </a:prstGeom>
        </p:spPr>
      </p:pic>
      <p:sp>
        <p:nvSpPr>
          <p:cNvPr id="7" name="Rectangle: Rounded Corners 6">
            <a:extLst>
              <a:ext uri="{FF2B5EF4-FFF2-40B4-BE49-F238E27FC236}">
                <a16:creationId xmlns:a16="http://schemas.microsoft.com/office/drawing/2014/main" id="{E4244D30-AF71-C2C9-B9C2-C2A57828B625}"/>
              </a:ext>
            </a:extLst>
          </p:cNvPr>
          <p:cNvSpPr/>
          <p:nvPr/>
        </p:nvSpPr>
        <p:spPr>
          <a:xfrm>
            <a:off x="8453005" y="2951017"/>
            <a:ext cx="1522266" cy="2026227"/>
          </a:xfrm>
          <a:prstGeom prst="round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713D9822-99F9-F32B-00CF-80743D8F0CBD}"/>
              </a:ext>
            </a:extLst>
          </p:cNvPr>
          <p:cNvSpPr txBox="1"/>
          <p:nvPr/>
        </p:nvSpPr>
        <p:spPr>
          <a:xfrm>
            <a:off x="7552508" y="2116183"/>
            <a:ext cx="2116183" cy="400110"/>
          </a:xfrm>
          <a:prstGeom prst="rect">
            <a:avLst/>
          </a:prstGeom>
          <a:noFill/>
        </p:spPr>
        <p:txBody>
          <a:bodyPr wrap="square" rtlCol="0">
            <a:spAutoFit/>
          </a:bodyPr>
          <a:lstStyle/>
          <a:p>
            <a:r>
              <a:rPr lang="en-GB" sz="2000" dirty="0"/>
              <a:t>Encoder model</a:t>
            </a:r>
          </a:p>
        </p:txBody>
      </p:sp>
      <p:cxnSp>
        <p:nvCxnSpPr>
          <p:cNvPr id="10" name="Straight Arrow Connector 9">
            <a:extLst>
              <a:ext uri="{FF2B5EF4-FFF2-40B4-BE49-F238E27FC236}">
                <a16:creationId xmlns:a16="http://schemas.microsoft.com/office/drawing/2014/main" id="{CBF5C4C0-BEFB-61FA-AD3D-1D4D628FE079}"/>
              </a:ext>
            </a:extLst>
          </p:cNvPr>
          <p:cNvCxnSpPr>
            <a:cxnSpLocks/>
            <a:stCxn id="8" idx="2"/>
            <a:endCxn id="7" idx="0"/>
          </p:cNvCxnSpPr>
          <p:nvPr/>
        </p:nvCxnSpPr>
        <p:spPr>
          <a:xfrm>
            <a:off x="8610600" y="2516293"/>
            <a:ext cx="603538" cy="434724"/>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14161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76C3-BE3A-AAD9-3D0F-0EA2E7BBC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34B21-7A2F-81EB-2849-644A545CD4F7}"/>
              </a:ext>
            </a:extLst>
          </p:cNvPr>
          <p:cNvSpPr>
            <a:spLocks noGrp="1"/>
          </p:cNvSpPr>
          <p:nvPr>
            <p:ph type="title"/>
          </p:nvPr>
        </p:nvSpPr>
        <p:spPr>
          <a:xfrm>
            <a:off x="838200" y="365126"/>
            <a:ext cx="10515600" cy="843742"/>
          </a:xfrm>
        </p:spPr>
        <p:txBody>
          <a:bodyPr/>
          <a:lstStyle/>
          <a:p>
            <a:r>
              <a:rPr lang="en-GB" dirty="0"/>
              <a:t>Different types of transformers</a:t>
            </a:r>
          </a:p>
        </p:txBody>
      </p:sp>
      <p:sp>
        <p:nvSpPr>
          <p:cNvPr id="4" name="Slide Number Placeholder 3">
            <a:extLst>
              <a:ext uri="{FF2B5EF4-FFF2-40B4-BE49-F238E27FC236}">
                <a16:creationId xmlns:a16="http://schemas.microsoft.com/office/drawing/2014/main" id="{BA2A19F1-EC33-9BE1-4110-E8F88457B52F}"/>
              </a:ext>
            </a:extLst>
          </p:cNvPr>
          <p:cNvSpPr>
            <a:spLocks noGrp="1"/>
          </p:cNvSpPr>
          <p:nvPr>
            <p:ph type="sldNum" sz="quarter" idx="12"/>
          </p:nvPr>
        </p:nvSpPr>
        <p:spPr/>
        <p:txBody>
          <a:bodyPr/>
          <a:lstStyle/>
          <a:p>
            <a:fld id="{13DE89AE-BBCC-45F3-BDAA-E98C74995322}" type="slidenum">
              <a:rPr lang="en-GB" smtClean="0"/>
              <a:t>53</a:t>
            </a:fld>
            <a:endParaRPr lang="en-GB"/>
          </a:p>
        </p:txBody>
      </p:sp>
      <p:grpSp>
        <p:nvGrpSpPr>
          <p:cNvPr id="5" name="Group 4">
            <a:extLst>
              <a:ext uri="{FF2B5EF4-FFF2-40B4-BE49-F238E27FC236}">
                <a16:creationId xmlns:a16="http://schemas.microsoft.com/office/drawing/2014/main" id="{7358726F-FAF3-0690-8B08-E7856E776140}"/>
              </a:ext>
            </a:extLst>
          </p:cNvPr>
          <p:cNvGrpSpPr/>
          <p:nvPr/>
        </p:nvGrpSpPr>
        <p:grpSpPr>
          <a:xfrm>
            <a:off x="195746" y="2988116"/>
            <a:ext cx="7259731" cy="1381148"/>
            <a:chOff x="195746" y="2988116"/>
            <a:chExt cx="7259731" cy="1381148"/>
          </a:xfrm>
        </p:grpSpPr>
        <p:sp>
          <p:nvSpPr>
            <p:cNvPr id="6" name="Content Placeholder 2">
              <a:extLst>
                <a:ext uri="{FF2B5EF4-FFF2-40B4-BE49-F238E27FC236}">
                  <a16:creationId xmlns:a16="http://schemas.microsoft.com/office/drawing/2014/main" id="{8EF61200-FC8D-004F-B988-D9928EF196F4}"/>
                </a:ext>
              </a:extLst>
            </p:cNvPr>
            <p:cNvSpPr txBox="1">
              <a:spLocks/>
            </p:cNvSpPr>
            <p:nvPr/>
          </p:nvSpPr>
          <p:spPr>
            <a:xfrm>
              <a:off x="195746" y="2988116"/>
              <a:ext cx="7259731" cy="5726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ym typeface="Symbol" panose="05050102010706020507" pitchFamily="18" charset="2"/>
                </a:rPr>
                <a:t>“the cat is on the table”        “le chat est sur la table”</a:t>
              </a:r>
            </a:p>
            <a:p>
              <a:endParaRPr lang="en-GB" dirty="0">
                <a:sym typeface="Symbol" panose="05050102010706020507" pitchFamily="18" charset="2"/>
              </a:endParaRPr>
            </a:p>
            <a:p>
              <a:endParaRPr lang="en-GB" dirty="0">
                <a:sym typeface="Symbol" panose="05050102010706020507" pitchFamily="18" charset="2"/>
              </a:endParaRPr>
            </a:p>
            <a:p>
              <a:pPr marL="0" indent="0">
                <a:buFont typeface="Arial" panose="020B0604020202020204" pitchFamily="34" charset="0"/>
                <a:buNone/>
              </a:pPr>
              <a:endParaRPr lang="en-GB" dirty="0"/>
            </a:p>
          </p:txBody>
        </p:sp>
        <p:grpSp>
          <p:nvGrpSpPr>
            <p:cNvPr id="25" name="Group 24">
              <a:extLst>
                <a:ext uri="{FF2B5EF4-FFF2-40B4-BE49-F238E27FC236}">
                  <a16:creationId xmlns:a16="http://schemas.microsoft.com/office/drawing/2014/main" id="{BC3FD218-01C0-BE42-9576-E20E73689E10}"/>
                </a:ext>
              </a:extLst>
            </p:cNvPr>
            <p:cNvGrpSpPr/>
            <p:nvPr/>
          </p:nvGrpSpPr>
          <p:grpSpPr>
            <a:xfrm>
              <a:off x="211755" y="3413298"/>
              <a:ext cx="6777375" cy="955966"/>
              <a:chOff x="2448512" y="5144843"/>
              <a:chExt cx="6777375" cy="955966"/>
            </a:xfrm>
          </p:grpSpPr>
          <p:grpSp>
            <p:nvGrpSpPr>
              <p:cNvPr id="21" name="Group 20">
                <a:extLst>
                  <a:ext uri="{FF2B5EF4-FFF2-40B4-BE49-F238E27FC236}">
                    <a16:creationId xmlns:a16="http://schemas.microsoft.com/office/drawing/2014/main" id="{9EC71FE3-B05D-8173-6E13-C20682E57D6E}"/>
                  </a:ext>
                </a:extLst>
              </p:cNvPr>
              <p:cNvGrpSpPr/>
              <p:nvPr/>
            </p:nvGrpSpPr>
            <p:grpSpPr>
              <a:xfrm>
                <a:off x="2448512" y="5144845"/>
                <a:ext cx="3450718" cy="955964"/>
                <a:chOff x="2145555" y="5211520"/>
                <a:chExt cx="3450718" cy="955964"/>
              </a:xfrm>
            </p:grpSpPr>
            <p:cxnSp>
              <p:nvCxnSpPr>
                <p:cNvPr id="12" name="Straight Arrow Connector 11">
                  <a:extLst>
                    <a:ext uri="{FF2B5EF4-FFF2-40B4-BE49-F238E27FC236}">
                      <a16:creationId xmlns:a16="http://schemas.microsoft.com/office/drawing/2014/main" id="{24C5A21C-3904-E946-4C68-CB19E92590AF}"/>
                    </a:ext>
                  </a:extLst>
                </p:cNvPr>
                <p:cNvCxnSpPr>
                  <a:cxnSpLocks/>
                </p:cNvCxnSpPr>
                <p:nvPr/>
              </p:nvCxnSpPr>
              <p:spPr>
                <a:xfrm flipV="1">
                  <a:off x="385409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00495C4-D4C3-B4C7-306E-F36AABD5CDAF}"/>
                    </a:ext>
                  </a:extLst>
                </p:cNvPr>
                <p:cNvSpPr txBox="1"/>
                <p:nvPr/>
              </p:nvSpPr>
              <p:spPr>
                <a:xfrm>
                  <a:off x="2145555" y="5798152"/>
                  <a:ext cx="3450718" cy="369332"/>
                </a:xfrm>
                <a:prstGeom prst="rect">
                  <a:avLst/>
                </a:prstGeom>
                <a:noFill/>
                <a:ln w="22225">
                  <a:solidFill>
                    <a:schemeClr val="tx1"/>
                  </a:solidFill>
                </a:ln>
              </p:spPr>
              <p:txBody>
                <a:bodyPr wrap="square" rtlCol="0">
                  <a:spAutoFit/>
                </a:bodyPr>
                <a:lstStyle/>
                <a:p>
                  <a:r>
                    <a:rPr lang="en-GB" dirty="0"/>
                    <a:t>Encoder model, without masking</a:t>
                  </a:r>
                </a:p>
              </p:txBody>
            </p:sp>
          </p:grpSp>
          <p:grpSp>
            <p:nvGrpSpPr>
              <p:cNvPr id="22" name="Group 21">
                <a:extLst>
                  <a:ext uri="{FF2B5EF4-FFF2-40B4-BE49-F238E27FC236}">
                    <a16:creationId xmlns:a16="http://schemas.microsoft.com/office/drawing/2014/main" id="{85610B3B-4604-6D50-5F92-88FBEF57CF01}"/>
                  </a:ext>
                </a:extLst>
              </p:cNvPr>
              <p:cNvGrpSpPr/>
              <p:nvPr/>
            </p:nvGrpSpPr>
            <p:grpSpPr>
              <a:xfrm>
                <a:off x="6106122" y="5144843"/>
                <a:ext cx="3119765" cy="955964"/>
                <a:chOff x="2145555" y="5211520"/>
                <a:chExt cx="3119765" cy="955964"/>
              </a:xfrm>
            </p:grpSpPr>
            <p:cxnSp>
              <p:nvCxnSpPr>
                <p:cNvPr id="23" name="Straight Arrow Connector 22">
                  <a:extLst>
                    <a:ext uri="{FF2B5EF4-FFF2-40B4-BE49-F238E27FC236}">
                      <a16:creationId xmlns:a16="http://schemas.microsoft.com/office/drawing/2014/main" id="{FB6A5BD8-E328-43AE-7518-ED918491D2AB}"/>
                    </a:ext>
                  </a:extLst>
                </p:cNvPr>
                <p:cNvCxnSpPr>
                  <a:cxnSpLocks/>
                </p:cNvCxnSpPr>
                <p:nvPr/>
              </p:nvCxnSpPr>
              <p:spPr>
                <a:xfrm flipV="1">
                  <a:off x="371761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237EE632-1F90-0BE0-74DC-1EAFBFFC7AE2}"/>
                    </a:ext>
                  </a:extLst>
                </p:cNvPr>
                <p:cNvSpPr txBox="1"/>
                <p:nvPr/>
              </p:nvSpPr>
              <p:spPr>
                <a:xfrm>
                  <a:off x="2145555" y="5798152"/>
                  <a:ext cx="3119765" cy="369332"/>
                </a:xfrm>
                <a:prstGeom prst="rect">
                  <a:avLst/>
                </a:prstGeom>
                <a:noFill/>
                <a:ln w="22225">
                  <a:solidFill>
                    <a:schemeClr val="tx1"/>
                  </a:solidFill>
                </a:ln>
              </p:spPr>
              <p:txBody>
                <a:bodyPr wrap="square" rtlCol="0">
                  <a:spAutoFit/>
                </a:bodyPr>
                <a:lstStyle/>
                <a:p>
                  <a:r>
                    <a:rPr lang="en-GB" dirty="0"/>
                    <a:t>Decoder model, with masking</a:t>
                  </a:r>
                </a:p>
              </p:txBody>
            </p:sp>
          </p:grpSp>
        </p:grpSp>
      </p:grpSp>
      <p:pic>
        <p:nvPicPr>
          <p:cNvPr id="15" name="Picture 14" descr="The image depicts a complex neural network architecture, showcasing various components such as probabilities, softmax, linear, add &amp; norm, feed, multi-head attention, and encoding, arranged in a sequential and interconnected manner.&#10;&#10;AI-generated content may be incorrect.">
            <a:extLst>
              <a:ext uri="{FF2B5EF4-FFF2-40B4-BE49-F238E27FC236}">
                <a16:creationId xmlns:a16="http://schemas.microsoft.com/office/drawing/2014/main" id="{3D3F8B98-0043-9D8F-FF0C-07AD191B5A1D}"/>
              </a:ext>
            </a:extLst>
          </p:cNvPr>
          <p:cNvPicPr>
            <a:picLocks noChangeAspect="1"/>
          </p:cNvPicPr>
          <p:nvPr/>
        </p:nvPicPr>
        <p:blipFill>
          <a:blip r:embed="rId3">
            <a:extLst>
              <a:ext uri="{28A0092B-C50C-407E-A947-70E740481C1C}">
                <a14:useLocalDpi xmlns:a14="http://schemas.microsoft.com/office/drawing/2010/main" val="0"/>
              </a:ext>
            </a:extLst>
          </a:blip>
          <a:srcRect l="4185" r="5191"/>
          <a:stretch>
            <a:fillRect/>
          </a:stretch>
        </p:blipFill>
        <p:spPr>
          <a:xfrm>
            <a:off x="8330830" y="1566135"/>
            <a:ext cx="3185761" cy="4633415"/>
          </a:xfrm>
          <a:prstGeom prst="rect">
            <a:avLst/>
          </a:prstGeom>
        </p:spPr>
      </p:pic>
      <p:sp>
        <p:nvSpPr>
          <p:cNvPr id="7" name="Rectangle: Rounded Corners 6">
            <a:extLst>
              <a:ext uri="{FF2B5EF4-FFF2-40B4-BE49-F238E27FC236}">
                <a16:creationId xmlns:a16="http://schemas.microsoft.com/office/drawing/2014/main" id="{3694C672-F48B-D962-C60A-415973AA2FF8}"/>
              </a:ext>
            </a:extLst>
          </p:cNvPr>
          <p:cNvSpPr/>
          <p:nvPr/>
        </p:nvSpPr>
        <p:spPr>
          <a:xfrm>
            <a:off x="9831534" y="1502229"/>
            <a:ext cx="1522266" cy="3475015"/>
          </a:xfrm>
          <a:prstGeom prst="round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42A47DA-3A33-5DFA-41CA-9FFA2A15C90F}"/>
              </a:ext>
            </a:extLst>
          </p:cNvPr>
          <p:cNvSpPr txBox="1"/>
          <p:nvPr/>
        </p:nvSpPr>
        <p:spPr>
          <a:xfrm>
            <a:off x="7944393" y="955439"/>
            <a:ext cx="1887141" cy="400110"/>
          </a:xfrm>
          <a:prstGeom prst="rect">
            <a:avLst/>
          </a:prstGeom>
          <a:noFill/>
        </p:spPr>
        <p:txBody>
          <a:bodyPr wrap="square" rtlCol="0">
            <a:spAutoFit/>
          </a:bodyPr>
          <a:lstStyle/>
          <a:p>
            <a:r>
              <a:rPr lang="en-GB" sz="2000" dirty="0"/>
              <a:t>Decoder model</a:t>
            </a:r>
          </a:p>
        </p:txBody>
      </p:sp>
      <p:cxnSp>
        <p:nvCxnSpPr>
          <p:cNvPr id="10" name="Straight Arrow Connector 9">
            <a:extLst>
              <a:ext uri="{FF2B5EF4-FFF2-40B4-BE49-F238E27FC236}">
                <a16:creationId xmlns:a16="http://schemas.microsoft.com/office/drawing/2014/main" id="{4D940C09-FFCA-5F18-0526-9A5377670877}"/>
              </a:ext>
            </a:extLst>
          </p:cNvPr>
          <p:cNvCxnSpPr>
            <a:cxnSpLocks/>
            <a:stCxn id="8" idx="3"/>
            <a:endCxn id="7" idx="0"/>
          </p:cNvCxnSpPr>
          <p:nvPr/>
        </p:nvCxnSpPr>
        <p:spPr>
          <a:xfrm>
            <a:off x="9831534" y="1155494"/>
            <a:ext cx="761133" cy="346735"/>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313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865E2-20F5-6541-A331-3B6AADAB0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555C7-79D3-6C52-3E94-30766DA58BE0}"/>
              </a:ext>
            </a:extLst>
          </p:cNvPr>
          <p:cNvSpPr>
            <a:spLocks noGrp="1"/>
          </p:cNvSpPr>
          <p:nvPr>
            <p:ph type="title"/>
          </p:nvPr>
        </p:nvSpPr>
        <p:spPr>
          <a:xfrm>
            <a:off x="838200" y="365126"/>
            <a:ext cx="10515600" cy="843742"/>
          </a:xfrm>
        </p:spPr>
        <p:txBody>
          <a:bodyPr/>
          <a:lstStyle/>
          <a:p>
            <a:r>
              <a:rPr lang="en-GB" dirty="0"/>
              <a:t>Different types of transformers</a:t>
            </a:r>
          </a:p>
        </p:txBody>
      </p:sp>
      <p:sp>
        <p:nvSpPr>
          <p:cNvPr id="4" name="Slide Number Placeholder 3">
            <a:extLst>
              <a:ext uri="{FF2B5EF4-FFF2-40B4-BE49-F238E27FC236}">
                <a16:creationId xmlns:a16="http://schemas.microsoft.com/office/drawing/2014/main" id="{2463A7FC-51EC-6DC5-91BF-CDCC7DCD6DEF}"/>
              </a:ext>
            </a:extLst>
          </p:cNvPr>
          <p:cNvSpPr>
            <a:spLocks noGrp="1"/>
          </p:cNvSpPr>
          <p:nvPr>
            <p:ph type="sldNum" sz="quarter" idx="12"/>
          </p:nvPr>
        </p:nvSpPr>
        <p:spPr/>
        <p:txBody>
          <a:bodyPr/>
          <a:lstStyle/>
          <a:p>
            <a:fld id="{13DE89AE-BBCC-45F3-BDAA-E98C74995322}" type="slidenum">
              <a:rPr lang="en-GB" smtClean="0"/>
              <a:t>54</a:t>
            </a:fld>
            <a:endParaRPr lang="en-GB"/>
          </a:p>
        </p:txBody>
      </p:sp>
      <p:grpSp>
        <p:nvGrpSpPr>
          <p:cNvPr id="5" name="Group 4">
            <a:extLst>
              <a:ext uri="{FF2B5EF4-FFF2-40B4-BE49-F238E27FC236}">
                <a16:creationId xmlns:a16="http://schemas.microsoft.com/office/drawing/2014/main" id="{2173ADDD-C71F-BCEE-0F1F-6FBCAAFE22EE}"/>
              </a:ext>
            </a:extLst>
          </p:cNvPr>
          <p:cNvGrpSpPr/>
          <p:nvPr/>
        </p:nvGrpSpPr>
        <p:grpSpPr>
          <a:xfrm>
            <a:off x="195746" y="2988116"/>
            <a:ext cx="7259731" cy="1381148"/>
            <a:chOff x="195746" y="2988116"/>
            <a:chExt cx="7259731" cy="1381148"/>
          </a:xfrm>
        </p:grpSpPr>
        <p:sp>
          <p:nvSpPr>
            <p:cNvPr id="6" name="Content Placeholder 2">
              <a:extLst>
                <a:ext uri="{FF2B5EF4-FFF2-40B4-BE49-F238E27FC236}">
                  <a16:creationId xmlns:a16="http://schemas.microsoft.com/office/drawing/2014/main" id="{E51E1B05-9008-8690-6E3F-D08629CF3DD0}"/>
                </a:ext>
              </a:extLst>
            </p:cNvPr>
            <p:cNvSpPr txBox="1">
              <a:spLocks/>
            </p:cNvSpPr>
            <p:nvPr/>
          </p:nvSpPr>
          <p:spPr>
            <a:xfrm>
              <a:off x="195746" y="2988116"/>
              <a:ext cx="7259731" cy="5726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sym typeface="Symbol" panose="05050102010706020507" pitchFamily="18" charset="2"/>
                </a:rPr>
                <a:t>“the cat is on the table”        “le chat est sur la table”</a:t>
              </a:r>
            </a:p>
            <a:p>
              <a:endParaRPr lang="en-GB" dirty="0">
                <a:sym typeface="Symbol" panose="05050102010706020507" pitchFamily="18" charset="2"/>
              </a:endParaRPr>
            </a:p>
            <a:p>
              <a:endParaRPr lang="en-GB" dirty="0">
                <a:sym typeface="Symbol" panose="05050102010706020507" pitchFamily="18" charset="2"/>
              </a:endParaRPr>
            </a:p>
            <a:p>
              <a:pPr marL="0" indent="0">
                <a:buFont typeface="Arial" panose="020B0604020202020204" pitchFamily="34" charset="0"/>
                <a:buNone/>
              </a:pPr>
              <a:endParaRPr lang="en-GB" dirty="0"/>
            </a:p>
          </p:txBody>
        </p:sp>
        <p:grpSp>
          <p:nvGrpSpPr>
            <p:cNvPr id="25" name="Group 24">
              <a:extLst>
                <a:ext uri="{FF2B5EF4-FFF2-40B4-BE49-F238E27FC236}">
                  <a16:creationId xmlns:a16="http://schemas.microsoft.com/office/drawing/2014/main" id="{9085DE2B-9303-60FA-1914-9DFF8CCD08A6}"/>
                </a:ext>
              </a:extLst>
            </p:cNvPr>
            <p:cNvGrpSpPr/>
            <p:nvPr/>
          </p:nvGrpSpPr>
          <p:grpSpPr>
            <a:xfrm>
              <a:off x="211755" y="3413298"/>
              <a:ext cx="6777375" cy="955966"/>
              <a:chOff x="2448512" y="5144843"/>
              <a:chExt cx="6777375" cy="955966"/>
            </a:xfrm>
          </p:grpSpPr>
          <p:grpSp>
            <p:nvGrpSpPr>
              <p:cNvPr id="21" name="Group 20">
                <a:extLst>
                  <a:ext uri="{FF2B5EF4-FFF2-40B4-BE49-F238E27FC236}">
                    <a16:creationId xmlns:a16="http://schemas.microsoft.com/office/drawing/2014/main" id="{76E5DE3C-EDE2-7EB0-1589-BC85EB30533F}"/>
                  </a:ext>
                </a:extLst>
              </p:cNvPr>
              <p:cNvGrpSpPr/>
              <p:nvPr/>
            </p:nvGrpSpPr>
            <p:grpSpPr>
              <a:xfrm>
                <a:off x="2448512" y="5144845"/>
                <a:ext cx="3450718" cy="955964"/>
                <a:chOff x="2145555" y="5211520"/>
                <a:chExt cx="3450718" cy="955964"/>
              </a:xfrm>
            </p:grpSpPr>
            <p:cxnSp>
              <p:nvCxnSpPr>
                <p:cNvPr id="12" name="Straight Arrow Connector 11">
                  <a:extLst>
                    <a:ext uri="{FF2B5EF4-FFF2-40B4-BE49-F238E27FC236}">
                      <a16:creationId xmlns:a16="http://schemas.microsoft.com/office/drawing/2014/main" id="{1D40F7B8-6184-AF69-2D3C-5F8B6BF4CEB9}"/>
                    </a:ext>
                  </a:extLst>
                </p:cNvPr>
                <p:cNvCxnSpPr>
                  <a:cxnSpLocks/>
                </p:cNvCxnSpPr>
                <p:nvPr/>
              </p:nvCxnSpPr>
              <p:spPr>
                <a:xfrm flipV="1">
                  <a:off x="385409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BA7BDC3-52A3-5AA5-2215-9827FE4689C4}"/>
                    </a:ext>
                  </a:extLst>
                </p:cNvPr>
                <p:cNvSpPr txBox="1"/>
                <p:nvPr/>
              </p:nvSpPr>
              <p:spPr>
                <a:xfrm>
                  <a:off x="2145555" y="5798152"/>
                  <a:ext cx="3450718" cy="369332"/>
                </a:xfrm>
                <a:prstGeom prst="rect">
                  <a:avLst/>
                </a:prstGeom>
                <a:noFill/>
                <a:ln w="22225">
                  <a:solidFill>
                    <a:schemeClr val="tx1"/>
                  </a:solidFill>
                </a:ln>
              </p:spPr>
              <p:txBody>
                <a:bodyPr wrap="square" rtlCol="0">
                  <a:spAutoFit/>
                </a:bodyPr>
                <a:lstStyle/>
                <a:p>
                  <a:r>
                    <a:rPr lang="en-GB" dirty="0"/>
                    <a:t>Encoder model, without masking</a:t>
                  </a:r>
                </a:p>
              </p:txBody>
            </p:sp>
          </p:grpSp>
          <p:grpSp>
            <p:nvGrpSpPr>
              <p:cNvPr id="22" name="Group 21">
                <a:extLst>
                  <a:ext uri="{FF2B5EF4-FFF2-40B4-BE49-F238E27FC236}">
                    <a16:creationId xmlns:a16="http://schemas.microsoft.com/office/drawing/2014/main" id="{B979F282-E632-2118-1398-2C509D93348E}"/>
                  </a:ext>
                </a:extLst>
              </p:cNvPr>
              <p:cNvGrpSpPr/>
              <p:nvPr/>
            </p:nvGrpSpPr>
            <p:grpSpPr>
              <a:xfrm>
                <a:off x="6106122" y="5144843"/>
                <a:ext cx="3119765" cy="955964"/>
                <a:chOff x="2145555" y="5211520"/>
                <a:chExt cx="3119765" cy="955964"/>
              </a:xfrm>
            </p:grpSpPr>
            <p:cxnSp>
              <p:nvCxnSpPr>
                <p:cNvPr id="23" name="Straight Arrow Connector 22">
                  <a:extLst>
                    <a:ext uri="{FF2B5EF4-FFF2-40B4-BE49-F238E27FC236}">
                      <a16:creationId xmlns:a16="http://schemas.microsoft.com/office/drawing/2014/main" id="{5A977F5D-7457-954F-77AA-1B42677FE477}"/>
                    </a:ext>
                  </a:extLst>
                </p:cNvPr>
                <p:cNvCxnSpPr>
                  <a:cxnSpLocks/>
                </p:cNvCxnSpPr>
                <p:nvPr/>
              </p:nvCxnSpPr>
              <p:spPr>
                <a:xfrm flipV="1">
                  <a:off x="3717611" y="5211520"/>
                  <a:ext cx="0" cy="572609"/>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3727B90-6170-E7AE-1994-25C9915BBAB9}"/>
                    </a:ext>
                  </a:extLst>
                </p:cNvPr>
                <p:cNvSpPr txBox="1"/>
                <p:nvPr/>
              </p:nvSpPr>
              <p:spPr>
                <a:xfrm>
                  <a:off x="2145555" y="5798152"/>
                  <a:ext cx="3119765" cy="369332"/>
                </a:xfrm>
                <a:prstGeom prst="rect">
                  <a:avLst/>
                </a:prstGeom>
                <a:noFill/>
                <a:ln w="22225">
                  <a:solidFill>
                    <a:schemeClr val="tx1"/>
                  </a:solidFill>
                </a:ln>
              </p:spPr>
              <p:txBody>
                <a:bodyPr wrap="square" rtlCol="0">
                  <a:spAutoFit/>
                </a:bodyPr>
                <a:lstStyle/>
                <a:p>
                  <a:r>
                    <a:rPr lang="en-GB" dirty="0"/>
                    <a:t>Decoder model, with masking</a:t>
                  </a:r>
                </a:p>
              </p:txBody>
            </p:sp>
          </p:grpSp>
        </p:grpSp>
      </p:grpSp>
      <p:pic>
        <p:nvPicPr>
          <p:cNvPr id="15" name="Picture 14" descr="The image depicts a complex neural network architecture, showcasing various components such as probabilities, softmax, linear, add &amp; norm, feed, multi-head attention, and encoding, arranged in a sequential and interconnected manner.&#10;&#10;AI-generated content may be incorrect.">
            <a:extLst>
              <a:ext uri="{FF2B5EF4-FFF2-40B4-BE49-F238E27FC236}">
                <a16:creationId xmlns:a16="http://schemas.microsoft.com/office/drawing/2014/main" id="{BA0A59B6-23E5-8C0D-2F9A-F65F85F3CF40}"/>
              </a:ext>
            </a:extLst>
          </p:cNvPr>
          <p:cNvPicPr>
            <a:picLocks noChangeAspect="1"/>
          </p:cNvPicPr>
          <p:nvPr/>
        </p:nvPicPr>
        <p:blipFill>
          <a:blip r:embed="rId3">
            <a:extLst>
              <a:ext uri="{28A0092B-C50C-407E-A947-70E740481C1C}">
                <a14:useLocalDpi xmlns:a14="http://schemas.microsoft.com/office/drawing/2010/main" val="0"/>
              </a:ext>
            </a:extLst>
          </a:blip>
          <a:srcRect l="4185" r="5191"/>
          <a:stretch>
            <a:fillRect/>
          </a:stretch>
        </p:blipFill>
        <p:spPr>
          <a:xfrm>
            <a:off x="8330830" y="1566135"/>
            <a:ext cx="3185761" cy="4633415"/>
          </a:xfrm>
          <a:prstGeom prst="rect">
            <a:avLst/>
          </a:prstGeom>
        </p:spPr>
      </p:pic>
      <p:sp>
        <p:nvSpPr>
          <p:cNvPr id="7" name="Rectangle: Rounded Corners 6">
            <a:extLst>
              <a:ext uri="{FF2B5EF4-FFF2-40B4-BE49-F238E27FC236}">
                <a16:creationId xmlns:a16="http://schemas.microsoft.com/office/drawing/2014/main" id="{70926D78-8AB2-7C89-6D43-7DF75BB471BD}"/>
              </a:ext>
            </a:extLst>
          </p:cNvPr>
          <p:cNvSpPr/>
          <p:nvPr/>
        </p:nvSpPr>
        <p:spPr>
          <a:xfrm>
            <a:off x="9986554" y="3344092"/>
            <a:ext cx="613955" cy="555172"/>
          </a:xfrm>
          <a:prstGeom prst="roundRect">
            <a:avLst/>
          </a:prstGeom>
          <a:noFill/>
          <a:ln w="412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A2C4F6AB-0604-3080-26ED-4A219BD2611A}"/>
              </a:ext>
            </a:extLst>
          </p:cNvPr>
          <p:cNvGrpSpPr/>
          <p:nvPr/>
        </p:nvGrpSpPr>
        <p:grpSpPr>
          <a:xfrm>
            <a:off x="1110343" y="2048718"/>
            <a:ext cx="3735976" cy="978081"/>
            <a:chOff x="1110343" y="2048718"/>
            <a:chExt cx="3735976" cy="978081"/>
          </a:xfrm>
        </p:grpSpPr>
        <p:sp>
          <p:nvSpPr>
            <p:cNvPr id="3" name="Right Bracket 2">
              <a:extLst>
                <a:ext uri="{FF2B5EF4-FFF2-40B4-BE49-F238E27FC236}">
                  <a16:creationId xmlns:a16="http://schemas.microsoft.com/office/drawing/2014/main" id="{94950FD5-B2CE-CF12-2A27-D89CA73FFFEE}"/>
                </a:ext>
              </a:extLst>
            </p:cNvPr>
            <p:cNvSpPr/>
            <p:nvPr/>
          </p:nvSpPr>
          <p:spPr>
            <a:xfrm rot="16200000">
              <a:off x="2804422" y="984902"/>
              <a:ext cx="347818" cy="3735976"/>
            </a:xfrm>
            <a:prstGeom prst="rightBracket">
              <a:avLst/>
            </a:prstGeom>
            <a:ln w="28575">
              <a:solidFill>
                <a:schemeClr val="tx1"/>
              </a:solidFill>
              <a:headEnd type="triangle" w="lg" len="lg"/>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9" name="TextBox 8">
              <a:extLst>
                <a:ext uri="{FF2B5EF4-FFF2-40B4-BE49-F238E27FC236}">
                  <a16:creationId xmlns:a16="http://schemas.microsoft.com/office/drawing/2014/main" id="{2D90E2DC-3B20-804D-E4CF-55FA8AC5EE75}"/>
                </a:ext>
              </a:extLst>
            </p:cNvPr>
            <p:cNvSpPr txBox="1"/>
            <p:nvPr/>
          </p:nvSpPr>
          <p:spPr>
            <a:xfrm>
              <a:off x="1606731" y="2048718"/>
              <a:ext cx="2743200" cy="523220"/>
            </a:xfrm>
            <a:prstGeom prst="rect">
              <a:avLst/>
            </a:prstGeom>
            <a:noFill/>
          </p:spPr>
          <p:txBody>
            <a:bodyPr wrap="square" rtlCol="0">
              <a:spAutoFit/>
            </a:bodyPr>
            <a:lstStyle/>
            <a:p>
              <a:pPr algn="ctr"/>
              <a:r>
                <a:rPr lang="en-GB" sz="2800" dirty="0"/>
                <a:t>Cross attention</a:t>
              </a:r>
            </a:p>
          </p:txBody>
        </p:sp>
      </p:grpSp>
    </p:spTree>
    <p:extLst>
      <p:ext uri="{BB962C8B-B14F-4D97-AF65-F5344CB8AC3E}">
        <p14:creationId xmlns:p14="http://schemas.microsoft.com/office/powerpoint/2010/main" val="312618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6DD70A19-271A-7C84-6442-9574067E1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26019-66A3-830F-F410-D75130E90544}"/>
              </a:ext>
            </a:extLst>
          </p:cNvPr>
          <p:cNvSpPr>
            <a:spLocks noGrp="1"/>
          </p:cNvSpPr>
          <p:nvPr>
            <p:ph type="title"/>
          </p:nvPr>
        </p:nvSpPr>
        <p:spPr/>
        <p:txBody>
          <a:bodyPr/>
          <a:lstStyle/>
          <a:p>
            <a:r>
              <a:rPr lang="en-GB" dirty="0">
                <a:solidFill>
                  <a:schemeClr val="bg1"/>
                </a:solidFill>
              </a:rPr>
              <a:t>Code example 2</a:t>
            </a:r>
          </a:p>
        </p:txBody>
      </p:sp>
      <p:sp>
        <p:nvSpPr>
          <p:cNvPr id="3" name="Text Placeholder 2">
            <a:extLst>
              <a:ext uri="{FF2B5EF4-FFF2-40B4-BE49-F238E27FC236}">
                <a16:creationId xmlns:a16="http://schemas.microsoft.com/office/drawing/2014/main" id="{726456DF-A622-68AC-4DDF-E7A8D45074B6}"/>
              </a:ext>
            </a:extLst>
          </p:cNvPr>
          <p:cNvSpPr>
            <a:spLocks noGrp="1"/>
          </p:cNvSpPr>
          <p:nvPr>
            <p:ph type="body" idx="1"/>
          </p:nvPr>
        </p:nvSpPr>
        <p:spPr/>
        <p:txBody>
          <a:bodyPr/>
          <a:lstStyle/>
          <a:p>
            <a:r>
              <a:rPr lang="en-GB" dirty="0">
                <a:solidFill>
                  <a:schemeClr val="bg1"/>
                </a:solidFill>
              </a:rPr>
              <a:t>Using </a:t>
            </a:r>
            <a:r>
              <a:rPr lang="en-GB" dirty="0" err="1">
                <a:solidFill>
                  <a:schemeClr val="bg1"/>
                </a:solidFill>
              </a:rPr>
              <a:t>PyTorch</a:t>
            </a:r>
            <a:r>
              <a:rPr lang="en-GB" dirty="0">
                <a:solidFill>
                  <a:schemeClr val="bg1"/>
                </a:solidFill>
              </a:rPr>
              <a:t> to build transformer layers</a:t>
            </a:r>
          </a:p>
        </p:txBody>
      </p:sp>
      <p:sp>
        <p:nvSpPr>
          <p:cNvPr id="4" name="Slide Number Placeholder 3">
            <a:extLst>
              <a:ext uri="{FF2B5EF4-FFF2-40B4-BE49-F238E27FC236}">
                <a16:creationId xmlns:a16="http://schemas.microsoft.com/office/drawing/2014/main" id="{89F1A7DA-7254-CBDD-56A6-BB2753AA518B}"/>
              </a:ext>
            </a:extLst>
          </p:cNvPr>
          <p:cNvSpPr>
            <a:spLocks noGrp="1"/>
          </p:cNvSpPr>
          <p:nvPr>
            <p:ph type="sldNum" sz="quarter" idx="12"/>
          </p:nvPr>
        </p:nvSpPr>
        <p:spPr/>
        <p:txBody>
          <a:bodyPr/>
          <a:lstStyle/>
          <a:p>
            <a:fld id="{13DE89AE-BBCC-45F3-BDAA-E98C74995322}" type="slidenum">
              <a:rPr lang="en-GB" smtClean="0"/>
              <a:t>55</a:t>
            </a:fld>
            <a:endParaRPr lang="en-GB"/>
          </a:p>
        </p:txBody>
      </p:sp>
    </p:spTree>
    <p:extLst>
      <p:ext uri="{BB962C8B-B14F-4D97-AF65-F5344CB8AC3E}">
        <p14:creationId xmlns:p14="http://schemas.microsoft.com/office/powerpoint/2010/main" val="27479470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42E20-16F8-8E1D-A7B1-52842E704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A2B5E-752A-9A14-5835-3C602C02CA88}"/>
              </a:ext>
            </a:extLst>
          </p:cNvPr>
          <p:cNvSpPr>
            <a:spLocks noGrp="1"/>
          </p:cNvSpPr>
          <p:nvPr>
            <p:ph type="title"/>
          </p:nvPr>
        </p:nvSpPr>
        <p:spPr>
          <a:xfrm>
            <a:off x="838200" y="365126"/>
            <a:ext cx="10515600" cy="877888"/>
          </a:xfrm>
        </p:spPr>
        <p:txBody>
          <a:bodyPr/>
          <a:lstStyle/>
          <a:p>
            <a:r>
              <a:rPr lang="en-GB" dirty="0"/>
              <a:t>Code Example 2</a:t>
            </a:r>
          </a:p>
        </p:txBody>
      </p:sp>
      <p:sp>
        <p:nvSpPr>
          <p:cNvPr id="3" name="Content Placeholder 2">
            <a:extLst>
              <a:ext uri="{FF2B5EF4-FFF2-40B4-BE49-F238E27FC236}">
                <a16:creationId xmlns:a16="http://schemas.microsoft.com/office/drawing/2014/main" id="{1964098E-E270-0849-3541-57965BCD8161}"/>
              </a:ext>
            </a:extLst>
          </p:cNvPr>
          <p:cNvSpPr>
            <a:spLocks noGrp="1"/>
          </p:cNvSpPr>
          <p:nvPr>
            <p:ph idx="1"/>
          </p:nvPr>
        </p:nvSpPr>
        <p:spPr>
          <a:xfrm>
            <a:off x="231819" y="1397358"/>
            <a:ext cx="11571667" cy="4779605"/>
          </a:xfrm>
        </p:spPr>
        <p:txBody>
          <a:bodyPr/>
          <a:lstStyle/>
          <a:p>
            <a:r>
              <a:rPr lang="en-US" dirty="0"/>
              <a:t>Open up the Jupyter notebook ODSCWest2026_CodeExample2.ipynb in the </a:t>
            </a:r>
            <a:r>
              <a:rPr lang="en-US" dirty="0" err="1"/>
              <a:t>github</a:t>
            </a:r>
            <a:r>
              <a:rPr lang="en-US" dirty="0"/>
              <a:t> repository</a:t>
            </a:r>
          </a:p>
          <a:p>
            <a:pPr marL="0" indent="0">
              <a:buNone/>
            </a:pPr>
            <a:r>
              <a:rPr lang="en-US" dirty="0"/>
              <a:t>  </a:t>
            </a:r>
            <a:r>
              <a:rPr lang="en-US" dirty="0">
                <a:hlinkClick r:id="rId2"/>
              </a:rPr>
              <a:t>https://github.com/dchoyle/ODSCWest2026_TransformerBootcamp/</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95E473B0-1599-437F-FD9B-B62B518B419F}"/>
              </a:ext>
            </a:extLst>
          </p:cNvPr>
          <p:cNvSpPr>
            <a:spLocks noGrp="1"/>
          </p:cNvSpPr>
          <p:nvPr>
            <p:ph type="sldNum" sz="quarter" idx="12"/>
          </p:nvPr>
        </p:nvSpPr>
        <p:spPr/>
        <p:txBody>
          <a:bodyPr/>
          <a:lstStyle/>
          <a:p>
            <a:fld id="{13DE89AE-BBCC-45F3-BDAA-E98C74995322}" type="slidenum">
              <a:rPr lang="en-GB" smtClean="0"/>
              <a:t>56</a:t>
            </a:fld>
            <a:endParaRPr lang="en-GB"/>
          </a:p>
        </p:txBody>
      </p:sp>
    </p:spTree>
    <p:extLst>
      <p:ext uri="{BB962C8B-B14F-4D97-AF65-F5344CB8AC3E}">
        <p14:creationId xmlns:p14="http://schemas.microsoft.com/office/powerpoint/2010/main" val="5037001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8020F-11C5-625A-549A-45AE01C38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BBAC7-94CB-4D00-7076-279DBAC55C66}"/>
              </a:ext>
            </a:extLst>
          </p:cNvPr>
          <p:cNvSpPr>
            <a:spLocks noGrp="1"/>
          </p:cNvSpPr>
          <p:nvPr>
            <p:ph type="title"/>
          </p:nvPr>
        </p:nvSpPr>
        <p:spPr>
          <a:xfrm>
            <a:off x="715851" y="242776"/>
            <a:ext cx="10515600" cy="711178"/>
          </a:xfrm>
        </p:spPr>
        <p:txBody>
          <a:bodyPr/>
          <a:lstStyle/>
          <a:p>
            <a:r>
              <a:rPr lang="en-GB" dirty="0"/>
              <a:t>Wrap up: What we learnt</a:t>
            </a:r>
          </a:p>
        </p:txBody>
      </p:sp>
      <p:sp>
        <p:nvSpPr>
          <p:cNvPr id="3" name="Content Placeholder 2">
            <a:extLst>
              <a:ext uri="{FF2B5EF4-FFF2-40B4-BE49-F238E27FC236}">
                <a16:creationId xmlns:a16="http://schemas.microsoft.com/office/drawing/2014/main" id="{3894FAEF-4202-3526-92B8-430BA1E01C5B}"/>
              </a:ext>
            </a:extLst>
          </p:cNvPr>
          <p:cNvSpPr>
            <a:spLocks noGrp="1"/>
          </p:cNvSpPr>
          <p:nvPr>
            <p:ph idx="1"/>
          </p:nvPr>
        </p:nvSpPr>
        <p:spPr>
          <a:xfrm>
            <a:off x="431441" y="953954"/>
            <a:ext cx="11256135" cy="5536998"/>
          </a:xfrm>
        </p:spPr>
        <p:txBody>
          <a:bodyPr>
            <a:normAutofit fontScale="92500" lnSpcReduction="20000"/>
          </a:bodyPr>
          <a:lstStyle/>
          <a:p>
            <a:r>
              <a:rPr lang="en-GB" dirty="0"/>
              <a:t>Next token prediction is a powerful capability</a:t>
            </a:r>
          </a:p>
          <a:p>
            <a:endParaRPr lang="en-GB" dirty="0"/>
          </a:p>
          <a:p>
            <a:r>
              <a:rPr lang="en-GB" dirty="0"/>
              <a:t>To solve:</a:t>
            </a:r>
          </a:p>
          <a:p>
            <a:pPr marL="914400" lvl="1" indent="-457200">
              <a:buAutoNum type="arabicParenR"/>
            </a:pPr>
            <a:r>
              <a:rPr lang="en-GB" dirty="0"/>
              <a:t>We map very large vocabularies to lower dimensional vectors</a:t>
            </a:r>
          </a:p>
          <a:p>
            <a:pPr marL="914400" lvl="1" indent="-457200">
              <a:buAutoNum type="arabicParenR"/>
            </a:pPr>
            <a:r>
              <a:rPr lang="en-GB" dirty="0"/>
              <a:t>Each token in a sequence is initially represented by an embedding vector</a:t>
            </a:r>
          </a:p>
          <a:p>
            <a:pPr marL="914400" lvl="1" indent="-457200">
              <a:buAutoNum type="arabicParenR"/>
            </a:pPr>
            <a:r>
              <a:rPr lang="en-GB" dirty="0"/>
              <a:t>We transform each token to a new vector that also encodes the surrounding context</a:t>
            </a:r>
          </a:p>
          <a:p>
            <a:endParaRPr lang="en-GB" dirty="0"/>
          </a:p>
          <a:p>
            <a:r>
              <a:rPr lang="en-GB" dirty="0"/>
              <a:t>The transformation model contains lots of parameters. </a:t>
            </a:r>
          </a:p>
          <a:p>
            <a:r>
              <a:rPr lang="en-GB" dirty="0"/>
              <a:t>We learn the model parameters by training on very large datasets</a:t>
            </a:r>
          </a:p>
          <a:p>
            <a:endParaRPr lang="en-GB" dirty="0"/>
          </a:p>
          <a:p>
            <a:r>
              <a:rPr lang="en-GB" dirty="0"/>
              <a:t>Transformer models can be used to encode and/or decode tokens</a:t>
            </a:r>
          </a:p>
          <a:p>
            <a:endParaRPr lang="en-GB" dirty="0"/>
          </a:p>
          <a:p>
            <a:r>
              <a:rPr lang="en-GB" dirty="0"/>
              <a:t>We can have applications that use only decoder blocks, only encoder blocks, or both.</a:t>
            </a:r>
          </a:p>
          <a:p>
            <a:endParaRPr lang="en-GB" dirty="0"/>
          </a:p>
          <a:p>
            <a:pPr lvl="1"/>
            <a:endParaRPr lang="en-GB" dirty="0"/>
          </a:p>
        </p:txBody>
      </p:sp>
      <p:sp>
        <p:nvSpPr>
          <p:cNvPr id="4" name="Slide Number Placeholder 3">
            <a:extLst>
              <a:ext uri="{FF2B5EF4-FFF2-40B4-BE49-F238E27FC236}">
                <a16:creationId xmlns:a16="http://schemas.microsoft.com/office/drawing/2014/main" id="{11BEC767-7FC7-A7B9-313A-BB55B97D74F3}"/>
              </a:ext>
            </a:extLst>
          </p:cNvPr>
          <p:cNvSpPr>
            <a:spLocks noGrp="1"/>
          </p:cNvSpPr>
          <p:nvPr>
            <p:ph type="sldNum" sz="quarter" idx="12"/>
          </p:nvPr>
        </p:nvSpPr>
        <p:spPr/>
        <p:txBody>
          <a:bodyPr/>
          <a:lstStyle/>
          <a:p>
            <a:fld id="{13DE89AE-BBCC-45F3-BDAA-E98C74995322}" type="slidenum">
              <a:rPr lang="en-GB" smtClean="0"/>
              <a:t>57</a:t>
            </a:fld>
            <a:endParaRPr lang="en-GB"/>
          </a:p>
        </p:txBody>
      </p:sp>
    </p:spTree>
    <p:extLst>
      <p:ext uri="{BB962C8B-B14F-4D97-AF65-F5344CB8AC3E}">
        <p14:creationId xmlns:p14="http://schemas.microsoft.com/office/powerpoint/2010/main" val="39692719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D1DF9-6287-B8A6-798F-14447ADEB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E44C1-6602-E3C8-426E-F19FD9DF3108}"/>
              </a:ext>
            </a:extLst>
          </p:cNvPr>
          <p:cNvSpPr>
            <a:spLocks noGrp="1"/>
          </p:cNvSpPr>
          <p:nvPr>
            <p:ph type="title"/>
          </p:nvPr>
        </p:nvSpPr>
        <p:spPr>
          <a:xfrm>
            <a:off x="715851" y="242776"/>
            <a:ext cx="10515600" cy="711178"/>
          </a:xfrm>
        </p:spPr>
        <p:txBody>
          <a:bodyPr/>
          <a:lstStyle/>
          <a:p>
            <a:r>
              <a:rPr lang="en-GB" dirty="0"/>
              <a:t>Wrap up: What to learn next</a:t>
            </a:r>
          </a:p>
        </p:txBody>
      </p:sp>
      <p:sp>
        <p:nvSpPr>
          <p:cNvPr id="3" name="Content Placeholder 2">
            <a:extLst>
              <a:ext uri="{FF2B5EF4-FFF2-40B4-BE49-F238E27FC236}">
                <a16:creationId xmlns:a16="http://schemas.microsoft.com/office/drawing/2014/main" id="{F4097E87-C377-FFA7-0037-4FF8862E741F}"/>
              </a:ext>
            </a:extLst>
          </p:cNvPr>
          <p:cNvSpPr>
            <a:spLocks noGrp="1"/>
          </p:cNvSpPr>
          <p:nvPr>
            <p:ph idx="1"/>
          </p:nvPr>
        </p:nvSpPr>
        <p:spPr>
          <a:xfrm>
            <a:off x="431441" y="953954"/>
            <a:ext cx="11256135" cy="5536998"/>
          </a:xfrm>
        </p:spPr>
        <p:txBody>
          <a:bodyPr>
            <a:normAutofit/>
          </a:bodyPr>
          <a:lstStyle/>
          <a:p>
            <a:r>
              <a:rPr lang="en-GB" dirty="0">
                <a:hlinkClick r:id="rId2"/>
              </a:rPr>
              <a:t>The hundred page language models book</a:t>
            </a:r>
            <a:r>
              <a:rPr lang="en-GB" dirty="0"/>
              <a:t>  - Andriy Burkov</a:t>
            </a:r>
          </a:p>
          <a:p>
            <a:endParaRPr lang="en-GB" dirty="0"/>
          </a:p>
          <a:p>
            <a:r>
              <a:rPr lang="en-GB" dirty="0">
                <a:hlinkClick r:id="rId3"/>
              </a:rPr>
              <a:t>An introduction to Transformers</a:t>
            </a:r>
            <a:r>
              <a:rPr lang="en-GB" dirty="0"/>
              <a:t> – R. Turner,  arXiv:2304.10557</a:t>
            </a:r>
          </a:p>
          <a:p>
            <a:endParaRPr lang="en-GB" dirty="0"/>
          </a:p>
          <a:p>
            <a:r>
              <a:rPr lang="en-GB" dirty="0">
                <a:hlinkClick r:id="rId4"/>
              </a:rPr>
              <a:t>Decoder-Only Transformers: The Workhorse of Generative LLMs</a:t>
            </a:r>
            <a:endParaRPr lang="en-GB" dirty="0"/>
          </a:p>
          <a:p>
            <a:pPr lvl="1">
              <a:buFontTx/>
              <a:buChar char="-"/>
            </a:pPr>
            <a:r>
              <a:rPr lang="en-GB" dirty="0"/>
              <a:t>Cameron R. Wolfe.  Substack article</a:t>
            </a:r>
          </a:p>
          <a:p>
            <a:pPr lvl="1">
              <a:buFontTx/>
              <a:buChar char="-"/>
            </a:pPr>
            <a:endParaRPr lang="en-GB" dirty="0"/>
          </a:p>
          <a:p>
            <a:r>
              <a:rPr lang="en-GB" dirty="0">
                <a:hlinkClick r:id="rId5"/>
              </a:rPr>
              <a:t>Attention is all you need</a:t>
            </a:r>
            <a:r>
              <a:rPr lang="en-GB" dirty="0"/>
              <a:t> – Vaswani et al, arXiv:1706.03762</a:t>
            </a:r>
          </a:p>
          <a:p>
            <a:endParaRPr lang="en-GB" dirty="0"/>
          </a:p>
          <a:p>
            <a:r>
              <a:rPr lang="en-GB" dirty="0">
                <a:hlinkClick r:id="rId6"/>
              </a:rPr>
              <a:t>Paper Walkthrough: Attention Is All You Need</a:t>
            </a:r>
            <a:endParaRPr lang="en-GB" dirty="0"/>
          </a:p>
          <a:p>
            <a:pPr marL="457200" lvl="1" indent="0">
              <a:buNone/>
            </a:pPr>
            <a:r>
              <a:rPr lang="en-GB" dirty="0"/>
              <a:t>- Muhammad Ardi. Towards Data Science article</a:t>
            </a:r>
          </a:p>
          <a:p>
            <a:endParaRPr lang="en-GB" dirty="0"/>
          </a:p>
          <a:p>
            <a:endParaRPr lang="en-GB" dirty="0"/>
          </a:p>
          <a:p>
            <a:endParaRPr lang="en-GB" dirty="0"/>
          </a:p>
          <a:p>
            <a:endParaRPr lang="en-GB" dirty="0"/>
          </a:p>
          <a:p>
            <a:endParaRPr lang="en-GB" dirty="0"/>
          </a:p>
          <a:p>
            <a:pPr lvl="1"/>
            <a:endParaRPr lang="en-GB" dirty="0"/>
          </a:p>
        </p:txBody>
      </p:sp>
      <p:sp>
        <p:nvSpPr>
          <p:cNvPr id="4" name="Slide Number Placeholder 3">
            <a:extLst>
              <a:ext uri="{FF2B5EF4-FFF2-40B4-BE49-F238E27FC236}">
                <a16:creationId xmlns:a16="http://schemas.microsoft.com/office/drawing/2014/main" id="{C02DCCFF-F4FC-6FD5-C8C1-797EAE724108}"/>
              </a:ext>
            </a:extLst>
          </p:cNvPr>
          <p:cNvSpPr>
            <a:spLocks noGrp="1"/>
          </p:cNvSpPr>
          <p:nvPr>
            <p:ph type="sldNum" sz="quarter" idx="12"/>
          </p:nvPr>
        </p:nvSpPr>
        <p:spPr/>
        <p:txBody>
          <a:bodyPr/>
          <a:lstStyle/>
          <a:p>
            <a:fld id="{13DE89AE-BBCC-45F3-BDAA-E98C74995322}" type="slidenum">
              <a:rPr lang="en-GB" smtClean="0"/>
              <a:t>58</a:t>
            </a:fld>
            <a:endParaRPr lang="en-GB"/>
          </a:p>
        </p:txBody>
      </p:sp>
    </p:spTree>
    <p:extLst>
      <p:ext uri="{BB962C8B-B14F-4D97-AF65-F5344CB8AC3E}">
        <p14:creationId xmlns:p14="http://schemas.microsoft.com/office/powerpoint/2010/main" val="12467408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B127E-CC24-133D-CFC0-511ED5452F93}"/>
              </a:ext>
            </a:extLst>
          </p:cNvPr>
          <p:cNvSpPr>
            <a:spLocks noGrp="1"/>
          </p:cNvSpPr>
          <p:nvPr>
            <p:ph type="title"/>
          </p:nvPr>
        </p:nvSpPr>
        <p:spPr>
          <a:xfrm>
            <a:off x="715851" y="242776"/>
            <a:ext cx="10515600" cy="711178"/>
          </a:xfrm>
        </p:spPr>
        <p:txBody>
          <a:bodyPr/>
          <a:lstStyle/>
          <a:p>
            <a:r>
              <a:rPr lang="en-GB" dirty="0"/>
              <a:t>Wrap up: What I haven’t told you</a:t>
            </a:r>
          </a:p>
        </p:txBody>
      </p:sp>
      <p:sp>
        <p:nvSpPr>
          <p:cNvPr id="3" name="Content Placeholder 2">
            <a:extLst>
              <a:ext uri="{FF2B5EF4-FFF2-40B4-BE49-F238E27FC236}">
                <a16:creationId xmlns:a16="http://schemas.microsoft.com/office/drawing/2014/main" id="{224924F2-ACFF-9DEC-B73E-37938EA66817}"/>
              </a:ext>
            </a:extLst>
          </p:cNvPr>
          <p:cNvSpPr>
            <a:spLocks noGrp="1"/>
          </p:cNvSpPr>
          <p:nvPr>
            <p:ph idx="1"/>
          </p:nvPr>
        </p:nvSpPr>
        <p:spPr>
          <a:xfrm>
            <a:off x="431441" y="1255690"/>
            <a:ext cx="11256135" cy="4507606"/>
          </a:xfrm>
        </p:spPr>
        <p:txBody>
          <a:bodyPr>
            <a:normAutofit/>
          </a:bodyPr>
          <a:lstStyle/>
          <a:p>
            <a:r>
              <a:rPr lang="en-GB" dirty="0"/>
              <a:t>The engineering challenges, scale, and costs associated with foundational model training are significant</a:t>
            </a:r>
          </a:p>
          <a:p>
            <a:endParaRPr lang="en-GB" dirty="0"/>
          </a:p>
          <a:p>
            <a:r>
              <a:rPr lang="en-GB" dirty="0"/>
              <a:t>Foundational models are general – but can be fine-tuned</a:t>
            </a:r>
          </a:p>
          <a:p>
            <a:pPr lvl="1"/>
            <a:r>
              <a:rPr lang="en-GB" dirty="0"/>
              <a:t>Domain specific datasets</a:t>
            </a:r>
          </a:p>
          <a:p>
            <a:pPr lvl="1"/>
            <a:r>
              <a:rPr lang="en-GB" dirty="0" err="1"/>
              <a:t>LoRA</a:t>
            </a:r>
            <a:endParaRPr lang="en-GB" dirty="0"/>
          </a:p>
          <a:p>
            <a:pPr marL="457200" lvl="1" indent="0">
              <a:buNone/>
            </a:pPr>
            <a:endParaRPr lang="en-GB" dirty="0"/>
          </a:p>
          <a:p>
            <a:r>
              <a:rPr lang="en-GB" dirty="0"/>
              <a:t>Problem of hallucinations can be mitigated (but not eliminated)</a:t>
            </a:r>
          </a:p>
          <a:p>
            <a:pPr lvl="1"/>
            <a:r>
              <a:rPr lang="en-GB" dirty="0"/>
              <a:t>RAG</a:t>
            </a:r>
          </a:p>
          <a:p>
            <a:pPr lvl="1"/>
            <a:r>
              <a:rPr lang="en-GB" dirty="0" err="1"/>
              <a:t>CoT</a:t>
            </a:r>
            <a:endParaRPr lang="en-GB" dirty="0"/>
          </a:p>
          <a:p>
            <a:pPr lvl="1"/>
            <a:endParaRPr lang="en-GB" dirty="0"/>
          </a:p>
        </p:txBody>
      </p:sp>
      <p:sp>
        <p:nvSpPr>
          <p:cNvPr id="4" name="Slide Number Placeholder 3">
            <a:extLst>
              <a:ext uri="{FF2B5EF4-FFF2-40B4-BE49-F238E27FC236}">
                <a16:creationId xmlns:a16="http://schemas.microsoft.com/office/drawing/2014/main" id="{5A09CD7B-403A-C97C-96C9-1AC1CED514BC}"/>
              </a:ext>
            </a:extLst>
          </p:cNvPr>
          <p:cNvSpPr>
            <a:spLocks noGrp="1"/>
          </p:cNvSpPr>
          <p:nvPr>
            <p:ph type="sldNum" sz="quarter" idx="12"/>
          </p:nvPr>
        </p:nvSpPr>
        <p:spPr/>
        <p:txBody>
          <a:bodyPr/>
          <a:lstStyle/>
          <a:p>
            <a:fld id="{13DE89AE-BBCC-45F3-BDAA-E98C74995322}" type="slidenum">
              <a:rPr lang="en-GB" smtClean="0"/>
              <a:t>59</a:t>
            </a:fld>
            <a:endParaRPr lang="en-GB"/>
          </a:p>
        </p:txBody>
      </p:sp>
    </p:spTree>
    <p:extLst>
      <p:ext uri="{BB962C8B-B14F-4D97-AF65-F5344CB8AC3E}">
        <p14:creationId xmlns:p14="http://schemas.microsoft.com/office/powerpoint/2010/main" val="2983951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F10EC-AB52-54CE-E0B4-830F59909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1720A-7168-139B-00B0-7D0B4AE8CD8A}"/>
              </a:ext>
            </a:extLst>
          </p:cNvPr>
          <p:cNvSpPr>
            <a:spLocks noGrp="1"/>
          </p:cNvSpPr>
          <p:nvPr>
            <p:ph type="title"/>
          </p:nvPr>
        </p:nvSpPr>
        <p:spPr>
          <a:xfrm>
            <a:off x="715851" y="242776"/>
            <a:ext cx="10515600" cy="711178"/>
          </a:xfrm>
        </p:spPr>
        <p:txBody>
          <a:bodyPr/>
          <a:lstStyle/>
          <a:p>
            <a:r>
              <a:rPr lang="en-GB" dirty="0"/>
              <a:t>Wrap up: Wider reading</a:t>
            </a:r>
          </a:p>
        </p:txBody>
      </p:sp>
      <p:sp>
        <p:nvSpPr>
          <p:cNvPr id="3" name="Content Placeholder 2">
            <a:extLst>
              <a:ext uri="{FF2B5EF4-FFF2-40B4-BE49-F238E27FC236}">
                <a16:creationId xmlns:a16="http://schemas.microsoft.com/office/drawing/2014/main" id="{CA9AD334-8F80-1B6F-DA92-0058B40E4297}"/>
              </a:ext>
            </a:extLst>
          </p:cNvPr>
          <p:cNvSpPr>
            <a:spLocks noGrp="1"/>
          </p:cNvSpPr>
          <p:nvPr>
            <p:ph idx="1"/>
          </p:nvPr>
        </p:nvSpPr>
        <p:spPr>
          <a:xfrm>
            <a:off x="431441" y="1485900"/>
            <a:ext cx="11256135" cy="5005052"/>
          </a:xfrm>
        </p:spPr>
        <p:txBody>
          <a:bodyPr>
            <a:normAutofit/>
          </a:bodyPr>
          <a:lstStyle/>
          <a:p>
            <a:r>
              <a:rPr lang="en-GB" dirty="0">
                <a:hlinkClick r:id="rId2"/>
              </a:rPr>
              <a:t>The Hitchhiker’s Guide to Agentic AI: From Foundations to Systems</a:t>
            </a:r>
            <a:r>
              <a:rPr lang="en-GB" dirty="0"/>
              <a:t>        - Haggai Roitman, </a:t>
            </a:r>
            <a:r>
              <a:rPr lang="en-GB" dirty="0" err="1"/>
              <a:t>arXiv</a:t>
            </a:r>
            <a:r>
              <a:rPr lang="en-GB" dirty="0"/>
              <a:t>: 2606.24937</a:t>
            </a:r>
          </a:p>
          <a:p>
            <a:endParaRPr lang="en-GB" dirty="0"/>
          </a:p>
          <a:p>
            <a:r>
              <a:rPr lang="en-GB" dirty="0">
                <a:hlinkClick r:id="rId3"/>
              </a:rPr>
              <a:t>Welcome to the era of experience</a:t>
            </a:r>
            <a:r>
              <a:rPr lang="en-GB" dirty="0"/>
              <a:t> – David Silver, Richard Sutton</a:t>
            </a:r>
          </a:p>
          <a:p>
            <a:pPr marL="0" indent="0">
              <a:buNone/>
            </a:pPr>
            <a:r>
              <a:rPr lang="en-GB" dirty="0"/>
              <a:t>	- Google DeepMind</a:t>
            </a:r>
          </a:p>
          <a:p>
            <a:endParaRPr lang="en-GB" dirty="0"/>
          </a:p>
          <a:p>
            <a:r>
              <a:rPr lang="en-GB" dirty="0">
                <a:hlinkClick r:id="rId4"/>
              </a:rPr>
              <a:t>The Infinity Machine: Demis Hassabis, DeepMind and the Quest for Superintelligence</a:t>
            </a:r>
            <a:endParaRPr lang="en-GB" dirty="0"/>
          </a:p>
          <a:p>
            <a:pPr lvl="1">
              <a:buFontTx/>
              <a:buChar char="-"/>
            </a:pPr>
            <a:r>
              <a:rPr lang="en-GB"/>
              <a:t>Sebastian </a:t>
            </a:r>
            <a:r>
              <a:rPr lang="en-GB" dirty="0"/>
              <a:t>Mallaby</a:t>
            </a:r>
          </a:p>
          <a:p>
            <a:pPr marL="0" indent="0">
              <a:buNone/>
            </a:pPr>
            <a:endParaRPr lang="en-GB" dirty="0"/>
          </a:p>
          <a:p>
            <a:endParaRPr lang="en-GB" dirty="0"/>
          </a:p>
          <a:p>
            <a:endParaRPr lang="en-GB" dirty="0"/>
          </a:p>
          <a:p>
            <a:endParaRPr lang="en-GB" dirty="0"/>
          </a:p>
          <a:p>
            <a:endParaRPr lang="en-GB" dirty="0"/>
          </a:p>
          <a:p>
            <a:pPr lvl="1"/>
            <a:endParaRPr lang="en-GB" dirty="0"/>
          </a:p>
        </p:txBody>
      </p:sp>
      <p:sp>
        <p:nvSpPr>
          <p:cNvPr id="4" name="Slide Number Placeholder 3">
            <a:extLst>
              <a:ext uri="{FF2B5EF4-FFF2-40B4-BE49-F238E27FC236}">
                <a16:creationId xmlns:a16="http://schemas.microsoft.com/office/drawing/2014/main" id="{1F2AA1C1-158C-DCD4-3038-38A497A7AAD9}"/>
              </a:ext>
            </a:extLst>
          </p:cNvPr>
          <p:cNvSpPr>
            <a:spLocks noGrp="1"/>
          </p:cNvSpPr>
          <p:nvPr>
            <p:ph type="sldNum" sz="quarter" idx="12"/>
          </p:nvPr>
        </p:nvSpPr>
        <p:spPr/>
        <p:txBody>
          <a:bodyPr/>
          <a:lstStyle/>
          <a:p>
            <a:fld id="{13DE89AE-BBCC-45F3-BDAA-E98C74995322}" type="slidenum">
              <a:rPr lang="en-GB" smtClean="0"/>
              <a:t>60</a:t>
            </a:fld>
            <a:endParaRPr lang="en-GB"/>
          </a:p>
        </p:txBody>
      </p:sp>
    </p:spTree>
    <p:extLst>
      <p:ext uri="{BB962C8B-B14F-4D97-AF65-F5344CB8AC3E}">
        <p14:creationId xmlns:p14="http://schemas.microsoft.com/office/powerpoint/2010/main" val="31976862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6600CC"/>
        </a:solidFill>
        <a:effectLst/>
      </p:bgPr>
    </p:bg>
    <p:spTree>
      <p:nvGrpSpPr>
        <p:cNvPr id="1" name="">
          <a:extLst>
            <a:ext uri="{FF2B5EF4-FFF2-40B4-BE49-F238E27FC236}">
              <a16:creationId xmlns:a16="http://schemas.microsoft.com/office/drawing/2014/main" id="{A297CAB8-EC18-66CF-A9E0-8A38EDACD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D0D99-38F1-F171-C9FA-FE98B4978BBB}"/>
              </a:ext>
            </a:extLst>
          </p:cNvPr>
          <p:cNvSpPr>
            <a:spLocks noGrp="1"/>
          </p:cNvSpPr>
          <p:nvPr>
            <p:ph type="title"/>
          </p:nvPr>
        </p:nvSpPr>
        <p:spPr>
          <a:xfrm>
            <a:off x="838200" y="844886"/>
            <a:ext cx="10515600" cy="2384891"/>
          </a:xfrm>
        </p:spPr>
        <p:txBody>
          <a:bodyPr anchor="ctr"/>
          <a:lstStyle/>
          <a:p>
            <a:pPr algn="ctr"/>
            <a:r>
              <a:rPr lang="en-GB" dirty="0">
                <a:solidFill>
                  <a:schemeClr val="bg1"/>
                </a:solidFill>
              </a:rPr>
              <a:t>Thank you for listening</a:t>
            </a:r>
            <a:br>
              <a:rPr lang="en-GB" dirty="0">
                <a:solidFill>
                  <a:schemeClr val="bg1"/>
                </a:solidFill>
              </a:rPr>
            </a:br>
            <a:r>
              <a:rPr lang="en-GB" dirty="0">
                <a:solidFill>
                  <a:schemeClr val="bg1"/>
                </a:solidFill>
              </a:rPr>
              <a:t>Questions?</a:t>
            </a:r>
          </a:p>
        </p:txBody>
      </p:sp>
      <p:sp>
        <p:nvSpPr>
          <p:cNvPr id="3" name="Text Placeholder 2">
            <a:extLst>
              <a:ext uri="{FF2B5EF4-FFF2-40B4-BE49-F238E27FC236}">
                <a16:creationId xmlns:a16="http://schemas.microsoft.com/office/drawing/2014/main" id="{D5BDA449-CA5C-0BF2-71E6-B505FDCAD906}"/>
              </a:ext>
            </a:extLst>
          </p:cNvPr>
          <p:cNvSpPr>
            <a:spLocks noGrp="1"/>
          </p:cNvSpPr>
          <p:nvPr>
            <p:ph type="body" idx="1"/>
          </p:nvPr>
        </p:nvSpPr>
        <p:spPr>
          <a:xfrm>
            <a:off x="2216898" y="5450180"/>
            <a:ext cx="5004174" cy="567484"/>
          </a:xfrm>
        </p:spPr>
        <p:txBody>
          <a:bodyPr/>
          <a:lstStyle/>
          <a:p>
            <a:r>
              <a:rPr lang="en-GB" dirty="0">
                <a:solidFill>
                  <a:schemeClr val="bg1"/>
                </a:solidFill>
                <a:hlinkClick r:id="rId2">
                  <a:extLst>
                    <a:ext uri="{A12FA001-AC4F-418D-AE19-62706E023703}">
                      <ahyp:hlinkClr xmlns:ahyp="http://schemas.microsoft.com/office/drawing/2018/hyperlinkcolor" val="tx"/>
                    </a:ext>
                  </a:extLst>
                </a:hlinkClick>
              </a:rPr>
              <a:t>www.linkedin.com/in/davidchoyle/ </a:t>
            </a:r>
            <a:endParaRPr lang="en-GB" dirty="0">
              <a:solidFill>
                <a:schemeClr val="bg1"/>
              </a:solidFill>
            </a:endParaRPr>
          </a:p>
          <a:p>
            <a:endParaRPr lang="en-GB" dirty="0">
              <a:solidFill>
                <a:schemeClr val="bg1"/>
              </a:solidFill>
            </a:endParaRPr>
          </a:p>
        </p:txBody>
      </p:sp>
      <p:sp>
        <p:nvSpPr>
          <p:cNvPr id="4" name="Slide Number Placeholder 3">
            <a:extLst>
              <a:ext uri="{FF2B5EF4-FFF2-40B4-BE49-F238E27FC236}">
                <a16:creationId xmlns:a16="http://schemas.microsoft.com/office/drawing/2014/main" id="{5393185A-ECD4-7572-FC81-B30085033A41}"/>
              </a:ext>
            </a:extLst>
          </p:cNvPr>
          <p:cNvSpPr>
            <a:spLocks noGrp="1"/>
          </p:cNvSpPr>
          <p:nvPr>
            <p:ph type="sldNum" sz="quarter" idx="12"/>
          </p:nvPr>
        </p:nvSpPr>
        <p:spPr/>
        <p:txBody>
          <a:bodyPr/>
          <a:lstStyle/>
          <a:p>
            <a:fld id="{13DE89AE-BBCC-45F3-BDAA-E98C74995322}" type="slidenum">
              <a:rPr lang="en-GB" smtClean="0"/>
              <a:t>61</a:t>
            </a:fld>
            <a:endParaRPr lang="en-GB"/>
          </a:p>
        </p:txBody>
      </p:sp>
      <p:sp>
        <p:nvSpPr>
          <p:cNvPr id="5" name="TextBox 4">
            <a:extLst>
              <a:ext uri="{FF2B5EF4-FFF2-40B4-BE49-F238E27FC236}">
                <a16:creationId xmlns:a16="http://schemas.microsoft.com/office/drawing/2014/main" id="{13A7E50C-C730-1C83-10E9-360905AB574B}"/>
              </a:ext>
            </a:extLst>
          </p:cNvPr>
          <p:cNvSpPr txBox="1"/>
          <p:nvPr/>
        </p:nvSpPr>
        <p:spPr>
          <a:xfrm>
            <a:off x="1435612" y="3165780"/>
            <a:ext cx="9595928" cy="523220"/>
          </a:xfrm>
          <a:prstGeom prst="rect">
            <a:avLst/>
          </a:prstGeom>
          <a:noFill/>
        </p:spPr>
        <p:txBody>
          <a:bodyPr wrap="square" rtlCol="0">
            <a:spAutoFit/>
          </a:bodyPr>
          <a:lstStyle/>
          <a:p>
            <a:r>
              <a:rPr lang="en-GB" sz="2800" dirty="0">
                <a:solidFill>
                  <a:schemeClr val="bg1"/>
                </a:solidFill>
                <a:hlinkClick r:id="rId3">
                  <a:extLst>
                    <a:ext uri="{A12FA001-AC4F-418D-AE19-62706E023703}">
                      <ahyp:hlinkClr xmlns:ahyp="http://schemas.microsoft.com/office/drawing/2018/hyperlinkcolor" val="tx"/>
                    </a:ext>
                  </a:extLst>
                </a:hlinkClick>
              </a:rPr>
              <a:t>github.com/</a:t>
            </a:r>
            <a:r>
              <a:rPr lang="en-GB" sz="2800" dirty="0" err="1">
                <a:solidFill>
                  <a:schemeClr val="bg1"/>
                </a:solidFill>
                <a:hlinkClick r:id="rId3">
                  <a:extLst>
                    <a:ext uri="{A12FA001-AC4F-418D-AE19-62706E023703}">
                      <ahyp:hlinkClr xmlns:ahyp="http://schemas.microsoft.com/office/drawing/2018/hyperlinkcolor" val="tx"/>
                    </a:ext>
                  </a:extLst>
                </a:hlinkClick>
              </a:rPr>
              <a:t>dchoyle</a:t>
            </a:r>
            <a:r>
              <a:rPr lang="en-GB" sz="2800" dirty="0">
                <a:solidFill>
                  <a:schemeClr val="bg1"/>
                </a:solidFill>
                <a:hlinkClick r:id="rId3">
                  <a:extLst>
                    <a:ext uri="{A12FA001-AC4F-418D-AE19-62706E023703}">
                      <ahyp:hlinkClr xmlns:ahyp="http://schemas.microsoft.com/office/drawing/2018/hyperlinkcolor" val="tx"/>
                    </a:ext>
                  </a:extLst>
                </a:hlinkClick>
              </a:rPr>
              <a:t>/ODSCWest2026_TransformerBootcamp</a:t>
            </a:r>
            <a:endParaRPr lang="en-GB" sz="2800" dirty="0">
              <a:solidFill>
                <a:schemeClr val="bg1"/>
              </a:solidFill>
            </a:endParaRPr>
          </a:p>
        </p:txBody>
      </p:sp>
      <p:pic>
        <p:nvPicPr>
          <p:cNvPr id="1028" name="Picture 4" descr="Linkedin - Free social media icons">
            <a:extLst>
              <a:ext uri="{FF2B5EF4-FFF2-40B4-BE49-F238E27FC236}">
                <a16:creationId xmlns:a16="http://schemas.microsoft.com/office/drawing/2014/main" id="{FD5D121B-B2C4-FD66-91AC-3F103074BA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1048" y="5417205"/>
            <a:ext cx="567484" cy="5674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ebsite logo Images - Free Download on Freepik">
            <a:extLst>
              <a:ext uri="{FF2B5EF4-FFF2-40B4-BE49-F238E27FC236}">
                <a16:creationId xmlns:a16="http://schemas.microsoft.com/office/drawing/2014/main" id="{F7289F6A-D290-AC45-F8A0-3FE03DD6A3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1048" y="6126961"/>
            <a:ext cx="547966" cy="52322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B7775D70-EAF1-58A7-1170-2BE1F5B0D897}"/>
              </a:ext>
            </a:extLst>
          </p:cNvPr>
          <p:cNvSpPr txBox="1">
            <a:spLocks/>
          </p:cNvSpPr>
          <p:nvPr/>
        </p:nvSpPr>
        <p:spPr>
          <a:xfrm>
            <a:off x="2248271" y="6194253"/>
            <a:ext cx="5004174" cy="56748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GB" dirty="0">
                <a:solidFill>
                  <a:schemeClr val="bg1"/>
                </a:solidFill>
                <a:hlinkClick r:id="rId6">
                  <a:extLst>
                    <a:ext uri="{A12FA001-AC4F-418D-AE19-62706E023703}">
                      <ahyp:hlinkClr xmlns:ahyp="http://schemas.microsoft.com/office/drawing/2018/hyperlinkcolor" val="tx"/>
                    </a:ext>
                  </a:extLst>
                </a:hlinkClick>
              </a:rPr>
              <a:t>www.hoyleanalytics.org </a:t>
            </a:r>
            <a:endParaRPr lang="en-GB" dirty="0">
              <a:solidFill>
                <a:schemeClr val="bg1"/>
              </a:solidFill>
            </a:endParaRPr>
          </a:p>
          <a:p>
            <a:endParaRPr lang="en-GB" dirty="0">
              <a:solidFill>
                <a:schemeClr val="bg1"/>
              </a:solidFill>
            </a:endParaRPr>
          </a:p>
        </p:txBody>
      </p:sp>
      <p:pic>
        <p:nvPicPr>
          <p:cNvPr id="7" name="Picture 6">
            <a:extLst>
              <a:ext uri="{FF2B5EF4-FFF2-40B4-BE49-F238E27FC236}">
                <a16:creationId xmlns:a16="http://schemas.microsoft.com/office/drawing/2014/main" id="{1FFA3C06-49F3-6994-CFD0-789E2C69D15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120161" y="3826691"/>
            <a:ext cx="2651304" cy="2651304"/>
          </a:xfrm>
          <a:prstGeom prst="rect">
            <a:avLst/>
          </a:prstGeom>
        </p:spPr>
      </p:pic>
    </p:spTree>
    <p:extLst>
      <p:ext uri="{BB962C8B-B14F-4D97-AF65-F5344CB8AC3E}">
        <p14:creationId xmlns:p14="http://schemas.microsoft.com/office/powerpoint/2010/main" val="2829218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TM03457452[[fn=Celestial]]</Template>
  <TotalTime>0</TotalTime>
  <Words>9108</Words>
  <Application>Microsoft Office PowerPoint</Application>
  <PresentationFormat>Widescreen</PresentationFormat>
  <Paragraphs>1053</Paragraphs>
  <Slides>61</Slides>
  <Notes>53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Aptos Display</vt:lpstr>
      <vt:lpstr>Arial</vt:lpstr>
      <vt:lpstr>Cambria Math</vt:lpstr>
      <vt:lpstr>Consolas</vt:lpstr>
      <vt:lpstr>Courier New</vt:lpstr>
      <vt:lpstr>Symbol</vt:lpstr>
      <vt:lpstr>Office Theme</vt:lpstr>
      <vt:lpstr>PowerPoint Presentation</vt:lpstr>
      <vt:lpstr>Outline</vt:lpstr>
      <vt:lpstr>Outline</vt:lpstr>
      <vt:lpstr>Outline</vt:lpstr>
      <vt:lpstr>What we will learn</vt:lpstr>
      <vt:lpstr>What we will not learn</vt:lpstr>
      <vt:lpstr>What I assume you know</vt:lpstr>
      <vt:lpstr>Predicting the next word</vt:lpstr>
      <vt:lpstr>Predicting the next word</vt:lpstr>
      <vt:lpstr>Predicting the next word</vt:lpstr>
      <vt:lpstr>Words as tokens</vt:lpstr>
      <vt:lpstr>Sequences</vt:lpstr>
      <vt:lpstr>Simple approaches</vt:lpstr>
      <vt:lpstr>Simple approach:</vt:lpstr>
      <vt:lpstr>Simple approach:</vt:lpstr>
      <vt:lpstr>Simple approach: Issues</vt:lpstr>
      <vt:lpstr>Word embeddings</vt:lpstr>
      <vt:lpstr>Word embeddings</vt:lpstr>
      <vt:lpstr>Word embeddings</vt:lpstr>
      <vt:lpstr>Word embeddings</vt:lpstr>
      <vt:lpstr>Code example 1</vt:lpstr>
      <vt:lpstr>Code Example 1</vt:lpstr>
      <vt:lpstr>Transformers</vt:lpstr>
      <vt:lpstr>Transforming embeddings</vt:lpstr>
      <vt:lpstr>Attention</vt:lpstr>
      <vt:lpstr>Self-Attention</vt:lpstr>
      <vt:lpstr>Self-Attention</vt:lpstr>
      <vt:lpstr>Self-Attention</vt:lpstr>
      <vt:lpstr>Self-Attention</vt:lpstr>
      <vt:lpstr>Attention: Masking</vt:lpstr>
      <vt:lpstr>Attention Head</vt:lpstr>
      <vt:lpstr>Multi-headed Self-Attention</vt:lpstr>
      <vt:lpstr>Neural Network Sub-Layer</vt:lpstr>
      <vt:lpstr>Neural Network Sub-Layer</vt:lpstr>
      <vt:lpstr>Neural Network Sub-Layer: Mixture of Experts </vt:lpstr>
      <vt:lpstr>The Transformer Block</vt:lpstr>
      <vt:lpstr>The Transformer Block</vt:lpstr>
      <vt:lpstr>The Transformer Model</vt:lpstr>
      <vt:lpstr>Back to predicting the next word</vt:lpstr>
      <vt:lpstr>Predicting the next word from context embeddings</vt:lpstr>
      <vt:lpstr>Predicting the next word from context embeddings</vt:lpstr>
      <vt:lpstr>Positional encoding</vt:lpstr>
      <vt:lpstr>Positional encoding</vt:lpstr>
      <vt:lpstr>Positional encoding</vt:lpstr>
      <vt:lpstr>Positional encoding</vt:lpstr>
      <vt:lpstr>Positional encoding</vt:lpstr>
      <vt:lpstr>Positional encoding</vt:lpstr>
      <vt:lpstr>Different types of transformers</vt:lpstr>
      <vt:lpstr>Different types of transformers</vt:lpstr>
      <vt:lpstr>Different types of transformers</vt:lpstr>
      <vt:lpstr>Different types of transformers</vt:lpstr>
      <vt:lpstr>Different types of transformers</vt:lpstr>
      <vt:lpstr>Different types of transformers</vt:lpstr>
      <vt:lpstr>Different types of transformers</vt:lpstr>
      <vt:lpstr>Code example 2</vt:lpstr>
      <vt:lpstr>Code Example 2</vt:lpstr>
      <vt:lpstr>Wrap up: What we learnt</vt:lpstr>
      <vt:lpstr>Wrap up: What to learn next</vt:lpstr>
      <vt:lpstr>Wrap up: What I haven’t told you</vt:lpstr>
      <vt:lpstr>Wrap up: Wider reading</vt:lpstr>
      <vt:lpstr>Thank you for listening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Hoyle</dc:creator>
  <cp:lastModifiedBy>David Hoyle</cp:lastModifiedBy>
  <cp:revision>1</cp:revision>
  <dcterms:created xsi:type="dcterms:W3CDTF">2026-04-03T14:04:13Z</dcterms:created>
  <dcterms:modified xsi:type="dcterms:W3CDTF">2026-10-26T13:49:54Z</dcterms:modified>
</cp:coreProperties>
</file>